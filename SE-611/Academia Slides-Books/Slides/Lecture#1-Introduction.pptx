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80" r:id="rId11"/>
    <p:sldId id="285" r:id="rId12"/>
    <p:sldId id="266" r:id="rId13"/>
    <p:sldId id="283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6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A133A-8D98-4BE8-8872-7782C73C75B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F8495D-4AE0-409C-A173-72D1EEFFA60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88D74-4B1C-4982-B008-AD822B3B15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D60C-603C-48CF-AF31-7D373089DBA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738D-A2F6-45E8-BA1B-08B7FDA8895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61A-8127-4E4D-972A-9C28EB462CC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2DA9B-79EF-432F-8381-FDF784E027C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6D179-8D79-49A3-85DA-A11935B7066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9F86-2770-4089-AD76-1C65DA8D57C4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E229D1-C4E2-4D02-8468-775986A78FF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A6507-9564-4DFD-AF7E-32FC9E1A228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03FF-F1EC-428D-B841-137C07FE5EA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C3919-9780-4CD3-8847-49C502EA8EB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E4AFCC-56D3-4F24-B572-F6A5C5D0E7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783A4F0-891E-44AD-B162-AD1ECFE5DF4E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Software Metrics</a:t>
            </a:r>
            <a:endParaRPr lang="en-US" b="1" dirty="0">
              <a:solidFill>
                <a:schemeClr val="accent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SE 611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Outline of The Course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Module 1: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 theory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Module 2: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product and process measurements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Module 3: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 management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Measurement Theory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basics of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Overview of software measurement metrics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Framework for software measurement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Empirical investigation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Analyzing software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easurement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ata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Software Measurement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Measuring Internal Product Attributes: Size and Structure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Measuring External Product Attributes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Making Process Predictions: estimate effort, size, release date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Reliability: Measurement and Prediction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Measurement Management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Planning measurement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Resource management: productivity, teams, and tool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Support for measurement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End of This Course…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is software measurement about?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Why software measurement is important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does empirical investigation mean in the SE context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is software measurement metrics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is software measurement process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How to implement a software measurement plan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Challenges and difficulties of applying software metrics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Chapter 1: Measurement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Measurement: What Is It and Why Do </a:t>
            </a:r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It? </a:t>
            </a:r>
            <a:endParaRPr lang="en-US" sz="3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 is Software Metrics</a:t>
            </a:r>
            <a:endParaRPr lang="en-US" sz="3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</a:t>
            </a:r>
            <a:endParaRPr lang="en-US" sz="3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Measurement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the process by which numbers or symbols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are assigned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</a:t>
            </a:r>
            <a:r>
              <a:rPr lang="en-US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attributes of entities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the real world in such a way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 as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describe them according to clearly defined rules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Thus, measurement captures information about </a:t>
            </a:r>
            <a:r>
              <a:rPr lang="en-US" sz="3200" i="1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attributes</a:t>
            </a:r>
            <a:r>
              <a:rPr lang="en-US" sz="3200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 of </a:t>
            </a:r>
            <a:r>
              <a:rPr lang="en-US" sz="3200" i="1" dirty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entities</a:t>
            </a: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3200" dirty="0" smtClean="0">
              <a:highlight>
                <a:srgbClr val="FFFF00"/>
              </a:highlight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An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 Entity</a:t>
            </a: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 is an object or event in the real world</a:t>
            </a:r>
            <a:endParaRPr lang="en-US" sz="3200" dirty="0" smtClean="0">
              <a:highlight>
                <a:srgbClr val="FFFF00"/>
              </a:highlight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An 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attribute</a:t>
            </a: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 is a feature or property of an 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entity</a:t>
            </a:r>
            <a:endParaRPr lang="en-US" sz="32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Two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general types of attributes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in SE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Internal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(e.g., code, size, and modularity)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3200" i="1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External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(e.g., reliability, maintainability)</a:t>
            </a:r>
            <a:endParaRPr lang="en-US" sz="32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The accuracy depends on the measuring instrument (or metrics)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Measurement in Software Engineering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SE is selecting,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measuring,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putting together many different attributes of the software and adding our subjective interpretation in order to get a whole picture of the software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 good software must be reliable, user-friendly, and maintainable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So? Is measurements necessary?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are the effect of neglecting proper measuring in SE? 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Neglecting of Measurement in SE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Failure to set measurable targets for the product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(e.g., how user-friendly, reliable, and maintainable a product is)</a:t>
            </a:r>
            <a:endParaRPr 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Failure to understand and quantify the component costs of a software projec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t, e.g., difference between design cost, coding cost, testing cost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highlight>
                  <a:srgbClr val="FFFF00"/>
                </a:highlight>
                <a:latin typeface="Times New Roman" panose="02020503050405090304" pitchFamily="18" charset="0"/>
                <a:cs typeface="Times New Roman" panose="02020503050405090304" pitchFamily="18" charset="0"/>
              </a:rPr>
              <a:t>Failure to quantify or predict the quality of product.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Thus potential user can not be informed how reliable a product is.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Metrics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Metrics are standards ( i.e., commonly accepted scales,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measurements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or quantifiable indicators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that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define measurable attributes of entities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, their units, and their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scopes. 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Software Metrics </a:t>
            </a: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measures that are used to quantify software, software development resources, and/or the software development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process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Common Software metrics: size metrics, effort metrics, quality metrics, productivity metrics, maintainability, and reliability metrics. 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3200" i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“What is Not Measurable Make Measurable”</a:t>
            </a:r>
            <a:endParaRPr lang="en-US" sz="3200" i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Perspective of Metrics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A metrics is a function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defined on pairs of objects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such that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3200" i="1" dirty="0" err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x,y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represent the distance between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and </a:t>
            </a:r>
            <a:r>
              <a:rPr lang="en-US" sz="32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 Such metric must satisfy certain properties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x, x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= 0 for all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x, y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=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y, x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sz="2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x, z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&lt;=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x, y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+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y, z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) for all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</a:t>
            </a:r>
            <a:r>
              <a:rPr lang="en-US" sz="26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, and 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z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1373505" y="4464050"/>
          <a:ext cx="1311910" cy="505460"/>
        </p:xfrm>
        <a:graphic>
          <a:graphicData uri="http://schemas.openxmlformats.org/drawingml/2006/table">
            <a:tbl>
              <a:tblPr/>
              <a:tblGrid>
                <a:gridCol w="1311910"/>
              </a:tblGrid>
              <a:tr h="505460">
                <a:tc>
                  <a:txBody>
                    <a:bodyPr/>
                    <a:p>
                      <a:r>
                        <a:rPr sz="24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Example</a:t>
                      </a:r>
                      <a:endParaRPr sz="24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/>
          <p:nvPr/>
        </p:nvGraphicFramePr>
        <p:xfrm>
          <a:off x="1373505" y="4969510"/>
          <a:ext cx="6880225" cy="505460"/>
        </p:xfrm>
        <a:graphic>
          <a:graphicData uri="http://schemas.openxmlformats.org/drawingml/2006/table">
            <a:tbl>
              <a:tblPr/>
              <a:tblGrid>
                <a:gridCol w="6880225"/>
              </a:tblGrid>
              <a:tr h="505460">
                <a:tc>
                  <a:txBody>
                    <a:bodyPr/>
                    <a:p>
                      <a:r>
                        <a:rPr sz="20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"Login module has 500 LOC"</a:t>
                      </a:r>
                      <a:r>
                        <a:rPr lang="en-US" sz="20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 --&gt; Measurement</a:t>
                      </a:r>
                      <a:endParaRPr lang="en-US" sz="20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endParaRPr lang="en-US" sz="20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lang="en-US" sz="20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“Line of Code (LOC)” --&gt; Metrics</a:t>
                      </a:r>
                      <a:endParaRPr lang="en-US" sz="20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Software Metrics Challenges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SE Metrics are mostly non-physical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30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Reliability, maturity, portability, flexibility, maintainability, etc., and relations are </a:t>
            </a:r>
            <a:r>
              <a:rPr lang="en-US" sz="30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unknown</a:t>
            </a:r>
            <a:endParaRPr lang="en-US" sz="30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Choosing the right metrics can be challenging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Gathering accurate and reliable data for metrics can be a challenge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Tracking too many metrics can overwhelm teams and make it difficult to focus on the most important aspects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Metrics may not capture all relevant aspects of software development, and they can be influenced by subjective judgments and biases.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There is a risk of metric manipulation, where individuals or teams may intentionally or unintentionally manipulate metrics to present a </a:t>
            </a:r>
            <a:r>
              <a:rPr lang="en-US" dirty="0" err="1" smtClean="0"/>
              <a:t>favourable</a:t>
            </a:r>
            <a:r>
              <a:rPr lang="en-US" dirty="0" smtClean="0"/>
              <a:t> picture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Software projects and technologies evolve rapidly, and metrics that were once effective may become outdated or less relevant over time. </a:t>
            </a:r>
            <a:endParaRPr lang="en-US" sz="30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Objective of Software Measurement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From manager perspective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does each process cost?</a:t>
            </a: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How </a:t>
            </a: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productive is the staff?</a:t>
            </a: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good is the code being developed?</a:t>
            </a: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Will the user be satisfied with the product?</a:t>
            </a: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can we improve?</a:t>
            </a: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</a:t>
            </a:r>
            <a:r>
              <a:rPr lang="en-US" sz="32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developer perspective</a:t>
            </a:r>
            <a:endParaRPr lang="en-US" sz="32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Are the requirements testable</a:t>
            </a: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Have we found all the faults?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Have we meet product or process goals?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2600" i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What will happen in the future?</a:t>
            </a:r>
            <a:endParaRPr lang="en-US" sz="2600" i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lvl="4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Cost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effort estimation models and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measures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Data collection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Quality models and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measures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Reliability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models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Security metrics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Structural and complexity metrics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Capability maturity assessment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Evaluation of methods and tools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Metrics/1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Cost </a:t>
            </a:r>
            <a:r>
              <a:rPr lang="en-US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effort estimation models and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measures</a:t>
            </a:r>
            <a:endParaRPr lang="en-US" sz="28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28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011" y="2230184"/>
            <a:ext cx="8729853" cy="39952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Metrics/2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Data collection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816" y="2313431"/>
            <a:ext cx="7485888" cy="3785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68124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Metrics/3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20982"/>
            <a:ext cx="10058400" cy="42481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Quality </a:t>
            </a:r>
            <a:r>
              <a:rPr 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models and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measures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6" name="image1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3760325" y="2184593"/>
            <a:ext cx="5563783" cy="3850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Metrics/4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Reliability models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899" y="2415587"/>
            <a:ext cx="8114037" cy="3688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Metrics/5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Security metrics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Security depends on both the internal design of a system and the nature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of the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attacks that originate externally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o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assess security risks in terms of impact, likelihood, </a:t>
            </a:r>
            <a:r>
              <a:rPr lang="en-US" sz="2800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threats, and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vulnerabilities.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44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Metrics/6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Structural and complexity metrics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024" y="2313432"/>
            <a:ext cx="7149655" cy="36640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68442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Metrics/7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Capability maturity assessment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6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Capability Maturity Model Integration (CMMI)</a:t>
            </a:r>
            <a:endParaRPr lang="en-US" sz="1600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en-US" sz="26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6" name="image2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320165" y="1372482"/>
            <a:ext cx="9835515" cy="5269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Scope of Software Metrics/8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Evaluation of methods and tools</a:t>
            </a:r>
            <a:endParaRPr lang="en-US" sz="2800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endParaRPr lang="en-US" sz="2800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US" sz="26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7575" y="2528714"/>
            <a:ext cx="7261289" cy="29230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Eight Steps of Measurement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rogram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99048" y="1846263"/>
            <a:ext cx="6654230" cy="40227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3A4F0-891E-44AD-B162-AD1ECFE5DF4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5449</Words>
  <Application>WPS Presentation</Application>
  <PresentationFormat>Widescreen</PresentationFormat>
  <Paragraphs>255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Helvetica Neue</vt:lpstr>
      <vt:lpstr>Times New Roman</vt:lpstr>
      <vt:lpstr>Microsoft YaHei</vt:lpstr>
      <vt:lpstr>汉仪旗黑</vt:lpstr>
      <vt:lpstr>Arial Unicode MS</vt:lpstr>
      <vt:lpstr>Calibri Light</vt:lpstr>
      <vt:lpstr>汉仪书宋二KW</vt:lpstr>
      <vt:lpstr>Retrospect</vt:lpstr>
      <vt:lpstr>Software Metrics</vt:lpstr>
      <vt:lpstr>Outline of The Course</vt:lpstr>
      <vt:lpstr>Measurement Theory</vt:lpstr>
      <vt:lpstr>Software Measurement</vt:lpstr>
      <vt:lpstr>Measurement Management</vt:lpstr>
      <vt:lpstr>End of This Course…</vt:lpstr>
      <vt:lpstr>Chapter 1: Measurement </vt:lpstr>
      <vt:lpstr>Measurement</vt:lpstr>
      <vt:lpstr>Measurement in Software Engineering</vt:lpstr>
      <vt:lpstr>Neglecting of Measurement in SE</vt:lpstr>
      <vt:lpstr>Metrics</vt:lpstr>
      <vt:lpstr>Mathematical Perspective of Metrics</vt:lpstr>
      <vt:lpstr>Software Metrics Challenges</vt:lpstr>
      <vt:lpstr>Objective of Software Measurement</vt:lpstr>
      <vt:lpstr>Scope of Software Metrics</vt:lpstr>
      <vt:lpstr>Scope of Software Metrics/1</vt:lpstr>
      <vt:lpstr>Scope of Software Metrics/2</vt:lpstr>
      <vt:lpstr>Scope of Software Metrics/3</vt:lpstr>
      <vt:lpstr>Scope of Software Metrics/4</vt:lpstr>
      <vt:lpstr>Scope of Software Metrics/5</vt:lpstr>
      <vt:lpstr>Scope of Software Metrics/6</vt:lpstr>
      <vt:lpstr>Scope of Software Metrics/7</vt:lpstr>
      <vt:lpstr>Scope of Software Metrics/8</vt:lpstr>
      <vt:lpstr>Eight Steps of Measurement Program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Rakibul</cp:lastModifiedBy>
  <cp:revision>84</cp:revision>
  <dcterms:created xsi:type="dcterms:W3CDTF">2025-06-17T19:23:27Z</dcterms:created>
  <dcterms:modified xsi:type="dcterms:W3CDTF">2025-06-17T19:23:27Z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A998F2B165BCCA896500096801E2CA21_42</vt:lpwstr>
  </property>
  <property fmtid="{D5CDD505-2E9C-101B-9397-08002B2CF9AE}" pid="3" name="KSOProductBuildVer">
    <vt:lpwstr>1033-6.11.0.8608</vt:lpwstr>
  </property>
</Properties>
</file>