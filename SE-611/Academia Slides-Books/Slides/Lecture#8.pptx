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9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65" r:id="rId17"/>
    <p:sldId id="268" r:id="rId18"/>
    <p:sldId id="269" r:id="rId19"/>
    <p:sldId id="283" r:id="rId20"/>
    <p:sldId id="270" r:id="rId21"/>
    <p:sldId id="271" r:id="rId22"/>
    <p:sldId id="275" r:id="rId23"/>
    <p:sldId id="284" r:id="rId24"/>
    <p:sldId id="28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FB8C6-7563-4F6C-85ED-2FC8D13F03C2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D39D-4942-41C5-BD80-BD23EFF7E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37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2E8DD-E888-48CB-9267-5B844436B5D4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3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4D0F-B326-4874-A48A-C200974AD3FF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1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819FB-F444-45E9-B460-684C01BC0B47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2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B625-5216-424C-A99D-42CFEF250A51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8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9286-11D1-4DF5-BED8-3BB0A50548EC}" type="datetime1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4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516D-ECD0-4734-9AE8-8597F242ADB0}" type="datetime1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2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D013-F97B-4AC2-BFDE-5AAEBDA1F34A}" type="datetime1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0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DA2F-8114-49DE-B415-1D1218F6705B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2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1A1C-0C21-4FC9-9A28-A9FB571C3AB5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5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41BF3-7078-4F84-B163-5D612801B1A5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2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5E0E-57CD-4A8C-A170-174703FA0C13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59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050D-9288-445A-9293-DEF43F5780FD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0B80-2E88-453F-BA3B-21B8BD0FD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0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so25000.com/index.php/en/iso-25000-standards/iso-25010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Measuring External</a:t>
            </a:r>
            <a:br>
              <a:rPr lang="en-US" dirty="0"/>
            </a:br>
            <a:r>
              <a:rPr lang="en-US" dirty="0"/>
              <a:t>Product Attributes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Chapter#10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3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principal objective of software engineering is to improve the quality of software products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is difficult to judge because it depends on the beholder.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from a measurement perspective, we must be able to define quality in terms of specific software product attributes of interest to the user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International Organization for Standardization (ISO) defines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“the totality of characteristics of an entity that bear on its ability to satisfy stated or implied needs” (ISO8042:1994). or “the degree to which a set of inherent characteristics fulfils requirements”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0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experts define quality based 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to requirements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 for 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to requirements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the fulfilment of a product, process, or service of specified written requirements.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Fitness for use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that a product can be used as it was intended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team must develop good relationships with key stakeholders, especially the main customer for the project, to understand what quality means to them.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all, the customer ultimately decides if the quality is acceptable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3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key attributes, called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factors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normally high-level external attributes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8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Models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Boehm software quality model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McCall software quality model</a:t>
            </a:r>
          </a:p>
          <a:p>
            <a:pPr marL="228600" lvl="1" algn="just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final product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attributes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quality from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user’s perspective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models assumes that the quality factors/attributes are still at too high a level to be meaningful or to be measured directly. Hence, they are further decomposed into lower-level attributes called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criteria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subfactors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8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BOEHM SOFTWARE QUALITY MODEL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823" y="1578545"/>
            <a:ext cx="8003124" cy="472252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5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McCall SOFTWARE QUALITY MODEL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668" y="1411556"/>
            <a:ext cx="9167041" cy="51913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06173" y="2984741"/>
            <a:ext cx="1656272" cy="2415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81002" y="3579961"/>
            <a:ext cx="2211240" cy="18115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81002" y="3398806"/>
            <a:ext cx="2211240" cy="18115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81002" y="4163682"/>
            <a:ext cx="2211240" cy="18115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837188" y="3105510"/>
            <a:ext cx="1043814" cy="3838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62445" y="3105510"/>
            <a:ext cx="1118557" cy="65560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8" idx="1"/>
          </p:cNvCxnSpPr>
          <p:nvPr/>
        </p:nvCxnSpPr>
        <p:spPr>
          <a:xfrm>
            <a:off x="5837188" y="3176676"/>
            <a:ext cx="1043814" cy="107758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2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71071"/>
            <a:ext cx="10515600" cy="4058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Figure 10.3    A decomposition of maintainability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94" y="1614707"/>
            <a:ext cx="9835797" cy="406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0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 a quality-control methodology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businesses use to significantly reduce defects and improve processes.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Sigma’s target for quality is no more than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defects, errors, or mistakes per million opportunities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Philosophy/set of tools/ methodology/ metrics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 is uniquely driven by a close understanding of customer needs, data, and statistical analysis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3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 Methodologies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DMAIC-vs-DMADV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863" y="1921090"/>
            <a:ext cx="5358247" cy="384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36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 (DMAIC)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problem, opportunity/process for improvement, and customer requirements.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measures and then collect, compile, and display data. Measures are defined in terms of defects per opportunity using some metrics.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Scrutinize process details to find improvement opportunities.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solutions and ideas for improving the problem. A final solution is verified with the project sponsor, and the Six Sigma team develops a plan to pilot test the solution.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verify the stability of the improvements and the predictability of the solution.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43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 (DMADV)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establishment of goals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relating to the design activity takes place. This step is the same as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in the DMAIC model.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and identify critical-to-quality characteristics of the product, service or process. This includes risk and production capabilities.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data to find the best design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test the product, service or process.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the design output meets the design input requirements (verification) and that the designed product performs satisfactorily under real or simulated conditions of intended use (validation).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33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between DMAIC and DMADV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183455"/>
              </p:ext>
            </p:extLst>
          </p:nvPr>
        </p:nvGraphicFramePr>
        <p:xfrm>
          <a:off x="1690255" y="1783015"/>
          <a:ext cx="9513453" cy="4126910"/>
        </p:xfrm>
        <a:graphic>
          <a:graphicData uri="http://schemas.openxmlformats.org/drawingml/2006/table">
            <a:tbl>
              <a:tblPr/>
              <a:tblGrid>
                <a:gridCol w="2249534">
                  <a:extLst>
                    <a:ext uri="{9D8B030D-6E8A-4147-A177-3AD203B41FA5}">
                      <a16:colId xmlns:a16="http://schemas.microsoft.com/office/drawing/2014/main" val="1189917893"/>
                    </a:ext>
                  </a:extLst>
                </a:gridCol>
                <a:gridCol w="3883411">
                  <a:extLst>
                    <a:ext uri="{9D8B030D-6E8A-4147-A177-3AD203B41FA5}">
                      <a16:colId xmlns:a16="http://schemas.microsoft.com/office/drawing/2014/main" val="4026686271"/>
                    </a:ext>
                  </a:extLst>
                </a:gridCol>
                <a:gridCol w="3380508">
                  <a:extLst>
                    <a:ext uri="{9D8B030D-6E8A-4147-A177-3AD203B41FA5}">
                      <a16:colId xmlns:a16="http://schemas.microsoft.com/office/drawing/2014/main" val="2671524596"/>
                    </a:ext>
                  </a:extLst>
                </a:gridCol>
              </a:tblGrid>
              <a:tr h="41439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 FOR COMPARISON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cap="all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DMAIC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cap="all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DMADV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713412"/>
                  </a:ext>
                </a:extLst>
              </a:tr>
              <a:tr h="1127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DMAIC is a six sigma methodology which attempts to improve the existing process.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DMADV is another six sigma methodology that seeks to design new or existing processes.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51815"/>
                  </a:ext>
                </a:extLst>
              </a:tr>
              <a:tr h="25226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Process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Reactive Process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Proactive Process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44386"/>
                  </a:ext>
                </a:extLst>
              </a:tr>
              <a:tr h="25226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focused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Customer-focused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2970122"/>
                  </a:ext>
                </a:extLst>
              </a:tr>
              <a:tr h="25226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Requirement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Team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Team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588506"/>
                  </a:ext>
                </a:extLst>
              </a:tr>
              <a:tr h="41439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Horizon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to Medium-term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term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206188"/>
                  </a:ext>
                </a:extLst>
              </a:tr>
              <a:tr h="5925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when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improvement is required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Reengineering is required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175031"/>
                  </a:ext>
                </a:extLst>
              </a:tr>
              <a:tr h="25226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Corrective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Preventive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443413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when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Incremental change is needed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Evolutionary change is needed</a:t>
                      </a:r>
                    </a:p>
                  </a:txBody>
                  <a:tcPr marL="59607" marR="59607" marT="29804" marB="298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31649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75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Sigma Performance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14</a:t>
            </a:fld>
            <a:endParaRPr lang="en-US"/>
          </a:p>
        </p:txBody>
      </p:sp>
      <p:pic>
        <p:nvPicPr>
          <p:cNvPr id="3076" name="Picture 4" descr="Using Six Sigma for Successful Project Management | Infin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862" y="1841713"/>
            <a:ext cx="8645103" cy="412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4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C583EB-D808-4C5E-A80B-EBF1A15A6DA2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107971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501769" y="415777"/>
            <a:ext cx="11188461" cy="1065362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Sigma Vs. 6 Sigma: A case</a:t>
            </a:r>
          </a:p>
        </p:txBody>
      </p:sp>
      <p:graphicFrame>
        <p:nvGraphicFramePr>
          <p:cNvPr id="1107993" name="Group 25"/>
          <p:cNvGraphicFramePr>
            <a:graphicFrameLocks noGrp="1"/>
          </p:cNvGraphicFramePr>
          <p:nvPr>
            <p:extLst/>
          </p:nvPr>
        </p:nvGraphicFramePr>
        <p:xfrm>
          <a:off x="1892625" y="1822089"/>
          <a:ext cx="8581410" cy="3858276"/>
        </p:xfrm>
        <a:graphic>
          <a:graphicData uri="http://schemas.openxmlformats.org/drawingml/2006/table">
            <a:tbl>
              <a:tblPr/>
              <a:tblGrid>
                <a:gridCol w="4290705">
                  <a:extLst>
                    <a:ext uri="{9D8B030D-6E8A-4147-A177-3AD203B41FA5}">
                      <a16:colId xmlns:a16="http://schemas.microsoft.com/office/drawing/2014/main" val="2778400546"/>
                    </a:ext>
                  </a:extLst>
                </a:gridCol>
                <a:gridCol w="4290705">
                  <a:extLst>
                    <a:ext uri="{9D8B030D-6E8A-4147-A177-3AD203B41FA5}">
                      <a16:colId xmlns:a16="http://schemas.microsoft.com/office/drawing/2014/main" val="4255752384"/>
                    </a:ext>
                  </a:extLst>
                </a:gridCol>
              </a:tblGrid>
              <a:tr h="6436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The 3 sigma Company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The 6 sigma Company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39924"/>
                  </a:ext>
                </a:extLst>
              </a:tr>
              <a:tr h="6418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Spends 15~25% of sales dollars on cost of failure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Spends 5% of sales dollars on cost of failure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489002"/>
                  </a:ext>
                </a:extLst>
              </a:tr>
              <a:tr h="6436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Relies on inspection to find defects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Relies on capable process that don’t produce defects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757202"/>
                  </a:ext>
                </a:extLst>
              </a:tr>
              <a:tr h="6436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Does not have a disciplined approach to gather and analyze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Use Measure, Analyze, Improve, Control and Measure, Analyze, Design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64529"/>
                  </a:ext>
                </a:extLst>
              </a:tr>
              <a:tr h="6436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Benchmarks themselves against their competitors.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Benchmarks themselves against the best in the world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157071"/>
                  </a:ext>
                </a:extLst>
              </a:tr>
              <a:tr h="6418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 Believes 99% is good enough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 Believes 99% is unacceptable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01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112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“fixed model”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a predefined, structured approach to achieving and maintaining quality in software systems. These models are well-established and widely adopted in industry. (Boehm’s and McCall’s)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“define your own quality model”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follow the models.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with prospective users to reach a consensus on which quality attributes are important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2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9126-1 and ISO/IEC 25010 Standard Quality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1992, a derivation of the McCall model was proposed as the basis for an international standard for software quality measurement and adopted.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2011, ISO/IEC 25010 “Systems and Software Engineering—Systems and Software Quality Requirements and Evaluation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 replaced 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ISO/IEC 25010 standard, software quality is defined to be the following: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degree to which a software product satisfies stated and implied needs when used under specified conditions.”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3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ISO/IEC 25010 Standard Quality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is decomposed into eight characteristics: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suitability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efficiency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eight is defined in terms of other attributes of a relevant aspect of the software, and each can be refined through multiple levels of sub-characteristics.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709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ISO/IEC 25010 Standard Quality Model</a:t>
            </a:r>
          </a:p>
        </p:txBody>
      </p:sp>
      <p:pic>
        <p:nvPicPr>
          <p:cNvPr id="1026" name="Picture 2" descr="Quality Characterisctics of ISO 2501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38" y="1612785"/>
            <a:ext cx="11524890" cy="417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79917" y="5788651"/>
            <a:ext cx="75193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linkClick r:id="rId3"/>
              </a:rPr>
              <a:t>Please check</a:t>
            </a:r>
          </a:p>
          <a:p>
            <a:r>
              <a:rPr lang="en-US" dirty="0">
                <a:hlinkClick r:id="rId3"/>
              </a:rPr>
              <a:t>https://iso25000.com/index.php/en/iso-25000-standards/iso-25010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 descr="Quality Characterisctics of ISO 25010">
            <a:extLst>
              <a:ext uri="{FF2B5EF4-FFF2-40B4-BE49-F238E27FC236}">
                <a16:creationId xmlns:a16="http://schemas.microsoft.com/office/drawing/2014/main" id="{BA153899-4B31-4846-8B63-E61439FF3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9461"/>
            <a:ext cx="12192000" cy="399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666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283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Aspect of Quality (how to measure)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software engineers base their quality assessments on measures defined for a specific purpose, separate from any formal quality model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certain systems have stringent requirements for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ability to move an application from one host environment to another)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assurance that modifications can be made only by authorized users). The user or practitioner may offer simple definitions of these terms, such as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= 1 −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ET/ER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measure of the resources needed to move the system to the target environment,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measure of the resources needed to create the system for the resident environment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87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894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Aspect of Quality (how to measure)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Defects-Based Quality Measures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𝐷𝑒𝑓𝑒𝑐𝑡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𝑑𝑒𝑛𝑠𝑖𝑡𝑦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𝑘𝑛𝑜𝑤𝑛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𝑑𝑒𝑓𝑒𝑐𝑡𝑠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𝑃𝑟𝑜𝑑𝑢𝑐𝑡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is not the only useful defect-based quality measure. For many years, many companies have defined quality in terms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spoilage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Specifically, they compute it as: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𝑠𝑦𝑡𝑒𝑚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𝑠𝑝𝑜𝑖𝑙𝑎𝑔𝑒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𝑟𝑒𝑙𝑒𝑎𝑠𝑒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𝑑𝑒𝑓𝑒𝑐𝑡𝑠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𝑑𝑒𝑣𝑒𝑙𝑜𝑝𝑚𝑒𝑛𝑡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Common Vulnerability Scoring System (CVSS)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free and open industry standard for assessing the severity of computer system security vulnerabilities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widely used method, developed by the Forum of Incident Response and Security Teams (FIRST). The CVSS base metric group can have a score between zero and one, with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representing no vulnerability and one representing the maximum vulnerability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three main metric groups: Base, Temporal, and Environmental. In turn, each of these groups consists of a set of metrics.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metric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includes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 measures related to the required access to exploit the vulnerability and the impact of the vulnerability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are calculated based on a formula that depends on several metrics that approximate the ease and impact of an exploit.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range from 0 to 10, with 10 being the most severe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version of CVSS (CVSSv3.1) was released in June 2019.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77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23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6378"/>
            <a:ext cx="10515600" cy="422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16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Score reflects the severity of a vulnerability according to its intrinsic characteristics which are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 and assumes the reasonable worst-case impact.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Temporal Metrics adjust the Base severity of a vulnerability based on factors that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over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the availability of exploit code.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Environmental Metrics adjust the Base and Temporal severities to a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computing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 consider factors such as the presence of mitigations in that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91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Vector (AV)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how remote an attacker can be to exploit the vulnerability.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0017996"/>
              </p:ext>
            </p:extLst>
          </p:nvPr>
        </p:nvGraphicFramePr>
        <p:xfrm>
          <a:off x="1802921" y="2786332"/>
          <a:ext cx="7789653" cy="3678905"/>
        </p:xfrm>
        <a:graphic>
          <a:graphicData uri="http://schemas.openxmlformats.org/drawingml/2006/table">
            <a:tbl>
              <a:tblPr/>
              <a:tblGrid>
                <a:gridCol w="1985794">
                  <a:extLst>
                    <a:ext uri="{9D8B030D-6E8A-4147-A177-3AD203B41FA5}">
                      <a16:colId xmlns:a16="http://schemas.microsoft.com/office/drawing/2014/main" val="2533501557"/>
                    </a:ext>
                  </a:extLst>
                </a:gridCol>
                <a:gridCol w="4682425">
                  <a:extLst>
                    <a:ext uri="{9D8B030D-6E8A-4147-A177-3AD203B41FA5}">
                      <a16:colId xmlns:a16="http://schemas.microsoft.com/office/drawing/2014/main" val="4193392213"/>
                    </a:ext>
                  </a:extLst>
                </a:gridCol>
                <a:gridCol w="1121434">
                  <a:extLst>
                    <a:ext uri="{9D8B030D-6E8A-4147-A177-3AD203B41FA5}">
                      <a16:colId xmlns:a16="http://schemas.microsoft.com/office/drawing/2014/main" val="1363649292"/>
                    </a:ext>
                  </a:extLst>
                </a:gridCol>
              </a:tblGrid>
              <a:tr h="28439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Value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Description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Score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03784"/>
                  </a:ext>
                </a:extLst>
              </a:tr>
              <a:tr h="1062643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Local (L)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</a:rPr>
                        <a:t>The attacker must either have physical access to the vulnerable system (e.g. </a:t>
                      </a:r>
                      <a:r>
                        <a:rPr lang="en-US" sz="1600" u="none" strike="noStrike" dirty="0" err="1">
                          <a:solidFill>
                            <a:srgbClr val="0645AD"/>
                          </a:solidFill>
                          <a:effectLst/>
                        </a:rPr>
                        <a:t>firewire</a:t>
                      </a:r>
                      <a:r>
                        <a:rPr lang="en-US" sz="1600" u="none" strike="noStrike" dirty="0">
                          <a:solidFill>
                            <a:srgbClr val="0645AD"/>
                          </a:solidFill>
                          <a:effectLst/>
                        </a:rPr>
                        <a:t> attacks</a:t>
                      </a:r>
                      <a:r>
                        <a:rPr lang="en-US" sz="1600" dirty="0">
                          <a:effectLst/>
                        </a:rPr>
                        <a:t>) or a local account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effectLst/>
                        </a:rPr>
                        <a:t>0.395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154201"/>
                  </a:ext>
                </a:extLst>
              </a:tr>
              <a:tr h="894621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Adjacent Network (A)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</a:rPr>
                        <a:t>The attacker must have access to the broadcast or collision domain of the vulnerable system (e.g. </a:t>
                      </a:r>
                      <a:r>
                        <a:rPr lang="en-US" sz="1600" u="none" strike="noStrike" dirty="0">
                          <a:solidFill>
                            <a:srgbClr val="0645AD"/>
                          </a:solidFill>
                          <a:effectLst/>
                        </a:rPr>
                        <a:t>ARP spoofing</a:t>
                      </a:r>
                      <a:r>
                        <a:rPr lang="en-US" sz="1600" dirty="0">
                          <a:effectLst/>
                        </a:rPr>
                        <a:t>, Bluetooth attacks).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effectLst/>
                        </a:rPr>
                        <a:t>0.646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586033"/>
                  </a:ext>
                </a:extLst>
              </a:tr>
              <a:tr h="139868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Network (N)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</a:rPr>
                        <a:t>The vulnerable interface is working at layer 3 or above of the OSI Network stack. These types of vulnerabilities are often described as remotely exploitable (e.g. a remote buffer overflow in a network service)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effectLst/>
                        </a:rPr>
                        <a:t>1.0</a:t>
                      </a:r>
                    </a:p>
                  </a:txBody>
                  <a:tcPr marL="79115" marR="79115" marT="39558" marB="39558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37131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50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Complexity (AC)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how complex the attack method needs to be in order to mount a successful attack.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753341"/>
              </p:ext>
            </p:extLst>
          </p:nvPr>
        </p:nvGraphicFramePr>
        <p:xfrm>
          <a:off x="1945055" y="2783158"/>
          <a:ext cx="8087465" cy="3528741"/>
        </p:xfrm>
        <a:graphic>
          <a:graphicData uri="http://schemas.openxmlformats.org/drawingml/2006/table">
            <a:tbl>
              <a:tblPr/>
              <a:tblGrid>
                <a:gridCol w="1436500">
                  <a:extLst>
                    <a:ext uri="{9D8B030D-6E8A-4147-A177-3AD203B41FA5}">
                      <a16:colId xmlns:a16="http://schemas.microsoft.com/office/drawing/2014/main" val="1936965080"/>
                    </a:ext>
                  </a:extLst>
                </a:gridCol>
                <a:gridCol w="5510124">
                  <a:extLst>
                    <a:ext uri="{9D8B030D-6E8A-4147-A177-3AD203B41FA5}">
                      <a16:colId xmlns:a16="http://schemas.microsoft.com/office/drawing/2014/main" val="2191804687"/>
                    </a:ext>
                  </a:extLst>
                </a:gridCol>
                <a:gridCol w="1140841">
                  <a:extLst>
                    <a:ext uri="{9D8B030D-6E8A-4147-A177-3AD203B41FA5}">
                      <a16:colId xmlns:a16="http://schemas.microsoft.com/office/drawing/2014/main" val="3594084801"/>
                    </a:ext>
                  </a:extLst>
                </a:gridCol>
              </a:tblGrid>
              <a:tr h="273779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Value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Description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Score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082554"/>
                  </a:ext>
                </a:extLst>
              </a:tr>
              <a:tr h="1057886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High (H)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 err="1">
                          <a:effectLst/>
                        </a:rPr>
                        <a:t>Specialised</a:t>
                      </a:r>
                      <a:r>
                        <a:rPr lang="en-US" sz="1600" dirty="0">
                          <a:effectLst/>
                        </a:rPr>
                        <a:t> conditions exist, such as a </a:t>
                      </a:r>
                      <a:r>
                        <a:rPr lang="en-US" sz="1600" u="none" strike="noStrike" dirty="0">
                          <a:solidFill>
                            <a:srgbClr val="0645AD"/>
                          </a:solidFill>
                          <a:effectLst/>
                        </a:rPr>
                        <a:t>race condition</a:t>
                      </a:r>
                      <a:r>
                        <a:rPr lang="en-US" sz="160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with a narrow window, or a requirement for </a:t>
                      </a:r>
                      <a:r>
                        <a:rPr lang="en-US" sz="1600" u="none" strike="noStrike" dirty="0">
                          <a:solidFill>
                            <a:srgbClr val="0645AD"/>
                          </a:solidFill>
                          <a:effectLst/>
                        </a:rPr>
                        <a:t>social engineering</a:t>
                      </a:r>
                      <a:r>
                        <a:rPr lang="en-US" sz="160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methods that would be readily noticed by knowledgeable people.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0.35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910049"/>
                  </a:ext>
                </a:extLst>
              </a:tr>
              <a:tr h="1057886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Medium (M)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</a:rPr>
                        <a:t>There are some additional requirements for the attack, such as a limit on the origin of the attack, or a requirement for the vulnerable system to be running with an uncommon, non-default configuration.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0.61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827010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Low (L)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effectLst/>
                        </a:rPr>
                        <a:t>There are no special conditions for exploiting the vulnerability, such as when the system is available to large numbers of users, or the vulnerable configuration is ubiquitous.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dirty="0">
                          <a:effectLst/>
                        </a:rPr>
                        <a:t>0.71</a:t>
                      </a:r>
                    </a:p>
                  </a:txBody>
                  <a:tcPr marL="67990" marR="67990" marT="33995" marB="3399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84209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53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 (Au)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whether an attacker needs to authenticate two or more times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9811903"/>
              </p:ext>
            </p:extLst>
          </p:nvPr>
        </p:nvGraphicFramePr>
        <p:xfrm>
          <a:off x="1053860" y="2793683"/>
          <a:ext cx="9893061" cy="2286000"/>
        </p:xfrm>
        <a:graphic>
          <a:graphicData uri="http://schemas.openxmlformats.org/drawingml/2006/table">
            <a:tbl>
              <a:tblPr/>
              <a:tblGrid>
                <a:gridCol w="2003230">
                  <a:extLst>
                    <a:ext uri="{9D8B030D-6E8A-4147-A177-3AD203B41FA5}">
                      <a16:colId xmlns:a16="http://schemas.microsoft.com/office/drawing/2014/main" val="1984329128"/>
                    </a:ext>
                  </a:extLst>
                </a:gridCol>
                <a:gridCol w="6387071">
                  <a:extLst>
                    <a:ext uri="{9D8B030D-6E8A-4147-A177-3AD203B41FA5}">
                      <a16:colId xmlns:a16="http://schemas.microsoft.com/office/drawing/2014/main" val="1212719177"/>
                    </a:ext>
                  </a:extLst>
                </a:gridCol>
                <a:gridCol w="1502760">
                  <a:extLst>
                    <a:ext uri="{9D8B030D-6E8A-4147-A177-3AD203B41FA5}">
                      <a16:colId xmlns:a16="http://schemas.microsoft.com/office/drawing/2014/main" val="2752707083"/>
                    </a:ext>
                  </a:extLst>
                </a:gridCol>
              </a:tblGrid>
              <a:tr h="3343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23737"/>
                  </a:ext>
                </a:extLst>
              </a:tr>
              <a:tr h="585042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Multiple (M)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Exploitation of the vulnerability requires that the attacker authenticate two or more times, even if the same credentials are used each time.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0.45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168642"/>
                  </a:ext>
                </a:extLst>
              </a:tr>
              <a:tr h="585042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Single (S)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 attacker must authenticate once in order to exploit the vulnerability.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0.56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53320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None 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There is no requirement for the attacker to authenticate.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0.704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2767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2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Confidentiality (C)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describes the impact on the confidentiality of data processed by the system.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20020"/>
              </p:ext>
            </p:extLst>
          </p:nvPr>
        </p:nvGraphicFramePr>
        <p:xfrm>
          <a:off x="1147313" y="2997280"/>
          <a:ext cx="9704717" cy="2845938"/>
        </p:xfrm>
        <a:graphic>
          <a:graphicData uri="http://schemas.openxmlformats.org/drawingml/2006/table">
            <a:tbl>
              <a:tblPr/>
              <a:tblGrid>
                <a:gridCol w="1861598">
                  <a:extLst>
                    <a:ext uri="{9D8B030D-6E8A-4147-A177-3AD203B41FA5}">
                      <a16:colId xmlns:a16="http://schemas.microsoft.com/office/drawing/2014/main" val="2458873088"/>
                    </a:ext>
                  </a:extLst>
                </a:gridCol>
                <a:gridCol w="5962946">
                  <a:extLst>
                    <a:ext uri="{9D8B030D-6E8A-4147-A177-3AD203B41FA5}">
                      <a16:colId xmlns:a16="http://schemas.microsoft.com/office/drawing/2014/main" val="3756136533"/>
                    </a:ext>
                  </a:extLst>
                </a:gridCol>
                <a:gridCol w="1880173">
                  <a:extLst>
                    <a:ext uri="{9D8B030D-6E8A-4147-A177-3AD203B41FA5}">
                      <a16:colId xmlns:a16="http://schemas.microsoft.com/office/drawing/2014/main" val="1204331468"/>
                    </a:ext>
                  </a:extLst>
                </a:gridCol>
              </a:tblGrid>
              <a:tr h="367912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620579"/>
                  </a:ext>
                </a:extLst>
              </a:tr>
              <a:tr h="367912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None 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There is no impact on the confidentiality of the system.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815564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Partial (P)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</a:rPr>
                        <a:t>There is considerable disclosure of information, but the scope of the loss is constrained such that not all of the data is available.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0.275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769708"/>
                  </a:ext>
                </a:extLst>
              </a:tr>
              <a:tr h="1195714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Complete (C)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</a:rPr>
                        <a:t>There is total information disclosure, providing access to any / all data on the system. Alternatively, access to only some restricted information is obtained, but the disclosed information presents a direct, serious impact.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0.660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073563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69189" y="26522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36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Impact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 indicates whether there is no impact to the system integrity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88937"/>
              </p:ext>
            </p:extLst>
          </p:nvPr>
        </p:nvGraphicFramePr>
        <p:xfrm>
          <a:off x="1071113" y="3075680"/>
          <a:ext cx="9625642" cy="2011680"/>
        </p:xfrm>
        <a:graphic>
          <a:graphicData uri="http://schemas.openxmlformats.org/drawingml/2006/table">
            <a:tbl>
              <a:tblPr/>
              <a:tblGrid>
                <a:gridCol w="2122800">
                  <a:extLst>
                    <a:ext uri="{9D8B030D-6E8A-4147-A177-3AD203B41FA5}">
                      <a16:colId xmlns:a16="http://schemas.microsoft.com/office/drawing/2014/main" val="1227230359"/>
                    </a:ext>
                  </a:extLst>
                </a:gridCol>
                <a:gridCol w="5124727">
                  <a:extLst>
                    <a:ext uri="{9D8B030D-6E8A-4147-A177-3AD203B41FA5}">
                      <a16:colId xmlns:a16="http://schemas.microsoft.com/office/drawing/2014/main" val="3825236408"/>
                    </a:ext>
                  </a:extLst>
                </a:gridCol>
                <a:gridCol w="2378115">
                  <a:extLst>
                    <a:ext uri="{9D8B030D-6E8A-4147-A177-3AD203B41FA5}">
                      <a16:colId xmlns:a16="http://schemas.microsoft.com/office/drawing/2014/main" val="4266293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86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None 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There is no impact on the integrity of the system.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176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Partial (P)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effectLst/>
                        </a:rPr>
                        <a:t>Modification of some data or system files is possible, but the scope of the modification is limited.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0.275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73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Complete (C)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There is total loss of integrity; the attacker can modify any files or information on the target system.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0.660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233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03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Vulnerability Scoring System (CVSS)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(A)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describes the impact on the availability of the target system. Attacks that consume network bandwidth, processor cycles, memory, or any other resources affect the availability of a system</a:t>
            </a:r>
          </a:p>
          <a:p>
            <a:pPr algn="just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09939"/>
              </p:ext>
            </p:extLst>
          </p:nvPr>
        </p:nvGraphicFramePr>
        <p:xfrm>
          <a:off x="1295400" y="3890963"/>
          <a:ext cx="9582509" cy="2011680"/>
        </p:xfrm>
        <a:graphic>
          <a:graphicData uri="http://schemas.openxmlformats.org/drawingml/2006/table">
            <a:tbl>
              <a:tblPr/>
              <a:tblGrid>
                <a:gridCol w="2537779">
                  <a:extLst>
                    <a:ext uri="{9D8B030D-6E8A-4147-A177-3AD203B41FA5}">
                      <a16:colId xmlns:a16="http://schemas.microsoft.com/office/drawing/2014/main" val="2241219820"/>
                    </a:ext>
                  </a:extLst>
                </a:gridCol>
                <a:gridCol w="4965764">
                  <a:extLst>
                    <a:ext uri="{9D8B030D-6E8A-4147-A177-3AD203B41FA5}">
                      <a16:colId xmlns:a16="http://schemas.microsoft.com/office/drawing/2014/main" val="3495630823"/>
                    </a:ext>
                  </a:extLst>
                </a:gridCol>
                <a:gridCol w="2078966">
                  <a:extLst>
                    <a:ext uri="{9D8B030D-6E8A-4147-A177-3AD203B41FA5}">
                      <a16:colId xmlns:a16="http://schemas.microsoft.com/office/drawing/2014/main" val="3456044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180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None 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There is no impact on the availability of the system.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27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Partial (P)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There is reduced performance or loss of some functionality.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0.275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367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Complete (C)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There is total loss of availability of the attacked resource.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0.660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546296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95400" y="38917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61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</a:p>
        </p:txBody>
      </p:sp>
      <p:sp>
        <p:nvSpPr>
          <p:cNvPr id="4" name="AutoShape 2" descr="{\displaystyle {\textsf {Impact}}=10.41\times (1-(1-{\textsf {ConfImpact}})\times (1-{\textsf {IntegImpact}})\times (1-{\textsf {AvailImpact}}))}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1791120"/>
            <a:ext cx="105156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six metrics are used to calculate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sub-scores of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sub-scores are used to calculate the overall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BaseScore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29" y="3530360"/>
            <a:ext cx="9525000" cy="20574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0B80-2E88-453F-BA3B-21B8BD0FD0C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8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1874</Words>
  <Application>Microsoft Office PowerPoint</Application>
  <PresentationFormat>Widescreen</PresentationFormat>
  <Paragraphs>257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Measuring External Product Attributes</vt:lpstr>
      <vt:lpstr>QUALITY</vt:lpstr>
      <vt:lpstr>QUALITY</vt:lpstr>
      <vt:lpstr>QUALITY ATTRIBUTES</vt:lpstr>
      <vt:lpstr>MODELING SOFTWARE QUALITY</vt:lpstr>
      <vt:lpstr>BOEHM SOFTWARE QUALITY MODEL</vt:lpstr>
      <vt:lpstr>McCall SOFTWARE QUALITY MODEL</vt:lpstr>
      <vt:lpstr>PowerPoint Presentation</vt:lpstr>
      <vt:lpstr>Six Sigma Principle</vt:lpstr>
      <vt:lpstr>Six Sigma Methodologies</vt:lpstr>
      <vt:lpstr>Six Sigma (DMAIC)</vt:lpstr>
      <vt:lpstr>Six Sigma (DMADV)</vt:lpstr>
      <vt:lpstr>Differences between DMAIC and DMADV</vt:lpstr>
      <vt:lpstr>Sigma Performance Table</vt:lpstr>
      <vt:lpstr>3 Sigma Vs. 6 Sigma: A case</vt:lpstr>
      <vt:lpstr>TWO DIFFERENT WAYS</vt:lpstr>
      <vt:lpstr>ISO/IEC 9126-1 and ISO/IEC 25010 Standard Quality Models</vt:lpstr>
      <vt:lpstr>ISO/IEC 25010 Standard Quality Model</vt:lpstr>
      <vt:lpstr>ISO/IEC 25010 Standard Quality Model</vt:lpstr>
      <vt:lpstr>Measuring Aspect of Quality (how to measure)</vt:lpstr>
      <vt:lpstr>Measuring Aspect of Quality (how to measure)</vt:lpstr>
      <vt:lpstr>Common Vulnerability Scoring System (CVSS)</vt:lpstr>
      <vt:lpstr>Common Vulnerability Scoring System (CVSS)</vt:lpstr>
      <vt:lpstr>Common Vulnerability Scoring System (CVSS)</vt:lpstr>
      <vt:lpstr>Common Vulnerability Scoring System (CVSS)</vt:lpstr>
      <vt:lpstr>Common Vulnerability Scoring System (CVSS)</vt:lpstr>
      <vt:lpstr>Common Vulnerability Scoring System (CVSS)</vt:lpstr>
      <vt:lpstr>Common Vulnerability Scoring System (CVSS)</vt:lpstr>
      <vt:lpstr>Common Vulnerability Scoring System (CVSS)</vt:lpstr>
      <vt:lpstr>Common Vulnerability Scoring System (CVSS)</vt:lpstr>
      <vt:lpstr>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External Product Attributes</dc:title>
  <dc:creator>Windows User</dc:creator>
  <cp:lastModifiedBy>User</cp:lastModifiedBy>
  <cp:revision>125</cp:revision>
  <dcterms:created xsi:type="dcterms:W3CDTF">2022-09-18T05:44:29Z</dcterms:created>
  <dcterms:modified xsi:type="dcterms:W3CDTF">2025-07-01T16:35:57Z</dcterms:modified>
</cp:coreProperties>
</file>