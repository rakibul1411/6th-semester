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316" r:id="rId4"/>
    <p:sldId id="257" r:id="rId5"/>
    <p:sldId id="258" r:id="rId6"/>
    <p:sldId id="259" r:id="rId7"/>
    <p:sldId id="260" r:id="rId9"/>
    <p:sldId id="261" r:id="rId10"/>
    <p:sldId id="263" r:id="rId11"/>
    <p:sldId id="262" r:id="rId12"/>
    <p:sldId id="314" r:id="rId13"/>
    <p:sldId id="315" r:id="rId14"/>
    <p:sldId id="264" r:id="rId15"/>
    <p:sldId id="265" r:id="rId16"/>
    <p:sldId id="266" r:id="rId17"/>
    <p:sldId id="267" r:id="rId18"/>
    <p:sldId id="268" r:id="rId19"/>
    <p:sldId id="270" r:id="rId20"/>
    <p:sldId id="271" r:id="rId21"/>
    <p:sldId id="295" r:id="rId22"/>
    <p:sldId id="272" r:id="rId23"/>
    <p:sldId id="273" r:id="rId24"/>
    <p:sldId id="274" r:id="rId25"/>
    <p:sldId id="275" r:id="rId26"/>
    <p:sldId id="276" r:id="rId27"/>
    <p:sldId id="277" r:id="rId28"/>
    <p:sldId id="297" r:id="rId29"/>
    <p:sldId id="278" r:id="rId30"/>
    <p:sldId id="279" r:id="rId31"/>
    <p:sldId id="280" r:id="rId32"/>
    <p:sldId id="281" r:id="rId33"/>
    <p:sldId id="282" r:id="rId34"/>
    <p:sldId id="283" r:id="rId35"/>
    <p:sldId id="285" r:id="rId36"/>
    <p:sldId id="287" r:id="rId37"/>
    <p:sldId id="284" r:id="rId38"/>
    <p:sldId id="286" r:id="rId39"/>
    <p:sldId id="288" r:id="rId40"/>
    <p:sldId id="289" r:id="rId41"/>
    <p:sldId id="298" r:id="rId42"/>
    <p:sldId id="299" r:id="rId43"/>
    <p:sldId id="296" r:id="rId44"/>
    <p:sldId id="300" r:id="rId45"/>
    <p:sldId id="301" r:id="rId46"/>
    <p:sldId id="302" r:id="rId47"/>
    <p:sldId id="303" r:id="rId48"/>
    <p:sldId id="304" r:id="rId49"/>
    <p:sldId id="305" r:id="rId50"/>
    <p:sldId id="307" r:id="rId51"/>
    <p:sldId id="306" r:id="rId52"/>
    <p:sldId id="308" r:id="rId53"/>
    <p:sldId id="309" r:id="rId54"/>
    <p:sldId id="310" r:id="rId55"/>
    <p:sldId id="317" r:id="rId56"/>
    <p:sldId id="313" r:id="rId57"/>
    <p:sldId id="311" r:id="rId58"/>
    <p:sldId id="31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79D28-FBA2-4E11-BF7B-01F3A6E9045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9CA70-5DFF-40AE-992B-8CE1A782620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39CA70-5DFF-40AE-992B-8CE1A782620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087BAD3-9D42-4048-ACC2-AD8BD27DF9A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4E8CE60-8959-4696-A8DD-B8F5289C320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B99CEF1E-A773-4035-AF8A-B470FD4A7DC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1D5FB6E-034E-44CD-8122-07275726AC9A}"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631BA56-BB30-4FC6-8A18-A95810EDD4CB}"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283B90DF-41B9-4C2B-8FC2-A9E1E21CDDDC}"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75BA13-F8A1-463C-BA29-6B62B68239B6}"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BA9C915D-7673-4E37-87DF-D9F9FDE0F69B}"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8A5DED4F-D232-4388-9300-85A61A4439BA}"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B3EEEE9-011E-4EBE-BE5F-E7B28B51ED9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546608-B868-430B-B4E9-4E3233908C8F}"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6E0116-0783-4C1E-BFA5-120E80361191}"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AAA8BD-D267-4C4E-B16C-9A3CB850B98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4.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ifpug.or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503050405090304" pitchFamily="18" charset="0"/>
                <a:cs typeface="Times New Roman" panose="02020503050405090304" pitchFamily="18" charset="0"/>
              </a:rPr>
              <a:t>Measuring Internal</a:t>
            </a:r>
            <a:br>
              <a:rPr lang="en-US" dirty="0">
                <a:latin typeface="Times New Roman" panose="02020503050405090304" pitchFamily="18" charset="0"/>
                <a:cs typeface="Times New Roman" panose="02020503050405090304" pitchFamily="18" charset="0"/>
              </a:rPr>
            </a:br>
            <a:r>
              <a:rPr lang="en-US" dirty="0">
                <a:latin typeface="Times New Roman" panose="02020503050405090304" pitchFamily="18" charset="0"/>
                <a:cs typeface="Times New Roman" panose="02020503050405090304" pitchFamily="18" charset="0"/>
              </a:rPr>
              <a:t>Product Attributes</a:t>
            </a:r>
            <a:endParaRPr lang="en-US" dirty="0">
              <a:latin typeface="Times New Roman" panose="02020503050405090304" pitchFamily="18" charset="0"/>
              <a:cs typeface="Times New Roman" panose="02020503050405090304" pitchFamily="18" charset="0"/>
            </a:endParaRPr>
          </a:p>
        </p:txBody>
      </p:sp>
      <p:sp>
        <p:nvSpPr>
          <p:cNvPr id="3" name="Subtitle 2"/>
          <p:cNvSpPr>
            <a:spLocks noGrp="1"/>
          </p:cNvSpPr>
          <p:nvPr>
            <p:ph type="subTitle" idx="1"/>
          </p:nvPr>
        </p:nvSpPr>
        <p:spPr/>
        <p:txBody>
          <a:bodyPr/>
          <a:lstStyle/>
          <a:p>
            <a:r>
              <a:rPr lang="en-US" dirty="0"/>
              <a:t>Size</a:t>
            </a:r>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Internal Product Attributes</a:t>
            </a:r>
            <a:endParaRPr lang="en-US" dirty="0"/>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In software engineering, </a:t>
            </a:r>
            <a:r>
              <a:rPr lang="en-US" dirty="0">
                <a:solidFill>
                  <a:srgbClr val="FF0000"/>
                </a:solidFill>
                <a:latin typeface="Times New Roman" panose="02020503050405090304" pitchFamily="18" charset="0"/>
                <a:cs typeface="Times New Roman" panose="02020503050405090304" pitchFamily="18" charset="0"/>
              </a:rPr>
              <a:t>internal product attributes refer to the inherent characteristics of the software codebase and architecture</a:t>
            </a:r>
            <a:r>
              <a:rPr lang="en-US" dirty="0">
                <a:latin typeface="Times New Roman" panose="02020503050405090304" pitchFamily="18" charset="0"/>
                <a:cs typeface="Times New Roman" panose="02020503050405090304" pitchFamily="18" charset="0"/>
              </a:rPr>
              <a:t>—those aspects that are not directly visible to the end user but impact </a:t>
            </a:r>
            <a:r>
              <a:rPr lang="en-US" dirty="0">
                <a:solidFill>
                  <a:srgbClr val="FF0000"/>
                </a:solidFill>
                <a:latin typeface="Times New Roman" panose="02020503050405090304" pitchFamily="18" charset="0"/>
                <a:cs typeface="Times New Roman" panose="02020503050405090304" pitchFamily="18" charset="0"/>
              </a:rPr>
              <a:t>maintainability, reliability, efficiency, and quality</a:t>
            </a:r>
            <a:r>
              <a:rPr lang="en-US" dirty="0">
                <a:latin typeface="Times New Roman" panose="02020503050405090304" pitchFamily="18" charset="0"/>
                <a:cs typeface="Times New Roman" panose="02020503050405090304" pitchFamily="18" charset="0"/>
              </a:rPr>
              <a:t>.</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Software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Size measures only indicate how much of an entity we have.</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Size alone cannot directly indicate external attributes such as effort, productivity, and cost</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It doesn’t measure the external attributes like “coding difficulties”, however, it is a good measure to </a:t>
            </a:r>
            <a:r>
              <a:rPr lang="en-US" dirty="0">
                <a:solidFill>
                  <a:srgbClr val="FF0000"/>
                </a:solidFill>
                <a:latin typeface="Times New Roman" panose="02020503050405090304" pitchFamily="18" charset="0"/>
                <a:cs typeface="Times New Roman" panose="02020503050405090304" pitchFamily="18" charset="0"/>
              </a:rPr>
              <a:t>predict software development time and resources</a:t>
            </a:r>
            <a:r>
              <a:rPr lang="en-US" dirty="0">
                <a:latin typeface="Times New Roman" panose="02020503050405090304" pitchFamily="18" charset="0"/>
                <a:cs typeface="Times New Roman" panose="02020503050405090304" pitchFamily="18" charset="0"/>
              </a:rPr>
              <a:t>. e.g.,</a:t>
            </a:r>
            <a:endParaRPr lang="en-US" dirty="0">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
            </a:pPr>
            <a:r>
              <a:rPr lang="en-US" dirty="0">
                <a:solidFill>
                  <a:srgbClr val="FF0000"/>
                </a:solidFill>
                <a:latin typeface="Times New Roman" panose="02020503050405090304" pitchFamily="18" charset="0"/>
                <a:cs typeface="Times New Roman" panose="02020503050405090304" pitchFamily="18" charset="0"/>
              </a:rPr>
              <a:t>Productivity=size/effort</a:t>
            </a:r>
            <a:endParaRPr lang="en-US" dirty="0">
              <a:solidFill>
                <a:srgbClr val="FF0000"/>
              </a:solidFill>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
            </a:pPr>
            <a:r>
              <a:rPr lang="en-US" dirty="0">
                <a:solidFill>
                  <a:srgbClr val="FF0000"/>
                </a:solidFill>
                <a:latin typeface="Times New Roman" panose="02020503050405090304" pitchFamily="18" charset="0"/>
                <a:cs typeface="Times New Roman" panose="02020503050405090304" pitchFamily="18" charset="0"/>
              </a:rPr>
              <a:t>Defect density = Defect count/size</a:t>
            </a:r>
            <a:endParaRPr lang="en-US" dirty="0">
              <a:solidFill>
                <a:srgbClr val="FF0000"/>
              </a:solidFill>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924713" cy="1325563"/>
          </a:xfrm>
        </p:spPr>
        <p:txBody>
          <a:bodyPr/>
          <a:lstStyle/>
          <a:p>
            <a:r>
              <a:rPr lang="en-US" dirty="0">
                <a:latin typeface="Times New Roman" panose="02020503050405090304" pitchFamily="18" charset="0"/>
                <a:cs typeface="Times New Roman" panose="02020503050405090304" pitchFamily="18" charset="0"/>
              </a:rPr>
              <a:t>Properties of Valid Software Size Measurement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marL="0" indent="0">
              <a:buNone/>
            </a:pPr>
            <a:endParaRPr lang="en-US" dirty="0">
              <a:latin typeface="Times New Roman" panose="02020503050405090304" pitchFamily="18" charset="0"/>
              <a:cs typeface="Times New Roman" panose="02020503050405090304" pitchFamily="18" charset="0"/>
            </a:endParaRPr>
          </a:p>
          <a:p>
            <a:pPr marL="0" indent="0">
              <a:buNone/>
            </a:pPr>
            <a:r>
              <a:rPr lang="en-US" dirty="0">
                <a:latin typeface="Times New Roman" panose="02020503050405090304" pitchFamily="18" charset="0"/>
                <a:cs typeface="Times New Roman" panose="02020503050405090304" pitchFamily="18" charset="0"/>
              </a:rPr>
              <a:t>● </a:t>
            </a:r>
            <a:r>
              <a:rPr lang="en-US" dirty="0">
                <a:solidFill>
                  <a:srgbClr val="FF0000"/>
                </a:solidFill>
                <a:latin typeface="Times New Roman" panose="02020503050405090304" pitchFamily="18" charset="0"/>
                <a:cs typeface="Times New Roman" panose="02020503050405090304" pitchFamily="18" charset="0"/>
              </a:rPr>
              <a:t>Three properties</a:t>
            </a:r>
            <a:r>
              <a:rPr lang="en-US" dirty="0">
                <a:latin typeface="Times New Roman" panose="02020503050405090304" pitchFamily="18" charset="0"/>
                <a:cs typeface="Times New Roman" panose="02020503050405090304" pitchFamily="18" charset="0"/>
              </a:rPr>
              <a:t> for any valid measure of software size:</a:t>
            </a:r>
            <a:endParaRPr lang="en-US" dirty="0">
              <a:latin typeface="Times New Roman" panose="02020503050405090304" pitchFamily="18" charset="0"/>
              <a:cs typeface="Times New Roman" panose="02020503050405090304" pitchFamily="18" charset="0"/>
            </a:endParaRPr>
          </a:p>
          <a:p>
            <a:pPr lvl="2">
              <a:buFont typeface="Wingdings" panose="05000000000000000000" pitchFamily="2" charset="2"/>
              <a:buChar char="§"/>
            </a:pPr>
            <a:r>
              <a:rPr lang="en-US" dirty="0" err="1">
                <a:solidFill>
                  <a:srgbClr val="FF0000"/>
                </a:solidFill>
                <a:latin typeface="Times New Roman" panose="02020503050405090304" pitchFamily="18" charset="0"/>
                <a:cs typeface="Times New Roman" panose="02020503050405090304" pitchFamily="18" charset="0"/>
              </a:rPr>
              <a:t>Nonnegativity</a:t>
            </a:r>
            <a:r>
              <a:rPr lang="en-US" dirty="0">
                <a:latin typeface="Times New Roman" panose="02020503050405090304" pitchFamily="18" charset="0"/>
                <a:cs typeface="Times New Roman" panose="02020503050405090304" pitchFamily="18" charset="0"/>
              </a:rPr>
              <a:t>: All systems have nonnegative size.</a:t>
            </a:r>
            <a:endParaRPr lang="en-US" dirty="0">
              <a:latin typeface="Times New Roman" panose="02020503050405090304" pitchFamily="18" charset="0"/>
              <a:cs typeface="Times New Roman" panose="02020503050405090304" pitchFamily="18" charset="0"/>
            </a:endParaRPr>
          </a:p>
          <a:p>
            <a:pPr lvl="2">
              <a:buFont typeface="Wingdings" panose="05000000000000000000" pitchFamily="2" charset="2"/>
              <a:buChar char="§"/>
            </a:pPr>
            <a:r>
              <a:rPr lang="en-US" dirty="0">
                <a:solidFill>
                  <a:srgbClr val="FF0000"/>
                </a:solidFill>
                <a:latin typeface="Times New Roman" panose="02020503050405090304" pitchFamily="18" charset="0"/>
                <a:cs typeface="Times New Roman" panose="02020503050405090304" pitchFamily="18" charset="0"/>
              </a:rPr>
              <a:t>Null value</a:t>
            </a:r>
            <a:r>
              <a:rPr lang="en-US" dirty="0">
                <a:latin typeface="Times New Roman" panose="02020503050405090304" pitchFamily="18" charset="0"/>
                <a:cs typeface="Times New Roman" panose="02020503050405090304" pitchFamily="18" charset="0"/>
              </a:rPr>
              <a:t>: The size of a system with no elements is zero.</a:t>
            </a:r>
            <a:endParaRPr lang="en-US" dirty="0">
              <a:latin typeface="Times New Roman" panose="02020503050405090304" pitchFamily="18" charset="0"/>
              <a:cs typeface="Times New Roman" panose="02020503050405090304" pitchFamily="18" charset="0"/>
            </a:endParaRPr>
          </a:p>
          <a:p>
            <a:pPr lvl="2">
              <a:buFont typeface="Wingdings" panose="05000000000000000000" pitchFamily="2" charset="2"/>
              <a:buChar char="§"/>
            </a:pPr>
            <a:r>
              <a:rPr lang="en-US" dirty="0">
                <a:solidFill>
                  <a:srgbClr val="FF0000"/>
                </a:solidFill>
                <a:latin typeface="Times New Roman" panose="02020503050405090304" pitchFamily="18" charset="0"/>
                <a:cs typeface="Times New Roman" panose="02020503050405090304" pitchFamily="18" charset="0"/>
              </a:rPr>
              <a:t>Additivity</a:t>
            </a:r>
            <a:r>
              <a:rPr lang="en-US" dirty="0">
                <a:latin typeface="Times New Roman" panose="02020503050405090304" pitchFamily="18" charset="0"/>
                <a:cs typeface="Times New Roman" panose="02020503050405090304" pitchFamily="18" charset="0"/>
              </a:rPr>
              <a:t>: The size of the union of two modules is the sum of the sizes of the two modules after subtracting the size of the intersection</a:t>
            </a:r>
            <a:endParaRPr lang="en-US" dirty="0">
              <a:latin typeface="Times New Roman" panose="02020503050405090304" pitchFamily="18" charset="0"/>
              <a:cs typeface="Times New Roman" panose="02020503050405090304" pitchFamily="18" charset="0"/>
            </a:endParaRPr>
          </a:p>
          <a:p>
            <a:pPr marL="914400" lvl="2" indent="0">
              <a:buNone/>
            </a:pPr>
            <a:endParaRPr lang="en-US" dirty="0"/>
          </a:p>
          <a:p>
            <a:pPr marL="0" indent="0">
              <a:buNone/>
            </a:pPr>
            <a:r>
              <a:rPr lang="en-US" dirty="0"/>
              <a:t>		</a:t>
            </a:r>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graphicFrame>
        <p:nvGraphicFramePr>
          <p:cNvPr id="5" name="Table 4"/>
          <p:cNvGraphicFramePr/>
          <p:nvPr/>
        </p:nvGraphicFramePr>
        <p:xfrm>
          <a:off x="949960" y="4469130"/>
          <a:ext cx="10485120" cy="0"/>
        </p:xfrm>
        <a:graphic>
          <a:graphicData uri="http://schemas.openxmlformats.org/drawingml/2006/table">
            <a:tbl>
              <a:tblPr/>
              <a:tblGrid>
                <a:gridCol w="3495040"/>
                <a:gridCol w="3495040"/>
                <a:gridCol w="3495040"/>
              </a:tblGrid>
              <a:tr h="0">
                <a:tc>
                  <a:txBody>
                    <a:bodyPr/>
                    <a:p>
                      <a:pPr algn="ctr"/>
                      <a:r>
                        <a:rPr sz="1400" b="1"/>
                        <a:t>Measure</a:t>
                      </a:r>
                      <a:endParaRPr sz="1400" b="1"/>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b="1"/>
                        <a:t>What it counts</a:t>
                      </a:r>
                      <a:endParaRPr sz="1400" b="1"/>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b="1"/>
                        <a:t>Ignores</a:t>
                      </a:r>
                      <a:endParaRPr sz="1400" b="1"/>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0">
                <a:tc>
                  <a:txBody>
                    <a:bodyPr/>
                    <a:p>
                      <a:pPr algn="ctr"/>
                      <a:r>
                        <a:rPr sz="1400"/>
                        <a:t>LOC</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All lines (code + comments)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Nothing</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0">
                <a:tc>
                  <a:txBody>
                    <a:bodyPr/>
                    <a:p>
                      <a:pPr algn="ctr"/>
                      <a:r>
                        <a:rPr sz="1400"/>
                        <a:t>NCLOC</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Only actual code lines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Comments &amp; blanks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0">
                <a:tc>
                  <a:txBody>
                    <a:bodyPr/>
                    <a:p>
                      <a:pPr algn="ctr"/>
                      <a:r>
                        <a:rPr sz="1400"/>
                        <a:t>CLOC</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Only comment lines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Code</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0">
                <a:tc>
                  <a:txBody>
                    <a:bodyPr/>
                    <a:p>
                      <a:pPr algn="ctr"/>
                      <a:r>
                        <a:rPr sz="1400"/>
                        <a:t>ES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Each instruction</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p>
                      <a:pPr algn="ctr"/>
                      <a:r>
                        <a:rPr sz="1400"/>
                        <a:t>Comments, declarations</a:t>
                      </a:r>
                      <a:endParaRPr sz="14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Code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The most commonly used measure of source code size is the number of </a:t>
            </a:r>
            <a:r>
              <a:rPr lang="en-US" dirty="0">
                <a:solidFill>
                  <a:srgbClr val="FF0000"/>
                </a:solidFill>
                <a:latin typeface="Times New Roman" panose="02020503050405090304" pitchFamily="18" charset="0"/>
                <a:cs typeface="Times New Roman" panose="02020503050405090304" pitchFamily="18" charset="0"/>
              </a:rPr>
              <a:t>lines of code (LOCs)</a:t>
            </a:r>
            <a:r>
              <a:rPr lang="en-US" dirty="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We must explain how each of the following is handled:</a:t>
            </a:r>
            <a:endParaRPr lang="en-US" dirty="0">
              <a:latin typeface="Times New Roman" panose="02020503050405090304" pitchFamily="18" charset="0"/>
              <a:cs typeface="Times New Roman" panose="02020503050405090304" pitchFamily="18" charset="0"/>
            </a:endParaRPr>
          </a:p>
          <a:p>
            <a:pPr lvl="2"/>
            <a:r>
              <a:rPr lang="en-US" dirty="0">
                <a:solidFill>
                  <a:srgbClr val="FF0000"/>
                </a:solidFill>
                <a:latin typeface="Times New Roman" panose="02020503050405090304" pitchFamily="18" charset="0"/>
                <a:cs typeface="Times New Roman" panose="02020503050405090304" pitchFamily="18" charset="0"/>
              </a:rPr>
              <a:t>Blank lines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dirty="0">
                <a:solidFill>
                  <a:srgbClr val="FF0000"/>
                </a:solidFill>
                <a:latin typeface="Times New Roman" panose="02020503050405090304" pitchFamily="18" charset="0"/>
                <a:cs typeface="Times New Roman" panose="02020503050405090304" pitchFamily="18" charset="0"/>
              </a:rPr>
              <a:t>Comment lines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dirty="0">
                <a:solidFill>
                  <a:srgbClr val="FF0000"/>
                </a:solidFill>
                <a:latin typeface="Times New Roman" panose="02020503050405090304" pitchFamily="18" charset="0"/>
                <a:cs typeface="Times New Roman" panose="02020503050405090304" pitchFamily="18" charset="0"/>
              </a:rPr>
              <a:t>Data declarations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dirty="0">
                <a:solidFill>
                  <a:srgbClr val="FF0000"/>
                </a:solidFill>
                <a:latin typeface="Times New Roman" panose="02020503050405090304" pitchFamily="18" charset="0"/>
                <a:cs typeface="Times New Roman" panose="02020503050405090304" pitchFamily="18" charset="0"/>
              </a:rPr>
              <a:t>Lines that contain several separate instructions</a:t>
            </a:r>
            <a:endParaRPr lang="en-US" dirty="0">
              <a:solidFill>
                <a:srgbClr val="FF0000"/>
              </a:solidFill>
              <a:latin typeface="Times New Roman" panose="02020503050405090304" pitchFamily="18" charset="0"/>
              <a:cs typeface="Times New Roman" panose="02020503050405090304" pitchFamily="18" charset="0"/>
            </a:endParaRPr>
          </a:p>
          <a:p>
            <a:pPr marL="914400" lvl="2" indent="0">
              <a:buNone/>
            </a:pPr>
            <a:endParaRPr lang="en-US" dirty="0">
              <a:latin typeface="Times New Roman" panose="02020503050405090304" pitchFamily="18" charset="0"/>
              <a:cs typeface="Times New Roman" panose="02020503050405090304" pitchFamily="18" charset="0"/>
            </a:endParaRPr>
          </a:p>
          <a:p>
            <a:pPr marL="228600" lvl="2">
              <a:spcBef>
                <a:spcPts val="1000"/>
              </a:spcBef>
            </a:pPr>
            <a:r>
              <a:rPr lang="en-US" sz="2800" dirty="0">
                <a:latin typeface="Times New Roman" panose="02020503050405090304" pitchFamily="18" charset="0"/>
                <a:cs typeface="Times New Roman" panose="02020503050405090304" pitchFamily="18" charset="0"/>
              </a:rPr>
              <a:t>One count can be as much as five times larger than another, simply because of the difference in counting technique</a:t>
            </a:r>
            <a:endParaRPr lang="en-US" sz="2800"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LOC Definitions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503050405090304" pitchFamily="18" charset="0"/>
                <a:cs typeface="Times New Roman" panose="02020503050405090304" pitchFamily="18" charset="0"/>
              </a:rPr>
              <a:t>NCLOC: Non-Commented Lines of Code (Comments and blank lines removed), sometimes called </a:t>
            </a:r>
            <a:r>
              <a:rPr lang="en-US" b="1" dirty="0">
                <a:latin typeface="Times New Roman" panose="02020503050405090304" pitchFamily="18" charset="0"/>
                <a:cs typeface="Times New Roman" panose="02020503050405090304" pitchFamily="18" charset="0"/>
              </a:rPr>
              <a:t>effective lines of a code</a:t>
            </a:r>
            <a:r>
              <a:rPr lang="en-US" dirty="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CLOC: Number of comment lines of program text (CLOC)</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Total size (LOC) = NCLOC + CLOC</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Density of comments = CLOC / LOC</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Is NCLOC a valid measure?</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number of executable statements (ES): counts separate statements on the same physical line as distinct. It ignores comment lines, data declarations, and headings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Halstead’s Approach</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38200" y="1563757"/>
            <a:ext cx="10515600" cy="4613206"/>
          </a:xfrm>
        </p:spPr>
        <p:txBody>
          <a:bodyPr>
            <a:normAutofit fontScale="92500" lnSpcReduction="10000"/>
          </a:bodyPr>
          <a:lstStyle/>
          <a:p>
            <a:pPr algn="just"/>
            <a:r>
              <a:rPr lang="en-US" dirty="0">
                <a:latin typeface="Times New Roman" panose="02020503050405090304" pitchFamily="18" charset="0"/>
                <a:cs typeface="Times New Roman" panose="02020503050405090304" pitchFamily="18" charset="0"/>
              </a:rPr>
              <a:t>Halstead’s Software Science is a </a:t>
            </a:r>
            <a:r>
              <a:rPr lang="en-US" dirty="0">
                <a:solidFill>
                  <a:srgbClr val="FF0000"/>
                </a:solidFill>
                <a:latin typeface="Times New Roman" panose="02020503050405090304" pitchFamily="18" charset="0"/>
                <a:cs typeface="Times New Roman" panose="02020503050405090304" pitchFamily="18" charset="0"/>
              </a:rPr>
              <a:t>theoretical approach to measuring software complexity and predicting attributes of a program based on its code</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The approach is based on quantifying the properties of a program by examining its </a:t>
            </a:r>
            <a:r>
              <a:rPr lang="en-US" b="1" dirty="0">
                <a:latin typeface="Times New Roman" panose="02020503050405090304" pitchFamily="18" charset="0"/>
                <a:cs typeface="Times New Roman" panose="02020503050405090304" pitchFamily="18" charset="0"/>
              </a:rPr>
              <a:t>operators</a:t>
            </a:r>
            <a:r>
              <a:rPr lang="en-US" dirty="0">
                <a:latin typeface="Times New Roman" panose="02020503050405090304" pitchFamily="18" charset="0"/>
                <a:cs typeface="Times New Roman" panose="02020503050405090304" pitchFamily="18" charset="0"/>
              </a:rPr>
              <a:t> and </a:t>
            </a:r>
            <a:r>
              <a:rPr lang="en-US" b="1" dirty="0">
                <a:latin typeface="Times New Roman" panose="02020503050405090304" pitchFamily="18" charset="0"/>
                <a:cs typeface="Times New Roman" panose="02020503050405090304" pitchFamily="18" charset="0"/>
              </a:rPr>
              <a:t>operands</a:t>
            </a:r>
            <a:r>
              <a:rPr lang="en-US" dirty="0">
                <a:latin typeface="Times New Roman" panose="02020503050405090304" pitchFamily="18" charset="0"/>
                <a:cs typeface="Times New Roman" panose="02020503050405090304" pitchFamily="18" charset="0"/>
              </a:rPr>
              <a:t>, aiming to provide objective measures of complexity, size, and effort.</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Halstead’s theory is based on </a:t>
            </a:r>
            <a:r>
              <a:rPr lang="en-US" dirty="0">
                <a:solidFill>
                  <a:srgbClr val="FF0000"/>
                </a:solidFill>
                <a:latin typeface="Times New Roman" panose="02020503050405090304" pitchFamily="18" charset="0"/>
                <a:cs typeface="Times New Roman" panose="02020503050405090304" pitchFamily="18" charset="0"/>
              </a:rPr>
              <a:t>four fundamental measures</a:t>
            </a:r>
            <a:r>
              <a:rPr lang="en-US" dirty="0">
                <a:latin typeface="Times New Roman" panose="02020503050405090304" pitchFamily="18" charset="0"/>
                <a:cs typeface="Times New Roman" panose="02020503050405090304" pitchFamily="18" charset="0"/>
              </a:rPr>
              <a:t> derived from the source code:</a:t>
            </a:r>
            <a:endParaRPr lang="en-US" dirty="0">
              <a:latin typeface="Times New Roman" panose="02020503050405090304" pitchFamily="18" charset="0"/>
              <a:cs typeface="Times New Roman" panose="02020503050405090304" pitchFamily="18" charset="0"/>
            </a:endParaRPr>
          </a:p>
          <a:p>
            <a:pPr lvl="2" algn="just"/>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1 </a:t>
            </a:r>
            <a:r>
              <a:rPr lang="en-US" dirty="0">
                <a:solidFill>
                  <a:srgbClr val="FF0000"/>
                </a:solidFill>
                <a:latin typeface="Times New Roman" panose="02020503050405090304" pitchFamily="18" charset="0"/>
                <a:cs typeface="Times New Roman" panose="02020503050405090304" pitchFamily="18" charset="0"/>
              </a:rPr>
              <a:t>= Number of unique operators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baseline="-25000" dirty="0">
                <a:solidFill>
                  <a:srgbClr val="FF0000"/>
                </a:solidFill>
                <a:latin typeface="Times New Roman" panose="02020503050405090304" pitchFamily="18" charset="0"/>
                <a:cs typeface="Times New Roman" panose="02020503050405090304" pitchFamily="18" charset="0"/>
              </a:rPr>
              <a:t> </a:t>
            </a:r>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2 </a:t>
            </a:r>
            <a:r>
              <a:rPr lang="en-US" dirty="0">
                <a:solidFill>
                  <a:srgbClr val="FF0000"/>
                </a:solidFill>
                <a:latin typeface="Times New Roman" panose="02020503050405090304" pitchFamily="18" charset="0"/>
                <a:cs typeface="Times New Roman" panose="02020503050405090304" pitchFamily="18" charset="0"/>
              </a:rPr>
              <a:t>= Number of unique operands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i="1" dirty="0">
                <a:solidFill>
                  <a:srgbClr val="FF0000"/>
                </a:solidFill>
                <a:latin typeface="Times New Roman" panose="02020503050405090304" pitchFamily="18" charset="0"/>
                <a:cs typeface="Times New Roman" panose="02020503050405090304" pitchFamily="18" charset="0"/>
              </a:rPr>
              <a:t>N</a:t>
            </a:r>
            <a:r>
              <a:rPr lang="en-US" baseline="-25000" dirty="0">
                <a:solidFill>
                  <a:srgbClr val="FF0000"/>
                </a:solidFill>
                <a:latin typeface="Times New Roman" panose="02020503050405090304" pitchFamily="18" charset="0"/>
                <a:cs typeface="Times New Roman" panose="02020503050405090304" pitchFamily="18" charset="0"/>
              </a:rPr>
              <a:t>1 </a:t>
            </a:r>
            <a:r>
              <a:rPr lang="en-US" dirty="0">
                <a:solidFill>
                  <a:srgbClr val="FF0000"/>
                </a:solidFill>
                <a:latin typeface="Times New Roman" panose="02020503050405090304" pitchFamily="18" charset="0"/>
                <a:cs typeface="Times New Roman" panose="02020503050405090304" pitchFamily="18" charset="0"/>
              </a:rPr>
              <a:t>= Total occurrences of operators</a:t>
            </a:r>
            <a:endParaRPr lang="en-US" dirty="0">
              <a:solidFill>
                <a:srgbClr val="FF0000"/>
              </a:solidFill>
              <a:latin typeface="Times New Roman" panose="02020503050405090304" pitchFamily="18" charset="0"/>
              <a:cs typeface="Times New Roman" panose="02020503050405090304" pitchFamily="18" charset="0"/>
            </a:endParaRPr>
          </a:p>
          <a:p>
            <a:pPr lvl="2"/>
            <a:r>
              <a:rPr lang="en-US" i="1" dirty="0">
                <a:solidFill>
                  <a:srgbClr val="FF0000"/>
                </a:solidFill>
                <a:latin typeface="Times New Roman" panose="02020503050405090304" pitchFamily="18" charset="0"/>
                <a:cs typeface="Times New Roman" panose="02020503050405090304" pitchFamily="18" charset="0"/>
              </a:rPr>
              <a:t>N</a:t>
            </a:r>
            <a:r>
              <a:rPr lang="en-US" baseline="-25000" dirty="0">
                <a:solidFill>
                  <a:srgbClr val="FF0000"/>
                </a:solidFill>
                <a:latin typeface="Times New Roman" panose="02020503050405090304" pitchFamily="18" charset="0"/>
                <a:cs typeface="Times New Roman" panose="02020503050405090304" pitchFamily="18" charset="0"/>
              </a:rPr>
              <a:t>2 </a:t>
            </a:r>
            <a:r>
              <a:rPr lang="en-US" dirty="0">
                <a:solidFill>
                  <a:srgbClr val="FF0000"/>
                </a:solidFill>
                <a:latin typeface="Times New Roman" panose="02020503050405090304" pitchFamily="18" charset="0"/>
                <a:cs typeface="Times New Roman" panose="02020503050405090304" pitchFamily="18" charset="0"/>
              </a:rPr>
              <a:t>= Total occurrences of operands</a:t>
            </a:r>
            <a:endParaRPr lang="en-US" dirty="0">
              <a:solidFill>
                <a:srgbClr val="FF0000"/>
              </a:solidFill>
              <a:latin typeface="Times New Roman" panose="02020503050405090304" pitchFamily="18" charset="0"/>
              <a:cs typeface="Times New Roman" panose="02020503050405090304" pitchFamily="18" charset="0"/>
            </a:endParaRPr>
          </a:p>
          <a:p>
            <a:pPr marL="914400" lvl="2" indent="0">
              <a:buNone/>
            </a:pPr>
            <a:endParaRPr lang="en-US" dirty="0">
              <a:latin typeface="Times New Roman" panose="02020503050405090304" pitchFamily="18" charset="0"/>
              <a:cs typeface="Times New Roman" panose="02020503050405090304" pitchFamily="18" charset="0"/>
            </a:endParaRPr>
          </a:p>
          <a:p>
            <a:pPr marL="914400" lvl="2" indent="0">
              <a:buNone/>
            </a:pPr>
            <a:r>
              <a:rPr lang="en-US" sz="2800" dirty="0">
                <a:latin typeface="Times New Roman" panose="02020503050405090304" pitchFamily="18" charset="0"/>
                <a:cs typeface="Times New Roman" panose="02020503050405090304" pitchFamily="18" charset="0"/>
              </a:rPr>
              <a:t>From these basic measures, Halstead derived several important metrics</a:t>
            </a:r>
            <a:endParaRPr lang="en-US" sz="2800" dirty="0">
              <a:latin typeface="Times New Roman" panose="02020503050405090304" pitchFamily="18" charset="0"/>
              <a:cs typeface="Times New Roman" panose="02020503050405090304" pitchFamily="18" charset="0"/>
            </a:endParaRPr>
          </a:p>
          <a:p>
            <a:pPr lvl="2"/>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Times New Roman" panose="02020503050405090304" pitchFamily="18" charset="0"/>
                <a:cs typeface="Times New Roman" panose="02020503050405090304" pitchFamily="18" charset="0"/>
              </a:rPr>
              <a:t>Halstead’s Approach</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r>
              <a:rPr lang="en-US" b="1" dirty="0">
                <a:latin typeface="Times New Roman" panose="02020503050405090304" pitchFamily="18" charset="0"/>
                <a:cs typeface="Times New Roman" panose="02020503050405090304" pitchFamily="18" charset="0"/>
              </a:rPr>
              <a:t>Halstead Program Length: </a:t>
            </a:r>
            <a:r>
              <a:rPr lang="en-US" dirty="0">
                <a:latin typeface="Times New Roman" panose="02020503050405090304" pitchFamily="18" charset="0"/>
                <a:cs typeface="Times New Roman" panose="02020503050405090304" pitchFamily="18" charset="0"/>
              </a:rPr>
              <a:t>The total number of operator occurrences and the total number of operand occurrences. </a:t>
            </a:r>
            <a:r>
              <a:rPr lang="en-US" dirty="0">
                <a:solidFill>
                  <a:srgbClr val="FF0000"/>
                </a:solidFill>
                <a:latin typeface="Times New Roman" panose="02020503050405090304" pitchFamily="18" charset="0"/>
                <a:cs typeface="Times New Roman" panose="02020503050405090304" pitchFamily="18" charset="0"/>
              </a:rPr>
              <a:t>N = </a:t>
            </a:r>
            <a:r>
              <a:rPr lang="en-US" i="1" dirty="0">
                <a:solidFill>
                  <a:srgbClr val="FF0000"/>
                </a:solidFill>
                <a:latin typeface="Times New Roman" panose="02020503050405090304" pitchFamily="18" charset="0"/>
                <a:cs typeface="Times New Roman" panose="02020503050405090304" pitchFamily="18" charset="0"/>
              </a:rPr>
              <a:t>N</a:t>
            </a:r>
            <a:r>
              <a:rPr lang="en-US" baseline="-25000" dirty="0">
                <a:solidFill>
                  <a:srgbClr val="FF0000"/>
                </a:solidFill>
                <a:latin typeface="Times New Roman" panose="02020503050405090304" pitchFamily="18" charset="0"/>
                <a:cs typeface="Times New Roman" panose="02020503050405090304" pitchFamily="18" charset="0"/>
              </a:rPr>
              <a:t>1</a:t>
            </a:r>
            <a:r>
              <a:rPr lang="en-US" dirty="0">
                <a:solidFill>
                  <a:srgbClr val="FF0000"/>
                </a:solidFill>
                <a:latin typeface="Times New Roman" panose="02020503050405090304" pitchFamily="18" charset="0"/>
                <a:cs typeface="Times New Roman" panose="02020503050405090304" pitchFamily="18" charset="0"/>
              </a:rPr>
              <a:t> + </a:t>
            </a:r>
            <a:r>
              <a:rPr lang="en-US" i="1" dirty="0">
                <a:solidFill>
                  <a:srgbClr val="FF0000"/>
                </a:solidFill>
                <a:latin typeface="Times New Roman" panose="02020503050405090304" pitchFamily="18" charset="0"/>
                <a:cs typeface="Times New Roman" panose="02020503050405090304" pitchFamily="18" charset="0"/>
              </a:rPr>
              <a:t>N</a:t>
            </a:r>
            <a:r>
              <a:rPr lang="en-US" baseline="-25000" dirty="0">
                <a:solidFill>
                  <a:srgbClr val="FF0000"/>
                </a:solidFill>
                <a:latin typeface="Times New Roman" panose="02020503050405090304" pitchFamily="18" charset="0"/>
                <a:cs typeface="Times New Roman" panose="02020503050405090304" pitchFamily="18" charset="0"/>
              </a:rPr>
              <a:t>2</a:t>
            </a:r>
            <a:r>
              <a:rPr lang="en-US" dirty="0">
                <a:solidFill>
                  <a:srgbClr val="FF0000"/>
                </a:solidFill>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pPr marL="0" indent="0" fontAlgn="base">
              <a:buNone/>
            </a:pPr>
            <a:r>
              <a:rPr lang="en-US" dirty="0">
                <a:latin typeface="Times New Roman" panose="02020503050405090304" pitchFamily="18" charset="0"/>
                <a:cs typeface="Times New Roman" panose="02020503050405090304" pitchFamily="18" charset="0"/>
              </a:rPr>
              <a:t>       </a:t>
            </a:r>
            <a:r>
              <a:rPr lang="en-US" b="1" dirty="0">
                <a:solidFill>
                  <a:srgbClr val="FF0000"/>
                </a:solidFill>
                <a:latin typeface="Times New Roman" panose="02020503050405090304" pitchFamily="18" charset="0"/>
                <a:cs typeface="Times New Roman" panose="02020503050405090304" pitchFamily="18" charset="0"/>
              </a:rPr>
              <a:t>Estimated program length </a:t>
            </a:r>
            <a:r>
              <a:rPr lang="en-US" dirty="0">
                <a:solidFill>
                  <a:srgbClr val="FF0000"/>
                </a:solidFill>
                <a:latin typeface="Times New Roman" panose="02020503050405090304" pitchFamily="18" charset="0"/>
                <a:cs typeface="Times New Roman" panose="02020503050405090304" pitchFamily="18" charset="0"/>
              </a:rPr>
              <a:t>is, N</a:t>
            </a:r>
            <a:r>
              <a:rPr lang="en-US" baseline="30000" dirty="0">
                <a:solidFill>
                  <a:srgbClr val="FF0000"/>
                </a:solidFill>
                <a:latin typeface="Times New Roman" panose="02020503050405090304" pitchFamily="18" charset="0"/>
                <a:cs typeface="Times New Roman" panose="02020503050405090304" pitchFamily="18" charset="0"/>
              </a:rPr>
              <a:t>^</a:t>
            </a:r>
            <a:r>
              <a:rPr lang="en-US" dirty="0">
                <a:solidFill>
                  <a:srgbClr val="FF0000"/>
                </a:solidFill>
                <a:latin typeface="Times New Roman" panose="02020503050405090304" pitchFamily="18" charset="0"/>
                <a:cs typeface="Times New Roman" panose="02020503050405090304" pitchFamily="18" charset="0"/>
              </a:rPr>
              <a:t> =  µ</a:t>
            </a:r>
            <a:r>
              <a:rPr lang="en-US" baseline="-25000" dirty="0">
                <a:solidFill>
                  <a:srgbClr val="FF0000"/>
                </a:solidFill>
                <a:latin typeface="Times New Roman" panose="02020503050405090304" pitchFamily="18" charset="0"/>
                <a:cs typeface="Times New Roman" panose="02020503050405090304" pitchFamily="18" charset="0"/>
              </a:rPr>
              <a:t>1</a:t>
            </a:r>
            <a:r>
              <a:rPr lang="en-US" dirty="0">
                <a:solidFill>
                  <a:srgbClr val="FF0000"/>
                </a:solidFill>
                <a:latin typeface="Times New Roman" panose="02020503050405090304" pitchFamily="18" charset="0"/>
                <a:cs typeface="Times New Roman" panose="02020503050405090304" pitchFamily="18" charset="0"/>
              </a:rPr>
              <a:t>log</a:t>
            </a:r>
            <a:r>
              <a:rPr lang="en-US" baseline="-25000" dirty="0">
                <a:solidFill>
                  <a:srgbClr val="FF0000"/>
                </a:solidFill>
                <a:latin typeface="Times New Roman" panose="02020503050405090304" pitchFamily="18" charset="0"/>
                <a:cs typeface="Times New Roman" panose="02020503050405090304" pitchFamily="18" charset="0"/>
              </a:rPr>
              <a:t>2</a:t>
            </a:r>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1</a:t>
            </a:r>
            <a:r>
              <a:rPr lang="en-US" dirty="0">
                <a:solidFill>
                  <a:srgbClr val="FF0000"/>
                </a:solidFill>
                <a:latin typeface="Times New Roman" panose="02020503050405090304" pitchFamily="18" charset="0"/>
                <a:cs typeface="Times New Roman" panose="02020503050405090304" pitchFamily="18" charset="0"/>
              </a:rPr>
              <a:t> + µ</a:t>
            </a:r>
            <a:r>
              <a:rPr lang="en-US" baseline="-25000" dirty="0">
                <a:solidFill>
                  <a:srgbClr val="FF0000"/>
                </a:solidFill>
                <a:latin typeface="Times New Roman" panose="02020503050405090304" pitchFamily="18" charset="0"/>
                <a:cs typeface="Times New Roman" panose="02020503050405090304" pitchFamily="18" charset="0"/>
              </a:rPr>
              <a:t>2</a:t>
            </a:r>
            <a:r>
              <a:rPr lang="en-US" dirty="0">
                <a:solidFill>
                  <a:srgbClr val="FF0000"/>
                </a:solidFill>
                <a:latin typeface="Times New Roman" panose="02020503050405090304" pitchFamily="18" charset="0"/>
                <a:cs typeface="Times New Roman" panose="02020503050405090304" pitchFamily="18" charset="0"/>
              </a:rPr>
              <a:t>log</a:t>
            </a:r>
            <a:r>
              <a:rPr lang="en-US" baseline="-25000" dirty="0">
                <a:solidFill>
                  <a:srgbClr val="FF0000"/>
                </a:solidFill>
                <a:latin typeface="Times New Roman" panose="02020503050405090304" pitchFamily="18" charset="0"/>
                <a:cs typeface="Times New Roman" panose="02020503050405090304" pitchFamily="18" charset="0"/>
              </a:rPr>
              <a:t>2</a:t>
            </a:r>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2</a:t>
            </a:r>
            <a:endParaRPr lang="en-US" baseline="-25000" dirty="0">
              <a:solidFill>
                <a:srgbClr val="FF0000"/>
              </a:solidFill>
              <a:latin typeface="Times New Roman" panose="02020503050405090304" pitchFamily="18" charset="0"/>
              <a:cs typeface="Times New Roman" panose="02020503050405090304" pitchFamily="18" charset="0"/>
            </a:endParaRPr>
          </a:p>
          <a:p>
            <a:pPr fontAlgn="base"/>
            <a:r>
              <a:rPr lang="en-US" b="1" dirty="0">
                <a:solidFill>
                  <a:srgbClr val="FF0000"/>
                </a:solidFill>
                <a:latin typeface="Times New Roman" panose="02020503050405090304" pitchFamily="18" charset="0"/>
                <a:cs typeface="Times New Roman" panose="02020503050405090304" pitchFamily="18" charset="0"/>
              </a:rPr>
              <a:t>Halstead Vocabulary: </a:t>
            </a:r>
            <a:r>
              <a:rPr lang="en-US" baseline="-25000" dirty="0">
                <a:solidFill>
                  <a:srgbClr val="FF0000"/>
                </a:solidFill>
                <a:latin typeface="Times New Roman" panose="02020503050405090304" pitchFamily="18" charset="0"/>
                <a:cs typeface="Times New Roman" panose="02020503050405090304" pitchFamily="18" charset="0"/>
              </a:rPr>
              <a:t> </a:t>
            </a:r>
            <a:r>
              <a:rPr lang="en-US" dirty="0">
                <a:solidFill>
                  <a:srgbClr val="FF0000"/>
                </a:solidFill>
                <a:latin typeface="Times New Roman" panose="02020503050405090304" pitchFamily="18" charset="0"/>
                <a:cs typeface="Times New Roman" panose="02020503050405090304" pitchFamily="18" charset="0"/>
              </a:rPr>
              <a:t>  µ = µ</a:t>
            </a:r>
            <a:r>
              <a:rPr lang="en-US" baseline="-25000" dirty="0">
                <a:solidFill>
                  <a:srgbClr val="FF0000"/>
                </a:solidFill>
                <a:latin typeface="Times New Roman" panose="02020503050405090304" pitchFamily="18" charset="0"/>
                <a:cs typeface="Times New Roman" panose="02020503050405090304" pitchFamily="18" charset="0"/>
              </a:rPr>
              <a:t>1 </a:t>
            </a:r>
            <a:r>
              <a:rPr lang="en-US" dirty="0">
                <a:solidFill>
                  <a:srgbClr val="FF0000"/>
                </a:solidFill>
                <a:latin typeface="Times New Roman" panose="02020503050405090304" pitchFamily="18" charset="0"/>
                <a:cs typeface="Times New Roman" panose="02020503050405090304" pitchFamily="18" charset="0"/>
              </a:rPr>
              <a:t>+ µ</a:t>
            </a:r>
            <a:r>
              <a:rPr lang="en-US" baseline="-25000" dirty="0">
                <a:solidFill>
                  <a:srgbClr val="FF0000"/>
                </a:solidFill>
                <a:latin typeface="Times New Roman" panose="02020503050405090304" pitchFamily="18" charset="0"/>
                <a:cs typeface="Times New Roman" panose="02020503050405090304" pitchFamily="18" charset="0"/>
              </a:rPr>
              <a:t>2</a:t>
            </a:r>
            <a:endParaRPr lang="en-US" dirty="0">
              <a:solidFill>
                <a:srgbClr val="FF0000"/>
              </a:solidFill>
              <a:latin typeface="Times New Roman" panose="02020503050405090304" pitchFamily="18" charset="0"/>
              <a:cs typeface="Times New Roman" panose="02020503050405090304" pitchFamily="18" charset="0"/>
            </a:endParaRPr>
          </a:p>
          <a:p>
            <a:r>
              <a:rPr lang="en-US" b="1" dirty="0">
                <a:solidFill>
                  <a:srgbClr val="FF0000"/>
                </a:solidFill>
                <a:latin typeface="Times New Roman" panose="02020503050405090304" pitchFamily="18" charset="0"/>
                <a:cs typeface="Times New Roman" panose="02020503050405090304" pitchFamily="18" charset="0"/>
              </a:rPr>
              <a:t>Program Volume: </a:t>
            </a:r>
            <a:r>
              <a:rPr lang="pt-BR" dirty="0">
                <a:solidFill>
                  <a:srgbClr val="FF0000"/>
                </a:solidFill>
                <a:latin typeface="Times New Roman" panose="02020503050405090304" pitchFamily="18" charset="0"/>
                <a:cs typeface="Times New Roman" panose="02020503050405090304" pitchFamily="18" charset="0"/>
              </a:rPr>
              <a:t>V = Size * (log</a:t>
            </a:r>
            <a:r>
              <a:rPr lang="pt-BR" baseline="-25000" dirty="0">
                <a:solidFill>
                  <a:srgbClr val="FF0000"/>
                </a:solidFill>
                <a:latin typeface="Times New Roman" panose="02020503050405090304" pitchFamily="18" charset="0"/>
                <a:cs typeface="Times New Roman" panose="02020503050405090304" pitchFamily="18" charset="0"/>
              </a:rPr>
              <a:t>2</a:t>
            </a:r>
            <a:r>
              <a:rPr lang="pt-BR" dirty="0">
                <a:solidFill>
                  <a:srgbClr val="FF0000"/>
                </a:solidFill>
                <a:latin typeface="Times New Roman" panose="02020503050405090304" pitchFamily="18" charset="0"/>
                <a:cs typeface="Times New Roman" panose="02020503050405090304" pitchFamily="18" charset="0"/>
              </a:rPr>
              <a:t> vocabulary) = N * log</a:t>
            </a:r>
            <a:r>
              <a:rPr lang="pt-BR" baseline="-25000" dirty="0">
                <a:solidFill>
                  <a:srgbClr val="FF0000"/>
                </a:solidFill>
                <a:latin typeface="Times New Roman" panose="02020503050405090304" pitchFamily="18" charset="0"/>
                <a:cs typeface="Times New Roman" panose="02020503050405090304" pitchFamily="18" charset="0"/>
              </a:rPr>
              <a:t>2</a:t>
            </a:r>
            <a:r>
              <a:rPr lang="pt-BR" dirty="0">
                <a:solidFill>
                  <a:srgbClr val="FF0000"/>
                </a:solidFill>
                <a:latin typeface="Times New Roman" panose="02020503050405090304" pitchFamily="18" charset="0"/>
                <a:cs typeface="Times New Roman" panose="02020503050405090304" pitchFamily="18" charset="0"/>
              </a:rPr>
              <a:t>(</a:t>
            </a:r>
            <a:r>
              <a:rPr lang="en-US" dirty="0">
                <a:solidFill>
                  <a:srgbClr val="FF0000"/>
                </a:solidFill>
                <a:latin typeface="Times New Roman" panose="02020503050405090304" pitchFamily="18" charset="0"/>
                <a:cs typeface="Times New Roman" panose="02020503050405090304" pitchFamily="18" charset="0"/>
              </a:rPr>
              <a:t>µ</a:t>
            </a:r>
            <a:r>
              <a:rPr lang="pt-BR" dirty="0">
                <a:solidFill>
                  <a:srgbClr val="FF0000"/>
                </a:solidFill>
                <a:latin typeface="Times New Roman" panose="02020503050405090304" pitchFamily="18" charset="0"/>
                <a:cs typeface="Times New Roman" panose="02020503050405090304" pitchFamily="18" charset="0"/>
              </a:rPr>
              <a:t>) </a:t>
            </a:r>
            <a:endParaRPr lang="pt-BR" dirty="0">
              <a:solidFill>
                <a:srgbClr val="FF0000"/>
              </a:solidFill>
              <a:latin typeface="Times New Roman" panose="02020503050405090304" pitchFamily="18" charset="0"/>
              <a:cs typeface="Times New Roman" panose="02020503050405090304" pitchFamily="18" charset="0"/>
            </a:endParaRPr>
          </a:p>
          <a:p>
            <a:pPr fontAlgn="base"/>
            <a:r>
              <a:rPr lang="en-US" b="1" dirty="0">
                <a:solidFill>
                  <a:srgbClr val="FF0000"/>
                </a:solidFill>
                <a:latin typeface="Times New Roman" panose="02020503050405090304" pitchFamily="18" charset="0"/>
                <a:cs typeface="Times New Roman" panose="02020503050405090304" pitchFamily="18" charset="0"/>
              </a:rPr>
              <a:t>Program Difficulty: </a:t>
            </a:r>
            <a:r>
              <a:rPr lang="pt-BR" dirty="0">
                <a:solidFill>
                  <a:srgbClr val="FF0000"/>
                </a:solidFill>
                <a:latin typeface="Times New Roman" panose="02020503050405090304" pitchFamily="18" charset="0"/>
                <a:cs typeface="Times New Roman" panose="02020503050405090304" pitchFamily="18" charset="0"/>
              </a:rPr>
              <a:t>D = (</a:t>
            </a:r>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1</a:t>
            </a:r>
            <a:r>
              <a:rPr lang="pt-BR" dirty="0">
                <a:solidFill>
                  <a:srgbClr val="FF0000"/>
                </a:solidFill>
                <a:latin typeface="Times New Roman" panose="02020503050405090304" pitchFamily="18" charset="0"/>
                <a:cs typeface="Times New Roman" panose="02020503050405090304" pitchFamily="18" charset="0"/>
              </a:rPr>
              <a:t> / 2) * (</a:t>
            </a:r>
            <a:r>
              <a:rPr lang="en-US" i="1" dirty="0">
                <a:solidFill>
                  <a:srgbClr val="FF0000"/>
                </a:solidFill>
                <a:latin typeface="Times New Roman" panose="02020503050405090304" pitchFamily="18" charset="0"/>
                <a:cs typeface="Times New Roman" panose="02020503050405090304" pitchFamily="18" charset="0"/>
              </a:rPr>
              <a:t>N</a:t>
            </a:r>
            <a:r>
              <a:rPr lang="en-US" baseline="-25000" dirty="0">
                <a:solidFill>
                  <a:srgbClr val="FF0000"/>
                </a:solidFill>
                <a:latin typeface="Times New Roman" panose="02020503050405090304" pitchFamily="18" charset="0"/>
                <a:cs typeface="Times New Roman" panose="02020503050405090304" pitchFamily="18" charset="0"/>
              </a:rPr>
              <a:t>2</a:t>
            </a:r>
            <a:r>
              <a:rPr lang="pt-BR" dirty="0">
                <a:solidFill>
                  <a:srgbClr val="FF0000"/>
                </a:solidFill>
                <a:latin typeface="Times New Roman" panose="02020503050405090304" pitchFamily="18" charset="0"/>
                <a:cs typeface="Times New Roman" panose="02020503050405090304" pitchFamily="18" charset="0"/>
              </a:rPr>
              <a:t> / </a:t>
            </a:r>
            <a:r>
              <a:rPr lang="en-US" dirty="0">
                <a:solidFill>
                  <a:srgbClr val="FF0000"/>
                </a:solidFill>
                <a:latin typeface="Times New Roman" panose="02020503050405090304" pitchFamily="18" charset="0"/>
                <a:cs typeface="Times New Roman" panose="02020503050405090304" pitchFamily="18" charset="0"/>
              </a:rPr>
              <a:t>µ</a:t>
            </a:r>
            <a:r>
              <a:rPr lang="en-US" baseline="-25000" dirty="0">
                <a:solidFill>
                  <a:srgbClr val="FF0000"/>
                </a:solidFill>
                <a:latin typeface="Times New Roman" panose="02020503050405090304" pitchFamily="18" charset="0"/>
                <a:cs typeface="Times New Roman" panose="02020503050405090304" pitchFamily="18" charset="0"/>
              </a:rPr>
              <a:t>2</a:t>
            </a:r>
            <a:r>
              <a:rPr lang="en-US" dirty="0">
                <a:solidFill>
                  <a:srgbClr val="FF0000"/>
                </a:solidFill>
                <a:latin typeface="Times New Roman" panose="02020503050405090304" pitchFamily="18" charset="0"/>
                <a:cs typeface="Times New Roman" panose="02020503050405090304" pitchFamily="18" charset="0"/>
              </a:rPr>
              <a:t>)</a:t>
            </a:r>
            <a:endParaRPr lang="en-US" dirty="0">
              <a:solidFill>
                <a:srgbClr val="FF0000"/>
              </a:solidFill>
              <a:latin typeface="Times New Roman" panose="02020503050405090304" pitchFamily="18" charset="0"/>
              <a:cs typeface="Times New Roman" panose="02020503050405090304" pitchFamily="18" charset="0"/>
            </a:endParaRPr>
          </a:p>
          <a:p>
            <a:pPr fontAlgn="base"/>
            <a:r>
              <a:rPr lang="en-US" b="1" dirty="0">
                <a:solidFill>
                  <a:srgbClr val="FF0000"/>
                </a:solidFill>
                <a:latin typeface="Times New Roman" panose="02020503050405090304" pitchFamily="18" charset="0"/>
                <a:cs typeface="Times New Roman" panose="02020503050405090304" pitchFamily="18" charset="0"/>
              </a:rPr>
              <a:t>Programming Effort: </a:t>
            </a:r>
            <a:r>
              <a:rPr lang="it-IT" dirty="0">
                <a:solidFill>
                  <a:srgbClr val="FF0000"/>
                </a:solidFill>
                <a:latin typeface="Times New Roman" panose="02020503050405090304" pitchFamily="18" charset="0"/>
                <a:cs typeface="Times New Roman" panose="02020503050405090304" pitchFamily="18" charset="0"/>
              </a:rPr>
              <a:t>E = D * V = Difficulty * Volume </a:t>
            </a:r>
            <a:endParaRPr lang="it-IT" dirty="0">
              <a:solidFill>
                <a:srgbClr val="FF0000"/>
              </a:solidFill>
              <a:latin typeface="Times New Roman" panose="02020503050405090304" pitchFamily="18" charset="0"/>
              <a:cs typeface="Times New Roman" panose="02020503050405090304" pitchFamily="18" charset="0"/>
            </a:endParaRPr>
          </a:p>
          <a:p>
            <a:pPr fontAlgn="base"/>
            <a:r>
              <a:rPr lang="en-US" b="1" dirty="0">
                <a:solidFill>
                  <a:srgbClr val="FF0000"/>
                </a:solidFill>
                <a:latin typeface="Times New Roman" panose="02020503050405090304" pitchFamily="18" charset="0"/>
                <a:cs typeface="Times New Roman" panose="02020503050405090304" pitchFamily="18" charset="0"/>
              </a:rPr>
              <a:t>Programming Time </a:t>
            </a:r>
            <a:r>
              <a:rPr lang="en-US" dirty="0">
                <a:solidFill>
                  <a:srgbClr val="FF0000"/>
                </a:solidFill>
                <a:latin typeface="Times New Roman" panose="02020503050405090304" pitchFamily="18" charset="0"/>
                <a:cs typeface="Times New Roman" panose="02020503050405090304" pitchFamily="18" charset="0"/>
              </a:rPr>
              <a:t>(T) = E/18</a:t>
            </a:r>
            <a:endParaRPr lang="en-US" dirty="0">
              <a:solidFill>
                <a:srgbClr val="FF0000"/>
              </a:solidFill>
              <a:latin typeface="Times New Roman" panose="02020503050405090304" pitchFamily="18" charset="0"/>
              <a:cs typeface="Times New Roman" panose="02020503050405090304" pitchFamily="18" charset="0"/>
            </a:endParaRPr>
          </a:p>
          <a:p>
            <a:pPr marL="457200" lvl="1" indent="0">
              <a:buNone/>
            </a:pPr>
            <a:br>
              <a:rPr lang="en-US" dirty="0">
                <a:latin typeface="Times New Roman" panose="02020503050405090304" pitchFamily="18" charset="0"/>
                <a:cs typeface="Times New Roman" panose="02020503050405090304" pitchFamily="18" charset="0"/>
              </a:rPr>
            </a:b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Halstead’s Approach Example</a:t>
            </a:r>
            <a:endParaRPr lang="en-US" dirty="0">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
        <p:nvSpPr>
          <p:cNvPr id="6" name="Content Placeholder 5"/>
          <p:cNvSpPr>
            <a:spLocks noGrp="1"/>
          </p:cNvSpPr>
          <p:nvPr>
            <p:ph idx="1"/>
          </p:nvPr>
        </p:nvSpPr>
        <p:spPr>
          <a:xfrm>
            <a:off x="-231000" y="1669408"/>
            <a:ext cx="3954861" cy="1325564"/>
          </a:xfrm>
        </p:spPr>
        <p:txBody>
          <a:bodyPr>
            <a:normAutofit/>
          </a:bodyPr>
          <a:lstStyle/>
          <a:p>
            <a:pPr marL="457200" lvl="1" indent="0">
              <a:buNone/>
            </a:pPr>
            <a:r>
              <a:rPr lang="en-US" sz="1800" dirty="0">
                <a:latin typeface="Courier New" panose="02070409020205090404" pitchFamily="49" charset="0"/>
                <a:cs typeface="Courier New" panose="02070409020205090404" pitchFamily="49" charset="0"/>
              </a:rPr>
              <a:t>def multiply(a, b):</a:t>
            </a:r>
            <a:endParaRPr lang="en-US" sz="1800" dirty="0">
              <a:latin typeface="Courier New" panose="02070409020205090404" pitchFamily="49" charset="0"/>
              <a:cs typeface="Courier New" panose="02070409020205090404" pitchFamily="49" charset="0"/>
            </a:endParaRPr>
          </a:p>
          <a:p>
            <a:pPr marL="457200" lvl="1" indent="0">
              <a:buNone/>
            </a:pPr>
            <a:r>
              <a:rPr lang="en-US" sz="1800" dirty="0">
                <a:latin typeface="Courier New" panose="02070409020205090404" pitchFamily="49" charset="0"/>
                <a:cs typeface="Courier New" panose="02070409020205090404" pitchFamily="49" charset="0"/>
              </a:rPr>
              <a:t>    result = a * b</a:t>
            </a:r>
            <a:endParaRPr lang="en-US" sz="1800" dirty="0">
              <a:latin typeface="Courier New" panose="02070409020205090404" pitchFamily="49" charset="0"/>
              <a:cs typeface="Courier New" panose="02070409020205090404" pitchFamily="49" charset="0"/>
            </a:endParaRPr>
          </a:p>
          <a:p>
            <a:pPr marL="457200" lvl="1" indent="0">
              <a:buNone/>
            </a:pPr>
            <a:r>
              <a:rPr lang="en-US" sz="1800" dirty="0">
                <a:latin typeface="Courier New" panose="02070409020205090404" pitchFamily="49" charset="0"/>
                <a:cs typeface="Courier New" panose="02070409020205090404" pitchFamily="49" charset="0"/>
              </a:rPr>
              <a:t>    return result; </a:t>
            </a:r>
            <a:endParaRPr lang="en-US" sz="1800" dirty="0">
              <a:latin typeface="Courier New" panose="02070409020205090404" pitchFamily="49" charset="0"/>
              <a:cs typeface="Courier New" panose="02070409020205090404" pitchFamily="49" charset="0"/>
            </a:endParaRPr>
          </a:p>
        </p:txBody>
      </p:sp>
      <p:pic>
        <p:nvPicPr>
          <p:cNvPr id="10" name="Picture 9"/>
          <p:cNvPicPr>
            <a:picLocks noChangeAspect="1"/>
          </p:cNvPicPr>
          <p:nvPr/>
        </p:nvPicPr>
        <p:blipFill>
          <a:blip r:embed="rId1"/>
          <a:stretch>
            <a:fillRect/>
          </a:stretch>
        </p:blipFill>
        <p:spPr>
          <a:xfrm>
            <a:off x="3445566" y="1285461"/>
            <a:ext cx="8452624" cy="50708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Halstead’s Approach Example</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graphicFrame>
        <p:nvGraphicFramePr>
          <p:cNvPr id="8" name="Content Placeholder 7"/>
          <p:cNvGraphicFramePr>
            <a:graphicFrameLocks noGrp="1"/>
          </p:cNvGraphicFramePr>
          <p:nvPr>
            <p:ph idx="1"/>
          </p:nvPr>
        </p:nvGraphicFramePr>
        <p:xfrm>
          <a:off x="967407" y="1855303"/>
          <a:ext cx="9647583" cy="4015409"/>
        </p:xfrm>
        <a:graphic>
          <a:graphicData uri="http://schemas.openxmlformats.org/drawingml/2006/table">
            <a:tbl>
              <a:tblPr firstRow="1" firstCol="1" bandRow="1">
                <a:tableStyleId>{5C22544A-7EE6-4342-B048-85BDC9FD1C3A}</a:tableStyleId>
              </a:tblPr>
              <a:tblGrid>
                <a:gridCol w="3215861"/>
                <a:gridCol w="3215861"/>
                <a:gridCol w="3215861"/>
              </a:tblGrid>
              <a:tr h="765785">
                <a:tc>
                  <a:txBody>
                    <a:bodyPr/>
                    <a:lstStyle/>
                    <a:p>
                      <a:pPr marL="0" marR="0" algn="ctr">
                        <a:lnSpc>
                          <a:spcPct val="107000"/>
                        </a:lnSpc>
                        <a:spcBef>
                          <a:spcPts val="0"/>
                        </a:spcBef>
                        <a:spcAft>
                          <a:spcPts val="0"/>
                        </a:spcAft>
                      </a:pPr>
                      <a:r>
                        <a:rPr lang="en-US" sz="1200">
                          <a:effectLst/>
                        </a:rPr>
                        <a:t>Metric</a:t>
                      </a:r>
                      <a:endParaRPr lang="en-US" sz="11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Value</a:t>
                      </a:r>
                      <a:endParaRPr lang="en-US" sz="11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Formula / Explanation</a:t>
                      </a:r>
                      <a:endParaRPr lang="en-US" sz="11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r>
              <a:tr h="765785">
                <a:tc>
                  <a:txBody>
                    <a:bodyPr/>
                    <a:lstStyle/>
                    <a:p>
                      <a:pPr marL="0" marR="0" algn="ctr">
                        <a:lnSpc>
                          <a:spcPct val="107000"/>
                        </a:lnSpc>
                        <a:spcBef>
                          <a:spcPts val="0"/>
                        </a:spcBef>
                        <a:spcAft>
                          <a:spcPts val="0"/>
                        </a:spcAft>
                      </a:pPr>
                      <a:r>
                        <a:rPr lang="en-US" sz="2400">
                          <a:effectLst/>
                        </a:rPr>
                        <a:t>µ</a:t>
                      </a:r>
                      <a:r>
                        <a:rPr lang="en-US" sz="2400" baseline="-25000">
                          <a:effectLst/>
                        </a:rPr>
                        <a:t>1</a:t>
                      </a:r>
                      <a:r>
                        <a:rPr lang="en-US" sz="2400">
                          <a:effectLst/>
                        </a:rPr>
                        <a:t> (Distinct operators)</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5 | </a:t>
                      </a:r>
                      <a:r>
                        <a:rPr lang="en-US" sz="2400" dirty="0">
                          <a:solidFill>
                            <a:srgbClr val="FF0000"/>
                          </a:solidFill>
                          <a:effectLst/>
                        </a:rPr>
                        <a:t>(6)???</a:t>
                      </a:r>
                      <a:endParaRPr lang="en-US" sz="2400" dirty="0">
                        <a:solidFill>
                          <a:srgbClr val="FF0000"/>
                        </a:solidFill>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def, (), :, =, *, return</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r>
              <a:tr h="765785">
                <a:tc>
                  <a:txBody>
                    <a:bodyPr/>
                    <a:lstStyle/>
                    <a:p>
                      <a:pPr marL="0" marR="0" algn="ctr">
                        <a:lnSpc>
                          <a:spcPct val="107000"/>
                        </a:lnSpc>
                        <a:spcBef>
                          <a:spcPts val="0"/>
                        </a:spcBef>
                        <a:spcAft>
                          <a:spcPts val="0"/>
                        </a:spcAft>
                      </a:pPr>
                      <a:r>
                        <a:rPr lang="en-US" sz="2400">
                          <a:effectLst/>
                        </a:rPr>
                        <a:t>µ</a:t>
                      </a:r>
                      <a:r>
                        <a:rPr lang="en-US" sz="2400" baseline="-25000">
                          <a:effectLst/>
                        </a:rPr>
                        <a:t>2</a:t>
                      </a:r>
                      <a:r>
                        <a:rPr lang="en-US" sz="2400">
                          <a:effectLst/>
                        </a:rPr>
                        <a:t> (Distinct operands)</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4</a:t>
                      </a:r>
                      <a:endParaRPr lang="en-US" sz="2400" dirty="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multiply, a, b, result</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r>
              <a:tr h="765785">
                <a:tc>
                  <a:txBody>
                    <a:bodyPr/>
                    <a:lstStyle/>
                    <a:p>
                      <a:pPr marL="0" marR="0" algn="ctr">
                        <a:lnSpc>
                          <a:spcPct val="107000"/>
                        </a:lnSpc>
                        <a:spcBef>
                          <a:spcPts val="0"/>
                        </a:spcBef>
                        <a:spcAft>
                          <a:spcPts val="0"/>
                        </a:spcAft>
                      </a:pPr>
                      <a:r>
                        <a:rPr lang="en-US" sz="2400">
                          <a:effectLst/>
                        </a:rPr>
                        <a:t>N₁ (Total operators)</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7</a:t>
                      </a:r>
                      <a:endParaRPr lang="en-US" sz="2400" dirty="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def, (), :, =, *, return, ()</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r>
              <a:tr h="952269">
                <a:tc>
                  <a:txBody>
                    <a:bodyPr/>
                    <a:lstStyle/>
                    <a:p>
                      <a:pPr marL="0" marR="0" algn="ctr">
                        <a:lnSpc>
                          <a:spcPct val="107000"/>
                        </a:lnSpc>
                        <a:spcBef>
                          <a:spcPts val="0"/>
                        </a:spcBef>
                        <a:spcAft>
                          <a:spcPts val="0"/>
                        </a:spcAft>
                      </a:pPr>
                      <a:r>
                        <a:rPr lang="en-US" sz="2400">
                          <a:effectLst/>
                        </a:rPr>
                        <a:t>N₂ (Total operands)</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multiply, a, b, result, result</a:t>
                      </a:r>
                      <a:endParaRPr lang="en-US" sz="2400" dirty="0">
                        <a:effectLst/>
                        <a:latin typeface="Calibri" panose="020F0502020204030204" pitchFamily="34" charset="0"/>
                        <a:ea typeface="Calibri" panose="020F0502020204030204" pitchFamily="34" charset="0"/>
                        <a:cs typeface="Times New Roman" panose="02020503050405090304" pitchFamily="18" charset="0"/>
                      </a:endParaRPr>
                    </a:p>
                  </a:txBody>
                  <a:tcPr marL="9525" marR="9525" marT="9525" marB="9525"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Insight</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
        <p:nvSpPr>
          <p:cNvPr id="5" name="Rectangle 4"/>
          <p:cNvSpPr/>
          <p:nvPr/>
        </p:nvSpPr>
        <p:spPr>
          <a:xfrm>
            <a:off x="1276455" y="1580765"/>
            <a:ext cx="9766852" cy="5262979"/>
          </a:xfrm>
          <a:prstGeom prst="rect">
            <a:avLst/>
          </a:prstGeom>
        </p:spPr>
        <p:txBody>
          <a:bodyPr wrap="square">
            <a:spAutoFit/>
          </a:bodyPr>
          <a:lstStyle/>
          <a:p>
            <a:pPr algn="just">
              <a:buFont typeface="Arial" panose="020B0604020202090204" pitchFamily="34" charset="0"/>
              <a:buChar char="•"/>
            </a:pPr>
            <a:r>
              <a:rPr lang="en-US" sz="2800" b="1" dirty="0">
                <a:latin typeface="Times New Roman" panose="02020503050405090304" pitchFamily="18" charset="0"/>
                <a:cs typeface="Times New Roman" panose="02020503050405090304" pitchFamily="18" charset="0"/>
              </a:rPr>
              <a:t>Low Program Difficulty (D)</a:t>
            </a:r>
            <a:r>
              <a:rPr lang="en-US" sz="2800" dirty="0">
                <a:latin typeface="Times New Roman" panose="02020503050405090304" pitchFamily="18" charset="0"/>
                <a:cs typeface="Times New Roman" panose="02020503050405090304" pitchFamily="18" charset="0"/>
              </a:rPr>
              <a:t>: Indicates that the code is relatively  easy to understand and modify.</a:t>
            </a:r>
            <a:endParaRPr lang="en-US" sz="2800" dirty="0">
              <a:latin typeface="Times New Roman" panose="02020503050405090304" pitchFamily="18" charset="0"/>
              <a:cs typeface="Times New Roman" panose="02020503050405090304" pitchFamily="18" charset="0"/>
            </a:endParaRPr>
          </a:p>
          <a:p>
            <a:pPr algn="just">
              <a:buFont typeface="Arial" panose="020B0604020202090204" pitchFamily="34" charset="0"/>
              <a:buChar char="•"/>
            </a:pPr>
            <a:r>
              <a:rPr lang="en-US" sz="2800" b="1" dirty="0">
                <a:latin typeface="Times New Roman" panose="02020503050405090304" pitchFamily="18" charset="0"/>
                <a:cs typeface="Times New Roman" panose="02020503050405090304" pitchFamily="18" charset="0"/>
              </a:rPr>
              <a:t>Effort (E)</a:t>
            </a:r>
            <a:r>
              <a:rPr lang="en-US" sz="2800" dirty="0">
                <a:latin typeface="Times New Roman" panose="02020503050405090304" pitchFamily="18" charset="0"/>
                <a:cs typeface="Times New Roman" panose="02020503050405090304" pitchFamily="18" charset="0"/>
              </a:rPr>
              <a:t> and </a:t>
            </a:r>
            <a:r>
              <a:rPr lang="en-US" sz="2800" b="1" dirty="0">
                <a:latin typeface="Times New Roman" panose="02020503050405090304" pitchFamily="18" charset="0"/>
                <a:cs typeface="Times New Roman" panose="02020503050405090304" pitchFamily="18" charset="0"/>
              </a:rPr>
              <a:t>Programming Time (T)</a:t>
            </a:r>
            <a:r>
              <a:rPr lang="en-US" sz="2800" dirty="0">
                <a:latin typeface="Times New Roman" panose="02020503050405090304" pitchFamily="18" charset="0"/>
                <a:cs typeface="Times New Roman" panose="02020503050405090304" pitchFamily="18" charset="0"/>
              </a:rPr>
              <a:t> are also low, reflecting the simplicity of the program.</a:t>
            </a:r>
            <a:endParaRPr lang="en-US" sz="2800" dirty="0">
              <a:latin typeface="Times New Roman" panose="02020503050405090304" pitchFamily="18" charset="0"/>
              <a:cs typeface="Times New Roman" panose="02020503050405090304" pitchFamily="18" charset="0"/>
            </a:endParaRPr>
          </a:p>
          <a:p>
            <a:pPr algn="just">
              <a:buFont typeface="Arial" panose="020B0604020202090204" pitchFamily="34" charset="0"/>
              <a:buChar char="•"/>
            </a:pPr>
            <a:r>
              <a:rPr lang="en-US" sz="2800" b="1" dirty="0">
                <a:latin typeface="Times New Roman" panose="02020503050405090304" pitchFamily="18" charset="0"/>
                <a:cs typeface="Times New Roman" panose="02020503050405090304" pitchFamily="18" charset="0"/>
              </a:rPr>
              <a:t>Volume (V)</a:t>
            </a:r>
            <a:r>
              <a:rPr lang="en-US" sz="2800" dirty="0">
                <a:latin typeface="Times New Roman" panose="02020503050405090304" pitchFamily="18" charset="0"/>
                <a:cs typeface="Times New Roman" panose="02020503050405090304" pitchFamily="18" charset="0"/>
              </a:rPr>
              <a:t> is moderate, as the program is small and straightforward.</a:t>
            </a:r>
            <a:endParaRPr lang="en-US" sz="28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endParaRPr lang="en-US" sz="28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800" i="1" dirty="0">
                <a:latin typeface="Times New Roman" panose="02020503050405090304" pitchFamily="18" charset="0"/>
                <a:cs typeface="Times New Roman" panose="02020503050405090304" pitchFamily="18" charset="0"/>
              </a:rPr>
              <a:t>Cyclomatic Complexity??</a:t>
            </a:r>
            <a:endParaRPr lang="en-US" sz="2800" i="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800" i="1" dirty="0">
                <a:latin typeface="Times New Roman" panose="02020503050405090304" pitchFamily="18" charset="0"/>
                <a:cs typeface="Times New Roman" panose="02020503050405090304" pitchFamily="18" charset="0"/>
              </a:rPr>
              <a:t>Code Smells?</a:t>
            </a:r>
            <a:endParaRPr lang="en-US" sz="2800" i="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800" i="1" dirty="0">
                <a:latin typeface="Times New Roman" panose="02020503050405090304" pitchFamily="18" charset="0"/>
                <a:cs typeface="Times New Roman" panose="02020503050405090304" pitchFamily="18" charset="0"/>
              </a:rPr>
              <a:t>Code Duplications?</a:t>
            </a:r>
            <a:endParaRPr lang="en-US" sz="2800" i="1" dirty="0">
              <a:latin typeface="Times New Roman" panose="02020503050405090304" pitchFamily="18" charset="0"/>
              <a:cs typeface="Times New Roman" panose="02020503050405090304" pitchFamily="18" charset="0"/>
            </a:endParaRPr>
          </a:p>
          <a:p>
            <a:endParaRPr lang="en-US" sz="28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endParaRPr lang="en-US" sz="2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Alternative Size Measures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We can measure the size in terms of</a:t>
            </a:r>
            <a:endParaRPr lang="en-US" dirty="0">
              <a:latin typeface="Times New Roman" panose="02020503050405090304" pitchFamily="18" charset="0"/>
              <a:cs typeface="Times New Roman" panose="02020503050405090304" pitchFamily="18" charset="0"/>
            </a:endParaRPr>
          </a:p>
          <a:p>
            <a:pPr lvl="2"/>
            <a:r>
              <a:rPr lang="en-US" dirty="0">
                <a:latin typeface="Times New Roman" panose="02020503050405090304" pitchFamily="18" charset="0"/>
                <a:cs typeface="Times New Roman" panose="02020503050405090304" pitchFamily="18" charset="0"/>
              </a:rPr>
              <a:t>Number of bytes of computer storage</a:t>
            </a:r>
            <a:endParaRPr lang="en-US" dirty="0">
              <a:latin typeface="Times New Roman" panose="02020503050405090304" pitchFamily="18" charset="0"/>
              <a:cs typeface="Times New Roman" panose="02020503050405090304" pitchFamily="18" charset="0"/>
            </a:endParaRPr>
          </a:p>
          <a:p>
            <a:pPr lvl="2"/>
            <a:r>
              <a:rPr lang="en-US" dirty="0">
                <a:latin typeface="Times New Roman" panose="02020503050405090304" pitchFamily="18" charset="0"/>
                <a:cs typeface="Times New Roman" panose="02020503050405090304" pitchFamily="18" charset="0"/>
              </a:rPr>
              <a:t>Number of characters in the program text</a:t>
            </a:r>
            <a:endParaRPr lang="en-US" dirty="0">
              <a:latin typeface="Times New Roman" panose="02020503050405090304" pitchFamily="18" charset="0"/>
              <a:cs typeface="Times New Roman" panose="02020503050405090304" pitchFamily="18" charset="0"/>
            </a:endParaRPr>
          </a:p>
          <a:p>
            <a:pPr lvl="2"/>
            <a:endParaRPr lang="en-US" dirty="0"/>
          </a:p>
        </p:txBody>
      </p:sp>
      <p:pic>
        <p:nvPicPr>
          <p:cNvPr id="4" name="Picture 3"/>
          <p:cNvPicPr>
            <a:picLocks noChangeAspect="1"/>
          </p:cNvPicPr>
          <p:nvPr/>
        </p:nvPicPr>
        <p:blipFill>
          <a:blip r:embed="rId1"/>
          <a:stretch>
            <a:fillRect/>
          </a:stretch>
        </p:blipFill>
        <p:spPr>
          <a:xfrm>
            <a:off x="1085513" y="3237500"/>
            <a:ext cx="9356935" cy="3161305"/>
          </a:xfrm>
          <a:prstGeom prst="rect">
            <a:avLst/>
          </a:prstGeom>
        </p:spPr>
      </p:pic>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Design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503050405090304" pitchFamily="18" charset="0"/>
                <a:cs typeface="Times New Roman" panose="02020503050405090304" pitchFamily="18" charset="0"/>
              </a:rPr>
              <a:t>Count design elements rather than LOCs</a:t>
            </a:r>
            <a:endParaRPr lang="en-US" dirty="0">
              <a:latin typeface="Times New Roman" panose="02020503050405090304" pitchFamily="18" charset="0"/>
              <a:cs typeface="Times New Roman" panose="02020503050405090304" pitchFamily="18" charset="0"/>
            </a:endParaRPr>
          </a:p>
          <a:p>
            <a:pPr algn="just"/>
            <a:r>
              <a:rPr lang="en-US" dirty="0">
                <a:solidFill>
                  <a:srgbClr val="FF0000"/>
                </a:solidFill>
                <a:latin typeface="Times New Roman" panose="02020503050405090304" pitchFamily="18" charset="0"/>
                <a:cs typeface="Times New Roman" panose="02020503050405090304" pitchFamily="18" charset="0"/>
              </a:rPr>
              <a:t>Appropriate size measure depends on the design methodology, the artifacts developed, and the level of abstraction</a:t>
            </a:r>
            <a:endParaRPr lang="en-US" dirty="0">
              <a:solidFill>
                <a:srgbClr val="FF0000"/>
              </a:solidFill>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To measure the size of a procedural design, you can count the number of procedures and functions at the lowest level of abstraction</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At higher levels of abstraction, you can count the number of packages and subsystems. You can measure the size of a package or subsystem in terms of the number of functions and procedures in the package.</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Design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503050405090304" pitchFamily="18" charset="0"/>
                <a:cs typeface="Times New Roman" panose="02020503050405090304" pitchFamily="18" charset="0"/>
              </a:rPr>
              <a:t>Object-oriented designs add new abstraction mechanisms: objects, classes, interfaces, operations, methods, associations, inheritance, etc.</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Thus, </a:t>
            </a:r>
            <a:r>
              <a:rPr lang="en-US" dirty="0">
                <a:solidFill>
                  <a:srgbClr val="FF0000"/>
                </a:solidFill>
                <a:latin typeface="Times New Roman" panose="02020503050405090304" pitchFamily="18" charset="0"/>
                <a:cs typeface="Times New Roman" panose="02020503050405090304" pitchFamily="18" charset="0"/>
              </a:rPr>
              <a:t>we will measure the size in terms of packages, design patterns, classes, interfaces, abstract classes, operations, and methods</a:t>
            </a:r>
            <a:r>
              <a:rPr lang="en-US" dirty="0">
                <a:latin typeface="Times New Roman" panose="02020503050405090304" pitchFamily="18" charset="0"/>
                <a:cs typeface="Times New Roman" panose="02020503050405090304" pitchFamily="18" charset="0"/>
              </a:rPr>
              <a:t>.</a:t>
            </a:r>
            <a:endParaRPr lang="en-US" dirty="0">
              <a:latin typeface="Times New Roman" panose="02020503050405090304" pitchFamily="18" charset="0"/>
              <a:cs typeface="Times New Roman" panose="02020503050405090304" pitchFamily="18" charset="0"/>
            </a:endParaRPr>
          </a:p>
          <a:p>
            <a:pPr lvl="1"/>
            <a:r>
              <a:rPr lang="en-US" b="1" i="1" dirty="0">
                <a:latin typeface="Times New Roman" panose="02020503050405090304" pitchFamily="18" charset="0"/>
                <a:cs typeface="Times New Roman" panose="02020503050405090304" pitchFamily="18" charset="0"/>
              </a:rPr>
              <a:t>Packages</a:t>
            </a:r>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Number of sub packages, number of classes, interfaces (Java), or abstract classes (C++)</a:t>
            </a:r>
            <a:endParaRPr lang="en-US" dirty="0">
              <a:latin typeface="Times New Roman" panose="02020503050405090304" pitchFamily="18" charset="0"/>
              <a:cs typeface="Times New Roman" panose="02020503050405090304" pitchFamily="18" charset="0"/>
            </a:endParaRPr>
          </a:p>
          <a:p>
            <a:pPr lvl="1"/>
            <a:r>
              <a:rPr lang="en-US" b="1" i="1" dirty="0">
                <a:latin typeface="Times New Roman" panose="02020503050405090304" pitchFamily="18" charset="0"/>
                <a:cs typeface="Times New Roman" panose="02020503050405090304" pitchFamily="18" charset="0"/>
              </a:rPr>
              <a:t>Design patterns</a:t>
            </a:r>
            <a:r>
              <a:rPr lang="en-US" b="1" dirty="0">
                <a:latin typeface="Times New Roman" panose="02020503050405090304" pitchFamily="18" charset="0"/>
                <a:cs typeface="Times New Roman" panose="02020503050405090304" pitchFamily="18" charset="0"/>
              </a:rPr>
              <a:t>:</a:t>
            </a:r>
            <a:endParaRPr lang="en-US" b="1" dirty="0">
              <a:latin typeface="Times New Roman" panose="02020503050405090304" pitchFamily="18" charset="0"/>
              <a:cs typeface="Times New Roman" panose="02020503050405090304" pitchFamily="18" charset="0"/>
            </a:endParaRPr>
          </a:p>
          <a:p>
            <a:pPr lvl="2"/>
            <a:r>
              <a:rPr lang="en-US" dirty="0">
                <a:latin typeface="Times New Roman" panose="02020503050405090304" pitchFamily="18" charset="0"/>
                <a:cs typeface="Times New Roman" panose="02020503050405090304" pitchFamily="18" charset="0"/>
              </a:rPr>
              <a:t>Number of different design patterns used in a design</a:t>
            </a:r>
            <a:endParaRPr lang="en-US" dirty="0">
              <a:latin typeface="Times New Roman" panose="02020503050405090304" pitchFamily="18" charset="0"/>
              <a:cs typeface="Times New Roman" panose="02020503050405090304" pitchFamily="18" charset="0"/>
            </a:endParaRPr>
          </a:p>
          <a:p>
            <a:pPr lvl="2"/>
            <a:r>
              <a:rPr lang="en-US" dirty="0">
                <a:latin typeface="Times New Roman" panose="02020503050405090304" pitchFamily="18" charset="0"/>
                <a:cs typeface="Times New Roman" panose="02020503050405090304" pitchFamily="18" charset="0"/>
              </a:rPr>
              <a:t>Number of design pattern realizations for each pattern type</a:t>
            </a:r>
            <a:endParaRPr lang="en-US" dirty="0">
              <a:latin typeface="Times New Roman" panose="02020503050405090304" pitchFamily="18" charset="0"/>
              <a:cs typeface="Times New Roman" panose="02020503050405090304" pitchFamily="18" charset="0"/>
            </a:endParaRPr>
          </a:p>
          <a:p>
            <a:pPr lvl="2"/>
            <a:r>
              <a:rPr lang="en-US" dirty="0">
                <a:latin typeface="Times New Roman" panose="02020503050405090304" pitchFamily="18" charset="0"/>
                <a:cs typeface="Times New Roman" panose="02020503050405090304" pitchFamily="18" charset="0"/>
              </a:rPr>
              <a:t>Number of classes, interfaces, or abstract classes that play roles in each pattern realization</a:t>
            </a:r>
            <a:endParaRPr lang="en-US" dirty="0">
              <a:latin typeface="Times New Roman" panose="02020503050405090304" pitchFamily="18" charset="0"/>
              <a:cs typeface="Times New Roman" panose="02020503050405090304" pitchFamily="18" charset="0"/>
            </a:endParaRPr>
          </a:p>
          <a:p>
            <a:pPr lvl="1"/>
            <a:r>
              <a:rPr lang="en-US" b="1" i="1" dirty="0">
                <a:latin typeface="Times New Roman" panose="02020503050405090304" pitchFamily="18" charset="0"/>
                <a:cs typeface="Times New Roman" panose="02020503050405090304" pitchFamily="18" charset="0"/>
              </a:rPr>
              <a:t>Classes, interfaces, or abstract classes</a:t>
            </a:r>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Number of public methods or operations, number of attributes</a:t>
            </a:r>
            <a:endParaRPr lang="en-US" dirty="0">
              <a:latin typeface="Times New Roman" panose="02020503050405090304" pitchFamily="18" charset="0"/>
              <a:cs typeface="Times New Roman" panose="02020503050405090304" pitchFamily="18" charset="0"/>
            </a:endParaRPr>
          </a:p>
          <a:p>
            <a:pPr lvl="1"/>
            <a:r>
              <a:rPr lang="en-US" b="1" i="1" dirty="0">
                <a:latin typeface="Times New Roman" panose="02020503050405090304" pitchFamily="18" charset="0"/>
                <a:cs typeface="Times New Roman" panose="02020503050405090304" pitchFamily="18" charset="0"/>
              </a:rPr>
              <a:t>Methods or operations</a:t>
            </a:r>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Number of parameters, number of overloaded versions of a method or operation</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Design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algn="just"/>
            <a:r>
              <a:rPr lang="en-US" b="1" dirty="0">
                <a:latin typeface="Times New Roman" panose="02020503050405090304" pitchFamily="18" charset="0"/>
                <a:cs typeface="Times New Roman" panose="02020503050405090304" pitchFamily="18" charset="0"/>
              </a:rPr>
              <a:t>Weighted Methods per Class (WMC) measure: </a:t>
            </a:r>
            <a:r>
              <a:rPr lang="en-US" dirty="0">
                <a:latin typeface="Times New Roman" panose="02020503050405090304" pitchFamily="18" charset="0"/>
                <a:cs typeface="Times New Roman" panose="02020503050405090304" pitchFamily="18" charset="0"/>
              </a:rPr>
              <a:t>measured by summing the weights of the methods in a class, where weights are unspecified complexity factors for each method</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Both the number of methods and the number of attributes can serve as class size measures</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One set of studies found that the number of methods is a better predictor of class change-proneness than the number of attributes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Requirement Analysis and Specification Size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Requirement and specification documents combine text, graphs, and special mathematical diagrams and symbols.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It may not be easy to generate a single-size measure because a requirement analysis often consists of a mix of document types.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For example, a use case analysis may consist of a UML use case diagram along with a set of use case scenarios that may be expressed as either text or as UML activity diagrams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Cost of a Project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altLang="tr-TR" dirty="0">
                <a:latin typeface="Times New Roman" panose="02020503050405090304" pitchFamily="18" charset="0"/>
                <a:cs typeface="Times New Roman" panose="02020503050405090304" pitchFamily="18" charset="0"/>
              </a:rPr>
              <a:t>The cost of a project is due to:</a:t>
            </a:r>
            <a:endParaRPr lang="en-US" altLang="tr-TR" dirty="0">
              <a:latin typeface="Times New Roman" panose="02020503050405090304" pitchFamily="18" charset="0"/>
              <a:cs typeface="Times New Roman" panose="02020503050405090304" pitchFamily="18" charset="0"/>
            </a:endParaRPr>
          </a:p>
          <a:p>
            <a:pPr lvl="1"/>
            <a:r>
              <a:rPr lang="en-US" altLang="tr-TR" dirty="0">
                <a:latin typeface="Times New Roman" panose="02020503050405090304" pitchFamily="18" charset="0"/>
                <a:cs typeface="Times New Roman" panose="02020503050405090304" pitchFamily="18" charset="0"/>
              </a:rPr>
              <a:t>The requirements for software, hardware, and human resources</a:t>
            </a:r>
            <a:endParaRPr lang="en-US" altLang="tr-TR" dirty="0">
              <a:latin typeface="Times New Roman" panose="02020503050405090304" pitchFamily="18" charset="0"/>
              <a:cs typeface="Times New Roman" panose="02020503050405090304" pitchFamily="18" charset="0"/>
            </a:endParaRPr>
          </a:p>
          <a:p>
            <a:pPr lvl="1"/>
            <a:r>
              <a:rPr lang="en-US" altLang="tr-TR" dirty="0">
                <a:latin typeface="Times New Roman" panose="02020503050405090304" pitchFamily="18" charset="0"/>
                <a:cs typeface="Times New Roman" panose="02020503050405090304" pitchFamily="18" charset="0"/>
              </a:rPr>
              <a:t>The cost of software development is due to the human resources needed</a:t>
            </a:r>
            <a:endParaRPr lang="en-US" altLang="tr-TR" dirty="0">
              <a:latin typeface="Times New Roman" panose="02020503050405090304" pitchFamily="18" charset="0"/>
              <a:cs typeface="Times New Roman" panose="02020503050405090304" pitchFamily="18" charset="0"/>
            </a:endParaRPr>
          </a:p>
          <a:p>
            <a:pPr lvl="1"/>
            <a:r>
              <a:rPr lang="en-US" altLang="tr-TR" dirty="0">
                <a:latin typeface="Times New Roman" panose="02020503050405090304" pitchFamily="18" charset="0"/>
                <a:cs typeface="Times New Roman" panose="02020503050405090304" pitchFamily="18" charset="0"/>
              </a:rPr>
              <a:t>Most cost estimates are measured in </a:t>
            </a:r>
            <a:r>
              <a:rPr lang="en-US" altLang="tr-TR" b="1" i="1" dirty="0">
                <a:solidFill>
                  <a:srgbClr val="FF0000"/>
                </a:solidFill>
                <a:latin typeface="Times New Roman" panose="02020503050405090304" pitchFamily="18" charset="0"/>
                <a:cs typeface="Times New Roman" panose="02020503050405090304" pitchFamily="18" charset="0"/>
              </a:rPr>
              <a:t>person-months  (PM)</a:t>
            </a:r>
            <a:endParaRPr lang="en-US" altLang="tr-TR" b="1" i="1"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Software Cost Estimation</a:t>
            </a:r>
            <a:endParaRPr lang="en-US" dirty="0">
              <a:latin typeface="Times New Roman" panose="02020503050405090304" pitchFamily="18" charset="0"/>
              <a:cs typeface="Times New Roman" panose="02020503050405090304" pitchFamily="18" charset="0"/>
            </a:endParaRPr>
          </a:p>
        </p:txBody>
      </p:sp>
      <p:graphicFrame>
        <p:nvGraphicFramePr>
          <p:cNvPr id="4" name="Content Placeholder 3"/>
          <p:cNvGraphicFramePr>
            <a:graphicFrameLocks noGrp="1" noChangeAspect="1"/>
          </p:cNvGraphicFramePr>
          <p:nvPr>
            <p:ph idx="1"/>
          </p:nvPr>
        </p:nvGraphicFramePr>
        <p:xfrm>
          <a:off x="1532762" y="2467578"/>
          <a:ext cx="8595464" cy="3018822"/>
        </p:xfrm>
        <a:graphic>
          <a:graphicData uri="http://schemas.openxmlformats.org/presentationml/2006/ole">
            <mc:AlternateContent xmlns:mc="http://schemas.openxmlformats.org/markup-compatibility/2006">
              <mc:Choice xmlns:v="urn:schemas-microsoft-com:vml" Requires="v">
                <p:oleObj spid="_x0000_s1186" name="Bitmap Image" r:id="rId1" imgW="5505450" imgH="1933575" progId="Paint.Picture">
                  <p:embed/>
                </p:oleObj>
              </mc:Choice>
              <mc:Fallback>
                <p:oleObj name="Bitmap Image" r:id="rId1" imgW="5505450" imgH="1933575" progId="Paint.Picture">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762" y="2467578"/>
                        <a:ext cx="8595464" cy="3018822"/>
                      </a:xfrm>
                      <a:prstGeom prst="rect">
                        <a:avLst/>
                      </a:prstGeom>
                      <a:noFill/>
                      <a:ln>
                        <a:noFill/>
                      </a:ln>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Actual View</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177042" y="1825625"/>
            <a:ext cx="5837916" cy="4351338"/>
          </a:xfr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Effort ( using LOC)</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503050405090304" pitchFamily="18" charset="0"/>
                <a:cs typeface="Times New Roman" panose="02020503050405090304" pitchFamily="18" charset="0"/>
              </a:rPr>
              <a:t>Effort Equation </a:t>
            </a:r>
            <a:endParaRPr lang="en-US" altLang="tr-TR" dirty="0">
              <a:latin typeface="Times New Roman" panose="02020503050405090304" pitchFamily="18" charset="0"/>
              <a:cs typeface="Times New Roman" panose="02020503050405090304" pitchFamily="18" charset="0"/>
            </a:endParaRPr>
          </a:p>
          <a:p>
            <a:pPr lvl="1">
              <a:spcAft>
                <a:spcPts val="500"/>
              </a:spcAft>
            </a:pPr>
            <a:r>
              <a:rPr lang="en-US" altLang="tr-TR" b="1" dirty="0">
                <a:solidFill>
                  <a:srgbClr val="FF0000"/>
                </a:solidFill>
                <a:latin typeface="Times New Roman" panose="02020503050405090304" pitchFamily="18" charset="0"/>
                <a:cs typeface="Times New Roman" panose="02020503050405090304" pitchFamily="18" charset="0"/>
              </a:rPr>
              <a:t>PM = a * (KDSI)</a:t>
            </a:r>
            <a:r>
              <a:rPr lang="en-US" altLang="tr-TR" b="1" baseline="30000" dirty="0">
                <a:solidFill>
                  <a:srgbClr val="FF0000"/>
                </a:solidFill>
                <a:latin typeface="Times New Roman" panose="02020503050405090304" pitchFamily="18" charset="0"/>
                <a:cs typeface="Times New Roman" panose="02020503050405090304" pitchFamily="18" charset="0"/>
              </a:rPr>
              <a:t>b</a:t>
            </a:r>
            <a:r>
              <a:rPr lang="en-US" altLang="tr-TR" b="1" dirty="0">
                <a:solidFill>
                  <a:srgbClr val="FF0000"/>
                </a:solidFill>
                <a:latin typeface="Times New Roman" panose="02020503050405090304" pitchFamily="18" charset="0"/>
                <a:cs typeface="Times New Roman" panose="02020503050405090304" pitchFamily="18" charset="0"/>
              </a:rPr>
              <a:t> </a:t>
            </a:r>
            <a:r>
              <a:rPr lang="en-US" altLang="tr-TR" sz="1600" dirty="0">
                <a:solidFill>
                  <a:srgbClr val="FF0000"/>
                </a:solidFill>
                <a:latin typeface="Times New Roman" panose="02020503050405090304" pitchFamily="18" charset="0"/>
                <a:cs typeface="Times New Roman" panose="02020503050405090304" pitchFamily="18" charset="0"/>
              </a:rPr>
              <a:t>(person-months)</a:t>
            </a:r>
            <a:endParaRPr lang="en-US" altLang="tr-TR" sz="1600" dirty="0">
              <a:solidFill>
                <a:srgbClr val="FF0000"/>
              </a:solidFill>
              <a:latin typeface="Times New Roman" panose="02020503050405090304" pitchFamily="18" charset="0"/>
              <a:cs typeface="Times New Roman" panose="02020503050405090304" pitchFamily="18" charset="0"/>
            </a:endParaRPr>
          </a:p>
          <a:p>
            <a:pPr lvl="2">
              <a:spcAft>
                <a:spcPts val="500"/>
              </a:spcAft>
            </a:pPr>
            <a:r>
              <a:rPr lang="en-US" altLang="tr-TR" dirty="0">
                <a:latin typeface="Times New Roman" panose="02020503050405090304" pitchFamily="18" charset="0"/>
                <a:cs typeface="Times New Roman" panose="02020503050405090304" pitchFamily="18" charset="0"/>
              </a:rPr>
              <a:t>where </a:t>
            </a:r>
            <a:r>
              <a:rPr lang="en-US" altLang="tr-TR" b="1" dirty="0">
                <a:latin typeface="Times New Roman" panose="02020503050405090304" pitchFamily="18" charset="0"/>
                <a:cs typeface="Times New Roman" panose="02020503050405090304" pitchFamily="18" charset="0"/>
              </a:rPr>
              <a:t>PM</a:t>
            </a:r>
            <a:r>
              <a:rPr lang="en-US" altLang="tr-TR" dirty="0">
                <a:latin typeface="Times New Roman" panose="02020503050405090304" pitchFamily="18" charset="0"/>
                <a:cs typeface="Times New Roman" panose="02020503050405090304" pitchFamily="18" charset="0"/>
              </a:rPr>
              <a:t> = number of person-month (=152 working hours), </a:t>
            </a:r>
            <a:endParaRPr lang="en-US" altLang="tr-TR" dirty="0">
              <a:latin typeface="Times New Roman" panose="02020503050405090304" pitchFamily="18" charset="0"/>
              <a:cs typeface="Times New Roman" panose="02020503050405090304" pitchFamily="18" charset="0"/>
            </a:endParaRPr>
          </a:p>
          <a:p>
            <a:pPr lvl="2">
              <a:spcAft>
                <a:spcPts val="500"/>
              </a:spcAft>
            </a:pPr>
            <a:r>
              <a:rPr lang="en-US" altLang="tr-TR" b="1" dirty="0">
                <a:latin typeface="Times New Roman" panose="02020503050405090304" pitchFamily="18" charset="0"/>
                <a:cs typeface="Times New Roman" panose="02020503050405090304" pitchFamily="18" charset="0"/>
              </a:rPr>
              <a:t>a</a:t>
            </a:r>
            <a:r>
              <a:rPr lang="en-US" altLang="tr-TR" dirty="0">
                <a:latin typeface="Times New Roman" panose="02020503050405090304" pitchFamily="18" charset="0"/>
                <a:cs typeface="Times New Roman" panose="02020503050405090304" pitchFamily="18" charset="0"/>
              </a:rPr>
              <a:t> = a constant, </a:t>
            </a:r>
            <a:endParaRPr lang="en-US" altLang="tr-TR" dirty="0">
              <a:latin typeface="Times New Roman" panose="02020503050405090304" pitchFamily="18" charset="0"/>
              <a:cs typeface="Times New Roman" panose="02020503050405090304" pitchFamily="18" charset="0"/>
            </a:endParaRPr>
          </a:p>
          <a:p>
            <a:pPr lvl="2">
              <a:spcAft>
                <a:spcPts val="500"/>
              </a:spcAft>
            </a:pPr>
            <a:r>
              <a:rPr lang="en-US" altLang="tr-TR" b="1" dirty="0">
                <a:latin typeface="Times New Roman" panose="02020503050405090304" pitchFamily="18" charset="0"/>
                <a:cs typeface="Times New Roman" panose="02020503050405090304" pitchFamily="18" charset="0"/>
              </a:rPr>
              <a:t>KDSI</a:t>
            </a:r>
            <a:r>
              <a:rPr lang="en-US" altLang="tr-TR" dirty="0">
                <a:latin typeface="Times New Roman" panose="02020503050405090304" pitchFamily="18" charset="0"/>
                <a:cs typeface="Times New Roman" panose="02020503050405090304" pitchFamily="18" charset="0"/>
              </a:rPr>
              <a:t> = thousands of "delivered source instructions" (DSI) and</a:t>
            </a:r>
            <a:endParaRPr lang="en-US" altLang="tr-TR" dirty="0">
              <a:latin typeface="Times New Roman" panose="02020503050405090304" pitchFamily="18" charset="0"/>
              <a:cs typeface="Times New Roman" panose="02020503050405090304" pitchFamily="18" charset="0"/>
            </a:endParaRPr>
          </a:p>
          <a:p>
            <a:pPr lvl="2">
              <a:spcAft>
                <a:spcPts val="500"/>
              </a:spcAft>
            </a:pPr>
            <a:r>
              <a:rPr lang="en-US" altLang="tr-TR" dirty="0">
                <a:latin typeface="Times New Roman" panose="02020503050405090304" pitchFamily="18" charset="0"/>
                <a:cs typeface="Times New Roman" panose="02020503050405090304" pitchFamily="18" charset="0"/>
              </a:rPr>
              <a:t> </a:t>
            </a:r>
            <a:r>
              <a:rPr lang="en-US" altLang="tr-TR" b="1" dirty="0">
                <a:latin typeface="Times New Roman" panose="02020503050405090304" pitchFamily="18" charset="0"/>
                <a:cs typeface="Times New Roman" panose="02020503050405090304" pitchFamily="18" charset="0"/>
              </a:rPr>
              <a:t>b</a:t>
            </a:r>
            <a:r>
              <a:rPr lang="en-US" altLang="tr-TR" dirty="0">
                <a:latin typeface="Times New Roman" panose="02020503050405090304" pitchFamily="18" charset="0"/>
                <a:cs typeface="Times New Roman" panose="02020503050405090304" pitchFamily="18" charset="0"/>
              </a:rPr>
              <a:t> = a constant. </a:t>
            </a:r>
            <a:endParaRPr lang="en-US" altLang="tr-TR"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Productivity</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503050405090304" pitchFamily="18" charset="0"/>
                <a:cs typeface="Times New Roman" panose="02020503050405090304" pitchFamily="18" charset="0"/>
              </a:rPr>
              <a:t>Productivity equation </a:t>
            </a:r>
            <a:endParaRPr lang="en-US" altLang="tr-TR" dirty="0">
              <a:latin typeface="Times New Roman" panose="02020503050405090304" pitchFamily="18" charset="0"/>
              <a:cs typeface="Times New Roman" panose="02020503050405090304" pitchFamily="18" charset="0"/>
            </a:endParaRPr>
          </a:p>
          <a:p>
            <a:pPr lvl="1">
              <a:spcAft>
                <a:spcPts val="500"/>
              </a:spcAft>
            </a:pPr>
            <a:r>
              <a:rPr lang="en-US" altLang="tr-TR" b="1" dirty="0">
                <a:latin typeface="Times New Roman" panose="02020503050405090304" pitchFamily="18" charset="0"/>
                <a:cs typeface="Times New Roman" panose="02020503050405090304" pitchFamily="18" charset="0"/>
              </a:rPr>
              <a:t>(DSI) / (PM) </a:t>
            </a:r>
            <a:endParaRPr lang="en-US" altLang="tr-TR" b="1" dirty="0">
              <a:latin typeface="Times New Roman" panose="02020503050405090304" pitchFamily="18" charset="0"/>
              <a:cs typeface="Times New Roman" panose="02020503050405090304" pitchFamily="18" charset="0"/>
            </a:endParaRPr>
          </a:p>
          <a:p>
            <a:pPr lvl="2">
              <a:spcAft>
                <a:spcPts val="500"/>
              </a:spcAft>
            </a:pPr>
            <a:r>
              <a:rPr lang="en-US" altLang="tr-TR" dirty="0">
                <a:latin typeface="Times New Roman" panose="02020503050405090304" pitchFamily="18" charset="0"/>
                <a:cs typeface="Times New Roman" panose="02020503050405090304" pitchFamily="18" charset="0"/>
              </a:rPr>
              <a:t>where </a:t>
            </a:r>
            <a:r>
              <a:rPr lang="en-US" altLang="tr-TR" b="1" dirty="0">
                <a:latin typeface="Times New Roman" panose="02020503050405090304" pitchFamily="18" charset="0"/>
                <a:cs typeface="Times New Roman" panose="02020503050405090304" pitchFamily="18" charset="0"/>
              </a:rPr>
              <a:t>PM</a:t>
            </a:r>
            <a:r>
              <a:rPr lang="en-US" altLang="tr-TR" dirty="0">
                <a:latin typeface="Times New Roman" panose="02020503050405090304" pitchFamily="18" charset="0"/>
                <a:cs typeface="Times New Roman" panose="02020503050405090304" pitchFamily="18" charset="0"/>
              </a:rPr>
              <a:t> = number of person-month (=152 working hours), </a:t>
            </a:r>
            <a:endParaRPr lang="en-US" altLang="tr-TR" dirty="0">
              <a:latin typeface="Times New Roman" panose="02020503050405090304" pitchFamily="18" charset="0"/>
              <a:cs typeface="Times New Roman" panose="02020503050405090304" pitchFamily="18" charset="0"/>
            </a:endParaRPr>
          </a:p>
          <a:p>
            <a:pPr lvl="2">
              <a:spcAft>
                <a:spcPts val="500"/>
              </a:spcAft>
            </a:pPr>
            <a:endParaRPr lang="en-US" altLang="tr-TR" dirty="0">
              <a:latin typeface="Times New Roman" panose="02020503050405090304" pitchFamily="18" charset="0"/>
              <a:cs typeface="Times New Roman" panose="02020503050405090304" pitchFamily="18" charset="0"/>
            </a:endParaRPr>
          </a:p>
          <a:p>
            <a:pPr lvl="2">
              <a:spcAft>
                <a:spcPts val="500"/>
              </a:spcAft>
            </a:pPr>
            <a:r>
              <a:rPr lang="en-US" altLang="tr-TR" b="1" dirty="0">
                <a:latin typeface="Times New Roman" panose="02020503050405090304" pitchFamily="18" charset="0"/>
                <a:cs typeface="Times New Roman" panose="02020503050405090304" pitchFamily="18" charset="0"/>
              </a:rPr>
              <a:t>DSI</a:t>
            </a:r>
            <a:r>
              <a:rPr lang="en-US" altLang="tr-TR" dirty="0">
                <a:latin typeface="Times New Roman" panose="02020503050405090304" pitchFamily="18" charset="0"/>
                <a:cs typeface="Times New Roman" panose="02020503050405090304" pitchFamily="18" charset="0"/>
              </a:rPr>
              <a:t> = "delivered source instructions"</a:t>
            </a:r>
            <a:endParaRPr lang="en-US" altLang="tr-TR"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Schedule and Average Staffing</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503050405090304" pitchFamily="18" charset="0"/>
                <a:cs typeface="Times New Roman" panose="02020503050405090304" pitchFamily="18" charset="0"/>
              </a:rPr>
              <a:t>Schedule equation </a:t>
            </a:r>
            <a:endParaRPr lang="en-US" altLang="tr-TR" dirty="0">
              <a:latin typeface="Times New Roman" panose="02020503050405090304" pitchFamily="18" charset="0"/>
              <a:cs typeface="Times New Roman" panose="02020503050405090304" pitchFamily="18" charset="0"/>
            </a:endParaRPr>
          </a:p>
          <a:p>
            <a:pPr lvl="1">
              <a:spcAft>
                <a:spcPts val="500"/>
              </a:spcAft>
            </a:pPr>
            <a:r>
              <a:rPr lang="en-US" altLang="tr-TR" b="1" dirty="0">
                <a:latin typeface="Times New Roman" panose="02020503050405090304" pitchFamily="18" charset="0"/>
                <a:cs typeface="Times New Roman" panose="02020503050405090304" pitchFamily="18" charset="0"/>
              </a:rPr>
              <a:t>TDEV = c * (PM)</a:t>
            </a:r>
            <a:r>
              <a:rPr lang="en-US" altLang="tr-TR" b="1" baseline="30000" dirty="0">
                <a:latin typeface="Times New Roman" panose="02020503050405090304" pitchFamily="18" charset="0"/>
                <a:cs typeface="Times New Roman" panose="02020503050405090304" pitchFamily="18" charset="0"/>
              </a:rPr>
              <a:t>d</a:t>
            </a:r>
            <a:r>
              <a:rPr lang="en-US" altLang="tr-TR" b="1" dirty="0">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months)</a:t>
            </a:r>
            <a:r>
              <a:rPr lang="en-US" altLang="tr-TR" b="1" dirty="0">
                <a:latin typeface="Times New Roman" panose="02020503050405090304" pitchFamily="18" charset="0"/>
                <a:cs typeface="Times New Roman" panose="02020503050405090304" pitchFamily="18" charset="0"/>
              </a:rPr>
              <a:t> </a:t>
            </a:r>
            <a:endParaRPr lang="en-US" altLang="tr-TR" dirty="0">
              <a:latin typeface="Times New Roman" panose="02020503050405090304" pitchFamily="18" charset="0"/>
              <a:cs typeface="Times New Roman" panose="02020503050405090304" pitchFamily="18" charset="0"/>
            </a:endParaRPr>
          </a:p>
          <a:p>
            <a:pPr lvl="2">
              <a:spcAft>
                <a:spcPts val="500"/>
              </a:spcAft>
            </a:pPr>
            <a:r>
              <a:rPr lang="en-US" altLang="tr-TR" dirty="0">
                <a:latin typeface="Times New Roman" panose="02020503050405090304" pitchFamily="18" charset="0"/>
                <a:cs typeface="Times New Roman" panose="02020503050405090304" pitchFamily="18" charset="0"/>
              </a:rPr>
              <a:t>where TDEV = number of months estimated for software development. </a:t>
            </a:r>
            <a:endParaRPr lang="en-US" altLang="tr-TR" dirty="0">
              <a:latin typeface="Times New Roman" panose="02020503050405090304" pitchFamily="18" charset="0"/>
              <a:cs typeface="Times New Roman" panose="02020503050405090304" pitchFamily="18" charset="0"/>
            </a:endParaRPr>
          </a:p>
          <a:p>
            <a:r>
              <a:rPr lang="en-US" altLang="tr-TR" dirty="0">
                <a:latin typeface="Times New Roman" panose="02020503050405090304" pitchFamily="18" charset="0"/>
                <a:cs typeface="Times New Roman" panose="02020503050405090304" pitchFamily="18" charset="0"/>
              </a:rPr>
              <a:t>Average Staffing Equation</a:t>
            </a:r>
            <a:endParaRPr lang="en-US" altLang="tr-TR" dirty="0">
              <a:latin typeface="Times New Roman" panose="02020503050405090304" pitchFamily="18" charset="0"/>
              <a:cs typeface="Times New Roman" panose="02020503050405090304" pitchFamily="18" charset="0"/>
            </a:endParaRPr>
          </a:p>
          <a:p>
            <a:pPr lvl="1">
              <a:spcAft>
                <a:spcPts val="500"/>
              </a:spcAft>
            </a:pPr>
            <a:r>
              <a:rPr lang="en-US" altLang="tr-TR" b="1" dirty="0">
                <a:latin typeface="Times New Roman" panose="02020503050405090304" pitchFamily="18" charset="0"/>
                <a:cs typeface="Times New Roman" panose="02020503050405090304" pitchFamily="18" charset="0"/>
              </a:rPr>
              <a:t>(PM) / (TDEV)		 </a:t>
            </a:r>
            <a:r>
              <a:rPr lang="en-US" altLang="tr-TR" sz="2000" dirty="0">
                <a:latin typeface="Times New Roman" panose="02020503050405090304" pitchFamily="18" charset="0"/>
                <a:cs typeface="Times New Roman" panose="02020503050405090304" pitchFamily="18" charset="0"/>
              </a:rPr>
              <a:t>(FSP) </a:t>
            </a:r>
            <a:endParaRPr lang="en-US" altLang="tr-TR" sz="2000" dirty="0">
              <a:latin typeface="Times New Roman" panose="02020503050405090304" pitchFamily="18" charset="0"/>
              <a:cs typeface="Times New Roman" panose="02020503050405090304" pitchFamily="18" charset="0"/>
            </a:endParaRPr>
          </a:p>
          <a:p>
            <a:pPr lvl="2">
              <a:spcAft>
                <a:spcPts val="500"/>
              </a:spcAft>
            </a:pPr>
            <a:r>
              <a:rPr lang="en-US" altLang="tr-TR" dirty="0">
                <a:latin typeface="Times New Roman" panose="02020503050405090304" pitchFamily="18" charset="0"/>
                <a:cs typeface="Times New Roman" panose="02020503050405090304" pitchFamily="18" charset="0"/>
              </a:rPr>
              <a:t>where FSP means Full-time-equivalent Software Personnel.</a:t>
            </a:r>
            <a:endParaRPr lang="en-US" altLang="tr-TR" dirty="0">
              <a:latin typeface="Times New Roman" panose="02020503050405090304" pitchFamily="18" charset="0"/>
              <a:cs typeface="Times New Roman" panose="02020503050405090304" pitchFamily="18" charset="0"/>
            </a:endParaRPr>
          </a:p>
          <a:p>
            <a:pPr lvl="2">
              <a:spcAft>
                <a:spcPts val="500"/>
              </a:spcAft>
            </a:pPr>
            <a:endParaRPr lang="en-US" altLang="tr-TR"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Cost Estimation Process</a:t>
            </a:r>
            <a:endParaRPr lang="en-US" dirty="0">
              <a:latin typeface="Times New Roman" panose="02020503050405090304" pitchFamily="18" charset="0"/>
              <a:cs typeface="Times New Roman" panose="02020503050405090304" pitchFamily="18" charset="0"/>
            </a:endParaRPr>
          </a:p>
        </p:txBody>
      </p:sp>
      <p:sp>
        <p:nvSpPr>
          <p:cNvPr id="27" name="Text Box 16"/>
          <p:cNvSpPr txBox="1">
            <a:spLocks noChangeArrowheads="1"/>
          </p:cNvSpPr>
          <p:nvPr/>
        </p:nvSpPr>
        <p:spPr bwMode="auto">
          <a:xfrm>
            <a:off x="7604951" y="4511612"/>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algn="just"/>
            <a:r>
              <a:rPr lang="en-US" altLang="zh-CN" sz="1600" b="1">
                <a:solidFill>
                  <a:srgbClr val="000000"/>
                </a:solidFill>
                <a:latin typeface="Verdana" panose="020B0804030504040204" pitchFamily="34" charset="0"/>
                <a:ea typeface="BatangChe" pitchFamily="49" charset="-128"/>
              </a:rPr>
              <a:t>Errors</a:t>
            </a:r>
            <a:endParaRPr lang="en-US" altLang="zh-CN" sz="1600" b="1">
              <a:latin typeface="Verdana" panose="020B0804030504040204" pitchFamily="34" charset="0"/>
              <a:ea typeface="BatangChe" pitchFamily="49" charset="-128"/>
            </a:endParaRPr>
          </a:p>
        </p:txBody>
      </p:sp>
      <p:sp>
        <p:nvSpPr>
          <p:cNvPr id="28" name="Text Box 17"/>
          <p:cNvSpPr txBox="1">
            <a:spLocks noChangeArrowheads="1"/>
          </p:cNvSpPr>
          <p:nvPr/>
        </p:nvSpPr>
        <p:spPr bwMode="auto">
          <a:xfrm>
            <a:off x="7628763" y="2835212"/>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algn="just"/>
            <a:r>
              <a:rPr lang="en-US" altLang="zh-CN" sz="1600" b="1">
                <a:latin typeface="Verdana" panose="020B0804030504040204" pitchFamily="34" charset="0"/>
                <a:ea typeface="BatangChe" pitchFamily="49" charset="-128"/>
              </a:rPr>
              <a:t>Effort</a:t>
            </a:r>
            <a:endParaRPr lang="en-US" altLang="zh-CN" sz="1600" b="1">
              <a:latin typeface="Verdana" panose="020B0804030504040204" pitchFamily="34" charset="0"/>
              <a:ea typeface="BatangChe" pitchFamily="49" charset="-128"/>
            </a:endParaRPr>
          </a:p>
        </p:txBody>
      </p:sp>
      <p:sp>
        <p:nvSpPr>
          <p:cNvPr id="29" name="Text Box 18"/>
          <p:cNvSpPr txBox="1">
            <a:spLocks noChangeArrowheads="1"/>
          </p:cNvSpPr>
          <p:nvPr/>
        </p:nvSpPr>
        <p:spPr bwMode="auto">
          <a:xfrm>
            <a:off x="7628763" y="3368612"/>
            <a:ext cx="2743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algn="just"/>
            <a:r>
              <a:rPr lang="en-US" altLang="zh-CN" sz="1600" b="1" dirty="0">
                <a:solidFill>
                  <a:srgbClr val="000000"/>
                </a:solidFill>
                <a:latin typeface="Verdana" panose="020B0804030504040204" pitchFamily="34" charset="0"/>
                <a:ea typeface="BatangChe" pitchFamily="49" charset="-128"/>
              </a:rPr>
              <a:t>Development Time</a:t>
            </a:r>
            <a:r>
              <a:rPr lang="en-US" altLang="zh-CN" sz="1600" b="1" dirty="0">
                <a:latin typeface="Verdana" panose="020B0804030504040204" pitchFamily="34" charset="0"/>
                <a:ea typeface="BatangChe" pitchFamily="49" charset="-128"/>
              </a:rPr>
              <a:t> </a:t>
            </a:r>
            <a:endParaRPr lang="en-US" altLang="zh-CN" sz="1600" b="1" dirty="0">
              <a:latin typeface="Verdana" panose="020B0804030504040204" pitchFamily="34" charset="0"/>
              <a:ea typeface="BatangChe" pitchFamily="49" charset="-128"/>
            </a:endParaRPr>
          </a:p>
        </p:txBody>
      </p:sp>
      <p:sp>
        <p:nvSpPr>
          <p:cNvPr id="30" name="Text Box 19"/>
          <p:cNvSpPr txBox="1">
            <a:spLocks noChangeArrowheads="1"/>
          </p:cNvSpPr>
          <p:nvPr/>
        </p:nvSpPr>
        <p:spPr bwMode="auto">
          <a:xfrm>
            <a:off x="1818513" y="2987612"/>
            <a:ext cx="2514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algn="r"/>
            <a:r>
              <a:rPr lang="en-US" altLang="zh-CN" sz="1600" b="1" dirty="0">
                <a:solidFill>
                  <a:srgbClr val="000000"/>
                </a:solidFill>
                <a:latin typeface="Verdana" panose="020B0804030504040204" pitchFamily="34" charset="0"/>
                <a:ea typeface="BatangChe" pitchFamily="49" charset="-128"/>
              </a:rPr>
              <a:t>Size Table</a:t>
            </a:r>
            <a:endParaRPr lang="en-US" altLang="zh-CN" sz="1600" b="1" dirty="0">
              <a:solidFill>
                <a:srgbClr val="000000"/>
              </a:solidFill>
              <a:latin typeface="Verdana" panose="020B0804030504040204" pitchFamily="34" charset="0"/>
              <a:ea typeface="BatangChe" pitchFamily="49" charset="-128"/>
            </a:endParaRPr>
          </a:p>
          <a:p>
            <a:pPr algn="r"/>
            <a:endParaRPr lang="en-US" altLang="zh-CN" sz="1600" b="1" dirty="0">
              <a:solidFill>
                <a:srgbClr val="000000"/>
              </a:solidFill>
              <a:latin typeface="Verdana" panose="020B0804030504040204" pitchFamily="34" charset="0"/>
              <a:ea typeface="BatangChe" pitchFamily="49" charset="-128"/>
            </a:endParaRPr>
          </a:p>
          <a:p>
            <a:pPr algn="r"/>
            <a:r>
              <a:rPr lang="en-US" altLang="zh-CN" sz="1600" b="1" dirty="0">
                <a:solidFill>
                  <a:srgbClr val="000000"/>
                </a:solidFill>
                <a:latin typeface="Verdana" panose="020B0804030504040204" pitchFamily="34" charset="0"/>
                <a:ea typeface="BatangChe" pitchFamily="49" charset="-128"/>
              </a:rPr>
              <a:t>Lines of Code</a:t>
            </a:r>
            <a:endParaRPr lang="en-US" altLang="zh-CN" sz="1600" b="1" dirty="0">
              <a:solidFill>
                <a:srgbClr val="000000"/>
              </a:solidFill>
              <a:latin typeface="Verdana" panose="020B0804030504040204" pitchFamily="34" charset="0"/>
              <a:ea typeface="BatangChe" pitchFamily="49" charset="-128"/>
            </a:endParaRPr>
          </a:p>
          <a:p>
            <a:pPr algn="r"/>
            <a:endParaRPr lang="en-US" altLang="zh-CN" sz="1600" b="1" dirty="0">
              <a:solidFill>
                <a:srgbClr val="000000"/>
              </a:solidFill>
              <a:latin typeface="Verdana" panose="020B0804030504040204" pitchFamily="34" charset="0"/>
              <a:ea typeface="BatangChe" pitchFamily="49" charset="-128"/>
            </a:endParaRPr>
          </a:p>
          <a:p>
            <a:pPr algn="r"/>
            <a:r>
              <a:rPr lang="en-US" altLang="zh-CN" sz="1600" b="1" dirty="0">
                <a:solidFill>
                  <a:srgbClr val="000000"/>
                </a:solidFill>
                <a:latin typeface="Verdana" panose="020B0804030504040204" pitchFamily="34" charset="0"/>
                <a:ea typeface="BatangChe" pitchFamily="49" charset="-128"/>
              </a:rPr>
              <a:t>Number of Use Case</a:t>
            </a:r>
            <a:endParaRPr lang="en-US" altLang="zh-CN" sz="1600" b="1" dirty="0">
              <a:solidFill>
                <a:srgbClr val="000000"/>
              </a:solidFill>
              <a:latin typeface="Verdana" panose="020B0804030504040204" pitchFamily="34" charset="0"/>
              <a:ea typeface="BatangChe" pitchFamily="49" charset="-128"/>
            </a:endParaRPr>
          </a:p>
          <a:p>
            <a:pPr algn="r"/>
            <a:endParaRPr lang="en-US" altLang="zh-CN" sz="1600" b="1" dirty="0">
              <a:solidFill>
                <a:srgbClr val="000000"/>
              </a:solidFill>
              <a:latin typeface="Verdana" panose="020B0804030504040204" pitchFamily="34" charset="0"/>
              <a:ea typeface="BatangChe" pitchFamily="49" charset="-128"/>
            </a:endParaRPr>
          </a:p>
          <a:p>
            <a:pPr algn="r"/>
            <a:r>
              <a:rPr lang="en-US" altLang="zh-CN" sz="1600" b="1" dirty="0">
                <a:solidFill>
                  <a:srgbClr val="000000"/>
                </a:solidFill>
                <a:latin typeface="Verdana" panose="020B0804030504040204" pitchFamily="34" charset="0"/>
                <a:ea typeface="BatangChe" pitchFamily="49" charset="-128"/>
              </a:rPr>
              <a:t>Function Point</a:t>
            </a:r>
            <a:endParaRPr lang="en-US" altLang="zh-CN" sz="1600" b="1" dirty="0">
              <a:latin typeface="Verdana" panose="020B0804030504040204" pitchFamily="34" charset="0"/>
              <a:ea typeface="BatangChe" pitchFamily="49" charset="-128"/>
            </a:endParaRPr>
          </a:p>
        </p:txBody>
      </p:sp>
      <p:sp>
        <p:nvSpPr>
          <p:cNvPr id="31" name="Line 20"/>
          <p:cNvSpPr>
            <a:spLocks noChangeShapeType="1"/>
          </p:cNvSpPr>
          <p:nvPr/>
        </p:nvSpPr>
        <p:spPr bwMode="auto">
          <a:xfrm>
            <a:off x="4275963" y="3825812"/>
            <a:ext cx="3810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Oval 21"/>
          <p:cNvSpPr>
            <a:spLocks noChangeArrowheads="1"/>
          </p:cNvSpPr>
          <p:nvPr/>
        </p:nvSpPr>
        <p:spPr bwMode="auto">
          <a:xfrm>
            <a:off x="4656963" y="3140012"/>
            <a:ext cx="2514600" cy="1371600"/>
          </a:xfrm>
          <a:prstGeom prst="ellipse">
            <a:avLst/>
          </a:prstGeom>
          <a:solidFill>
            <a:srgbClr val="CCFFCC"/>
          </a:solidFill>
          <a:ln w="9525">
            <a:solidFill>
              <a:schemeClr val="tx1"/>
            </a:solidFill>
            <a:round/>
          </a:ln>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sp>
        <p:nvSpPr>
          <p:cNvPr id="33" name="Text Box 22"/>
          <p:cNvSpPr txBox="1">
            <a:spLocks noChangeArrowheads="1"/>
          </p:cNvSpPr>
          <p:nvPr/>
        </p:nvSpPr>
        <p:spPr bwMode="auto">
          <a:xfrm>
            <a:off x="4733163" y="3673412"/>
            <a:ext cx="25146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algn="just"/>
            <a:r>
              <a:rPr lang="en-US" altLang="zh-CN" sz="1600" b="1">
                <a:latin typeface="Verdana" panose="020B0804030504040204" pitchFamily="34" charset="0"/>
                <a:ea typeface="BatangChe" pitchFamily="49" charset="-128"/>
              </a:rPr>
              <a:t>Estimation Process</a:t>
            </a:r>
            <a:endParaRPr lang="en-US" altLang="zh-CN" sz="1600" b="1">
              <a:latin typeface="Verdana" panose="020B0804030504040204" pitchFamily="34" charset="0"/>
              <a:ea typeface="BatangChe" pitchFamily="49" charset="-128"/>
            </a:endParaRPr>
          </a:p>
        </p:txBody>
      </p:sp>
      <p:sp>
        <p:nvSpPr>
          <p:cNvPr id="34" name="Line 23"/>
          <p:cNvSpPr>
            <a:spLocks noChangeShapeType="1"/>
          </p:cNvSpPr>
          <p:nvPr/>
        </p:nvSpPr>
        <p:spPr bwMode="auto">
          <a:xfrm flipV="1">
            <a:off x="7019163" y="2987612"/>
            <a:ext cx="609600" cy="4984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24"/>
          <p:cNvSpPr>
            <a:spLocks noChangeShapeType="1"/>
          </p:cNvSpPr>
          <p:nvPr/>
        </p:nvSpPr>
        <p:spPr bwMode="auto">
          <a:xfrm>
            <a:off x="7019163" y="4206812"/>
            <a:ext cx="609600" cy="4572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25"/>
          <p:cNvSpPr>
            <a:spLocks noChangeShapeType="1"/>
          </p:cNvSpPr>
          <p:nvPr/>
        </p:nvSpPr>
        <p:spPr bwMode="auto">
          <a:xfrm flipV="1">
            <a:off x="7171563" y="3521012"/>
            <a:ext cx="533400" cy="2286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Text Box 26"/>
          <p:cNvSpPr txBox="1">
            <a:spLocks noChangeArrowheads="1"/>
          </p:cNvSpPr>
          <p:nvPr/>
        </p:nvSpPr>
        <p:spPr bwMode="auto">
          <a:xfrm>
            <a:off x="7628763" y="3946462"/>
            <a:ext cx="2667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eaLnBrk="1" hangingPunct="1">
              <a:spcBef>
                <a:spcPct val="50000"/>
              </a:spcBef>
            </a:pPr>
            <a:r>
              <a:rPr kumimoji="1" lang="en-US" altLang="zh-CN" sz="1600" b="1">
                <a:latin typeface="Verdana" panose="020B0804030504040204" pitchFamily="34" charset="0"/>
                <a:ea typeface="BatangChe" pitchFamily="49" charset="-128"/>
              </a:rPr>
              <a:t>Number of Personnel</a:t>
            </a:r>
            <a:endParaRPr kumimoji="1" lang="en-US" altLang="zh-CN" sz="1600" b="1">
              <a:latin typeface="Verdana" panose="020B0804030504040204" pitchFamily="34" charset="0"/>
              <a:ea typeface="BatangChe" pitchFamily="49" charset="-128"/>
            </a:endParaRPr>
          </a:p>
        </p:txBody>
      </p:sp>
      <p:sp>
        <p:nvSpPr>
          <p:cNvPr id="38" name="Line 27"/>
          <p:cNvSpPr>
            <a:spLocks noChangeShapeType="1"/>
          </p:cNvSpPr>
          <p:nvPr/>
        </p:nvSpPr>
        <p:spPr bwMode="auto">
          <a:xfrm>
            <a:off x="7171563" y="3902012"/>
            <a:ext cx="533400" cy="2286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Project Size - Metrics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62500" lnSpcReduction="20000"/>
          </a:bodyPr>
          <a:lstStyle/>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functional requirements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Cumulative number of functional and non-functional requirements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Customer Test Cases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‘typical sized’ use cases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inquiries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files accessed (external, internal, master)</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Total number of components (subsystems, modules, procedures, routines, classes, methods)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Total number of interfaces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System Integration Test Cases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input and output parameters (summed over each interface)</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Designer Unit Test Cases</a:t>
            </a:r>
            <a:endParaRPr lang="en-US" altLang="tr-TR"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b="1" dirty="0">
                <a:latin typeface="Times New Roman" panose="02020503050405090304" pitchFamily="18" charset="0"/>
                <a:cs typeface="Times New Roman" panose="02020503050405090304" pitchFamily="18" charset="0"/>
              </a:rPr>
              <a:t>Number of decisions (if, case statements) summed over each routine or method</a:t>
            </a:r>
            <a:endParaRPr lang="en-CA" altLang="tr-TR" b="1" dirty="0">
              <a:latin typeface="Times New Roman" panose="02020503050405090304" pitchFamily="18" charset="0"/>
              <a:cs typeface="Times New Roman" panose="02020503050405090304" pitchFamily="18" charset="0"/>
            </a:endParaRPr>
          </a:p>
          <a:p>
            <a:pPr marL="533400" indent="-533400">
              <a:buFontTx/>
              <a:buAutoNum type="arabicPeriod"/>
            </a:pPr>
            <a:r>
              <a:rPr lang="en-CA" altLang="tr-TR" sz="2900" b="1" dirty="0">
                <a:latin typeface="Times New Roman" panose="02020503050405090304" pitchFamily="18" charset="0"/>
                <a:cs typeface="Times New Roman" panose="02020503050405090304" pitchFamily="18" charset="0"/>
              </a:rPr>
              <a:t>Lines of Code, summed over each routine or method</a:t>
            </a:r>
            <a:r>
              <a:rPr lang="en-US" altLang="tr-TR" sz="2900" b="1" dirty="0">
                <a:latin typeface="Times New Roman" panose="02020503050405090304" pitchFamily="18" charset="0"/>
                <a:cs typeface="Times New Roman" panose="02020503050405090304" pitchFamily="18" charset="0"/>
              </a:rPr>
              <a:t> </a:t>
            </a:r>
            <a:endParaRPr lang="en-US" altLang="tr-TR" sz="2900" b="1"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503050405090304" pitchFamily="18" charset="0"/>
                <a:cs typeface="Times New Roman" panose="02020503050405090304" pitchFamily="18" charset="0"/>
              </a:rPr>
              <a:t>Project Size - Metrics</a:t>
            </a:r>
            <a:endParaRPr lang="en-US" dirty="0">
              <a:latin typeface="Times New Roman" panose="02020503050405090304" pitchFamily="18" charset="0"/>
              <a:cs typeface="Times New Roman" panose="02020503050405090304" pitchFamily="18" charset="0"/>
            </a:endParaRPr>
          </a:p>
        </p:txBody>
      </p:sp>
      <p:sp>
        <p:nvSpPr>
          <p:cNvPr id="4" name="Rectangle 3"/>
          <p:cNvSpPr>
            <a:spLocks noGrp="1" noChangeArrowheads="1"/>
          </p:cNvSpPr>
          <p:nvPr>
            <p:ph idx="1"/>
          </p:nvPr>
        </p:nvSpPr>
        <p:spPr/>
        <p:txBody>
          <a:bodyPr/>
          <a:lstStyle/>
          <a:p>
            <a:pPr>
              <a:spcBef>
                <a:spcPct val="0"/>
              </a:spcBef>
              <a:buFontTx/>
              <a:buNone/>
            </a:pPr>
            <a:r>
              <a:rPr lang="en-CA" altLang="tr-TR" sz="2000" b="1" u="sng" dirty="0">
                <a:solidFill>
                  <a:srgbClr val="000000"/>
                </a:solidFill>
                <a:latin typeface="Helvetica" pitchFamily="34" charset="0"/>
                <a:cs typeface="Times New Roman" panose="02020503050405090304" pitchFamily="18" charset="0"/>
              </a:rPr>
              <a:t>Availability of Size Estimation Metrics:</a:t>
            </a:r>
            <a:endParaRPr lang="en-CA" altLang="tr-TR" sz="2000" dirty="0">
              <a:solidFill>
                <a:srgbClr val="000000"/>
              </a:solidFill>
              <a:latin typeface="Helvetica" pitchFamily="34" charset="0"/>
              <a:cs typeface="Times New Roman" panose="02020503050405090304" pitchFamily="18" charset="0"/>
            </a:endParaRPr>
          </a:p>
          <a:p>
            <a:endParaRPr lang="en-US" altLang="tr-TR" sz="2000" dirty="0"/>
          </a:p>
        </p:txBody>
      </p:sp>
      <p:grpSp>
        <p:nvGrpSpPr>
          <p:cNvPr id="5" name="Group 61"/>
          <p:cNvGrpSpPr/>
          <p:nvPr/>
        </p:nvGrpSpPr>
        <p:grpSpPr bwMode="auto">
          <a:xfrm>
            <a:off x="2737104" y="2706624"/>
            <a:ext cx="5943600" cy="3124200"/>
            <a:chOff x="-2" y="516"/>
            <a:chExt cx="2099" cy="2537"/>
          </a:xfrm>
        </p:grpSpPr>
        <p:grpSp>
          <p:nvGrpSpPr>
            <p:cNvPr id="6" name="Group 59"/>
            <p:cNvGrpSpPr/>
            <p:nvPr/>
          </p:nvGrpSpPr>
          <p:grpSpPr bwMode="auto">
            <a:xfrm>
              <a:off x="0" y="518"/>
              <a:ext cx="2095" cy="2533"/>
              <a:chOff x="0" y="518"/>
              <a:chExt cx="2095" cy="2533"/>
            </a:xfrm>
          </p:grpSpPr>
          <p:grpSp>
            <p:nvGrpSpPr>
              <p:cNvPr id="8" name="Group 24"/>
              <p:cNvGrpSpPr/>
              <p:nvPr/>
            </p:nvGrpSpPr>
            <p:grpSpPr bwMode="auto">
              <a:xfrm>
                <a:off x="0" y="518"/>
                <a:ext cx="255" cy="518"/>
                <a:chOff x="0" y="518"/>
                <a:chExt cx="255" cy="518"/>
              </a:xfrm>
            </p:grpSpPr>
            <p:sp>
              <p:nvSpPr>
                <p:cNvPr id="60" name="Rectangle 5"/>
                <p:cNvSpPr>
                  <a:spLocks noChangeArrowheads="1"/>
                </p:cNvSpPr>
                <p:nvPr/>
              </p:nvSpPr>
              <p:spPr bwMode="auto">
                <a:xfrm>
                  <a:off x="43" y="518"/>
                  <a:ext cx="16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a:solidFill>
                        <a:srgbClr val="000000"/>
                      </a:solidFill>
                      <a:latin typeface="Helvetica" pitchFamily="34" charset="0"/>
                      <a:cs typeface="Times New Roman" panose="02020503050405090304" pitchFamily="18" charset="0"/>
                    </a:rPr>
                    <a:t> </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61" name="Rectangle 23"/>
                <p:cNvSpPr>
                  <a:spLocks noChangeArrowheads="1"/>
                </p:cNvSpPr>
                <p:nvPr/>
              </p:nvSpPr>
              <p:spPr bwMode="auto">
                <a:xfrm>
                  <a:off x="0" y="518"/>
                  <a:ext cx="255"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 name="Group 26"/>
              <p:cNvGrpSpPr/>
              <p:nvPr/>
            </p:nvGrpSpPr>
            <p:grpSpPr bwMode="auto">
              <a:xfrm>
                <a:off x="255" y="518"/>
                <a:ext cx="1224" cy="518"/>
                <a:chOff x="255" y="518"/>
                <a:chExt cx="1224" cy="518"/>
              </a:xfrm>
            </p:grpSpPr>
            <p:sp>
              <p:nvSpPr>
                <p:cNvPr id="58" name="Rectangle 6"/>
                <p:cNvSpPr>
                  <a:spLocks noChangeArrowheads="1"/>
                </p:cNvSpPr>
                <p:nvPr/>
              </p:nvSpPr>
              <p:spPr bwMode="auto">
                <a:xfrm>
                  <a:off x="298" y="518"/>
                  <a:ext cx="113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dirty="0">
                      <a:solidFill>
                        <a:srgbClr val="000000"/>
                      </a:solidFill>
                      <a:latin typeface="Helvetica" pitchFamily="34" charset="0"/>
                      <a:cs typeface="Times New Roman" panose="02020503050405090304" pitchFamily="18" charset="0"/>
                    </a:rPr>
                    <a:t>Development Phase</a:t>
                  </a:r>
                  <a:endParaRPr lang="en-CA" altLang="tr-TR" sz="2000" dirty="0">
                    <a:solidFill>
                      <a:srgbClr val="000000"/>
                    </a:solidFill>
                    <a:latin typeface="Helvetica" pitchFamily="34" charset="0"/>
                    <a:cs typeface="Times New Roman" panose="02020503050405090304" pitchFamily="18" charset="0"/>
                  </a:endParaRPr>
                </a:p>
                <a:p>
                  <a:endParaRPr lang="en-CA" altLang="tr-TR" sz="2000" dirty="0"/>
                </a:p>
              </p:txBody>
            </p:sp>
            <p:sp>
              <p:nvSpPr>
                <p:cNvPr id="59" name="Rectangle 25"/>
                <p:cNvSpPr>
                  <a:spLocks noChangeArrowheads="1"/>
                </p:cNvSpPr>
                <p:nvPr/>
              </p:nvSpPr>
              <p:spPr bwMode="auto">
                <a:xfrm>
                  <a:off x="255" y="518"/>
                  <a:ext cx="1224"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 name="Group 28"/>
              <p:cNvGrpSpPr/>
              <p:nvPr/>
            </p:nvGrpSpPr>
            <p:grpSpPr bwMode="auto">
              <a:xfrm>
                <a:off x="1479" y="518"/>
                <a:ext cx="616" cy="518"/>
                <a:chOff x="1479" y="518"/>
                <a:chExt cx="616" cy="518"/>
              </a:xfrm>
            </p:grpSpPr>
            <p:sp>
              <p:nvSpPr>
                <p:cNvPr id="56" name="Rectangle 7"/>
                <p:cNvSpPr>
                  <a:spLocks noChangeArrowheads="1"/>
                </p:cNvSpPr>
                <p:nvPr/>
              </p:nvSpPr>
              <p:spPr bwMode="auto">
                <a:xfrm>
                  <a:off x="1522" y="518"/>
                  <a:ext cx="5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Available </a:t>
                  </a:r>
                  <a:endParaRPr lang="en-CA" altLang="tr-TR" sz="2000">
                    <a:solidFill>
                      <a:srgbClr val="000000"/>
                    </a:solidFill>
                    <a:latin typeface="Helvetica" pitchFamily="34" charset="0"/>
                    <a:cs typeface="Times New Roman" panose="02020503050405090304" pitchFamily="18" charset="0"/>
                  </a:endParaRPr>
                </a:p>
                <a:p>
                  <a:r>
                    <a:rPr lang="en-CA" altLang="tr-TR" sz="2000" b="1">
                      <a:solidFill>
                        <a:srgbClr val="000000"/>
                      </a:solidFill>
                      <a:latin typeface="Helvetica" pitchFamily="34" charset="0"/>
                      <a:cs typeface="Times New Roman" panose="02020503050405090304" pitchFamily="18" charset="0"/>
                    </a:rPr>
                    <a:t>Metrics</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57" name="Rectangle 27"/>
                <p:cNvSpPr>
                  <a:spLocks noChangeArrowheads="1"/>
                </p:cNvSpPr>
                <p:nvPr/>
              </p:nvSpPr>
              <p:spPr bwMode="auto">
                <a:xfrm>
                  <a:off x="1479" y="518"/>
                  <a:ext cx="616"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 name="Group 30"/>
              <p:cNvGrpSpPr/>
              <p:nvPr/>
            </p:nvGrpSpPr>
            <p:grpSpPr bwMode="auto">
              <a:xfrm>
                <a:off x="0" y="1036"/>
                <a:ext cx="255" cy="403"/>
                <a:chOff x="0" y="1036"/>
                <a:chExt cx="255" cy="403"/>
              </a:xfrm>
            </p:grpSpPr>
            <p:sp>
              <p:nvSpPr>
                <p:cNvPr id="54" name="Rectangle 8"/>
                <p:cNvSpPr>
                  <a:spLocks noChangeArrowheads="1"/>
                </p:cNvSpPr>
                <p:nvPr/>
              </p:nvSpPr>
              <p:spPr bwMode="auto">
                <a:xfrm>
                  <a:off x="43" y="1036"/>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a</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55" name="Rectangle 29"/>
                <p:cNvSpPr>
                  <a:spLocks noChangeArrowheads="1"/>
                </p:cNvSpPr>
                <p:nvPr/>
              </p:nvSpPr>
              <p:spPr bwMode="auto">
                <a:xfrm>
                  <a:off x="0" y="1036"/>
                  <a:ext cx="2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2" name="Group 32"/>
              <p:cNvGrpSpPr/>
              <p:nvPr/>
            </p:nvGrpSpPr>
            <p:grpSpPr bwMode="auto">
              <a:xfrm>
                <a:off x="255" y="1036"/>
                <a:ext cx="1224" cy="403"/>
                <a:chOff x="255" y="1036"/>
                <a:chExt cx="1224" cy="403"/>
              </a:xfrm>
            </p:grpSpPr>
            <p:sp>
              <p:nvSpPr>
                <p:cNvPr id="52" name="Rectangle 9"/>
                <p:cNvSpPr>
                  <a:spLocks noChangeArrowheads="1"/>
                </p:cNvSpPr>
                <p:nvPr/>
              </p:nvSpPr>
              <p:spPr bwMode="auto">
                <a:xfrm>
                  <a:off x="298" y="1036"/>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Requirements Gathering</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53" name="Rectangle 31"/>
                <p:cNvSpPr>
                  <a:spLocks noChangeArrowheads="1"/>
                </p:cNvSpPr>
                <p:nvPr/>
              </p:nvSpPr>
              <p:spPr bwMode="auto">
                <a:xfrm>
                  <a:off x="255" y="1036"/>
                  <a:ext cx="1224"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3" name="Group 34"/>
              <p:cNvGrpSpPr/>
              <p:nvPr/>
            </p:nvGrpSpPr>
            <p:grpSpPr bwMode="auto">
              <a:xfrm>
                <a:off x="1479" y="1036"/>
                <a:ext cx="616" cy="403"/>
                <a:chOff x="1479" y="1036"/>
                <a:chExt cx="616" cy="403"/>
              </a:xfrm>
            </p:grpSpPr>
            <p:sp>
              <p:nvSpPr>
                <p:cNvPr id="50" name="Rectangle 10"/>
                <p:cNvSpPr>
                  <a:spLocks noChangeArrowheads="1"/>
                </p:cNvSpPr>
                <p:nvPr/>
              </p:nvSpPr>
              <p:spPr bwMode="auto">
                <a:xfrm>
                  <a:off x="1522" y="1036"/>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1, 2, 3</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51" name="Rectangle 33"/>
                <p:cNvSpPr>
                  <a:spLocks noChangeArrowheads="1"/>
                </p:cNvSpPr>
                <p:nvPr/>
              </p:nvSpPr>
              <p:spPr bwMode="auto">
                <a:xfrm>
                  <a:off x="1479" y="1036"/>
                  <a:ext cx="6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4" name="Group 36"/>
              <p:cNvGrpSpPr/>
              <p:nvPr/>
            </p:nvGrpSpPr>
            <p:grpSpPr bwMode="auto">
              <a:xfrm>
                <a:off x="0" y="1439"/>
                <a:ext cx="255" cy="403"/>
                <a:chOff x="0" y="1439"/>
                <a:chExt cx="255" cy="403"/>
              </a:xfrm>
            </p:grpSpPr>
            <p:sp>
              <p:nvSpPr>
                <p:cNvPr id="48" name="Rectangle 11"/>
                <p:cNvSpPr>
                  <a:spLocks noChangeArrowheads="1"/>
                </p:cNvSpPr>
                <p:nvPr/>
              </p:nvSpPr>
              <p:spPr bwMode="auto">
                <a:xfrm>
                  <a:off x="43" y="1439"/>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b</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49" name="Rectangle 35"/>
                <p:cNvSpPr>
                  <a:spLocks noChangeArrowheads="1"/>
                </p:cNvSpPr>
                <p:nvPr/>
              </p:nvSpPr>
              <p:spPr bwMode="auto">
                <a:xfrm>
                  <a:off x="0" y="1439"/>
                  <a:ext cx="2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5" name="Group 38"/>
              <p:cNvGrpSpPr/>
              <p:nvPr/>
            </p:nvGrpSpPr>
            <p:grpSpPr bwMode="auto">
              <a:xfrm>
                <a:off x="255" y="1439"/>
                <a:ext cx="1224" cy="403"/>
                <a:chOff x="255" y="1439"/>
                <a:chExt cx="1224" cy="403"/>
              </a:xfrm>
            </p:grpSpPr>
            <p:sp>
              <p:nvSpPr>
                <p:cNvPr id="46" name="Rectangle 12"/>
                <p:cNvSpPr>
                  <a:spLocks noChangeArrowheads="1"/>
                </p:cNvSpPr>
                <p:nvPr/>
              </p:nvSpPr>
              <p:spPr bwMode="auto">
                <a:xfrm>
                  <a:off x="298" y="1439"/>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Requirements Analysis</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47" name="Rectangle 37"/>
                <p:cNvSpPr>
                  <a:spLocks noChangeArrowheads="1"/>
                </p:cNvSpPr>
                <p:nvPr/>
              </p:nvSpPr>
              <p:spPr bwMode="auto">
                <a:xfrm>
                  <a:off x="255" y="1439"/>
                  <a:ext cx="1224"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6" name="Group 40"/>
              <p:cNvGrpSpPr/>
              <p:nvPr/>
            </p:nvGrpSpPr>
            <p:grpSpPr bwMode="auto">
              <a:xfrm>
                <a:off x="1479" y="1439"/>
                <a:ext cx="616" cy="403"/>
                <a:chOff x="1479" y="1439"/>
                <a:chExt cx="616" cy="403"/>
              </a:xfrm>
            </p:grpSpPr>
            <p:sp>
              <p:nvSpPr>
                <p:cNvPr id="44" name="Rectangle 13"/>
                <p:cNvSpPr>
                  <a:spLocks noChangeArrowheads="1"/>
                </p:cNvSpPr>
                <p:nvPr/>
              </p:nvSpPr>
              <p:spPr bwMode="auto">
                <a:xfrm>
                  <a:off x="1522" y="1439"/>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4, 5</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45" name="Rectangle 39"/>
                <p:cNvSpPr>
                  <a:spLocks noChangeArrowheads="1"/>
                </p:cNvSpPr>
                <p:nvPr/>
              </p:nvSpPr>
              <p:spPr bwMode="auto">
                <a:xfrm>
                  <a:off x="1479" y="1439"/>
                  <a:ext cx="6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7" name="Group 42"/>
              <p:cNvGrpSpPr/>
              <p:nvPr/>
            </p:nvGrpSpPr>
            <p:grpSpPr bwMode="auto">
              <a:xfrm>
                <a:off x="0" y="1842"/>
                <a:ext cx="255" cy="403"/>
                <a:chOff x="0" y="1842"/>
                <a:chExt cx="255" cy="403"/>
              </a:xfrm>
            </p:grpSpPr>
            <p:sp>
              <p:nvSpPr>
                <p:cNvPr id="42" name="Rectangle 14"/>
                <p:cNvSpPr>
                  <a:spLocks noChangeArrowheads="1"/>
                </p:cNvSpPr>
                <p:nvPr/>
              </p:nvSpPr>
              <p:spPr bwMode="auto">
                <a:xfrm>
                  <a:off x="43" y="1842"/>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d</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43" name="Rectangle 41"/>
                <p:cNvSpPr>
                  <a:spLocks noChangeArrowheads="1"/>
                </p:cNvSpPr>
                <p:nvPr/>
              </p:nvSpPr>
              <p:spPr bwMode="auto">
                <a:xfrm>
                  <a:off x="0" y="1842"/>
                  <a:ext cx="2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8" name="Group 44"/>
              <p:cNvGrpSpPr/>
              <p:nvPr/>
            </p:nvGrpSpPr>
            <p:grpSpPr bwMode="auto">
              <a:xfrm>
                <a:off x="255" y="1842"/>
                <a:ext cx="1224" cy="403"/>
                <a:chOff x="255" y="1842"/>
                <a:chExt cx="1224" cy="403"/>
              </a:xfrm>
            </p:grpSpPr>
            <p:sp>
              <p:nvSpPr>
                <p:cNvPr id="40" name="Rectangle 15"/>
                <p:cNvSpPr>
                  <a:spLocks noChangeArrowheads="1"/>
                </p:cNvSpPr>
                <p:nvPr/>
              </p:nvSpPr>
              <p:spPr bwMode="auto">
                <a:xfrm>
                  <a:off x="298" y="1842"/>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High Level Design</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41" name="Rectangle 43"/>
                <p:cNvSpPr>
                  <a:spLocks noChangeArrowheads="1"/>
                </p:cNvSpPr>
                <p:nvPr/>
              </p:nvSpPr>
              <p:spPr bwMode="auto">
                <a:xfrm>
                  <a:off x="255" y="1842"/>
                  <a:ext cx="1224"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9" name="Group 46"/>
              <p:cNvGrpSpPr/>
              <p:nvPr/>
            </p:nvGrpSpPr>
            <p:grpSpPr bwMode="auto">
              <a:xfrm>
                <a:off x="1479" y="1842"/>
                <a:ext cx="616" cy="403"/>
                <a:chOff x="1479" y="1842"/>
                <a:chExt cx="616" cy="403"/>
              </a:xfrm>
            </p:grpSpPr>
            <p:sp>
              <p:nvSpPr>
                <p:cNvPr id="38" name="Rectangle 16"/>
                <p:cNvSpPr>
                  <a:spLocks noChangeArrowheads="1"/>
                </p:cNvSpPr>
                <p:nvPr/>
              </p:nvSpPr>
              <p:spPr bwMode="auto">
                <a:xfrm>
                  <a:off x="1522" y="1842"/>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6, 7, 8, 9</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39" name="Rectangle 45"/>
                <p:cNvSpPr>
                  <a:spLocks noChangeArrowheads="1"/>
                </p:cNvSpPr>
                <p:nvPr/>
              </p:nvSpPr>
              <p:spPr bwMode="auto">
                <a:xfrm>
                  <a:off x="1479" y="1842"/>
                  <a:ext cx="6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0" name="Group 48"/>
              <p:cNvGrpSpPr/>
              <p:nvPr/>
            </p:nvGrpSpPr>
            <p:grpSpPr bwMode="auto">
              <a:xfrm>
                <a:off x="0" y="2245"/>
                <a:ext cx="255" cy="403"/>
                <a:chOff x="0" y="2245"/>
                <a:chExt cx="255" cy="403"/>
              </a:xfrm>
            </p:grpSpPr>
            <p:sp>
              <p:nvSpPr>
                <p:cNvPr id="36" name="Rectangle 17"/>
                <p:cNvSpPr>
                  <a:spLocks noChangeArrowheads="1"/>
                </p:cNvSpPr>
                <p:nvPr/>
              </p:nvSpPr>
              <p:spPr bwMode="auto">
                <a:xfrm>
                  <a:off x="43" y="2245"/>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e</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37" name="Rectangle 47"/>
                <p:cNvSpPr>
                  <a:spLocks noChangeArrowheads="1"/>
                </p:cNvSpPr>
                <p:nvPr/>
              </p:nvSpPr>
              <p:spPr bwMode="auto">
                <a:xfrm>
                  <a:off x="0" y="2245"/>
                  <a:ext cx="2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1" name="Group 50"/>
              <p:cNvGrpSpPr/>
              <p:nvPr/>
            </p:nvGrpSpPr>
            <p:grpSpPr bwMode="auto">
              <a:xfrm>
                <a:off x="255" y="2245"/>
                <a:ext cx="1224" cy="403"/>
                <a:chOff x="255" y="2245"/>
                <a:chExt cx="1224" cy="403"/>
              </a:xfrm>
            </p:grpSpPr>
            <p:sp>
              <p:nvSpPr>
                <p:cNvPr id="34" name="Rectangle 18"/>
                <p:cNvSpPr>
                  <a:spLocks noChangeArrowheads="1"/>
                </p:cNvSpPr>
                <p:nvPr/>
              </p:nvSpPr>
              <p:spPr bwMode="auto">
                <a:xfrm>
                  <a:off x="298" y="2245"/>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Detailed Design</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35" name="Rectangle 49"/>
                <p:cNvSpPr>
                  <a:spLocks noChangeArrowheads="1"/>
                </p:cNvSpPr>
                <p:nvPr/>
              </p:nvSpPr>
              <p:spPr bwMode="auto">
                <a:xfrm>
                  <a:off x="255" y="2245"/>
                  <a:ext cx="1224"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2" name="Group 52"/>
              <p:cNvGrpSpPr/>
              <p:nvPr/>
            </p:nvGrpSpPr>
            <p:grpSpPr bwMode="auto">
              <a:xfrm>
                <a:off x="1479" y="2245"/>
                <a:ext cx="616" cy="403"/>
                <a:chOff x="1479" y="2245"/>
                <a:chExt cx="616" cy="403"/>
              </a:xfrm>
            </p:grpSpPr>
            <p:sp>
              <p:nvSpPr>
                <p:cNvPr id="32" name="Rectangle 19"/>
                <p:cNvSpPr>
                  <a:spLocks noChangeArrowheads="1"/>
                </p:cNvSpPr>
                <p:nvPr/>
              </p:nvSpPr>
              <p:spPr bwMode="auto">
                <a:xfrm>
                  <a:off x="1522" y="2245"/>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10, 11, 12</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33" name="Rectangle 51"/>
                <p:cNvSpPr>
                  <a:spLocks noChangeArrowheads="1"/>
                </p:cNvSpPr>
                <p:nvPr/>
              </p:nvSpPr>
              <p:spPr bwMode="auto">
                <a:xfrm>
                  <a:off x="1479" y="2245"/>
                  <a:ext cx="6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3" name="Group 54"/>
              <p:cNvGrpSpPr/>
              <p:nvPr/>
            </p:nvGrpSpPr>
            <p:grpSpPr bwMode="auto">
              <a:xfrm>
                <a:off x="0" y="2648"/>
                <a:ext cx="255" cy="403"/>
                <a:chOff x="0" y="2648"/>
                <a:chExt cx="255" cy="403"/>
              </a:xfrm>
            </p:grpSpPr>
            <p:sp>
              <p:nvSpPr>
                <p:cNvPr id="30" name="Rectangle 20"/>
                <p:cNvSpPr>
                  <a:spLocks noChangeArrowheads="1"/>
                </p:cNvSpPr>
                <p:nvPr/>
              </p:nvSpPr>
              <p:spPr bwMode="auto">
                <a:xfrm>
                  <a:off x="43" y="2648"/>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f</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31" name="Rectangle 53"/>
                <p:cNvSpPr>
                  <a:spLocks noChangeArrowheads="1"/>
                </p:cNvSpPr>
                <p:nvPr/>
              </p:nvSpPr>
              <p:spPr bwMode="auto">
                <a:xfrm>
                  <a:off x="0" y="2648"/>
                  <a:ext cx="2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4" name="Group 56"/>
              <p:cNvGrpSpPr/>
              <p:nvPr/>
            </p:nvGrpSpPr>
            <p:grpSpPr bwMode="auto">
              <a:xfrm>
                <a:off x="255" y="2648"/>
                <a:ext cx="1224" cy="403"/>
                <a:chOff x="255" y="2648"/>
                <a:chExt cx="1224" cy="403"/>
              </a:xfrm>
            </p:grpSpPr>
            <p:sp>
              <p:nvSpPr>
                <p:cNvPr id="28" name="Rectangle 21"/>
                <p:cNvSpPr>
                  <a:spLocks noChangeArrowheads="1"/>
                </p:cNvSpPr>
                <p:nvPr/>
              </p:nvSpPr>
              <p:spPr bwMode="auto">
                <a:xfrm>
                  <a:off x="298" y="2648"/>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Implementation</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29" name="Rectangle 55"/>
                <p:cNvSpPr>
                  <a:spLocks noChangeArrowheads="1"/>
                </p:cNvSpPr>
                <p:nvPr/>
              </p:nvSpPr>
              <p:spPr bwMode="auto">
                <a:xfrm>
                  <a:off x="255" y="2648"/>
                  <a:ext cx="1224"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5" name="Group 58"/>
              <p:cNvGrpSpPr/>
              <p:nvPr/>
            </p:nvGrpSpPr>
            <p:grpSpPr bwMode="auto">
              <a:xfrm>
                <a:off x="1479" y="2648"/>
                <a:ext cx="616" cy="403"/>
                <a:chOff x="1479" y="2648"/>
                <a:chExt cx="616" cy="403"/>
              </a:xfrm>
            </p:grpSpPr>
            <p:sp>
              <p:nvSpPr>
                <p:cNvPr id="26" name="Rectangle 22"/>
                <p:cNvSpPr>
                  <a:spLocks noChangeArrowheads="1"/>
                </p:cNvSpPr>
                <p:nvPr/>
              </p:nvSpPr>
              <p:spPr bwMode="auto">
                <a:xfrm>
                  <a:off x="1522" y="2648"/>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2000" b="1">
                      <a:solidFill>
                        <a:srgbClr val="000000"/>
                      </a:solidFill>
                      <a:latin typeface="Helvetica" pitchFamily="34" charset="0"/>
                      <a:cs typeface="Times New Roman" panose="02020503050405090304" pitchFamily="18" charset="0"/>
                    </a:rPr>
                    <a:t>12, 13</a:t>
                  </a:r>
                  <a:endParaRPr lang="en-CA" altLang="tr-TR" sz="2000">
                    <a:solidFill>
                      <a:srgbClr val="000000"/>
                    </a:solidFill>
                    <a:latin typeface="Helvetica" pitchFamily="34" charset="0"/>
                    <a:cs typeface="Times New Roman" panose="02020503050405090304" pitchFamily="18" charset="0"/>
                  </a:endParaRPr>
                </a:p>
                <a:p>
                  <a:endParaRPr lang="en-CA" altLang="tr-TR" sz="2000"/>
                </a:p>
              </p:txBody>
            </p:sp>
            <p:sp>
              <p:nvSpPr>
                <p:cNvPr id="27" name="Rectangle 57"/>
                <p:cNvSpPr>
                  <a:spLocks noChangeArrowheads="1"/>
                </p:cNvSpPr>
                <p:nvPr/>
              </p:nvSpPr>
              <p:spPr bwMode="auto">
                <a:xfrm>
                  <a:off x="1479" y="2648"/>
                  <a:ext cx="6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sp>
          <p:nvSpPr>
            <p:cNvPr id="7" name="Rectangle 60"/>
            <p:cNvSpPr>
              <a:spLocks noChangeArrowheads="1"/>
            </p:cNvSpPr>
            <p:nvPr/>
          </p:nvSpPr>
          <p:spPr bwMode="auto">
            <a:xfrm>
              <a:off x="-2" y="516"/>
              <a:ext cx="2099" cy="2537"/>
            </a:xfrm>
            <a:prstGeom prst="rect">
              <a:avLst/>
            </a:prstGeom>
            <a:noFill/>
            <a:ln w="793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Function Point (FP) is a software size estimation technique used to measure the functionality delivered by a system, independent of the programming language, tools, or technology used.</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A function point calculates software size with the help of logical design and performance of functions as per user requirements.</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Function Point (FP) is an element of software development that helps to</a:t>
            </a:r>
            <a:r>
              <a:rPr lang="en-US" b="1" dirty="0">
                <a:latin typeface="Times New Roman" panose="02020503050405090304" pitchFamily="18" charset="0"/>
                <a:cs typeface="Times New Roman" panose="02020503050405090304" pitchFamily="18" charset="0"/>
              </a:rPr>
              <a:t> approximate the cost of development early in the process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Calculation</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FontTx/>
              <a:buNone/>
              <a:defRPr/>
            </a:pPr>
            <a:r>
              <a:rPr lang="en-US" altLang="tr-TR" b="1" u="sng" dirty="0">
                <a:latin typeface="Times New Roman" panose="02020503050405090304" pitchFamily="18" charset="0"/>
                <a:cs typeface="Times New Roman" panose="02020503050405090304" pitchFamily="18" charset="0"/>
              </a:rPr>
              <a:t>STEP 1</a:t>
            </a:r>
            <a:r>
              <a:rPr lang="en-US" altLang="tr-TR" b="1" dirty="0">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Measure size in terms of the amount of functionality in a system. Function points are computed by first calculating an </a:t>
            </a:r>
            <a:r>
              <a:rPr lang="en-US" altLang="tr-TR" b="1" i="1" dirty="0">
                <a:latin typeface="Times New Roman" panose="02020503050405090304" pitchFamily="18" charset="0"/>
                <a:cs typeface="Times New Roman" panose="02020503050405090304" pitchFamily="18" charset="0"/>
              </a:rPr>
              <a:t>unadjusted function point count </a:t>
            </a:r>
            <a:r>
              <a:rPr lang="en-US" altLang="tr-TR" b="1" dirty="0">
                <a:latin typeface="Times New Roman" panose="02020503050405090304" pitchFamily="18" charset="0"/>
                <a:cs typeface="Times New Roman" panose="02020503050405090304" pitchFamily="18" charset="0"/>
              </a:rPr>
              <a:t>(UFC).</a:t>
            </a:r>
            <a:r>
              <a:rPr lang="en-US" altLang="tr-TR" dirty="0">
                <a:latin typeface="Times New Roman" panose="02020503050405090304" pitchFamily="18" charset="0"/>
                <a:cs typeface="Times New Roman" panose="02020503050405090304" pitchFamily="18" charset="0"/>
              </a:rPr>
              <a:t> Counts are made for the following categories</a:t>
            </a:r>
            <a:endParaRPr lang="en-US" altLang="tr-TR"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503050405090304" pitchFamily="18" charset="0"/>
                <a:cs typeface="Times New Roman" panose="02020503050405090304" pitchFamily="18" charset="0"/>
              </a:rPr>
              <a:t>External inputs</a:t>
            </a:r>
            <a:r>
              <a:rPr lang="en-US" altLang="tr-TR" dirty="0">
                <a:solidFill>
                  <a:srgbClr val="FF0000"/>
                </a:solidFill>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 those items provided by the user that describe distinct application-oriented data (such as file names and menu selections) </a:t>
            </a:r>
            <a:endParaRPr lang="en-US" altLang="tr-TR"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503050405090304" pitchFamily="18" charset="0"/>
                <a:cs typeface="Times New Roman" panose="02020503050405090304" pitchFamily="18" charset="0"/>
              </a:rPr>
              <a:t>External outputs</a:t>
            </a:r>
            <a:r>
              <a:rPr lang="en-US" altLang="tr-TR" dirty="0">
                <a:solidFill>
                  <a:srgbClr val="FF0000"/>
                </a:solidFill>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 those items provided to the user that generate distinct application-oriented data (such as reports and messages, rather than the individual components of these) </a:t>
            </a:r>
            <a:endParaRPr lang="tr-TR" altLang="tr-TR"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503050405090304" pitchFamily="18" charset="0"/>
                <a:cs typeface="Times New Roman" panose="02020503050405090304" pitchFamily="18" charset="0"/>
              </a:rPr>
              <a:t>External inquiries</a:t>
            </a:r>
            <a:r>
              <a:rPr lang="en-US" altLang="tr-TR" dirty="0">
                <a:solidFill>
                  <a:srgbClr val="FF0000"/>
                </a:solidFill>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 interactive inputs requiring a response </a:t>
            </a:r>
            <a:endParaRPr lang="en-US" altLang="tr-TR"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503050405090304" pitchFamily="18" charset="0"/>
                <a:cs typeface="Times New Roman" panose="02020503050405090304" pitchFamily="18" charset="0"/>
              </a:rPr>
              <a:t>External files</a:t>
            </a:r>
            <a:r>
              <a:rPr lang="en-US" altLang="tr-TR" dirty="0">
                <a:solidFill>
                  <a:srgbClr val="FF0000"/>
                </a:solidFill>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 machine-readable interfaces to other systems </a:t>
            </a:r>
            <a:endParaRPr lang="en-US" altLang="tr-TR"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503050405090304" pitchFamily="18" charset="0"/>
                <a:cs typeface="Times New Roman" panose="02020503050405090304" pitchFamily="18" charset="0"/>
              </a:rPr>
              <a:t>Internal files</a:t>
            </a:r>
            <a:r>
              <a:rPr lang="en-US" altLang="tr-TR" dirty="0">
                <a:solidFill>
                  <a:srgbClr val="FF0000"/>
                </a:solidFill>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 logical master files in the system </a:t>
            </a:r>
            <a:endParaRPr lang="en-US" altLang="tr-TR"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(cont.)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altLang="tr-TR" b="1" u="sng" dirty="0">
                <a:latin typeface="Times New Roman" panose="02020503050405090304" pitchFamily="18" charset="0"/>
                <a:cs typeface="Times New Roman" panose="02020503050405090304" pitchFamily="18" charset="0"/>
              </a:rPr>
              <a:t>STEP 2</a:t>
            </a:r>
            <a:r>
              <a:rPr lang="en-US" altLang="tr-TR" b="1" dirty="0">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Multiply each number by a weight factor, according to complexity (</a:t>
            </a:r>
            <a:r>
              <a:rPr lang="en-US" altLang="tr-TR" b="1" dirty="0">
                <a:latin typeface="Times New Roman" panose="02020503050405090304" pitchFamily="18" charset="0"/>
                <a:cs typeface="Times New Roman" panose="02020503050405090304" pitchFamily="18" charset="0"/>
              </a:rPr>
              <a:t>simple</a:t>
            </a:r>
            <a:r>
              <a:rPr lang="en-US" altLang="tr-TR" dirty="0">
                <a:latin typeface="Times New Roman" panose="02020503050405090304" pitchFamily="18" charset="0"/>
                <a:cs typeface="Times New Roman" panose="02020503050405090304" pitchFamily="18" charset="0"/>
              </a:rPr>
              <a:t>, </a:t>
            </a:r>
            <a:r>
              <a:rPr lang="en-US" altLang="tr-TR" b="1" dirty="0">
                <a:latin typeface="Times New Roman" panose="02020503050405090304" pitchFamily="18" charset="0"/>
                <a:cs typeface="Times New Roman" panose="02020503050405090304" pitchFamily="18" charset="0"/>
              </a:rPr>
              <a:t>average</a:t>
            </a:r>
            <a:r>
              <a:rPr lang="en-US" altLang="tr-TR" dirty="0">
                <a:latin typeface="Times New Roman" panose="02020503050405090304" pitchFamily="18" charset="0"/>
                <a:cs typeface="Times New Roman" panose="02020503050405090304" pitchFamily="18" charset="0"/>
              </a:rPr>
              <a:t> or </a:t>
            </a:r>
            <a:r>
              <a:rPr lang="en-US" altLang="tr-TR" b="1" dirty="0">
                <a:latin typeface="Times New Roman" panose="02020503050405090304" pitchFamily="18" charset="0"/>
                <a:cs typeface="Times New Roman" panose="02020503050405090304" pitchFamily="18" charset="0"/>
              </a:rPr>
              <a:t>complex</a:t>
            </a:r>
            <a:r>
              <a:rPr lang="en-US" altLang="tr-TR" dirty="0">
                <a:latin typeface="Times New Roman" panose="02020503050405090304" pitchFamily="18" charset="0"/>
                <a:cs typeface="Times New Roman" panose="02020503050405090304" pitchFamily="18" charset="0"/>
              </a:rPr>
              <a:t>) of the parameter, associated with that number. The value is given by a table</a:t>
            </a:r>
            <a:r>
              <a:rPr lang="en-US" altLang="tr-TR" dirty="0"/>
              <a:t>:</a:t>
            </a:r>
            <a:endParaRPr lang="en-US" altLang="tr-TR" dirty="0"/>
          </a:p>
          <a:p>
            <a:endParaRPr lang="en-US" dirty="0"/>
          </a:p>
        </p:txBody>
      </p:sp>
      <p:graphicFrame>
        <p:nvGraphicFramePr>
          <p:cNvPr id="4" name="Object 4"/>
          <p:cNvGraphicFramePr>
            <a:graphicFrameLocks noChangeAspect="1"/>
          </p:cNvGraphicFramePr>
          <p:nvPr/>
        </p:nvGraphicFramePr>
        <p:xfrm>
          <a:off x="2755392" y="3274505"/>
          <a:ext cx="6019800" cy="2643187"/>
        </p:xfrm>
        <a:graphic>
          <a:graphicData uri="http://schemas.openxmlformats.org/presentationml/2006/ole">
            <mc:AlternateContent xmlns:mc="http://schemas.openxmlformats.org/markup-compatibility/2006">
              <mc:Choice xmlns:v="urn:schemas-microsoft-com:vml" Requires="v">
                <p:oleObj spid="_x0000_s2206" name="Bitmap Image" r:id="rId1" imgW="4314825" imgH="1895475" progId="PBrush">
                  <p:embed/>
                </p:oleObj>
              </mc:Choice>
              <mc:Fallback>
                <p:oleObj name="Bitmap Image" r:id="rId1" imgW="4314825" imgH="1895475" progId="PBrush">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392" y="3274505"/>
                        <a:ext cx="6019800" cy="264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(cont.)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altLang="tr-TR" b="1" u="sng" dirty="0">
                <a:latin typeface="Times New Roman" panose="02020503050405090304" pitchFamily="18" charset="0"/>
                <a:cs typeface="Times New Roman" panose="02020503050405090304" pitchFamily="18" charset="0"/>
              </a:rPr>
              <a:t>STEP 3</a:t>
            </a:r>
            <a:r>
              <a:rPr lang="en-US" altLang="tr-TR" b="1" dirty="0">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Calculate the total </a:t>
            </a:r>
            <a:r>
              <a:rPr lang="en-US" altLang="tr-TR" b="1" dirty="0">
                <a:latin typeface="Times New Roman" panose="02020503050405090304" pitchFamily="18" charset="0"/>
                <a:cs typeface="Times New Roman" panose="02020503050405090304" pitchFamily="18" charset="0"/>
              </a:rPr>
              <a:t>UFP</a:t>
            </a:r>
            <a:r>
              <a:rPr lang="en-US" altLang="tr-TR" dirty="0">
                <a:latin typeface="Times New Roman" panose="02020503050405090304" pitchFamily="18" charset="0"/>
                <a:cs typeface="Times New Roman" panose="02020503050405090304" pitchFamily="18" charset="0"/>
              </a:rPr>
              <a:t> (Unadjusted Function Points)</a:t>
            </a:r>
            <a:endParaRPr lang="en-US" altLang="tr-TR" dirty="0">
              <a:latin typeface="Times New Roman" panose="02020503050405090304" pitchFamily="18" charset="0"/>
              <a:cs typeface="Times New Roman" panose="02020503050405090304" pitchFamily="18" charset="0"/>
            </a:endParaRPr>
          </a:p>
          <a:p>
            <a:pPr algn="just"/>
            <a:r>
              <a:rPr lang="en-US" altLang="tr-TR" b="1" u="sng" dirty="0">
                <a:latin typeface="Times New Roman" panose="02020503050405090304" pitchFamily="18" charset="0"/>
                <a:cs typeface="Times New Roman" panose="02020503050405090304" pitchFamily="18" charset="0"/>
              </a:rPr>
              <a:t>STEP 4</a:t>
            </a:r>
            <a:r>
              <a:rPr lang="en-US" altLang="tr-TR" b="1" dirty="0">
                <a:latin typeface="Times New Roman" panose="02020503050405090304" pitchFamily="18" charset="0"/>
                <a:cs typeface="Times New Roman" panose="02020503050405090304" pitchFamily="18" charset="0"/>
              </a:rPr>
              <a:t>: </a:t>
            </a:r>
            <a:r>
              <a:rPr lang="en-US" altLang="tr-TR" dirty="0">
                <a:latin typeface="Times New Roman" panose="02020503050405090304" pitchFamily="18" charset="0"/>
                <a:cs typeface="Times New Roman" panose="02020503050405090304" pitchFamily="18" charset="0"/>
              </a:rPr>
              <a:t>Calculate the total </a:t>
            </a:r>
            <a:r>
              <a:rPr lang="en-US" altLang="tr-TR" b="1" dirty="0">
                <a:latin typeface="Times New Roman" panose="02020503050405090304" pitchFamily="18" charset="0"/>
                <a:cs typeface="Times New Roman" panose="02020503050405090304" pitchFamily="18" charset="0"/>
              </a:rPr>
              <a:t>TCF</a:t>
            </a:r>
            <a:r>
              <a:rPr lang="en-US" altLang="tr-TR" dirty="0">
                <a:latin typeface="Times New Roman" panose="02020503050405090304" pitchFamily="18" charset="0"/>
                <a:cs typeface="Times New Roman" panose="02020503050405090304" pitchFamily="18" charset="0"/>
              </a:rPr>
              <a:t> (Technical Complexity Factor) by giving a value between 0 and 5 according to the importance of the following points</a:t>
            </a:r>
            <a:r>
              <a:rPr lang="tr-TR" altLang="tr-TR" dirty="0">
                <a:latin typeface="Times New Roman" panose="02020503050405090304" pitchFamily="18" charset="0"/>
                <a:cs typeface="Times New Roman" panose="02020503050405090304" pitchFamily="18" charset="0"/>
              </a:rPr>
              <a:t> (next slide)</a:t>
            </a:r>
            <a:r>
              <a:rPr lang="en-US" altLang="tr-TR" dirty="0">
                <a:latin typeface="Times New Roman" panose="02020503050405090304" pitchFamily="18" charset="0"/>
                <a:cs typeface="Times New Roman" panose="02020503050405090304" pitchFamily="18" charset="0"/>
              </a:rPr>
              <a:t>:</a:t>
            </a:r>
            <a:endParaRPr lang="en-US" altLang="tr-TR" dirty="0">
              <a:latin typeface="Times New Roman" panose="02020503050405090304" pitchFamily="18" charset="0"/>
              <a:cs typeface="Times New Roman" panose="02020503050405090304" pitchFamily="18" charset="0"/>
            </a:endParaRPr>
          </a:p>
          <a:p>
            <a:endParaRPr lang="en-US" dirty="0"/>
          </a:p>
        </p:txBody>
      </p:sp>
      <p:sp>
        <p:nvSpPr>
          <p:cNvPr id="4" name="Rectangle 3"/>
          <p:cNvSpPr/>
          <p:nvPr/>
        </p:nvSpPr>
        <p:spPr>
          <a:xfrm>
            <a:off x="3589947" y="4497061"/>
            <a:ext cx="2819731" cy="369332"/>
          </a:xfrm>
          <a:prstGeom prst="rect">
            <a:avLst/>
          </a:prstGeom>
        </p:spPr>
        <p:txBody>
          <a:bodyPr wrap="square">
            <a:spAutoFit/>
          </a:bodyPr>
          <a:lstStyle/>
          <a:p>
            <a:pPr lvl="1"/>
            <a:r>
              <a:rPr lang="en-US" altLang="tr-TR" b="1" dirty="0"/>
              <a:t>TCF=0.65+0.01*DI</a:t>
            </a:r>
            <a:endParaRPr lang="en-US" altLang="tr-TR" b="1" dirty="0"/>
          </a:p>
        </p:txBody>
      </p:sp>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(cont.)</a:t>
            </a:r>
            <a:endParaRPr lang="en-US" dirty="0">
              <a:latin typeface="Times New Roman" panose="02020503050405090304" pitchFamily="18" charset="0"/>
              <a:cs typeface="Times New Roman" panose="02020503050405090304" pitchFamily="18" charset="0"/>
            </a:endParaRPr>
          </a:p>
        </p:txBody>
      </p:sp>
      <p:sp>
        <p:nvSpPr>
          <p:cNvPr id="4" name="Rectangle 1"/>
          <p:cNvSpPr>
            <a:spLocks noGrp="1" noChangeArrowheads="1"/>
          </p:cNvSpPr>
          <p:nvPr>
            <p:ph idx="1"/>
          </p:nvPr>
        </p:nvSpPr>
        <p:spPr bwMode="auto">
          <a:xfrm>
            <a:off x="838200" y="1825625"/>
            <a:ext cx="3764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lvl="2"/>
            <a:r>
              <a:rPr lang="en-US" altLang="tr-TR" sz="2000" b="1" u="sng" dirty="0">
                <a:cs typeface="Times New Roman" panose="02020503050405090304" pitchFamily="18" charset="0"/>
              </a:rPr>
              <a:t>Technical Complexity Factors:</a:t>
            </a:r>
            <a:endParaRPr lang="tr-TR" altLang="tr-TR" b="1" u="sng" dirty="0">
              <a:cs typeface="Times New Roman" panose="02020503050405090304" pitchFamily="18" charset="0"/>
            </a:endParaRPr>
          </a:p>
        </p:txBody>
      </p:sp>
      <p:sp>
        <p:nvSpPr>
          <p:cNvPr id="5" name="Rectangle 3"/>
          <p:cNvSpPr txBox="1">
            <a:spLocks noChangeArrowheads="1"/>
          </p:cNvSpPr>
          <p:nvPr/>
        </p:nvSpPr>
        <p:spPr>
          <a:xfrm>
            <a:off x="2042160" y="2329894"/>
            <a:ext cx="7924800"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Data Communication</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Distributed Functions</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Performance </a:t>
            </a:r>
            <a:endParaRPr lang="en-US"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Heavily Utilized Hardware</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High Transaction Rates</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Online Data Entry</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Online Updating</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End-user Efficiency</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Complex Computations</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Reusability</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Ease of Installation</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Ease of Operation</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Portability</a:t>
            </a:r>
            <a:endParaRPr lang="tr-TR" altLang="tr-TR" sz="1800" dirty="0">
              <a:latin typeface="Times New Roman" panose="02020503050405090304" pitchFamily="18" charset="0"/>
              <a:cs typeface="Times New Roman" panose="02020503050405090304" pitchFamily="18" charset="0"/>
            </a:endParaRPr>
          </a:p>
          <a:p>
            <a:pPr marL="0" lvl="2" indent="-342900">
              <a:buFontTx/>
              <a:buAutoNum type="arabicPeriod"/>
            </a:pPr>
            <a:r>
              <a:rPr lang="en-US" altLang="tr-TR" sz="1800" dirty="0">
                <a:latin typeface="Times New Roman" panose="02020503050405090304" pitchFamily="18" charset="0"/>
                <a:cs typeface="Times New Roman" panose="02020503050405090304" pitchFamily="18" charset="0"/>
              </a:rPr>
              <a:t>Maintainability/Facility change</a:t>
            </a:r>
            <a:endParaRPr lang="en-US" altLang="tr-TR" sz="1800" dirty="0">
              <a:latin typeface="Times New Roman" panose="02020503050405090304" pitchFamily="18" charset="0"/>
              <a:cs typeface="Times New Roman" panose="02020503050405090304" pitchFamily="18" charset="0"/>
            </a:endParaRPr>
          </a:p>
        </p:txBody>
      </p:sp>
      <p:sp>
        <p:nvSpPr>
          <p:cNvPr id="6" name="Rectangle 5"/>
          <p:cNvSpPr/>
          <p:nvPr/>
        </p:nvSpPr>
        <p:spPr>
          <a:xfrm>
            <a:off x="7138416" y="3176666"/>
            <a:ext cx="3870960" cy="1477328"/>
          </a:xfrm>
          <a:prstGeom prst="rect">
            <a:avLst/>
          </a:prstGeom>
        </p:spPr>
        <p:txBody>
          <a:bodyPr wrap="square">
            <a:spAutoFit/>
          </a:bodyPr>
          <a:lstStyle/>
          <a:p>
            <a:r>
              <a:rPr lang="en-US" dirty="0">
                <a:latin typeface="Times New Roman" panose="02020503050405090304" pitchFamily="18" charset="0"/>
                <a:cs typeface="Times New Roman" panose="02020503050405090304" pitchFamily="18" charset="0"/>
              </a:rPr>
              <a:t>Each component or </a:t>
            </a:r>
            <a:r>
              <a:rPr lang="en-US" dirty="0" err="1">
                <a:latin typeface="Times New Roman" panose="02020503050405090304" pitchFamily="18" charset="0"/>
                <a:cs typeface="Times New Roman" panose="02020503050405090304" pitchFamily="18" charset="0"/>
              </a:rPr>
              <a:t>subfactor</a:t>
            </a:r>
            <a:r>
              <a:rPr lang="en-US" dirty="0">
                <a:latin typeface="Times New Roman" panose="02020503050405090304" pitchFamily="18" charset="0"/>
                <a:cs typeface="Times New Roman" panose="02020503050405090304" pitchFamily="18" charset="0"/>
              </a:rPr>
              <a:t> is rated from 0 to 5, where 0 means the </a:t>
            </a:r>
            <a:r>
              <a:rPr lang="en-US" dirty="0" err="1">
                <a:latin typeface="Times New Roman" panose="02020503050405090304" pitchFamily="18" charset="0"/>
                <a:cs typeface="Times New Roman" panose="02020503050405090304" pitchFamily="18" charset="0"/>
              </a:rPr>
              <a:t>subfactor</a:t>
            </a:r>
            <a:r>
              <a:rPr lang="en-US" dirty="0">
                <a:latin typeface="Times New Roman" panose="02020503050405090304" pitchFamily="18" charset="0"/>
                <a:cs typeface="Times New Roman" panose="02020503050405090304" pitchFamily="18" charset="0"/>
              </a:rPr>
              <a:t> is irrelevant, 3 means it is average, and 5 means it is essential to the system being built</a:t>
            </a:r>
            <a:endParaRPr lang="en-US" dirty="0">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(cont.)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altLang="tr-TR" sz="2400" b="1" u="sng" dirty="0">
                <a:latin typeface="Times New Roman" panose="02020503050405090304" pitchFamily="18" charset="0"/>
                <a:cs typeface="Times New Roman" panose="02020503050405090304" pitchFamily="18" charset="0"/>
              </a:rPr>
              <a:t>STEP 5</a:t>
            </a:r>
            <a:r>
              <a:rPr lang="en-US" altLang="tr-TR" sz="2400" b="1" dirty="0">
                <a:latin typeface="Times New Roman" panose="02020503050405090304" pitchFamily="18" charset="0"/>
                <a:cs typeface="Times New Roman" panose="02020503050405090304" pitchFamily="18" charset="0"/>
              </a:rPr>
              <a:t>: </a:t>
            </a:r>
            <a:r>
              <a:rPr lang="en-US" altLang="tr-TR" sz="2400" dirty="0">
                <a:latin typeface="Times New Roman" panose="02020503050405090304" pitchFamily="18" charset="0"/>
                <a:cs typeface="Times New Roman" panose="02020503050405090304" pitchFamily="18" charset="0"/>
              </a:rPr>
              <a:t>Sum the resulting numbers to obtain </a:t>
            </a:r>
            <a:r>
              <a:rPr lang="en-US" altLang="tr-TR" sz="2400" b="1" dirty="0">
                <a:latin typeface="Times New Roman" panose="02020503050405090304" pitchFamily="18" charset="0"/>
                <a:cs typeface="Times New Roman" panose="02020503050405090304" pitchFamily="18" charset="0"/>
              </a:rPr>
              <a:t>DI</a:t>
            </a:r>
            <a:r>
              <a:rPr lang="en-US" altLang="tr-TR" sz="2400" dirty="0">
                <a:latin typeface="Times New Roman" panose="02020503050405090304" pitchFamily="18" charset="0"/>
                <a:cs typeface="Times New Roman" panose="02020503050405090304" pitchFamily="18" charset="0"/>
              </a:rPr>
              <a:t> (degree of influence)</a:t>
            </a:r>
            <a:endParaRPr lang="en-US" altLang="tr-TR" sz="2400" dirty="0">
              <a:latin typeface="Times New Roman" panose="02020503050405090304" pitchFamily="18" charset="0"/>
              <a:cs typeface="Times New Roman" panose="02020503050405090304" pitchFamily="18" charset="0"/>
            </a:endParaRPr>
          </a:p>
          <a:p>
            <a:r>
              <a:rPr lang="en-US" altLang="tr-TR" sz="2400" b="1" u="sng" dirty="0">
                <a:latin typeface="Times New Roman" panose="02020503050405090304" pitchFamily="18" charset="0"/>
                <a:cs typeface="Times New Roman" panose="02020503050405090304" pitchFamily="18" charset="0"/>
              </a:rPr>
              <a:t>STEP 6</a:t>
            </a:r>
            <a:r>
              <a:rPr lang="en-US" altLang="tr-TR" sz="2400" b="1" dirty="0">
                <a:latin typeface="Times New Roman" panose="02020503050405090304" pitchFamily="18" charset="0"/>
                <a:cs typeface="Times New Roman" panose="02020503050405090304" pitchFamily="18" charset="0"/>
              </a:rPr>
              <a:t>: TCF</a:t>
            </a:r>
            <a:r>
              <a:rPr lang="en-US" altLang="tr-TR" sz="2400" dirty="0">
                <a:latin typeface="Times New Roman" panose="02020503050405090304" pitchFamily="18" charset="0"/>
                <a:cs typeface="Times New Roman" panose="02020503050405090304" pitchFamily="18" charset="0"/>
              </a:rPr>
              <a:t> (Technical Complexity Factor) by given by  the formula</a:t>
            </a:r>
            <a:endParaRPr lang="en-US" altLang="tr-TR" sz="2400" dirty="0">
              <a:latin typeface="Times New Roman" panose="02020503050405090304" pitchFamily="18" charset="0"/>
              <a:cs typeface="Times New Roman" panose="02020503050405090304" pitchFamily="18" charset="0"/>
            </a:endParaRPr>
          </a:p>
          <a:p>
            <a:pPr lvl="1"/>
            <a:r>
              <a:rPr lang="en-US" altLang="tr-TR" b="1" dirty="0">
                <a:latin typeface="Times New Roman" panose="02020503050405090304" pitchFamily="18" charset="0"/>
                <a:cs typeface="Times New Roman" panose="02020503050405090304" pitchFamily="18" charset="0"/>
              </a:rPr>
              <a:t>TCF=0.65+0.01*DI</a:t>
            </a:r>
            <a:endParaRPr lang="en-US" altLang="tr-TR" b="1" dirty="0">
              <a:latin typeface="Times New Roman" panose="02020503050405090304" pitchFamily="18" charset="0"/>
              <a:cs typeface="Times New Roman" panose="02020503050405090304" pitchFamily="18" charset="0"/>
            </a:endParaRPr>
          </a:p>
          <a:p>
            <a:r>
              <a:rPr lang="en-US" altLang="tr-TR" sz="2400" b="1" u="sng" dirty="0">
                <a:latin typeface="Times New Roman" panose="02020503050405090304" pitchFamily="18" charset="0"/>
                <a:cs typeface="Times New Roman" panose="02020503050405090304" pitchFamily="18" charset="0"/>
              </a:rPr>
              <a:t>STEP 6</a:t>
            </a:r>
            <a:r>
              <a:rPr lang="en-US" altLang="tr-TR" sz="2400" b="1" dirty="0">
                <a:latin typeface="Times New Roman" panose="02020503050405090304" pitchFamily="18" charset="0"/>
                <a:cs typeface="Times New Roman" panose="02020503050405090304" pitchFamily="18" charset="0"/>
              </a:rPr>
              <a:t>: </a:t>
            </a:r>
            <a:r>
              <a:rPr lang="en-US" altLang="tr-TR" sz="2400" dirty="0">
                <a:latin typeface="Times New Roman" panose="02020503050405090304" pitchFamily="18" charset="0"/>
                <a:cs typeface="Times New Roman" panose="02020503050405090304" pitchFamily="18" charset="0"/>
              </a:rPr>
              <a:t>Function Points are given by  the formula</a:t>
            </a:r>
            <a:endParaRPr lang="en-US" altLang="tr-TR" sz="2400" dirty="0">
              <a:latin typeface="Times New Roman" panose="02020503050405090304" pitchFamily="18" charset="0"/>
              <a:cs typeface="Times New Roman" panose="02020503050405090304" pitchFamily="18" charset="0"/>
            </a:endParaRPr>
          </a:p>
          <a:p>
            <a:pPr lvl="1"/>
            <a:r>
              <a:rPr lang="en-US" altLang="tr-TR" b="1" dirty="0">
                <a:latin typeface="Times New Roman" panose="02020503050405090304" pitchFamily="18" charset="0"/>
                <a:cs typeface="Times New Roman" panose="02020503050405090304" pitchFamily="18" charset="0"/>
              </a:rPr>
              <a:t>FP=UFP*TCF</a:t>
            </a:r>
            <a:endParaRPr lang="en-US" altLang="tr-TR"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216152" y="1779905"/>
            <a:ext cx="9994391" cy="4872052"/>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746759" y="2446951"/>
            <a:ext cx="10390633" cy="3066882"/>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838200" y="2223844"/>
            <a:ext cx="10515600" cy="3554900"/>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graphicFrame>
        <p:nvGraphicFramePr>
          <p:cNvPr id="4" name="Object 4"/>
          <p:cNvGraphicFramePr>
            <a:graphicFrameLocks noGrp="1" noChangeAspect="1"/>
          </p:cNvGraphicFramePr>
          <p:nvPr>
            <p:ph idx="1"/>
          </p:nvPr>
        </p:nvGraphicFramePr>
        <p:xfrm>
          <a:off x="1417510" y="1690688"/>
          <a:ext cx="8979218" cy="4917590"/>
        </p:xfrm>
        <a:graphic>
          <a:graphicData uri="http://schemas.openxmlformats.org/presentationml/2006/ole">
            <mc:AlternateContent xmlns:mc="http://schemas.openxmlformats.org/markup-compatibility/2006">
              <mc:Choice xmlns:v="urn:schemas-microsoft-com:vml" Requires="v">
                <p:oleObj spid="_x0000_s3225" name="Bitmap Image" r:id="rId1" imgW="5095875" imgH="2790825" progId="Paint.Picture">
                  <p:embed/>
                </p:oleObj>
              </mc:Choice>
              <mc:Fallback>
                <p:oleObj name="Bitmap Image" r:id="rId1" imgW="5095875" imgH="27908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7510" y="1690688"/>
                        <a:ext cx="8979218" cy="4917590"/>
                      </a:xfrm>
                      <a:prstGeom prst="rect">
                        <a:avLst/>
                      </a:prstGeom>
                      <a:noFill/>
                      <a:ln>
                        <a:noFill/>
                      </a:ln>
                      <a:effectLst/>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sp>
        <p:nvSpPr>
          <p:cNvPr id="4" name="Rectangle 5"/>
          <p:cNvSpPr>
            <a:spLocks noGrp="1" noChangeArrowheads="1"/>
          </p:cNvSpPr>
          <p:nvPr>
            <p:ph idx="1"/>
          </p:nvPr>
        </p:nvSpPr>
        <p:spPr>
          <a:xfrm>
            <a:off x="838200" y="1825624"/>
            <a:ext cx="10692384" cy="4566031"/>
          </a:xfrm>
          <a:noFill/>
        </p:spPr>
        <p:txBody>
          <a:bodyPr>
            <a:normAutofit fontScale="85000" lnSpcReduction="20000"/>
          </a:bodyPr>
          <a:lstStyle/>
          <a:p>
            <a:pPr marL="914400" lvl="2" indent="0">
              <a:buNone/>
            </a:pPr>
            <a:r>
              <a:rPr lang="en-US" altLang="tr-TR" sz="2000" b="1" u="sng" dirty="0">
                <a:latin typeface="Arial" panose="020B0604020202090204" pitchFamily="34" charset="0"/>
              </a:rPr>
              <a:t>Technical Complexity Factors:</a:t>
            </a:r>
            <a:endParaRPr lang="en-US" altLang="tr-TR" b="1" u="sng"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1. </a:t>
            </a:r>
            <a:r>
              <a:rPr lang="en-US" altLang="tr-TR" sz="1500" dirty="0">
                <a:latin typeface="Arial" panose="020B0604020202090204" pitchFamily="34" charset="0"/>
              </a:rPr>
              <a:t>Data Communication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2. </a:t>
            </a:r>
            <a:r>
              <a:rPr lang="en-US" altLang="tr-TR" sz="1500" dirty="0">
                <a:latin typeface="Arial" panose="020B0604020202090204" pitchFamily="34" charset="0"/>
              </a:rPr>
              <a:t>Distributed Data Processing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3. </a:t>
            </a:r>
            <a:r>
              <a:rPr lang="en-US" altLang="tr-TR" sz="1500" dirty="0">
                <a:latin typeface="Arial" panose="020B0604020202090204" pitchFamily="34" charset="0"/>
              </a:rPr>
              <a:t>Performance Criteria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4. </a:t>
            </a:r>
            <a:r>
              <a:rPr lang="en-US" altLang="tr-TR" sz="1500" dirty="0">
                <a:latin typeface="Arial" panose="020B0604020202090204" pitchFamily="34" charset="0"/>
              </a:rPr>
              <a:t>Heavily Utilized Hardware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5. </a:t>
            </a:r>
            <a:r>
              <a:rPr lang="en-US" altLang="tr-TR" sz="1500" dirty="0">
                <a:latin typeface="Arial" panose="020B0604020202090204" pitchFamily="34" charset="0"/>
              </a:rPr>
              <a:t>High Transaction Rates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6. </a:t>
            </a:r>
            <a:r>
              <a:rPr lang="en-US" altLang="tr-TR" sz="1500" dirty="0">
                <a:latin typeface="Arial" panose="020B0604020202090204" pitchFamily="34" charset="0"/>
              </a:rPr>
              <a:t>Online Data Entry		</a:t>
            </a:r>
            <a:r>
              <a:rPr lang="en-US" altLang="tr-TR" sz="1600" dirty="0"/>
              <a:t> </a:t>
            </a:r>
            <a:endParaRPr lang="en-US" altLang="tr-TR" sz="1500" dirty="0">
              <a:latin typeface="Arial" panose="020B0604020202090204" pitchFamily="34" charset="0"/>
            </a:endParaRPr>
          </a:p>
          <a:p>
            <a:pPr lvl="3"/>
            <a:r>
              <a:rPr lang="en-US" altLang="tr-TR" sz="1500" dirty="0">
                <a:latin typeface="Arial" panose="020B0604020202090204" pitchFamily="34" charset="0"/>
                <a:cs typeface="Times New Roman" panose="02020503050405090304" pitchFamily="18" charset="0"/>
              </a:rPr>
              <a:t>F7. </a:t>
            </a:r>
            <a:r>
              <a:rPr lang="en-US" altLang="tr-TR" sz="1500" dirty="0">
                <a:latin typeface="Arial" panose="020B0604020202090204" pitchFamily="34" charset="0"/>
              </a:rPr>
              <a:t>Online Updating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8. </a:t>
            </a:r>
            <a:r>
              <a:rPr lang="en-US" altLang="tr-TR" sz="1500" dirty="0">
                <a:latin typeface="Arial" panose="020B0604020202090204" pitchFamily="34" charset="0"/>
              </a:rPr>
              <a:t>End-user Efficiency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9. </a:t>
            </a:r>
            <a:r>
              <a:rPr lang="en-US" altLang="tr-TR" sz="1500" dirty="0">
                <a:latin typeface="Arial" panose="020B0604020202090204" pitchFamily="34" charset="0"/>
              </a:rPr>
              <a:t>Complex Computations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10. </a:t>
            </a:r>
            <a:r>
              <a:rPr lang="en-US" altLang="tr-TR" sz="1500" dirty="0">
                <a:latin typeface="Arial" panose="020B0604020202090204" pitchFamily="34" charset="0"/>
              </a:rPr>
              <a:t>Reusability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11. </a:t>
            </a:r>
            <a:r>
              <a:rPr lang="en-US" altLang="tr-TR" sz="1500" dirty="0">
                <a:latin typeface="Arial" panose="020B0604020202090204" pitchFamily="34" charset="0"/>
              </a:rPr>
              <a:t>Ease of Installation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12. </a:t>
            </a:r>
            <a:r>
              <a:rPr lang="en-US" altLang="tr-TR" sz="1500" dirty="0">
                <a:latin typeface="Arial" panose="020B0604020202090204" pitchFamily="34" charset="0"/>
              </a:rPr>
              <a:t>Ease of Operation		</a:t>
            </a:r>
            <a:endParaRPr lang="en-US" altLang="tr-TR" sz="1500" dirty="0">
              <a:latin typeface="Arial" panose="020B0604020202090204" pitchFamily="34" charset="0"/>
            </a:endParaRPr>
          </a:p>
          <a:p>
            <a:pPr lvl="3"/>
            <a:r>
              <a:rPr lang="en-US" altLang="tr-TR" sz="1500" i="1" dirty="0">
                <a:latin typeface="Arial" panose="020B0604020202090204" pitchFamily="34" charset="0"/>
                <a:cs typeface="Times New Roman" panose="02020503050405090304" pitchFamily="18" charset="0"/>
              </a:rPr>
              <a:t>F</a:t>
            </a:r>
            <a:r>
              <a:rPr lang="en-US" altLang="tr-TR" sz="1500" dirty="0">
                <a:latin typeface="Arial" panose="020B0604020202090204" pitchFamily="34" charset="0"/>
                <a:cs typeface="Times New Roman" panose="02020503050405090304" pitchFamily="18" charset="0"/>
              </a:rPr>
              <a:t>13. </a:t>
            </a:r>
            <a:r>
              <a:rPr lang="en-US" altLang="tr-TR" sz="1500" dirty="0">
                <a:latin typeface="Arial" panose="020B0604020202090204" pitchFamily="34" charset="0"/>
              </a:rPr>
              <a:t>Portability			</a:t>
            </a:r>
            <a:endParaRPr lang="en-US" altLang="tr-TR" sz="1500" dirty="0">
              <a:latin typeface="Arial" panose="020B0604020202090204" pitchFamily="34" charset="0"/>
            </a:endParaRPr>
          </a:p>
          <a:p>
            <a:pPr lvl="3"/>
            <a:r>
              <a:rPr lang="en-US" altLang="tr-TR" sz="1500" dirty="0">
                <a:latin typeface="Arial" panose="020B0604020202090204" pitchFamily="34" charset="0"/>
                <a:cs typeface="Times New Roman" panose="02020503050405090304" pitchFamily="18" charset="0"/>
              </a:rPr>
              <a:t>F14. </a:t>
            </a:r>
            <a:r>
              <a:rPr lang="en-US" altLang="tr-TR" sz="1500" dirty="0">
                <a:latin typeface="Arial" panose="020B0604020202090204" pitchFamily="34" charset="0"/>
              </a:rPr>
              <a:t>Maintainability</a:t>
            </a:r>
            <a:endParaRPr lang="en-US" altLang="tr-TR" sz="1500" dirty="0">
              <a:latin typeface="Arial" panose="020B0604020202090204" pitchFamily="34" charset="0"/>
            </a:endParaRPr>
          </a:p>
          <a:p>
            <a:r>
              <a:rPr lang="en-US" sz="2600" dirty="0"/>
              <a:t>Each component or </a:t>
            </a:r>
            <a:r>
              <a:rPr lang="en-US" sz="2600" dirty="0" err="1"/>
              <a:t>subfactor</a:t>
            </a:r>
            <a:r>
              <a:rPr lang="en-US" sz="2600" dirty="0"/>
              <a:t> is rated from 0 to 5, where 0 means the </a:t>
            </a:r>
            <a:r>
              <a:rPr lang="en-US" sz="2600" dirty="0" err="1"/>
              <a:t>subfactor</a:t>
            </a:r>
            <a:r>
              <a:rPr lang="en-US" sz="2600" dirty="0"/>
              <a:t> is irrelevant, 3 means it is average, and 5 means it is essential to the system being built.</a:t>
            </a:r>
            <a:r>
              <a:rPr lang="en-US" altLang="tr-TR" sz="3600" b="1" dirty="0">
                <a:latin typeface="Arial" panose="020B0604020202090204" pitchFamily="34" charset="0"/>
              </a:rPr>
              <a:t>	</a:t>
            </a:r>
            <a:endParaRPr lang="en-US" altLang="tr-TR" sz="3600" b="1" dirty="0">
              <a:latin typeface="Arial" panose="020B0604020202090204" pitchFamily="34" charset="0"/>
            </a:endParaRPr>
          </a:p>
          <a:p>
            <a:r>
              <a:rPr lang="en-US" altLang="tr-TR" sz="2600" dirty="0"/>
              <a:t>Sum the resulting numbers to obtain </a:t>
            </a:r>
            <a:r>
              <a:rPr lang="en-US" altLang="tr-TR" sz="2600" b="1" dirty="0"/>
              <a:t>DI (degree of influence) 	</a:t>
            </a:r>
            <a:endParaRPr lang="en-US" altLang="tr-TR" sz="2600" b="1" dirty="0"/>
          </a:p>
        </p:txBody>
      </p:sp>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The following formula combines the 14 ratings into a final technical complexity factor</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a:p>
                <a:pPr marL="0" indent="0">
                  <a:buNone/>
                </a:pPr>
                <a:endParaRPr lang="en-US" dirty="0">
                  <a:latin typeface="Times New Roman" panose="02020503050405090304" pitchFamily="18" charset="0"/>
                  <a:cs typeface="Times New Roman" panose="02020503050405090304" pitchFamily="18" charset="0"/>
                </a:endParaRPr>
              </a:p>
              <a:p>
                <a:pPr marL="0" indent="0">
                  <a:buNone/>
                </a:pPr>
                <a:r>
                  <a:rPr lang="en-US" dirty="0">
                    <a:latin typeface="Times New Roman" panose="02020503050405090304" pitchFamily="18" charset="0"/>
                    <a:cs typeface="Times New Roman" panose="02020503050405090304" pitchFamily="18" charset="0"/>
                  </a:rPr>
                  <a:t>i.e.,</a:t>
                </a:r>
                <a:endParaRPr lang="en-US" dirty="0">
                  <a:latin typeface="Times New Roman" panose="02020503050405090304" pitchFamily="18" charset="0"/>
                  <a:cs typeface="Times New Roman" panose="0202050305040509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TCF</m:t>
                      </m:r>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65</m:t>
                      </m:r>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01</m:t>
                      </m:r>
                      <m:r>
                        <a:rPr lang="en-US" b="0" i="0" smtClean="0">
                          <a:latin typeface="Cambria Math" panose="02040503050406030204" pitchFamily="18" charset="0"/>
                        </a:rPr>
                        <m:t>∗</m:t>
                      </m:r>
                      <m:r>
                        <m:rPr>
                          <m:sty m:val="p"/>
                        </m:rPr>
                        <a:rPr lang="en-US" b="0" i="0" smtClean="0">
                          <a:latin typeface="Cambria Math" panose="02040503050406030204" pitchFamily="18" charset="0"/>
                        </a:rPr>
                        <m:t>DI</m:t>
                      </m:r>
                    </m:oMath>
                  </m:oMathPara>
                </a14:m>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final calculation of FPs multiplies the UFC by the technical complexity factor TCF</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a:p>
                <a:pPr lvl="1"/>
                <a:endParaRPr lang="en-US" dirty="0">
                  <a:latin typeface="Times New Roman" panose="02020503050405090304" pitchFamily="18" charset="0"/>
                  <a:cs typeface="Times New Roman" panose="02020503050405090304" pitchFamily="18" charset="0"/>
                </a:endParaRPr>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b="-5509"/>
                </a:stretch>
              </a:blipFill>
            </p:spPr>
            <p:txBody>
              <a:bodyPr/>
              <a:lstStyle/>
              <a:p>
                <a:r>
                  <a:rPr lang="en-US" altLang="en-US">
                    <a:noFill/>
                  </a:rPr>
                  <a:t> </a:t>
                </a:r>
              </a:p>
            </p:txBody>
          </p:sp>
        </mc:Fallback>
      </mc:AlternateContent>
      <p:pic>
        <p:nvPicPr>
          <p:cNvPr id="7" name="Picture 6"/>
          <p:cNvPicPr>
            <a:picLocks noChangeAspect="1"/>
          </p:cNvPicPr>
          <p:nvPr/>
        </p:nvPicPr>
        <p:blipFill>
          <a:blip r:embed="rId2"/>
          <a:stretch>
            <a:fillRect/>
          </a:stretch>
        </p:blipFill>
        <p:spPr>
          <a:xfrm>
            <a:off x="4081962" y="2536804"/>
            <a:ext cx="4277112" cy="1459124"/>
          </a:xfrm>
          <a:prstGeom prst="rect">
            <a:avLst/>
          </a:prstGeom>
        </p:spPr>
      </p:pic>
      <p:pic>
        <p:nvPicPr>
          <p:cNvPr id="8" name="Picture 7"/>
          <p:cNvPicPr>
            <a:picLocks noChangeAspect="1"/>
          </p:cNvPicPr>
          <p:nvPr/>
        </p:nvPicPr>
        <p:blipFill>
          <a:blip r:embed="rId3"/>
          <a:stretch>
            <a:fillRect/>
          </a:stretch>
        </p:blipFill>
        <p:spPr>
          <a:xfrm>
            <a:off x="4081962" y="5514146"/>
            <a:ext cx="3534300" cy="1023500"/>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Function Points Example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altLang="tr-TR" dirty="0">
                <a:latin typeface="Times New Roman" panose="02020503050405090304" pitchFamily="18" charset="0"/>
                <a:cs typeface="Times New Roman" panose="02020503050405090304" pitchFamily="18" charset="0"/>
              </a:rPr>
              <a:t>Function Points</a:t>
            </a:r>
            <a:endParaRPr lang="en-US" altLang="tr-TR" dirty="0">
              <a:latin typeface="Times New Roman" panose="02020503050405090304" pitchFamily="18" charset="0"/>
              <a:cs typeface="Times New Roman" panose="02020503050405090304" pitchFamily="18" charset="0"/>
            </a:endParaRPr>
          </a:p>
          <a:p>
            <a:pPr lvl="1"/>
            <a:r>
              <a:rPr lang="en-US" altLang="tr-TR" dirty="0">
                <a:latin typeface="Times New Roman" panose="02020503050405090304" pitchFamily="18" charset="0"/>
                <a:cs typeface="Times New Roman" panose="02020503050405090304" pitchFamily="18" charset="0"/>
              </a:rPr>
              <a:t>FP=UFP*(0.65+0.01*DI)= 55*(0.65+0.01*30)=52.25</a:t>
            </a:r>
            <a:endParaRPr lang="en-US" altLang="tr-TR" dirty="0">
              <a:latin typeface="Times New Roman" panose="02020503050405090304" pitchFamily="18" charset="0"/>
              <a:cs typeface="Times New Roman" panose="02020503050405090304" pitchFamily="18" charset="0"/>
            </a:endParaRPr>
          </a:p>
          <a:p>
            <a:pPr lvl="1"/>
            <a:endParaRPr lang="en-US" altLang="tr-TR" dirty="0">
              <a:latin typeface="Times New Roman" panose="02020503050405090304" pitchFamily="18" charset="0"/>
              <a:cs typeface="Times New Roman" panose="02020503050405090304" pitchFamily="18" charset="0"/>
            </a:endParaRPr>
          </a:p>
          <a:p>
            <a:pPr lvl="1"/>
            <a:r>
              <a:rPr lang="en-US" altLang="tr-TR" dirty="0">
                <a:latin typeface="Times New Roman" panose="02020503050405090304" pitchFamily="18" charset="0"/>
                <a:cs typeface="Times New Roman" panose="02020503050405090304" pitchFamily="18" charset="0"/>
              </a:rPr>
              <a:t>That means  </a:t>
            </a:r>
            <a:r>
              <a:rPr lang="en-US" altLang="tr-TR" b="1" dirty="0">
                <a:latin typeface="Times New Roman" panose="02020503050405090304" pitchFamily="18" charset="0"/>
                <a:cs typeface="Times New Roman" panose="02020503050405090304" pitchFamily="18" charset="0"/>
              </a:rPr>
              <a:t>FP=52.25</a:t>
            </a:r>
            <a:endParaRPr lang="en-US" altLang="tr-TR"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 </a:t>
            </a:r>
            <a:r>
              <a:rPr lang="en-US" sz="2000" i="1" dirty="0">
                <a:latin typeface="Times New Roman" panose="02020503050405090304" pitchFamily="18" charset="0"/>
                <a:cs typeface="Times New Roman" panose="02020503050405090304" pitchFamily="18" charset="0"/>
              </a:rPr>
              <a:t>considering </a:t>
            </a:r>
            <a:r>
              <a:rPr lang="en-US" sz="2000" dirty="0">
                <a:latin typeface="Times New Roman" panose="02020503050405090304" pitchFamily="18" charset="0"/>
                <a:cs typeface="Times New Roman" panose="02020503050405090304" pitchFamily="18" charset="0"/>
              </a:rPr>
              <a:t>DI </a:t>
            </a:r>
            <a:r>
              <a:rPr lang="en-US" sz="2000" i="1" dirty="0">
                <a:latin typeface="Times New Roman" panose="02020503050405090304" pitchFamily="18" charset="0"/>
                <a:cs typeface="Times New Roman" panose="02020503050405090304" pitchFamily="18" charset="0"/>
              </a:rPr>
              <a:t>or</a:t>
            </a:r>
            <a:r>
              <a:rPr lang="en-US" sz="2000" dirty="0">
                <a:latin typeface="Times New Roman" panose="02020503050405090304" pitchFamily="18" charset="0"/>
                <a:cs typeface="Times New Roman" panose="02020503050405090304" pitchFamily="18" charset="0"/>
              </a:rPr>
              <a:t> TCF </a:t>
            </a:r>
            <a:r>
              <a:rPr lang="en-US" sz="2000" i="1" dirty="0">
                <a:latin typeface="Times New Roman" panose="02020503050405090304" pitchFamily="18" charset="0"/>
                <a:cs typeface="Times New Roman" panose="02020503050405090304" pitchFamily="18" charset="0"/>
              </a:rPr>
              <a:t>= 30</a:t>
            </a:r>
            <a:endParaRPr lang="en-US" sz="2000" i="1"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Relation between LOC and FP</a:t>
            </a:r>
            <a:endParaRPr lang="en-US" dirty="0">
              <a:latin typeface="Times New Roman" panose="02020503050405090304" pitchFamily="18" charset="0"/>
              <a:cs typeface="Times New Roman" panose="02020503050405090304" pitchFamily="18" charset="0"/>
            </a:endParaRPr>
          </a:p>
        </p:txBody>
      </p:sp>
      <p:sp>
        <p:nvSpPr>
          <p:cNvPr id="4" name="Rectangle 3"/>
          <p:cNvSpPr>
            <a:spLocks noGrp="1" noChangeArrowheads="1"/>
          </p:cNvSpPr>
          <p:nvPr>
            <p:ph idx="1"/>
          </p:nvPr>
        </p:nvSpPr>
        <p:spPr>
          <a:xfrm>
            <a:off x="838200" y="1825624"/>
            <a:ext cx="10527792" cy="4364863"/>
          </a:xfrm>
        </p:spPr>
        <p:txBody>
          <a:bodyPr/>
          <a:lstStyle/>
          <a:p>
            <a:r>
              <a:rPr lang="en-US" dirty="0"/>
              <a:t>Relationship:</a:t>
            </a:r>
            <a:endParaRPr lang="en-US" dirty="0"/>
          </a:p>
          <a:p>
            <a:pPr>
              <a:buFontTx/>
              <a:buNone/>
            </a:pPr>
            <a:endParaRPr lang="en-US" dirty="0"/>
          </a:p>
          <a:p>
            <a:pPr lvl="1"/>
            <a:r>
              <a:rPr lang="en-CA" b="1" i="1" dirty="0">
                <a:solidFill>
                  <a:srgbClr val="000000"/>
                </a:solidFill>
                <a:latin typeface="Helvetica" pitchFamily="34" charset="0"/>
                <a:cs typeface="Times New Roman" panose="02020503050405090304" pitchFamily="18" charset="0"/>
              </a:rPr>
              <a:t>LOC = Language Factor * FP </a:t>
            </a:r>
            <a:endParaRPr lang="en-CA" b="1" i="1" dirty="0">
              <a:solidFill>
                <a:srgbClr val="000000"/>
              </a:solidFill>
              <a:latin typeface="Helvetica" pitchFamily="34" charset="0"/>
              <a:cs typeface="Times New Roman" panose="02020503050405090304" pitchFamily="18" charset="0"/>
            </a:endParaRPr>
          </a:p>
          <a:p>
            <a:pPr lvl="1"/>
            <a:endParaRPr lang="en-CA" dirty="0">
              <a:solidFill>
                <a:srgbClr val="000000"/>
              </a:solidFill>
              <a:latin typeface="Helvetica" pitchFamily="34" charset="0"/>
              <a:cs typeface="Times New Roman" panose="02020503050405090304" pitchFamily="18" charset="0"/>
            </a:endParaRPr>
          </a:p>
          <a:p>
            <a:pPr lvl="1"/>
            <a:r>
              <a:rPr lang="en-CA" dirty="0">
                <a:solidFill>
                  <a:srgbClr val="000000"/>
                </a:solidFill>
                <a:latin typeface="Helvetica" pitchFamily="34" charset="0"/>
                <a:cs typeface="Times New Roman" panose="02020503050405090304" pitchFamily="18" charset="0"/>
              </a:rPr>
              <a:t>where</a:t>
            </a:r>
            <a:endParaRPr lang="en-US" dirty="0"/>
          </a:p>
          <a:p>
            <a:pPr lvl="2"/>
            <a:r>
              <a:rPr lang="en-US" b="1" dirty="0"/>
              <a:t>LOC</a:t>
            </a:r>
            <a:r>
              <a:rPr lang="en-US" dirty="0"/>
              <a:t> (Lines of Code)</a:t>
            </a:r>
            <a:endParaRPr lang="en-US" dirty="0"/>
          </a:p>
          <a:p>
            <a:pPr lvl="2"/>
            <a:r>
              <a:rPr lang="en-US" b="1" dirty="0"/>
              <a:t>FP</a:t>
            </a:r>
            <a:r>
              <a:rPr lang="en-US" dirty="0"/>
              <a:t> (Function Points)</a:t>
            </a:r>
            <a:endParaRPr lang="en-US" dirty="0"/>
          </a:p>
        </p:txBody>
      </p:sp>
      <p:graphicFrame>
        <p:nvGraphicFramePr>
          <p:cNvPr id="5" name="Object 4"/>
          <p:cNvGraphicFramePr>
            <a:graphicFrameLocks noChangeAspect="1"/>
          </p:cNvGraphicFramePr>
          <p:nvPr/>
        </p:nvGraphicFramePr>
        <p:xfrm>
          <a:off x="6722936" y="1690688"/>
          <a:ext cx="4405312" cy="3494088"/>
        </p:xfrm>
        <a:graphic>
          <a:graphicData uri="http://schemas.openxmlformats.org/presentationml/2006/ole">
            <mc:AlternateContent xmlns:mc="http://schemas.openxmlformats.org/markup-compatibility/2006">
              <mc:Choice xmlns:v="urn:schemas-microsoft-com:vml" Requires="v">
                <p:oleObj spid="_x0000_s4190" name="Bitmap Image" r:id="rId1" imgW="5153025" imgH="4086225" progId="PBrush">
                  <p:embed/>
                </p:oleObj>
              </mc:Choice>
              <mc:Fallback>
                <p:oleObj name="Bitmap Image" r:id="rId1" imgW="5153025" imgH="4086225" progId="PBrush">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2936" y="1690688"/>
                        <a:ext cx="4405312" cy="349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Relation between LOC and FP</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pPr marL="533400" indent="-533400">
              <a:buFontTx/>
              <a:buNone/>
            </a:pPr>
            <a:r>
              <a:rPr lang="en-US" dirty="0">
                <a:latin typeface="Times New Roman" panose="02020503050405090304" pitchFamily="18" charset="0"/>
                <a:cs typeface="Times New Roman" panose="02020503050405090304" pitchFamily="18" charset="0"/>
              </a:rPr>
              <a:t>Assuming LOC’s per FP for: </a:t>
            </a:r>
            <a:endParaRPr lang="en-US" dirty="0">
              <a:latin typeface="Times New Roman" panose="02020503050405090304" pitchFamily="18" charset="0"/>
              <a:cs typeface="Times New Roman" panose="02020503050405090304" pitchFamily="18" charset="0"/>
            </a:endParaRPr>
          </a:p>
          <a:p>
            <a:pPr marL="533400" indent="-533400">
              <a:buFontTx/>
              <a:buNone/>
            </a:pPr>
            <a:r>
              <a:rPr lang="en-US" b="1" i="1" dirty="0">
                <a:latin typeface="Times New Roman" panose="02020503050405090304" pitchFamily="18" charset="0"/>
                <a:cs typeface="Times New Roman" panose="02020503050405090304" pitchFamily="18" charset="0"/>
              </a:rPr>
              <a:t>	Java = 53</a:t>
            </a:r>
            <a:r>
              <a:rPr lang="en-US" i="1" dirty="0">
                <a:latin typeface="Times New Roman" panose="02020503050405090304" pitchFamily="18" charset="0"/>
                <a:cs typeface="Times New Roman" panose="02020503050405090304" pitchFamily="18" charset="0"/>
              </a:rPr>
              <a:t>, </a:t>
            </a:r>
            <a:endParaRPr lang="en-US" i="1" dirty="0">
              <a:latin typeface="Times New Roman" panose="02020503050405090304" pitchFamily="18" charset="0"/>
              <a:cs typeface="Times New Roman" panose="02020503050405090304" pitchFamily="18" charset="0"/>
            </a:endParaRPr>
          </a:p>
          <a:p>
            <a:pPr marL="533400" indent="-533400">
              <a:buFontTx/>
              <a:buNone/>
            </a:pPr>
            <a:r>
              <a:rPr lang="en-US" b="1" i="1" dirty="0">
                <a:latin typeface="Times New Roman" panose="02020503050405090304" pitchFamily="18" charset="0"/>
                <a:cs typeface="Times New Roman" panose="02020503050405090304" pitchFamily="18" charset="0"/>
              </a:rPr>
              <a:t>	C++ = 64</a:t>
            </a:r>
            <a:endParaRPr lang="en-US" dirty="0">
              <a:latin typeface="Times New Roman" panose="02020503050405090304" pitchFamily="18" charset="0"/>
              <a:cs typeface="Times New Roman" panose="02020503050405090304" pitchFamily="18" charset="0"/>
            </a:endParaRPr>
          </a:p>
          <a:p>
            <a:pPr marL="533400" indent="-533400">
              <a:buFontTx/>
              <a:buNone/>
            </a:pPr>
            <a:r>
              <a:rPr lang="en-CA" b="1" dirty="0">
                <a:latin typeface="Times New Roman" panose="02020503050405090304" pitchFamily="18" charset="0"/>
                <a:cs typeface="Times New Roman" panose="02020503050405090304" pitchFamily="18" charset="0"/>
              </a:rPr>
              <a:t> </a:t>
            </a:r>
            <a:endParaRPr lang="en-CA" dirty="0">
              <a:latin typeface="Times New Roman" panose="02020503050405090304" pitchFamily="18" charset="0"/>
              <a:cs typeface="Times New Roman" panose="02020503050405090304" pitchFamily="18" charset="0"/>
            </a:endParaRPr>
          </a:p>
          <a:p>
            <a:pPr marL="533400" indent="-533400">
              <a:buFontTx/>
              <a:buNone/>
            </a:pPr>
            <a:r>
              <a:rPr lang="en-CA" b="1" i="1" dirty="0">
                <a:latin typeface="Times New Roman" panose="02020503050405090304" pitchFamily="18" charset="0"/>
                <a:cs typeface="Times New Roman" panose="02020503050405090304" pitchFamily="18" charset="0"/>
              </a:rPr>
              <a:t>	</a:t>
            </a:r>
            <a:r>
              <a:rPr lang="en-CA" b="1" i="1" dirty="0" err="1">
                <a:latin typeface="Times New Roman" panose="02020503050405090304" pitchFamily="18" charset="0"/>
                <a:cs typeface="Times New Roman" panose="02020503050405090304" pitchFamily="18" charset="0"/>
              </a:rPr>
              <a:t>aKLOC</a:t>
            </a:r>
            <a:r>
              <a:rPr lang="en-CA" b="1" i="1" dirty="0">
                <a:latin typeface="Times New Roman" panose="02020503050405090304" pitchFamily="18" charset="0"/>
                <a:cs typeface="Times New Roman" panose="02020503050405090304" pitchFamily="18" charset="0"/>
              </a:rPr>
              <a:t> = FP * </a:t>
            </a:r>
            <a:r>
              <a:rPr lang="en-CA" b="1" i="1" dirty="0" err="1">
                <a:latin typeface="Times New Roman" panose="02020503050405090304" pitchFamily="18" charset="0"/>
                <a:cs typeface="Times New Roman" panose="02020503050405090304" pitchFamily="18" charset="0"/>
              </a:rPr>
              <a:t>LOC_per_FP</a:t>
            </a:r>
            <a:r>
              <a:rPr lang="en-CA" b="1" i="1" dirty="0">
                <a:latin typeface="Times New Roman" panose="02020503050405090304" pitchFamily="18" charset="0"/>
                <a:cs typeface="Times New Roman" panose="02020503050405090304" pitchFamily="18" charset="0"/>
              </a:rPr>
              <a:t>  / 1000</a:t>
            </a:r>
            <a:endParaRPr lang="en-CA" b="1" i="1" dirty="0">
              <a:latin typeface="Times New Roman" panose="02020503050405090304" pitchFamily="18" charset="0"/>
              <a:cs typeface="Times New Roman" panose="02020503050405090304" pitchFamily="18" charset="0"/>
            </a:endParaRPr>
          </a:p>
          <a:p>
            <a:pPr marL="533400" indent="-533400">
              <a:buFontTx/>
              <a:buNone/>
            </a:pPr>
            <a:endParaRPr lang="en-CA" b="1" i="1" dirty="0">
              <a:latin typeface="Times New Roman" panose="02020503050405090304" pitchFamily="18" charset="0"/>
              <a:cs typeface="Times New Roman" panose="02020503050405090304" pitchFamily="18" charset="0"/>
            </a:endParaRPr>
          </a:p>
          <a:p>
            <a:pPr marL="533400" indent="-533400">
              <a:buFontTx/>
              <a:buNone/>
            </a:pPr>
            <a:r>
              <a:rPr lang="en-CA" dirty="0">
                <a:latin typeface="Times New Roman" panose="02020503050405090304" pitchFamily="18" charset="0"/>
                <a:cs typeface="Times New Roman" panose="02020503050405090304" pitchFamily="18" charset="0"/>
              </a:rPr>
              <a:t>It means for the </a:t>
            </a:r>
            <a:r>
              <a:rPr lang="en-CA" dirty="0" err="1">
                <a:latin typeface="Times New Roman" panose="02020503050405090304" pitchFamily="18" charset="0"/>
                <a:cs typeface="Times New Roman" panose="02020503050405090304" pitchFamily="18" charset="0"/>
              </a:rPr>
              <a:t>SpellChekcer</a:t>
            </a:r>
            <a:r>
              <a:rPr lang="en-CA" dirty="0">
                <a:latin typeface="Times New Roman" panose="02020503050405090304" pitchFamily="18" charset="0"/>
                <a:cs typeface="Times New Roman" panose="02020503050405090304" pitchFamily="18" charset="0"/>
              </a:rPr>
              <a:t> Example: (Java)</a:t>
            </a:r>
            <a:endParaRPr lang="en-CA" dirty="0">
              <a:latin typeface="Times New Roman" panose="02020503050405090304" pitchFamily="18" charset="0"/>
              <a:cs typeface="Times New Roman" panose="02020503050405090304" pitchFamily="18" charset="0"/>
            </a:endParaRPr>
          </a:p>
          <a:p>
            <a:pPr marL="533400" indent="-533400">
              <a:buFontTx/>
              <a:buNone/>
            </a:pPr>
            <a:endParaRPr lang="en-CA" dirty="0">
              <a:latin typeface="Times New Roman" panose="02020503050405090304" pitchFamily="18" charset="0"/>
              <a:cs typeface="Times New Roman" panose="02020503050405090304" pitchFamily="18" charset="0"/>
            </a:endParaRPr>
          </a:p>
          <a:p>
            <a:pPr marL="533400" indent="-533400">
              <a:buFontTx/>
              <a:buNone/>
            </a:pPr>
            <a:r>
              <a:rPr lang="en-CA" b="1" dirty="0">
                <a:latin typeface="Times New Roman" panose="02020503050405090304" pitchFamily="18" charset="0"/>
                <a:cs typeface="Times New Roman" panose="02020503050405090304" pitchFamily="18" charset="0"/>
              </a:rPr>
              <a:t>	LOC=52.25*53=2769.25 LOC  or 2.76 KLOC</a:t>
            </a:r>
            <a:endParaRPr lang="en-CA" b="1"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IFPUG</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International Function Point User Group meets regularly to discuss FPs and their applications, and they publish guidelines with counting rules.</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Please visit </a:t>
            </a:r>
            <a:r>
              <a:rPr lang="en-US" dirty="0">
                <a:latin typeface="Times New Roman" panose="02020503050405090304" pitchFamily="18" charset="0"/>
                <a:cs typeface="Times New Roman" panose="02020503050405090304" pitchFamily="18" charset="0"/>
                <a:hlinkClick r:id="rId1"/>
              </a:rPr>
              <a:t>https://ifpug.org/</a:t>
            </a:r>
            <a:endParaRPr lang="en-US"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COCOMO I</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b="1" dirty="0" err="1">
                <a:latin typeface="Times New Roman" panose="02020503050405090304" pitchFamily="18" charset="0"/>
                <a:cs typeface="Times New Roman" panose="02020503050405090304" pitchFamily="18" charset="0"/>
              </a:rPr>
              <a:t>COnstructive</a:t>
            </a:r>
            <a:r>
              <a:rPr lang="en-US" b="1" dirty="0">
                <a:latin typeface="Times New Roman" panose="02020503050405090304" pitchFamily="18" charset="0"/>
                <a:cs typeface="Times New Roman" panose="02020503050405090304" pitchFamily="18" charset="0"/>
              </a:rPr>
              <a:t> </a:t>
            </a:r>
            <a:r>
              <a:rPr lang="en-US" b="1" dirty="0" err="1">
                <a:latin typeface="Times New Roman" panose="02020503050405090304" pitchFamily="18" charset="0"/>
                <a:cs typeface="Times New Roman" panose="02020503050405090304" pitchFamily="18" charset="0"/>
              </a:rPr>
              <a:t>COst</a:t>
            </a:r>
            <a:r>
              <a:rPr lang="en-US" b="1" dirty="0">
                <a:latin typeface="Times New Roman" panose="02020503050405090304" pitchFamily="18" charset="0"/>
                <a:cs typeface="Times New Roman" panose="02020503050405090304" pitchFamily="18" charset="0"/>
              </a:rPr>
              <a:t> </a:t>
            </a:r>
            <a:r>
              <a:rPr lang="en-US" b="1" dirty="0" err="1">
                <a:latin typeface="Times New Roman" panose="02020503050405090304" pitchFamily="18" charset="0"/>
                <a:cs typeface="Times New Roman" panose="02020503050405090304" pitchFamily="18" charset="0"/>
              </a:rPr>
              <a:t>MOdel</a:t>
            </a:r>
            <a:r>
              <a:rPr lang="en-US" dirty="0">
                <a:latin typeface="Times New Roman" panose="02020503050405090304" pitchFamily="18" charset="0"/>
                <a:cs typeface="Times New Roman" panose="02020503050405090304" pitchFamily="18" charset="0"/>
              </a:rPr>
              <a:t> was introduced by </a:t>
            </a:r>
            <a:r>
              <a:rPr lang="en-US" b="1" dirty="0">
                <a:latin typeface="Times New Roman" panose="02020503050405090304" pitchFamily="18" charset="0"/>
                <a:cs typeface="Times New Roman" panose="02020503050405090304" pitchFamily="18" charset="0"/>
              </a:rPr>
              <a:t>Dr. Barry Boehm</a:t>
            </a:r>
            <a:endParaRPr lang="en-US" b="1"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Software projects under COCOMO model strategies are classified into 3 categories, </a:t>
            </a:r>
            <a:r>
              <a:rPr lang="en-US" b="1" dirty="0">
                <a:latin typeface="Times New Roman" panose="02020503050405090304" pitchFamily="18" charset="0"/>
                <a:cs typeface="Times New Roman" panose="02020503050405090304" pitchFamily="18" charset="0"/>
              </a:rPr>
              <a:t>organic, semi-detached, and embedded</a:t>
            </a:r>
            <a:endParaRPr lang="en-US" b="1" dirty="0">
              <a:latin typeface="Times New Roman" panose="02020503050405090304" pitchFamily="18" charset="0"/>
              <a:cs typeface="Times New Roman" panose="02020503050405090304" pitchFamily="18" charset="0"/>
            </a:endParaRPr>
          </a:p>
          <a:p>
            <a:pPr algn="just"/>
            <a:r>
              <a:rPr lang="en-US" b="1" dirty="0">
                <a:latin typeface="Times New Roman" panose="02020503050405090304" pitchFamily="18" charset="0"/>
                <a:cs typeface="Times New Roman" panose="02020503050405090304" pitchFamily="18" charset="0"/>
              </a:rPr>
              <a:t>Organic</a:t>
            </a:r>
            <a:r>
              <a:rPr lang="en-US" dirty="0">
                <a:latin typeface="Times New Roman" panose="02020503050405090304" pitchFamily="18" charset="0"/>
                <a:cs typeface="Times New Roman" panose="02020503050405090304" pitchFamily="18" charset="0"/>
              </a:rPr>
              <a:t>: A software project is said to be an organic type if-</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Project is small and simple.</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Project team is small with prior experience.</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The  problem is well understood and has been solved in the past.</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Requirements of projects are not rigid, such a mode example is payroll processing system.</a:t>
            </a:r>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COCOMO I</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algn="just"/>
            <a:r>
              <a:rPr lang="en-US" b="1" dirty="0">
                <a:latin typeface="Times New Roman" panose="02020503050405090304" pitchFamily="18" charset="0"/>
                <a:cs typeface="Times New Roman" panose="02020503050405090304" pitchFamily="18" charset="0"/>
              </a:rPr>
              <a:t>Semi-Detached</a:t>
            </a:r>
            <a:r>
              <a:rPr lang="en-US" dirty="0">
                <a:latin typeface="Times New Roman" panose="02020503050405090304" pitchFamily="18" charset="0"/>
                <a:cs typeface="Times New Roman" panose="02020503050405090304" pitchFamily="18" charset="0"/>
              </a:rPr>
              <a:t> </a:t>
            </a:r>
            <a:r>
              <a:rPr lang="en-US" b="1" dirty="0">
                <a:latin typeface="Times New Roman" panose="02020503050405090304" pitchFamily="18" charset="0"/>
                <a:cs typeface="Times New Roman" panose="02020503050405090304" pitchFamily="18" charset="0"/>
              </a:rPr>
              <a:t>Mode:</a:t>
            </a:r>
            <a:r>
              <a:rPr lang="en-US" dirty="0">
                <a:latin typeface="Times New Roman" panose="02020503050405090304" pitchFamily="18" charset="0"/>
                <a:cs typeface="Times New Roman" panose="02020503050405090304" pitchFamily="18" charset="0"/>
              </a:rPr>
              <a:t>  A software project is said to be a Semi-Detached type if-</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Project has complexity.</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Project team requires more experience, better guidance, and creativity.</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The  project has an intermediate size and has mixed rigid requirements such a mode example is a transaction processing system which has fixed requirements.</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It also includes the elements of organic mode and embedded mode.</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Few such projects are- Database Management System(DBMS), new unknown operating system, difficult inventory management system</a:t>
            </a:r>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COCOMO I</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b="1" dirty="0">
                <a:latin typeface="Times New Roman" panose="02020503050405090304" pitchFamily="18" charset="0"/>
                <a:cs typeface="Times New Roman" panose="02020503050405090304" pitchFamily="18" charset="0"/>
              </a:rPr>
              <a:t>Embedded Mode: </a:t>
            </a:r>
            <a:r>
              <a:rPr lang="en-US" dirty="0">
                <a:latin typeface="Times New Roman" panose="02020503050405090304" pitchFamily="18" charset="0"/>
                <a:cs typeface="Times New Roman" panose="02020503050405090304" pitchFamily="18" charset="0"/>
              </a:rPr>
              <a:t>A software project is said to be an Embedded mode type if-</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A software project has fixed requirements of resources .</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Product is developed within very tight constraints.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A software project requiring the highest level of complexity, creativity, and experience requirement fall under this category.</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Such mode software requires a larger team size than the other two models.</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503050405090304" pitchFamily="18" charset="0"/>
                <a:cs typeface="Times New Roman" panose="02020503050405090304" pitchFamily="18" charset="0"/>
              </a:rPr>
              <a:t>Types of COCOMO Models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COCOMO consists of a hierarchy of three increasingly detailed and accurate forms. Any of the three forms can be adapted according to our requirements. These are types of COCOMO model:</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Basic COCOMO Model</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Intermediate COCOMO Model</a:t>
            </a:r>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Detailed COCOMO Model</a:t>
            </a:r>
            <a:endParaRPr lang="en-US" dirty="0">
              <a:latin typeface="Times New Roman" panose="02020503050405090304" pitchFamily="18" charset="0"/>
              <a:cs typeface="Times New Roman" panose="02020503050405090304" pitchFamily="18" charset="0"/>
            </a:endParaRPr>
          </a:p>
          <a:p>
            <a:pPr marL="0" indent="0" algn="just">
              <a:buNone/>
            </a:pPr>
            <a:br>
              <a:rPr lang="en-US" dirty="0">
                <a:latin typeface="Times New Roman" panose="02020503050405090304" pitchFamily="18" charset="0"/>
                <a:cs typeface="Times New Roman" panose="02020503050405090304" pitchFamily="18" charset="0"/>
              </a:rPr>
            </a:b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Basic COCOMO Model</a:t>
            </a:r>
            <a:endParaRPr lang="en-US" dirty="0">
              <a:latin typeface="Times New Roman" panose="02020503050405090304" pitchFamily="18" charset="0"/>
              <a:cs typeface="Times New Roman" panose="0202050305040509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pPr algn="just"/>
                <a:r>
                  <a:rPr lang="en-US" dirty="0">
                    <a:latin typeface="Times New Roman" panose="02020503050405090304" pitchFamily="18" charset="0"/>
                    <a:cs typeface="Times New Roman" panose="02020503050405090304" pitchFamily="18" charset="0"/>
                  </a:rPr>
                  <a:t>The first level, Basic COCOMO can be used for quick and slightly rough calculations of Software Costs.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This is because the model solely considers based on lines of source code together with constant values obtained from software project types rather than other factors which have major influences on the Software development process as a whole.</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The basic COCOMO estimation model is given by the following expressions:</a:t>
                </a:r>
                <a:endParaRPr lang="en-US" dirty="0">
                  <a:latin typeface="Times New Roman" panose="02020503050405090304" pitchFamily="18" charset="0"/>
                  <a:cs typeface="Times New Roman" panose="02020503050405090304" pitchFamily="18" charset="0"/>
                </a:endParaRPr>
              </a:p>
              <a:p>
                <a:pPr lvl="1" algn="just"/>
                <a14:m>
                  <m:oMath xmlns:m="http://schemas.openxmlformats.org/officeDocument/2006/math">
                    <m:r>
                      <a:rPr lang="en-US" b="0" i="1" dirty="0" smtClean="0">
                        <a:latin typeface="Cambria Math" panose="02040503050406030204" pitchFamily="18" charset="0"/>
                      </a:rPr>
                      <m:t>𝐸𝑓𝑓𝑜𝑟𝑡</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𝐾𝐿𝑂𝐶</m:t>
                            </m:r>
                          </m:e>
                        </m:d>
                      </m:e>
                      <m:sup>
                        <m:r>
                          <a:rPr lang="en-US" b="0" i="1" dirty="0" smtClean="0">
                            <a:latin typeface="Cambria Math" panose="02040503050406030204" pitchFamily="18" charset="0"/>
                          </a:rPr>
                          <m:t>𝑏</m:t>
                        </m:r>
                      </m:sup>
                    </m:sSup>
                  </m:oMath>
                </a14:m>
                <a:endParaRPr lang="en-US" b="0" i="1" dirty="0">
                  <a:latin typeface="Times New Roman" panose="02020503050405090304" pitchFamily="18" charset="0"/>
                  <a:cs typeface="Times New Roman" panose="02020503050405090304" pitchFamily="18" charset="0"/>
                </a:endParaRPr>
              </a:p>
              <a:p>
                <a:pPr lvl="1" algn="just"/>
                <a14:m>
                  <m:oMath xmlns:m="http://schemas.openxmlformats.org/officeDocument/2006/math">
                    <m:r>
                      <a:rPr lang="en-US" b="0" i="1" dirty="0" smtClean="0">
                        <a:latin typeface="Cambria Math" panose="02040503050406030204" pitchFamily="18" charset="0"/>
                      </a:rPr>
                      <m:t>𝐷𝑢𝑟𝑎𝑡𝑖𝑜𝑛</m:t>
                    </m:r>
                    <m:r>
                      <a:rPr lang="en-US" i="1" dirty="0">
                        <a:latin typeface="Cambria Math" panose="02040503050406030204" pitchFamily="18" charset="0"/>
                      </a:rPr>
                      <m:t>=</m:t>
                    </m:r>
                    <m:r>
                      <a:rPr lang="en-US" b="0" i="1" dirty="0" smtClean="0">
                        <a:latin typeface="Cambria Math" panose="02040503050406030204" pitchFamily="18" charset="0"/>
                      </a:rPr>
                      <m:t>𝑐</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b="0" i="1" dirty="0" smtClean="0">
                                <a:latin typeface="Cambria Math" panose="02040503050406030204" pitchFamily="18" charset="0"/>
                              </a:rPr>
                              <m:t>𝐸𝑓𝑓𝑜𝑟𝑡</m:t>
                            </m:r>
                          </m:e>
                        </m:d>
                      </m:e>
                      <m:sup>
                        <m:r>
                          <a:rPr lang="en-US" b="0" i="1" dirty="0" smtClean="0">
                            <a:latin typeface="Cambria Math" panose="02040503050406030204" pitchFamily="18" charset="0"/>
                          </a:rPr>
                          <m:t>𝑑</m:t>
                        </m:r>
                      </m:sup>
                    </m:sSup>
                  </m:oMath>
                </a14:m>
                <a:endParaRPr lang="en-US" i="1" dirty="0">
                  <a:latin typeface="Times New Roman" panose="02020503050405090304" pitchFamily="18" charset="0"/>
                  <a:cs typeface="Times New Roman" panose="02020503050405090304" pitchFamily="18" charset="0"/>
                </a:endParaRPr>
              </a:p>
              <a:p>
                <a:pPr lvl="1" algn="just"/>
                <a14:m>
                  <m:oMath xmlns:m="http://schemas.openxmlformats.org/officeDocument/2006/math">
                    <m:r>
                      <a:rPr lang="en-US" b="0" i="1" dirty="0" smtClean="0">
                        <a:latin typeface="Cambria Math" panose="02040503050406030204" pitchFamily="18" charset="0"/>
                      </a:rPr>
                      <m:t>𝑃𝑒𝑟𝑠𝑜𝑛</m:t>
                    </m:r>
                    <m:r>
                      <a:rPr lang="en-US" b="0" i="1" dirty="0" smtClean="0">
                        <a:latin typeface="Cambria Math" panose="02040503050406030204" pitchFamily="18" charset="0"/>
                      </a:rPr>
                      <m:t> </m:t>
                    </m:r>
                    <m:r>
                      <a:rPr lang="en-US" b="0" i="1" dirty="0" smtClean="0">
                        <a:latin typeface="Cambria Math" panose="02040503050406030204" pitchFamily="18" charset="0"/>
                      </a:rPr>
                      <m:t>𝑅𝑒𝑞𝑢𝑖𝑟𝑒𝑑</m:t>
                    </m:r>
                    <m:r>
                      <a:rPr lang="en-US" i="1" dirty="0">
                        <a:latin typeface="Cambria Math" panose="02040503050406030204" pitchFamily="18" charset="0"/>
                      </a:rPr>
                      <m:t>=</m:t>
                    </m:r>
                    <m:r>
                      <a:rPr lang="en-US" b="0" i="1" dirty="0" smtClean="0">
                        <a:latin typeface="Cambria Math" panose="02040503050406030204" pitchFamily="18" charset="0"/>
                      </a:rPr>
                      <m:t>𝐸𝑓𝑓𝑜𝑟𝑡</m:t>
                    </m:r>
                    <m:r>
                      <a:rPr lang="en-US" b="0" i="1" dirty="0" smtClean="0">
                        <a:latin typeface="Cambria Math" panose="02040503050406030204" pitchFamily="18" charset="0"/>
                      </a:rPr>
                      <m:t>/</m:t>
                    </m:r>
                    <m:r>
                      <a:rPr lang="en-US" b="0" i="1" dirty="0" smtClean="0">
                        <a:latin typeface="Cambria Math" panose="02040503050406030204" pitchFamily="18" charset="0"/>
                      </a:rPr>
                      <m:t>𝐷𝑢𝑟𝑎𝑡𝑖𝑜𝑛</m:t>
                    </m:r>
                  </m:oMath>
                </a14:m>
                <a:endParaRPr lang="en-US" dirty="0">
                  <a:latin typeface="Times New Roman" panose="02020503050405090304" pitchFamily="18" charset="0"/>
                  <a:cs typeface="Times New Roman" panose="0202050305040509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306" b="7"/>
                </a:stretch>
              </a:blipFill>
            </p:spPr>
            <p:txBody>
              <a:bodyPr/>
              <a:lstStyle/>
              <a:p>
                <a:r>
                  <a:rPr lang="en-US" altLang="en-US">
                    <a:noFill/>
                  </a:rPr>
                  <a:t> </a:t>
                </a:r>
              </a:p>
            </p:txBody>
          </p:sp>
        </mc:Fallback>
      </mc:AlternateContent>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Basic COCOMO Model</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The values for a, b, c, and d differ depending on which mode you are using</a:t>
            </a:r>
            <a:endParaRPr lang="en-US" dirty="0">
              <a:latin typeface="Times New Roman" panose="02020503050405090304" pitchFamily="18" charset="0"/>
              <a:cs typeface="Times New Roman" panose="02020503050405090304" pitchFamily="18" charset="0"/>
            </a:endParaRPr>
          </a:p>
          <a:p>
            <a:endParaRPr lang="en-US" dirty="0"/>
          </a:p>
        </p:txBody>
      </p:sp>
      <p:graphicFrame>
        <p:nvGraphicFramePr>
          <p:cNvPr id="5" name="Group 4"/>
          <p:cNvGraphicFramePr>
            <a:graphicFrameLocks noGrp="1"/>
          </p:cNvGraphicFramePr>
          <p:nvPr/>
        </p:nvGraphicFramePr>
        <p:xfrm>
          <a:off x="2486296" y="2767150"/>
          <a:ext cx="7110550" cy="2039982"/>
        </p:xfrm>
        <a:graphic>
          <a:graphicData uri="http://schemas.openxmlformats.org/drawingml/2006/table">
            <a:tbl>
              <a:tblPr/>
              <a:tblGrid>
                <a:gridCol w="3730043"/>
                <a:gridCol w="932094"/>
                <a:gridCol w="817247"/>
                <a:gridCol w="813919"/>
                <a:gridCol w="817247"/>
              </a:tblGrid>
              <a:tr h="518226">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90204" pitchFamily="34" charset="0"/>
                        </a:rPr>
                        <a:t>Mode</a:t>
                      </a:r>
                      <a:endParaRPr kumimoji="0" lang="en-US" sz="20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a</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b</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c</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d</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90204" pitchFamily="34" charset="0"/>
                        </a:rPr>
                        <a:t>Organic</a:t>
                      </a:r>
                      <a:endParaRPr kumimoji="0" lang="en-US" sz="20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2.4</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1.05</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2.5</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0.38</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90204" pitchFamily="34" charset="0"/>
                        </a:rPr>
                        <a:t>Semi-detached</a:t>
                      </a:r>
                      <a:endParaRPr kumimoji="0" lang="en-US" sz="20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3.0</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1.12</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2.5</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0.35</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90204" pitchFamily="34" charset="0"/>
                        </a:rPr>
                        <a:t>Embedded</a:t>
                      </a:r>
                      <a:endParaRPr kumimoji="0" lang="en-US" sz="20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3.6</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1.20</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90204" pitchFamily="34" charset="0"/>
                        </a:rPr>
                        <a:t>2.5</a:t>
                      </a:r>
                      <a:endParaRPr kumimoji="0" lang="en-US" sz="20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90204" pitchFamily="34" charset="0"/>
                        </a:rPr>
                        <a:t>0.32</a:t>
                      </a:r>
                      <a:endParaRPr kumimoji="0" lang="en-US" sz="2000" b="0" i="0" u="none"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Basic COCOMO model</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b="1" dirty="0">
                <a:latin typeface="Times New Roman" panose="02020503050405090304" pitchFamily="18" charset="0"/>
                <a:cs typeface="Times New Roman" panose="02020503050405090304" pitchFamily="18" charset="0"/>
              </a:rPr>
              <a:t>Example –</a:t>
            </a:r>
            <a:r>
              <a:rPr lang="en-US" dirty="0">
                <a:latin typeface="Times New Roman" panose="02020503050405090304" pitchFamily="18" charset="0"/>
                <a:cs typeface="Times New Roman" panose="02020503050405090304" pitchFamily="18" charset="0"/>
              </a:rPr>
              <a:t> Consider a software project using semi-detached mode with 300 </a:t>
            </a:r>
            <a:r>
              <a:rPr lang="en-US" dirty="0" err="1">
                <a:latin typeface="Times New Roman" panose="02020503050405090304" pitchFamily="18" charset="0"/>
                <a:cs typeface="Times New Roman" panose="02020503050405090304" pitchFamily="18" charset="0"/>
              </a:rPr>
              <a:t>Kloc</a:t>
            </a:r>
            <a:r>
              <a:rPr lang="en-US" dirty="0">
                <a:latin typeface="Times New Roman" panose="02020503050405090304" pitchFamily="18" charset="0"/>
                <a:cs typeface="Times New Roman" panose="02020503050405090304" pitchFamily="18" charset="0"/>
              </a:rPr>
              <a:t> .find out effort estimation, development time, and person estimation.</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Solution –</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Effort (E) =</a:t>
            </a:r>
            <a:r>
              <a:rPr lang="en-US" dirty="0">
                <a:latin typeface="Times New Roman" panose="02020503050405090304" pitchFamily="18" charset="0"/>
                <a:cs typeface="Times New Roman" panose="02020503050405090304" pitchFamily="18" charset="0"/>
              </a:rPr>
              <a:t> a*(KLOC</a:t>
            </a:r>
            <a:r>
              <a:rPr lang="en-US" altLang="tr-TR" dirty="0">
                <a:latin typeface="Times New Roman" panose="02020503050405090304" pitchFamily="18" charset="0"/>
                <a:cs typeface="Times New Roman" panose="02020503050405090304" pitchFamily="18" charset="0"/>
              </a:rPr>
              <a:t>)</a:t>
            </a:r>
            <a:r>
              <a:rPr lang="en-US" altLang="tr-TR" baseline="30000" dirty="0">
                <a:latin typeface="Times New Roman" panose="02020503050405090304" pitchFamily="18" charset="0"/>
                <a:cs typeface="Times New Roman" panose="02020503050405090304" pitchFamily="18" charset="0"/>
              </a:rPr>
              <a:t>b</a:t>
            </a:r>
            <a:r>
              <a:rPr lang="en-US" dirty="0">
                <a:latin typeface="Times New Roman" panose="02020503050405090304" pitchFamily="18" charset="0"/>
                <a:cs typeface="Times New Roman" panose="02020503050405090304" pitchFamily="18" charset="0"/>
              </a:rPr>
              <a:t> = 3.0*(300)</a:t>
            </a:r>
            <a:r>
              <a:rPr lang="en-US" b="1" baseline="30000" dirty="0">
                <a:latin typeface="Times New Roman" panose="02020503050405090304" pitchFamily="18" charset="0"/>
                <a:cs typeface="Times New Roman" panose="02020503050405090304" pitchFamily="18" charset="0"/>
              </a:rPr>
              <a:t>1.12</a:t>
            </a:r>
            <a:r>
              <a:rPr lang="en-US" dirty="0">
                <a:latin typeface="Times New Roman" panose="02020503050405090304" pitchFamily="18" charset="0"/>
                <a:cs typeface="Times New Roman" panose="02020503050405090304" pitchFamily="18" charset="0"/>
              </a:rPr>
              <a:t> = 1784.42 PM</a:t>
            </a:r>
            <a:br>
              <a:rPr lang="en-US" dirty="0">
                <a:latin typeface="Times New Roman" panose="02020503050405090304" pitchFamily="18" charset="0"/>
                <a:cs typeface="Times New Roman" panose="02020503050405090304" pitchFamily="18" charset="0"/>
              </a:rPr>
            </a:br>
            <a:r>
              <a:rPr lang="en-US" b="1" dirty="0">
                <a:latin typeface="Times New Roman" panose="02020503050405090304" pitchFamily="18" charset="0"/>
                <a:cs typeface="Times New Roman" panose="02020503050405090304" pitchFamily="18" charset="0"/>
              </a:rPr>
              <a:t>Development Time (D) =</a:t>
            </a:r>
            <a:r>
              <a:rPr lang="en-US" dirty="0">
                <a:latin typeface="Times New Roman" panose="02020503050405090304" pitchFamily="18" charset="0"/>
                <a:cs typeface="Times New Roman" panose="02020503050405090304" pitchFamily="18" charset="0"/>
              </a:rPr>
              <a:t> c*</a:t>
            </a:r>
            <a:r>
              <a:rPr lang="en-US" i="1" dirty="0">
                <a:latin typeface="Times New Roman" panose="02020503050405090304" pitchFamily="18" charset="0"/>
                <a:cs typeface="Times New Roman" panose="02020503050405090304" pitchFamily="18" charset="0"/>
              </a:rPr>
              <a:t>(E)</a:t>
            </a:r>
            <a:r>
              <a:rPr lang="en-US" altLang="tr-TR" i="1" baseline="30000" dirty="0">
                <a:latin typeface="Times New Roman" panose="02020503050405090304" pitchFamily="18" charset="0"/>
                <a:cs typeface="Times New Roman" panose="02020503050405090304" pitchFamily="18" charset="0"/>
              </a:rPr>
              <a:t>d</a:t>
            </a:r>
            <a:r>
              <a:rPr lang="en-US" i="1" dirty="0">
                <a:latin typeface="Times New Roman" panose="02020503050405090304" pitchFamily="18" charset="0"/>
                <a:cs typeface="Times New Roman" panose="02020503050405090304" pitchFamily="18" charset="0"/>
              </a:rPr>
              <a:t> = 2.5</a:t>
            </a:r>
            <a:r>
              <a:rPr lang="en-US" dirty="0">
                <a:latin typeface="Times New Roman" panose="02020503050405090304" pitchFamily="18" charset="0"/>
                <a:cs typeface="Times New Roman" panose="02020503050405090304" pitchFamily="18" charset="0"/>
              </a:rPr>
              <a:t>(1784.42</a:t>
            </a:r>
            <a:r>
              <a:rPr lang="en-US" altLang="tr-TR" dirty="0">
                <a:latin typeface="Times New Roman" panose="02020503050405090304" pitchFamily="18" charset="0"/>
                <a:cs typeface="Times New Roman" panose="02020503050405090304" pitchFamily="18" charset="0"/>
              </a:rPr>
              <a:t>)</a:t>
            </a:r>
            <a:r>
              <a:rPr lang="en-US" altLang="tr-TR" baseline="30000" dirty="0">
                <a:latin typeface="Times New Roman" panose="02020503050405090304" pitchFamily="18" charset="0"/>
                <a:cs typeface="Times New Roman" panose="02020503050405090304" pitchFamily="18" charset="0"/>
              </a:rPr>
              <a:t>0.35</a:t>
            </a:r>
            <a:r>
              <a:rPr lang="en-US" dirty="0">
                <a:latin typeface="Times New Roman" panose="02020503050405090304" pitchFamily="18" charset="0"/>
                <a:cs typeface="Times New Roman" panose="02020503050405090304" pitchFamily="18" charset="0"/>
              </a:rPr>
              <a:t> = 34.35 Months(M)</a:t>
            </a:r>
            <a:br>
              <a:rPr lang="en-US" dirty="0">
                <a:latin typeface="Times New Roman" panose="02020503050405090304" pitchFamily="18" charset="0"/>
                <a:cs typeface="Times New Roman" panose="02020503050405090304" pitchFamily="18" charset="0"/>
              </a:rPr>
            </a:br>
            <a:r>
              <a:rPr lang="en-US" b="1" dirty="0">
                <a:latin typeface="Times New Roman" panose="02020503050405090304" pitchFamily="18" charset="0"/>
                <a:cs typeface="Times New Roman" panose="02020503050405090304" pitchFamily="18" charset="0"/>
              </a:rPr>
              <a:t>Person Required (P) = E/D =</a:t>
            </a:r>
            <a:r>
              <a:rPr lang="en-US" dirty="0">
                <a:latin typeface="Times New Roman" panose="02020503050405090304" pitchFamily="18" charset="0"/>
                <a:cs typeface="Times New Roman" panose="02020503050405090304" pitchFamily="18" charset="0"/>
              </a:rPr>
              <a:t> 1784.42/34.35 = 51.9481 Persons ~52 Persons</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Intermediate COCOMO Model</a:t>
            </a:r>
            <a:endParaRPr lang="en-US" dirty="0">
              <a:latin typeface="Times New Roman" panose="02020503050405090304" pitchFamily="18" charset="0"/>
              <a:cs typeface="Times New Roman" panose="0202050305040509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20000"/>
              </a:bodyPr>
              <a:lstStyle/>
              <a:p>
                <a:r>
                  <a:rPr lang="en-US" dirty="0">
                    <a:latin typeface="Times New Roman" panose="02020503050405090304" pitchFamily="18" charset="0"/>
                    <a:cs typeface="Times New Roman" panose="02020503050405090304" pitchFamily="18" charset="0"/>
                  </a:rPr>
                  <a:t>Intermediate COCOMO model is an extension of the Basic COCOMO model which includes a set of cost drivers into account in order to enhance more accuracy to the cost estimation model as a result.</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estimation model makes use of a set of “cost driver attributes” to compute the cost of the software.</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estimated effort and scheduled time are given by the relationship:</a:t>
                </a:r>
                <a:endParaRPr lang="en-US" dirty="0">
                  <a:latin typeface="Times New Roman" panose="02020503050405090304" pitchFamily="18" charset="0"/>
                  <a:cs typeface="Times New Roman" panose="02020503050405090304" pitchFamily="18" charset="0"/>
                </a:endParaRPr>
              </a:p>
              <a:p>
                <a:pPr lvl="1"/>
                <a14:m>
                  <m:oMath xmlns:m="http://schemas.openxmlformats.org/officeDocument/2006/math">
                    <m:r>
                      <a:rPr lang="en-US" i="1" dirty="0">
                        <a:latin typeface="Cambria Math" panose="02040503050406030204" pitchFamily="18" charset="0"/>
                      </a:rPr>
                      <m:t>𝐸𝑓𝑓𝑜𝑟𝑡</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i="1" dirty="0">
                                <a:latin typeface="Cambria Math" panose="02040503050406030204" pitchFamily="18" charset="0"/>
                              </a:rPr>
                              <m:t>𝐾𝐿𝑂𝐶</m:t>
                            </m:r>
                          </m:e>
                        </m:d>
                      </m:e>
                      <m:sup>
                        <m:r>
                          <a:rPr lang="en-US" i="1" dirty="0">
                            <a:latin typeface="Cambria Math" panose="02040503050406030204" pitchFamily="18" charset="0"/>
                          </a:rPr>
                          <m:t>𝑏</m:t>
                        </m:r>
                      </m:sup>
                    </m:sSup>
                    <m:r>
                      <a:rPr lang="en-US" b="0" i="1" dirty="0" smtClean="0">
                        <a:latin typeface="Cambria Math" panose="02040503050406030204" pitchFamily="18" charset="0"/>
                      </a:rPr>
                      <m:t>∗</m:t>
                    </m:r>
                    <m:r>
                      <a:rPr lang="en-US" b="0" i="1" dirty="0" smtClean="0">
                        <a:latin typeface="Cambria Math" panose="02040503050406030204" pitchFamily="18" charset="0"/>
                      </a:rPr>
                      <m:t>𝐸𝐴𝐹</m:t>
                    </m:r>
                  </m:oMath>
                </a14:m>
                <a:endParaRPr lang="en-US" i="1" dirty="0">
                  <a:latin typeface="Times New Roman" panose="02020503050405090304" pitchFamily="18" charset="0"/>
                  <a:cs typeface="Times New Roman" panose="02020503050405090304" pitchFamily="18" charset="0"/>
                </a:endParaRPr>
              </a:p>
              <a:p>
                <a:pPr lvl="1"/>
                <a14:m>
                  <m:oMath xmlns:m="http://schemas.openxmlformats.org/officeDocument/2006/math">
                    <m:r>
                      <a:rPr lang="en-US" i="1" dirty="0">
                        <a:latin typeface="Cambria Math" panose="02040503050406030204" pitchFamily="18" charset="0"/>
                      </a:rPr>
                      <m:t>𝐷𝑢𝑟𝑎𝑡𝑖𝑜𝑛</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b="0" i="1" dirty="0" smtClean="0">
                                <a:latin typeface="Cambria Math" panose="02040503050406030204" pitchFamily="18" charset="0"/>
                              </a:rPr>
                              <m:t>𝐸𝑓𝑓𝑜𝑟𝑡</m:t>
                            </m:r>
                          </m:e>
                        </m:d>
                      </m:e>
                      <m:sup>
                        <m:r>
                          <a:rPr lang="en-US" i="1" dirty="0">
                            <a:latin typeface="Cambria Math" panose="02040503050406030204" pitchFamily="18" charset="0"/>
                          </a:rPr>
                          <m:t>𝑑</m:t>
                        </m:r>
                      </m:sup>
                    </m:sSup>
                  </m:oMath>
                </a14:m>
                <a:endParaRPr lang="en-US" i="1" dirty="0">
                  <a:latin typeface="Times New Roman" panose="02020503050405090304" pitchFamily="18" charset="0"/>
                  <a:cs typeface="Times New Roman" panose="02020503050405090304" pitchFamily="18" charset="0"/>
                </a:endParaRPr>
              </a:p>
              <a:p>
                <a:pPr lvl="1"/>
                <a14:m>
                  <m:oMath xmlns:m="http://schemas.openxmlformats.org/officeDocument/2006/math">
                    <m:r>
                      <a:rPr lang="en-US" i="1" dirty="0">
                        <a:latin typeface="Cambria Math" panose="02040503050406030204" pitchFamily="18" charset="0"/>
                      </a:rPr>
                      <m:t>𝑃𝑒𝑟𝑠𝑜𝑛</m:t>
                    </m:r>
                    <m:r>
                      <a:rPr lang="en-US" i="1" dirty="0">
                        <a:latin typeface="Cambria Math" panose="02040503050406030204" pitchFamily="18" charset="0"/>
                      </a:rPr>
                      <m:t> </m:t>
                    </m:r>
                    <m:r>
                      <a:rPr lang="en-US" i="1" dirty="0">
                        <a:latin typeface="Cambria Math" panose="02040503050406030204" pitchFamily="18" charset="0"/>
                      </a:rPr>
                      <m:t>𝑅𝑒𝑞𝑢𝑖𝑟𝑒𝑑</m:t>
                    </m:r>
                    <m:r>
                      <a:rPr lang="en-US" i="1" dirty="0">
                        <a:latin typeface="Cambria Math" panose="02040503050406030204" pitchFamily="18" charset="0"/>
                      </a:rPr>
                      <m:t>=</m:t>
                    </m:r>
                    <m:r>
                      <a:rPr lang="en-US" i="1" dirty="0">
                        <a:latin typeface="Cambria Math" panose="02040503050406030204" pitchFamily="18" charset="0"/>
                      </a:rPr>
                      <m:t>𝐸𝑓𝑓𝑜𝑟𝑡</m:t>
                    </m:r>
                    <m:r>
                      <a:rPr lang="en-US" i="1" dirty="0">
                        <a:latin typeface="Cambria Math" panose="02040503050406030204" pitchFamily="18" charset="0"/>
                      </a:rPr>
                      <m:t>/</m:t>
                    </m:r>
                    <m:r>
                      <a:rPr lang="en-US" i="1" dirty="0">
                        <a:latin typeface="Cambria Math" panose="02040503050406030204" pitchFamily="18" charset="0"/>
                      </a:rPr>
                      <m:t>𝐷𝑢𝑟𝑎𝑡𝑖𝑜𝑛</m:t>
                    </m:r>
                  </m:oMath>
                </a14:m>
                <a:endParaRPr lang="en-US" dirty="0">
                  <a:latin typeface="Times New Roman" panose="02020503050405090304" pitchFamily="18" charset="0"/>
                  <a:cs typeface="Times New Roman" panose="02020503050405090304" pitchFamily="18" charset="0"/>
                </a:endParaRPr>
              </a:p>
              <a:p>
                <a14:m>
                  <m:oMath xmlns:m="http://schemas.openxmlformats.org/officeDocument/2006/math">
                    <m:r>
                      <a:rPr lang="en-US" i="1" dirty="0">
                        <a:latin typeface="Cambria Math" panose="02040503050406030204" pitchFamily="18" charset="0"/>
                      </a:rPr>
                      <m:t>𝐸𝐴𝐹</m:t>
                    </m:r>
                  </m:oMath>
                </a14:m>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It is an Effort Adjustment Factor, which is calculated by multiplying the parameter values of different cost driver parameters. For ideal, the value is 1.</a:t>
                </a:r>
                <a:endParaRPr lang="en-US" dirty="0">
                  <a:latin typeface="Times New Roman" panose="02020503050405090304" pitchFamily="18" charset="0"/>
                  <a:cs typeface="Times New Roman" panose="0202050305040509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978" b="7"/>
                </a:stretch>
              </a:blipFill>
            </p:spPr>
            <p:txBody>
              <a:bodyPr/>
              <a:lstStyle/>
              <a:p>
                <a:r>
                  <a:rPr lang="en-US" altLang="en-US">
                    <a:noFill/>
                  </a:rPr>
                  <a:t> </a:t>
                </a:r>
              </a:p>
            </p:txBody>
          </p:sp>
        </mc:Fallback>
      </mc:AlternateContent>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503050405090304" pitchFamily="18" charset="0"/>
                <a:cs typeface="Times New Roman" panose="02020503050405090304" pitchFamily="18" charset="0"/>
              </a:rPr>
              <a:t>Classification of Cost Drivers and their Attributes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38200" y="1825625"/>
            <a:ext cx="4709160" cy="4351338"/>
          </a:xfrm>
        </p:spPr>
        <p:txBody>
          <a:bodyPr>
            <a:normAutofit fontScale="92500"/>
          </a:bodyPr>
          <a:lstStyle/>
          <a:p>
            <a:r>
              <a:rPr lang="en-US" b="1" dirty="0">
                <a:latin typeface="Times New Roman" panose="02020503050405090304" pitchFamily="18" charset="0"/>
                <a:cs typeface="Times New Roman" panose="02020503050405090304" pitchFamily="18" charset="0"/>
              </a:rPr>
              <a:t>Product attributes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Required software reliability extent</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Size of the application database</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The complexity of the product</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Hardware attributes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Run-time performance constraints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Memory constraints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The volatility of the virtual machine environment</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Required turnabout time</a:t>
            </a:r>
            <a:endParaRPr lang="en-US" dirty="0">
              <a:latin typeface="Times New Roman" panose="02020503050405090304" pitchFamily="18" charset="0"/>
              <a:cs typeface="Times New Roman" panose="02020503050405090304" pitchFamily="18" charset="0"/>
            </a:endParaRPr>
          </a:p>
          <a:p>
            <a:pPr lvl="1"/>
            <a:endParaRPr lang="en-US" dirty="0">
              <a:latin typeface="Times New Roman" panose="02020503050405090304" pitchFamily="18" charset="0"/>
              <a:cs typeface="Times New Roman" panose="02020503050405090304" pitchFamily="18" charset="0"/>
            </a:endParaRPr>
          </a:p>
          <a:p>
            <a:pPr lvl="1"/>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Content Placeholder 2"/>
          <p:cNvSpPr txBox="1"/>
          <p:nvPr/>
        </p:nvSpPr>
        <p:spPr>
          <a:xfrm>
            <a:off x="5797731" y="1835513"/>
            <a:ext cx="470916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b="1" dirty="0">
                <a:latin typeface="Times New Roman" panose="02020503050405090304" pitchFamily="18" charset="0"/>
                <a:cs typeface="Times New Roman" panose="02020503050405090304" pitchFamily="18" charset="0"/>
              </a:rPr>
              <a:t>Personal attributes –</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Analyst capability</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Software engineering capability</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Applications experience</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Virtual machine experience</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Programming language experience</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Project attributes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Use of software tools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Application of software engineering methods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Required development schedule</a:t>
            </a:r>
            <a:endParaRPr lang="en-US" dirty="0">
              <a:latin typeface="Times New Roman" panose="02020503050405090304" pitchFamily="18" charset="0"/>
              <a:cs typeface="Times New Roman" panose="02020503050405090304" pitchFamily="18" charset="0"/>
            </a:endParaRPr>
          </a:p>
          <a:p>
            <a:pPr lvl="1"/>
            <a:endParaRPr lang="en-US" dirty="0">
              <a:latin typeface="Times New Roman" panose="02020503050405090304" pitchFamily="18" charset="0"/>
              <a:cs typeface="Times New Roman" panose="02020503050405090304" pitchFamily="18" charset="0"/>
            </a:endParaRPr>
          </a:p>
          <a:p>
            <a:pPr lvl="1"/>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Cost Drivers and Ratings</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3139928" y="1825625"/>
            <a:ext cx="5912144" cy="4351338"/>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Cost Drivers and Ratings</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3329635" y="1825625"/>
            <a:ext cx="5544399" cy="4360516"/>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Cost Drivers and </a:t>
            </a:r>
            <a:r>
              <a:rPr lang="en-US" dirty="0" smtClean="0">
                <a:latin typeface="Times New Roman" panose="02020503050405090304" pitchFamily="18" charset="0"/>
                <a:cs typeface="Times New Roman" panose="02020503050405090304" pitchFamily="18" charset="0"/>
              </a:rPr>
              <a:t>Ratings (Together)</a:t>
            </a:r>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grpSp>
        <p:nvGrpSpPr>
          <p:cNvPr id="7" name="Group 342"/>
          <p:cNvGrpSpPr/>
          <p:nvPr/>
        </p:nvGrpSpPr>
        <p:grpSpPr bwMode="auto">
          <a:xfrm>
            <a:off x="1219200" y="1789176"/>
            <a:ext cx="9771901" cy="4703064"/>
            <a:chOff x="-2" y="-2"/>
            <a:chExt cx="4240" cy="6567"/>
          </a:xfrm>
        </p:grpSpPr>
        <p:grpSp>
          <p:nvGrpSpPr>
            <p:cNvPr id="8" name="Group 340"/>
            <p:cNvGrpSpPr/>
            <p:nvPr/>
          </p:nvGrpSpPr>
          <p:grpSpPr bwMode="auto">
            <a:xfrm>
              <a:off x="0" y="0"/>
              <a:ext cx="4238" cy="6563"/>
              <a:chOff x="0" y="0"/>
              <a:chExt cx="4238" cy="6563"/>
            </a:xfrm>
          </p:grpSpPr>
          <p:grpSp>
            <p:nvGrpSpPr>
              <p:cNvPr id="10" name="Group 117"/>
              <p:cNvGrpSpPr/>
              <p:nvPr/>
            </p:nvGrpSpPr>
            <p:grpSpPr bwMode="auto">
              <a:xfrm>
                <a:off x="0" y="0"/>
                <a:ext cx="1455" cy="518"/>
                <a:chOff x="0" y="0"/>
                <a:chExt cx="1455" cy="518"/>
              </a:xfrm>
            </p:grpSpPr>
            <p:sp>
              <p:nvSpPr>
                <p:cNvPr id="344" name="Rectangle 4"/>
                <p:cNvSpPr>
                  <a:spLocks noChangeArrowheads="1"/>
                </p:cNvSpPr>
                <p:nvPr/>
              </p:nvSpPr>
              <p:spPr bwMode="auto">
                <a:xfrm>
                  <a:off x="43" y="0"/>
                  <a:ext cx="136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US" altLang="tr-TR" sz="1200" b="1" dirty="0">
                      <a:latin typeface="Arial" panose="020B0604020202090204" pitchFamily="34" charset="0"/>
                      <a:cs typeface="Arial" panose="020B0604020202090204" pitchFamily="34" charset="0"/>
                    </a:rPr>
                    <a:t>Cost Driver</a:t>
                  </a:r>
                  <a:endParaRPr lang="en-US" altLang="tr-TR" sz="1200" b="1" dirty="0">
                    <a:latin typeface="Arial" panose="020B0604020202090204" pitchFamily="34" charset="0"/>
                    <a:cs typeface="Arial" panose="020B0604020202090204" pitchFamily="34" charset="0"/>
                  </a:endParaRPr>
                </a:p>
                <a:p>
                  <a:endParaRPr lang="en-US" altLang="tr-TR" dirty="0"/>
                </a:p>
              </p:txBody>
            </p:sp>
            <p:sp>
              <p:nvSpPr>
                <p:cNvPr id="345" name="Rectangle 116"/>
                <p:cNvSpPr>
                  <a:spLocks noChangeArrowheads="1"/>
                </p:cNvSpPr>
                <p:nvPr/>
              </p:nvSpPr>
              <p:spPr bwMode="auto">
                <a:xfrm>
                  <a:off x="0" y="0"/>
                  <a:ext cx="1455"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 name="Group 119"/>
              <p:cNvGrpSpPr/>
              <p:nvPr/>
            </p:nvGrpSpPr>
            <p:grpSpPr bwMode="auto">
              <a:xfrm>
                <a:off x="1455" y="0"/>
                <a:ext cx="409" cy="518"/>
                <a:chOff x="1455" y="0"/>
                <a:chExt cx="409" cy="518"/>
              </a:xfrm>
            </p:grpSpPr>
            <p:sp>
              <p:nvSpPr>
                <p:cNvPr id="342" name="Rectangle 5"/>
                <p:cNvSpPr>
                  <a:spLocks noChangeArrowheads="1"/>
                </p:cNvSpPr>
                <p:nvPr/>
              </p:nvSpPr>
              <p:spPr bwMode="auto">
                <a:xfrm>
                  <a:off x="1457" y="0"/>
                  <a:ext cx="40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smtClean="0">
                      <a:solidFill>
                        <a:srgbClr val="FF0000"/>
                      </a:solidFill>
                      <a:latin typeface="Arial" panose="020B0604020202090204" pitchFamily="34" charset="0"/>
                      <a:cs typeface="Arial" panose="020B0604020202090204" pitchFamily="34" charset="0"/>
                    </a:rPr>
                    <a:t>Very</a:t>
                  </a:r>
                  <a:r>
                    <a:rPr lang="en-CA" altLang="tr-TR" sz="1200" dirty="0" smtClean="0">
                      <a:solidFill>
                        <a:srgbClr val="FF0000"/>
                      </a:solidFill>
                      <a:ea typeface="Arial Unicode MS" panose="020B0604020202020204" pitchFamily="34" charset="-128"/>
                      <a:cs typeface="Arial Unicode MS" panose="020B0604020202020204" pitchFamily="34" charset="-128"/>
                    </a:rPr>
                    <a:t> </a:t>
                  </a:r>
                  <a:r>
                    <a:rPr lang="en-CA" altLang="tr-TR" sz="1200" b="1" dirty="0" smtClean="0">
                      <a:solidFill>
                        <a:srgbClr val="FF0000"/>
                      </a:solidFill>
                      <a:latin typeface="Arial" panose="020B0604020202090204" pitchFamily="34" charset="0"/>
                      <a:cs typeface="Arial" panose="020B0604020202090204" pitchFamily="34" charset="0"/>
                    </a:rPr>
                    <a:t>Low</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43" name="Rectangle 118"/>
                <p:cNvSpPr>
                  <a:spLocks noChangeArrowheads="1"/>
                </p:cNvSpPr>
                <p:nvPr/>
              </p:nvSpPr>
              <p:spPr bwMode="auto">
                <a:xfrm>
                  <a:off x="1455" y="0"/>
                  <a:ext cx="409"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2" name="Group 121"/>
              <p:cNvGrpSpPr/>
              <p:nvPr/>
            </p:nvGrpSpPr>
            <p:grpSpPr bwMode="auto">
              <a:xfrm>
                <a:off x="1864" y="0"/>
                <a:ext cx="395" cy="518"/>
                <a:chOff x="1864" y="0"/>
                <a:chExt cx="395" cy="518"/>
              </a:xfrm>
            </p:grpSpPr>
            <p:sp>
              <p:nvSpPr>
                <p:cNvPr id="340" name="Rectangle 6"/>
                <p:cNvSpPr>
                  <a:spLocks noChangeArrowheads="1"/>
                </p:cNvSpPr>
                <p:nvPr/>
              </p:nvSpPr>
              <p:spPr bwMode="auto">
                <a:xfrm>
                  <a:off x="1907" y="0"/>
                  <a:ext cx="30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a:solidFill>
                        <a:srgbClr val="FF0000"/>
                      </a:solidFill>
                      <a:latin typeface="Arial" panose="020B0604020202090204" pitchFamily="34" charset="0"/>
                      <a:cs typeface="Arial" panose="020B0604020202090204" pitchFamily="34" charset="0"/>
                    </a:rPr>
                    <a:t>Low</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41" name="Rectangle 120"/>
                <p:cNvSpPr>
                  <a:spLocks noChangeArrowheads="1"/>
                </p:cNvSpPr>
                <p:nvPr/>
              </p:nvSpPr>
              <p:spPr bwMode="auto">
                <a:xfrm>
                  <a:off x="1864" y="0"/>
                  <a:ext cx="395"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3" name="Group 123"/>
              <p:cNvGrpSpPr/>
              <p:nvPr/>
            </p:nvGrpSpPr>
            <p:grpSpPr bwMode="auto">
              <a:xfrm>
                <a:off x="2259" y="0"/>
                <a:ext cx="581" cy="518"/>
                <a:chOff x="2259" y="0"/>
                <a:chExt cx="581" cy="518"/>
              </a:xfrm>
            </p:grpSpPr>
            <p:sp>
              <p:nvSpPr>
                <p:cNvPr id="338" name="Rectangle 7"/>
                <p:cNvSpPr>
                  <a:spLocks noChangeArrowheads="1"/>
                </p:cNvSpPr>
                <p:nvPr/>
              </p:nvSpPr>
              <p:spPr bwMode="auto">
                <a:xfrm>
                  <a:off x="2302" y="0"/>
                  <a:ext cx="49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a:solidFill>
                        <a:srgbClr val="FF0000"/>
                      </a:solidFill>
                      <a:latin typeface="Arial" panose="020B0604020202090204" pitchFamily="34" charset="0"/>
                      <a:cs typeface="Arial" panose="020B0604020202090204" pitchFamily="34" charset="0"/>
                    </a:rPr>
                    <a:t>Nominal</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39" name="Rectangle 122"/>
                <p:cNvSpPr>
                  <a:spLocks noChangeArrowheads="1"/>
                </p:cNvSpPr>
                <p:nvPr/>
              </p:nvSpPr>
              <p:spPr bwMode="auto">
                <a:xfrm>
                  <a:off x="2259" y="0"/>
                  <a:ext cx="581"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4" name="Group 125"/>
              <p:cNvGrpSpPr/>
              <p:nvPr/>
            </p:nvGrpSpPr>
            <p:grpSpPr bwMode="auto">
              <a:xfrm>
                <a:off x="2840" y="0"/>
                <a:ext cx="416" cy="518"/>
                <a:chOff x="2840" y="0"/>
                <a:chExt cx="416" cy="518"/>
              </a:xfrm>
            </p:grpSpPr>
            <p:sp>
              <p:nvSpPr>
                <p:cNvPr id="336" name="Rectangle 8"/>
                <p:cNvSpPr>
                  <a:spLocks noChangeArrowheads="1"/>
                </p:cNvSpPr>
                <p:nvPr/>
              </p:nvSpPr>
              <p:spPr bwMode="auto">
                <a:xfrm>
                  <a:off x="2883" y="0"/>
                  <a:ext cx="3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a:solidFill>
                        <a:srgbClr val="FF0000"/>
                      </a:solidFill>
                      <a:latin typeface="Arial" panose="020B0604020202090204" pitchFamily="34" charset="0"/>
                      <a:cs typeface="Arial" panose="020B0604020202090204" pitchFamily="34" charset="0"/>
                    </a:rPr>
                    <a:t>High</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37" name="Rectangle 124"/>
                <p:cNvSpPr>
                  <a:spLocks noChangeArrowheads="1"/>
                </p:cNvSpPr>
                <p:nvPr/>
              </p:nvSpPr>
              <p:spPr bwMode="auto">
                <a:xfrm>
                  <a:off x="2840" y="0"/>
                  <a:ext cx="416"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5" name="Group 127"/>
              <p:cNvGrpSpPr/>
              <p:nvPr/>
            </p:nvGrpSpPr>
            <p:grpSpPr bwMode="auto">
              <a:xfrm>
                <a:off x="3256" y="0"/>
                <a:ext cx="459" cy="518"/>
                <a:chOff x="3256" y="0"/>
                <a:chExt cx="459" cy="518"/>
              </a:xfrm>
            </p:grpSpPr>
            <p:sp>
              <p:nvSpPr>
                <p:cNvPr id="334" name="Rectangle 9"/>
                <p:cNvSpPr>
                  <a:spLocks noChangeArrowheads="1"/>
                </p:cNvSpPr>
                <p:nvPr/>
              </p:nvSpPr>
              <p:spPr bwMode="auto">
                <a:xfrm>
                  <a:off x="3299" y="0"/>
                  <a:ext cx="41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smtClean="0">
                      <a:solidFill>
                        <a:srgbClr val="FF0000"/>
                      </a:solidFill>
                      <a:latin typeface="Arial" panose="020B0604020202090204" pitchFamily="34" charset="0"/>
                      <a:cs typeface="Arial" panose="020B0604020202090204" pitchFamily="34" charset="0"/>
                    </a:rPr>
                    <a:t>Very</a:t>
                  </a:r>
                  <a:r>
                    <a:rPr lang="en-CA" altLang="tr-TR" sz="1200" dirty="0" smtClean="0">
                      <a:solidFill>
                        <a:srgbClr val="FF0000"/>
                      </a:solidFill>
                      <a:ea typeface="Arial Unicode MS" panose="020B0604020202020204" pitchFamily="34" charset="-128"/>
                      <a:cs typeface="Arial Unicode MS" panose="020B0604020202020204" pitchFamily="34" charset="-128"/>
                    </a:rPr>
                    <a:t> </a:t>
                  </a:r>
                  <a:r>
                    <a:rPr lang="en-CA" altLang="tr-TR" sz="1200" b="1" dirty="0" smtClean="0">
                      <a:solidFill>
                        <a:srgbClr val="FF0000"/>
                      </a:solidFill>
                      <a:latin typeface="Arial" panose="020B0604020202090204" pitchFamily="34" charset="0"/>
                      <a:cs typeface="Arial" panose="020B0604020202090204" pitchFamily="34" charset="0"/>
                    </a:rPr>
                    <a:t>High</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35" name="Rectangle 126"/>
                <p:cNvSpPr>
                  <a:spLocks noChangeArrowheads="1"/>
                </p:cNvSpPr>
                <p:nvPr/>
              </p:nvSpPr>
              <p:spPr bwMode="auto">
                <a:xfrm>
                  <a:off x="3256" y="0"/>
                  <a:ext cx="416"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6" name="Group 129"/>
              <p:cNvGrpSpPr/>
              <p:nvPr/>
            </p:nvGrpSpPr>
            <p:grpSpPr bwMode="auto">
              <a:xfrm>
                <a:off x="3672" y="0"/>
                <a:ext cx="566" cy="518"/>
                <a:chOff x="3672" y="0"/>
                <a:chExt cx="566" cy="518"/>
              </a:xfrm>
            </p:grpSpPr>
            <p:sp>
              <p:nvSpPr>
                <p:cNvPr id="332" name="Rectangle 10"/>
                <p:cNvSpPr>
                  <a:spLocks noChangeArrowheads="1"/>
                </p:cNvSpPr>
                <p:nvPr/>
              </p:nvSpPr>
              <p:spPr bwMode="auto">
                <a:xfrm>
                  <a:off x="3715" y="0"/>
                  <a:ext cx="52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smtClean="0">
                      <a:solidFill>
                        <a:srgbClr val="FF0000"/>
                      </a:solidFill>
                      <a:latin typeface="Arial" panose="020B0604020202090204" pitchFamily="34" charset="0"/>
                      <a:cs typeface="Arial" panose="020B0604020202090204" pitchFamily="34" charset="0"/>
                    </a:rPr>
                    <a:t>Extra</a:t>
                  </a:r>
                  <a:r>
                    <a:rPr lang="en-CA" altLang="tr-TR" sz="1200" dirty="0" smtClean="0">
                      <a:solidFill>
                        <a:srgbClr val="FF0000"/>
                      </a:solidFill>
                      <a:ea typeface="Arial Unicode MS" panose="020B0604020202020204" pitchFamily="34" charset="-128"/>
                      <a:cs typeface="Arial Unicode MS" panose="020B0604020202020204" pitchFamily="34" charset="-128"/>
                    </a:rPr>
                    <a:t> </a:t>
                  </a:r>
                  <a:r>
                    <a:rPr lang="en-CA" altLang="tr-TR" sz="1200" b="1" dirty="0" smtClean="0">
                      <a:solidFill>
                        <a:srgbClr val="FF0000"/>
                      </a:solidFill>
                      <a:latin typeface="Arial" panose="020B0604020202090204" pitchFamily="34" charset="0"/>
                      <a:cs typeface="Arial" panose="020B0604020202090204" pitchFamily="34" charset="0"/>
                    </a:rPr>
                    <a:t>High</a:t>
                  </a:r>
                  <a:endParaRPr lang="en-CA" altLang="tr-TR" sz="1200" dirty="0">
                    <a:solidFill>
                      <a:srgbClr val="FF0000"/>
                    </a:solidFill>
                    <a:ea typeface="Arial Unicode MS" panose="020B0604020202020204" pitchFamily="34" charset="-128"/>
                    <a:cs typeface="Arial Unicode MS" panose="020B0604020202020204" pitchFamily="34" charset="-128"/>
                  </a:endParaRPr>
                </a:p>
                <a:p>
                  <a:endParaRPr lang="en-CA" altLang="tr-TR" dirty="0"/>
                </a:p>
              </p:txBody>
            </p:sp>
            <p:sp>
              <p:nvSpPr>
                <p:cNvPr id="333" name="Rectangle 128"/>
                <p:cNvSpPr>
                  <a:spLocks noChangeArrowheads="1"/>
                </p:cNvSpPr>
                <p:nvPr/>
              </p:nvSpPr>
              <p:spPr bwMode="auto">
                <a:xfrm>
                  <a:off x="3672" y="0"/>
                  <a:ext cx="441" cy="5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7" name="Group 131"/>
              <p:cNvGrpSpPr/>
              <p:nvPr/>
            </p:nvGrpSpPr>
            <p:grpSpPr bwMode="auto">
              <a:xfrm>
                <a:off x="0" y="518"/>
                <a:ext cx="1455" cy="403"/>
                <a:chOff x="0" y="518"/>
                <a:chExt cx="1455" cy="403"/>
              </a:xfrm>
            </p:grpSpPr>
            <p:sp>
              <p:nvSpPr>
                <p:cNvPr id="330" name="Rectangle 11"/>
                <p:cNvSpPr>
                  <a:spLocks noChangeArrowheads="1"/>
                </p:cNvSpPr>
                <p:nvPr/>
              </p:nvSpPr>
              <p:spPr bwMode="auto">
                <a:xfrm>
                  <a:off x="43" y="518"/>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a:latin typeface="Arial" panose="020B0604020202090204" pitchFamily="34" charset="0"/>
                      <a:cs typeface="Arial" panose="020B0604020202090204" pitchFamily="34" charset="0"/>
                    </a:rPr>
                    <a:t>Required Reliability</a:t>
                  </a:r>
                  <a:endParaRPr lang="en-CA" altLang="tr-TR" sz="1200" dirty="0">
                    <a:ea typeface="Arial Unicode MS" panose="020B0604020202020204" pitchFamily="34" charset="-128"/>
                    <a:cs typeface="Arial Unicode MS" panose="020B0604020202020204" pitchFamily="34" charset="-128"/>
                  </a:endParaRPr>
                </a:p>
                <a:p>
                  <a:endParaRPr lang="en-CA" altLang="tr-TR" dirty="0"/>
                </a:p>
              </p:txBody>
            </p:sp>
            <p:sp>
              <p:nvSpPr>
                <p:cNvPr id="331" name="Rectangle 130"/>
                <p:cNvSpPr>
                  <a:spLocks noChangeArrowheads="1"/>
                </p:cNvSpPr>
                <p:nvPr/>
              </p:nvSpPr>
              <p:spPr bwMode="auto">
                <a:xfrm>
                  <a:off x="0" y="518"/>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8" name="Group 133"/>
              <p:cNvGrpSpPr/>
              <p:nvPr/>
            </p:nvGrpSpPr>
            <p:grpSpPr bwMode="auto">
              <a:xfrm>
                <a:off x="1455" y="518"/>
                <a:ext cx="409" cy="403"/>
                <a:chOff x="1455" y="518"/>
                <a:chExt cx="409" cy="403"/>
              </a:xfrm>
            </p:grpSpPr>
            <p:sp>
              <p:nvSpPr>
                <p:cNvPr id="328" name="Rectangle 12"/>
                <p:cNvSpPr>
                  <a:spLocks noChangeArrowheads="1"/>
                </p:cNvSpPr>
                <p:nvPr/>
              </p:nvSpPr>
              <p:spPr bwMode="auto">
                <a:xfrm>
                  <a:off x="1498" y="518"/>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29" name="Rectangle 132"/>
                <p:cNvSpPr>
                  <a:spLocks noChangeArrowheads="1"/>
                </p:cNvSpPr>
                <p:nvPr/>
              </p:nvSpPr>
              <p:spPr bwMode="auto">
                <a:xfrm>
                  <a:off x="1455" y="518"/>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9" name="Group 135"/>
              <p:cNvGrpSpPr/>
              <p:nvPr/>
            </p:nvGrpSpPr>
            <p:grpSpPr bwMode="auto">
              <a:xfrm>
                <a:off x="1864" y="518"/>
                <a:ext cx="395" cy="403"/>
                <a:chOff x="1864" y="518"/>
                <a:chExt cx="395" cy="403"/>
              </a:xfrm>
            </p:grpSpPr>
            <p:sp>
              <p:nvSpPr>
                <p:cNvPr id="326" name="Rectangle 13"/>
                <p:cNvSpPr>
                  <a:spLocks noChangeArrowheads="1"/>
                </p:cNvSpPr>
                <p:nvPr/>
              </p:nvSpPr>
              <p:spPr bwMode="auto">
                <a:xfrm>
                  <a:off x="1907" y="518"/>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.88</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27" name="Rectangle 134"/>
                <p:cNvSpPr>
                  <a:spLocks noChangeArrowheads="1"/>
                </p:cNvSpPr>
                <p:nvPr/>
              </p:nvSpPr>
              <p:spPr bwMode="auto">
                <a:xfrm>
                  <a:off x="1864" y="518"/>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0" name="Group 137"/>
              <p:cNvGrpSpPr/>
              <p:nvPr/>
            </p:nvGrpSpPr>
            <p:grpSpPr bwMode="auto">
              <a:xfrm>
                <a:off x="2259" y="518"/>
                <a:ext cx="581" cy="403"/>
                <a:chOff x="2259" y="518"/>
                <a:chExt cx="581" cy="403"/>
              </a:xfrm>
            </p:grpSpPr>
            <p:sp>
              <p:nvSpPr>
                <p:cNvPr id="324" name="Rectangle 14"/>
                <p:cNvSpPr>
                  <a:spLocks noChangeArrowheads="1"/>
                </p:cNvSpPr>
                <p:nvPr/>
              </p:nvSpPr>
              <p:spPr bwMode="auto">
                <a:xfrm>
                  <a:off x="2302" y="518"/>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25" name="Rectangle 136"/>
                <p:cNvSpPr>
                  <a:spLocks noChangeArrowheads="1"/>
                </p:cNvSpPr>
                <p:nvPr/>
              </p:nvSpPr>
              <p:spPr bwMode="auto">
                <a:xfrm>
                  <a:off x="2259" y="518"/>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1" name="Group 139"/>
              <p:cNvGrpSpPr/>
              <p:nvPr/>
            </p:nvGrpSpPr>
            <p:grpSpPr bwMode="auto">
              <a:xfrm>
                <a:off x="2840" y="518"/>
                <a:ext cx="416" cy="403"/>
                <a:chOff x="2840" y="518"/>
                <a:chExt cx="416" cy="403"/>
              </a:xfrm>
            </p:grpSpPr>
            <p:sp>
              <p:nvSpPr>
                <p:cNvPr id="322" name="Rectangle 15"/>
                <p:cNvSpPr>
                  <a:spLocks noChangeArrowheads="1"/>
                </p:cNvSpPr>
                <p:nvPr/>
              </p:nvSpPr>
              <p:spPr bwMode="auto">
                <a:xfrm>
                  <a:off x="2883" y="51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23" name="Rectangle 138"/>
                <p:cNvSpPr>
                  <a:spLocks noChangeArrowheads="1"/>
                </p:cNvSpPr>
                <p:nvPr/>
              </p:nvSpPr>
              <p:spPr bwMode="auto">
                <a:xfrm>
                  <a:off x="2840" y="518"/>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2" name="Group 141"/>
              <p:cNvGrpSpPr/>
              <p:nvPr/>
            </p:nvGrpSpPr>
            <p:grpSpPr bwMode="auto">
              <a:xfrm>
                <a:off x="3256" y="518"/>
                <a:ext cx="416" cy="403"/>
                <a:chOff x="3256" y="518"/>
                <a:chExt cx="416" cy="403"/>
              </a:xfrm>
            </p:grpSpPr>
            <p:sp>
              <p:nvSpPr>
                <p:cNvPr id="320" name="Rectangle 16"/>
                <p:cNvSpPr>
                  <a:spLocks noChangeArrowheads="1"/>
                </p:cNvSpPr>
                <p:nvPr/>
              </p:nvSpPr>
              <p:spPr bwMode="auto">
                <a:xfrm>
                  <a:off x="3299" y="51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1.40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21" name="Rectangle 140"/>
                <p:cNvSpPr>
                  <a:spLocks noChangeArrowheads="1"/>
                </p:cNvSpPr>
                <p:nvPr/>
              </p:nvSpPr>
              <p:spPr bwMode="auto">
                <a:xfrm>
                  <a:off x="3256" y="518"/>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3" name="Group 143"/>
              <p:cNvGrpSpPr/>
              <p:nvPr/>
            </p:nvGrpSpPr>
            <p:grpSpPr bwMode="auto">
              <a:xfrm>
                <a:off x="3672" y="518"/>
                <a:ext cx="441" cy="403"/>
                <a:chOff x="3672" y="518"/>
                <a:chExt cx="441" cy="403"/>
              </a:xfrm>
            </p:grpSpPr>
            <p:sp>
              <p:nvSpPr>
                <p:cNvPr id="318" name="Rectangle 17"/>
                <p:cNvSpPr>
                  <a:spLocks noChangeArrowheads="1"/>
                </p:cNvSpPr>
                <p:nvPr/>
              </p:nvSpPr>
              <p:spPr bwMode="auto">
                <a:xfrm>
                  <a:off x="3715" y="518"/>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1.40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19" name="Rectangle 142"/>
                <p:cNvSpPr>
                  <a:spLocks noChangeArrowheads="1"/>
                </p:cNvSpPr>
                <p:nvPr/>
              </p:nvSpPr>
              <p:spPr bwMode="auto">
                <a:xfrm>
                  <a:off x="3672" y="518"/>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4" name="Group 145"/>
              <p:cNvGrpSpPr/>
              <p:nvPr/>
            </p:nvGrpSpPr>
            <p:grpSpPr bwMode="auto">
              <a:xfrm>
                <a:off x="0" y="921"/>
                <a:ext cx="1455" cy="403"/>
                <a:chOff x="0" y="921"/>
                <a:chExt cx="1455" cy="403"/>
              </a:xfrm>
            </p:grpSpPr>
            <p:sp>
              <p:nvSpPr>
                <p:cNvPr id="316" name="Rectangle 18"/>
                <p:cNvSpPr>
                  <a:spLocks noChangeArrowheads="1"/>
                </p:cNvSpPr>
                <p:nvPr/>
              </p:nvSpPr>
              <p:spPr bwMode="auto">
                <a:xfrm>
                  <a:off x="43" y="921"/>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Database Size</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17" name="Rectangle 144"/>
                <p:cNvSpPr>
                  <a:spLocks noChangeArrowheads="1"/>
                </p:cNvSpPr>
                <p:nvPr/>
              </p:nvSpPr>
              <p:spPr bwMode="auto">
                <a:xfrm>
                  <a:off x="0" y="921"/>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5" name="Group 147"/>
              <p:cNvGrpSpPr/>
              <p:nvPr/>
            </p:nvGrpSpPr>
            <p:grpSpPr bwMode="auto">
              <a:xfrm>
                <a:off x="1455" y="921"/>
                <a:ext cx="409" cy="403"/>
                <a:chOff x="1455" y="921"/>
                <a:chExt cx="409" cy="403"/>
              </a:xfrm>
            </p:grpSpPr>
            <p:sp>
              <p:nvSpPr>
                <p:cNvPr id="314" name="Rectangle 19"/>
                <p:cNvSpPr>
                  <a:spLocks noChangeArrowheads="1"/>
                </p:cNvSpPr>
                <p:nvPr/>
              </p:nvSpPr>
              <p:spPr bwMode="auto">
                <a:xfrm>
                  <a:off x="1498" y="921"/>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15" name="Rectangle 146"/>
                <p:cNvSpPr>
                  <a:spLocks noChangeArrowheads="1"/>
                </p:cNvSpPr>
                <p:nvPr/>
              </p:nvSpPr>
              <p:spPr bwMode="auto">
                <a:xfrm>
                  <a:off x="1455" y="921"/>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6" name="Group 149"/>
              <p:cNvGrpSpPr/>
              <p:nvPr/>
            </p:nvGrpSpPr>
            <p:grpSpPr bwMode="auto">
              <a:xfrm>
                <a:off x="1864" y="921"/>
                <a:ext cx="395" cy="403"/>
                <a:chOff x="1864" y="921"/>
                <a:chExt cx="395" cy="403"/>
              </a:xfrm>
            </p:grpSpPr>
            <p:sp>
              <p:nvSpPr>
                <p:cNvPr id="312" name="Rectangle 20"/>
                <p:cNvSpPr>
                  <a:spLocks noChangeArrowheads="1"/>
                </p:cNvSpPr>
                <p:nvPr/>
              </p:nvSpPr>
              <p:spPr bwMode="auto">
                <a:xfrm>
                  <a:off x="1907" y="921"/>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13" name="Rectangle 148"/>
                <p:cNvSpPr>
                  <a:spLocks noChangeArrowheads="1"/>
                </p:cNvSpPr>
                <p:nvPr/>
              </p:nvSpPr>
              <p:spPr bwMode="auto">
                <a:xfrm>
                  <a:off x="1864" y="921"/>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7" name="Group 151"/>
              <p:cNvGrpSpPr/>
              <p:nvPr/>
            </p:nvGrpSpPr>
            <p:grpSpPr bwMode="auto">
              <a:xfrm>
                <a:off x="2259" y="921"/>
                <a:ext cx="581" cy="403"/>
                <a:chOff x="2259" y="921"/>
                <a:chExt cx="581" cy="403"/>
              </a:xfrm>
            </p:grpSpPr>
            <p:sp>
              <p:nvSpPr>
                <p:cNvPr id="310" name="Rectangle 21"/>
                <p:cNvSpPr>
                  <a:spLocks noChangeArrowheads="1"/>
                </p:cNvSpPr>
                <p:nvPr/>
              </p:nvSpPr>
              <p:spPr bwMode="auto">
                <a:xfrm>
                  <a:off x="2302" y="921"/>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11" name="Rectangle 150"/>
                <p:cNvSpPr>
                  <a:spLocks noChangeArrowheads="1"/>
                </p:cNvSpPr>
                <p:nvPr/>
              </p:nvSpPr>
              <p:spPr bwMode="auto">
                <a:xfrm>
                  <a:off x="2259" y="921"/>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8" name="Group 153"/>
              <p:cNvGrpSpPr/>
              <p:nvPr/>
            </p:nvGrpSpPr>
            <p:grpSpPr bwMode="auto">
              <a:xfrm>
                <a:off x="2840" y="921"/>
                <a:ext cx="416" cy="403"/>
                <a:chOff x="2840" y="921"/>
                <a:chExt cx="416" cy="403"/>
              </a:xfrm>
            </p:grpSpPr>
            <p:sp>
              <p:nvSpPr>
                <p:cNvPr id="308" name="Rectangle 22"/>
                <p:cNvSpPr>
                  <a:spLocks noChangeArrowheads="1"/>
                </p:cNvSpPr>
                <p:nvPr/>
              </p:nvSpPr>
              <p:spPr bwMode="auto">
                <a:xfrm>
                  <a:off x="2883" y="92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1.08</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09" name="Rectangle 152"/>
                <p:cNvSpPr>
                  <a:spLocks noChangeArrowheads="1"/>
                </p:cNvSpPr>
                <p:nvPr/>
              </p:nvSpPr>
              <p:spPr bwMode="auto">
                <a:xfrm>
                  <a:off x="2840" y="921"/>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29" name="Group 155"/>
              <p:cNvGrpSpPr/>
              <p:nvPr/>
            </p:nvGrpSpPr>
            <p:grpSpPr bwMode="auto">
              <a:xfrm>
                <a:off x="3256" y="921"/>
                <a:ext cx="416" cy="403"/>
                <a:chOff x="3256" y="921"/>
                <a:chExt cx="416" cy="403"/>
              </a:xfrm>
            </p:grpSpPr>
            <p:sp>
              <p:nvSpPr>
                <p:cNvPr id="306" name="Rectangle 23"/>
                <p:cNvSpPr>
                  <a:spLocks noChangeArrowheads="1"/>
                </p:cNvSpPr>
                <p:nvPr/>
              </p:nvSpPr>
              <p:spPr bwMode="auto">
                <a:xfrm>
                  <a:off x="3299" y="92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07" name="Rectangle 154"/>
                <p:cNvSpPr>
                  <a:spLocks noChangeArrowheads="1"/>
                </p:cNvSpPr>
                <p:nvPr/>
              </p:nvSpPr>
              <p:spPr bwMode="auto">
                <a:xfrm>
                  <a:off x="3256" y="921"/>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0" name="Group 157"/>
              <p:cNvGrpSpPr/>
              <p:nvPr/>
            </p:nvGrpSpPr>
            <p:grpSpPr bwMode="auto">
              <a:xfrm>
                <a:off x="3672" y="921"/>
                <a:ext cx="441" cy="403"/>
                <a:chOff x="3672" y="921"/>
                <a:chExt cx="441" cy="403"/>
              </a:xfrm>
            </p:grpSpPr>
            <p:sp>
              <p:nvSpPr>
                <p:cNvPr id="304" name="Rectangle 24"/>
                <p:cNvSpPr>
                  <a:spLocks noChangeArrowheads="1"/>
                </p:cNvSpPr>
                <p:nvPr/>
              </p:nvSpPr>
              <p:spPr bwMode="auto">
                <a:xfrm>
                  <a:off x="3715" y="921"/>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05" name="Rectangle 156"/>
                <p:cNvSpPr>
                  <a:spLocks noChangeArrowheads="1"/>
                </p:cNvSpPr>
                <p:nvPr/>
              </p:nvSpPr>
              <p:spPr bwMode="auto">
                <a:xfrm>
                  <a:off x="3672" y="921"/>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1" name="Group 159"/>
              <p:cNvGrpSpPr/>
              <p:nvPr/>
            </p:nvGrpSpPr>
            <p:grpSpPr bwMode="auto">
              <a:xfrm>
                <a:off x="0" y="1324"/>
                <a:ext cx="1455" cy="403"/>
                <a:chOff x="0" y="1324"/>
                <a:chExt cx="1455" cy="403"/>
              </a:xfrm>
            </p:grpSpPr>
            <p:sp>
              <p:nvSpPr>
                <p:cNvPr id="302" name="Rectangle 25"/>
                <p:cNvSpPr>
                  <a:spLocks noChangeArrowheads="1"/>
                </p:cNvSpPr>
                <p:nvPr/>
              </p:nvSpPr>
              <p:spPr bwMode="auto">
                <a:xfrm>
                  <a:off x="43" y="1324"/>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dirty="0">
                      <a:latin typeface="Arial" panose="020B0604020202090204" pitchFamily="34" charset="0"/>
                      <a:cs typeface="Arial" panose="020B0604020202090204" pitchFamily="34" charset="0"/>
                    </a:rPr>
                    <a:t>Product Complexity</a:t>
                  </a:r>
                  <a:endParaRPr lang="en-CA" altLang="tr-TR" sz="1200" dirty="0">
                    <a:ea typeface="Arial Unicode MS" panose="020B0604020202020204" pitchFamily="34" charset="-128"/>
                    <a:cs typeface="Arial Unicode MS" panose="020B0604020202020204" pitchFamily="34" charset="-128"/>
                  </a:endParaRPr>
                </a:p>
                <a:p>
                  <a:endParaRPr lang="en-CA" altLang="tr-TR" dirty="0"/>
                </a:p>
              </p:txBody>
            </p:sp>
            <p:sp>
              <p:nvSpPr>
                <p:cNvPr id="303" name="Rectangle 158"/>
                <p:cNvSpPr>
                  <a:spLocks noChangeArrowheads="1"/>
                </p:cNvSpPr>
                <p:nvPr/>
              </p:nvSpPr>
              <p:spPr bwMode="auto">
                <a:xfrm>
                  <a:off x="0" y="1324"/>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2" name="Group 161"/>
              <p:cNvGrpSpPr/>
              <p:nvPr/>
            </p:nvGrpSpPr>
            <p:grpSpPr bwMode="auto">
              <a:xfrm>
                <a:off x="1455" y="1324"/>
                <a:ext cx="409" cy="403"/>
                <a:chOff x="1455" y="1324"/>
                <a:chExt cx="409" cy="403"/>
              </a:xfrm>
            </p:grpSpPr>
            <p:sp>
              <p:nvSpPr>
                <p:cNvPr id="300" name="Rectangle 26"/>
                <p:cNvSpPr>
                  <a:spLocks noChangeArrowheads="1"/>
                </p:cNvSpPr>
                <p:nvPr/>
              </p:nvSpPr>
              <p:spPr bwMode="auto">
                <a:xfrm>
                  <a:off x="1498" y="1324"/>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301" name="Rectangle 160"/>
                <p:cNvSpPr>
                  <a:spLocks noChangeArrowheads="1"/>
                </p:cNvSpPr>
                <p:nvPr/>
              </p:nvSpPr>
              <p:spPr bwMode="auto">
                <a:xfrm>
                  <a:off x="1455" y="1324"/>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3" name="Group 163"/>
              <p:cNvGrpSpPr/>
              <p:nvPr/>
            </p:nvGrpSpPr>
            <p:grpSpPr bwMode="auto">
              <a:xfrm>
                <a:off x="1864" y="1324"/>
                <a:ext cx="395" cy="403"/>
                <a:chOff x="1864" y="1324"/>
                <a:chExt cx="395" cy="403"/>
              </a:xfrm>
            </p:grpSpPr>
            <p:sp>
              <p:nvSpPr>
                <p:cNvPr id="298" name="Rectangle 27"/>
                <p:cNvSpPr>
                  <a:spLocks noChangeArrowheads="1"/>
                </p:cNvSpPr>
                <p:nvPr/>
              </p:nvSpPr>
              <p:spPr bwMode="auto">
                <a:xfrm>
                  <a:off x="1907" y="1324"/>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99" name="Rectangle 162"/>
                <p:cNvSpPr>
                  <a:spLocks noChangeArrowheads="1"/>
                </p:cNvSpPr>
                <p:nvPr/>
              </p:nvSpPr>
              <p:spPr bwMode="auto">
                <a:xfrm>
                  <a:off x="1864" y="1324"/>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4" name="Group 165"/>
              <p:cNvGrpSpPr/>
              <p:nvPr/>
            </p:nvGrpSpPr>
            <p:grpSpPr bwMode="auto">
              <a:xfrm>
                <a:off x="2259" y="1324"/>
                <a:ext cx="581" cy="403"/>
                <a:chOff x="2259" y="1324"/>
                <a:chExt cx="581" cy="403"/>
              </a:xfrm>
            </p:grpSpPr>
            <p:sp>
              <p:nvSpPr>
                <p:cNvPr id="296" name="Rectangle 28"/>
                <p:cNvSpPr>
                  <a:spLocks noChangeArrowheads="1"/>
                </p:cNvSpPr>
                <p:nvPr/>
              </p:nvSpPr>
              <p:spPr bwMode="auto">
                <a:xfrm>
                  <a:off x="2302" y="1324"/>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dirty="0">
                      <a:latin typeface="Arial" panose="020B0604020202090204" pitchFamily="34" charset="0"/>
                      <a:cs typeface="Arial" panose="020B0604020202090204" pitchFamily="34" charset="0"/>
                    </a:rPr>
                    <a:t>1.00</a:t>
                  </a:r>
                  <a:endParaRPr lang="en-CA" altLang="tr-TR" sz="1200" dirty="0">
                    <a:ea typeface="Arial Unicode MS" panose="020B0604020202020204" pitchFamily="34" charset="-128"/>
                    <a:cs typeface="Arial Unicode MS" panose="020B0604020202020204" pitchFamily="34" charset="-128"/>
                  </a:endParaRPr>
                </a:p>
                <a:p>
                  <a:endParaRPr lang="en-CA" altLang="tr-TR" dirty="0"/>
                </a:p>
              </p:txBody>
            </p:sp>
            <p:sp>
              <p:nvSpPr>
                <p:cNvPr id="297" name="Rectangle 164"/>
                <p:cNvSpPr>
                  <a:spLocks noChangeArrowheads="1"/>
                </p:cNvSpPr>
                <p:nvPr/>
              </p:nvSpPr>
              <p:spPr bwMode="auto">
                <a:xfrm>
                  <a:off x="2259" y="1324"/>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5" name="Group 167"/>
              <p:cNvGrpSpPr/>
              <p:nvPr/>
            </p:nvGrpSpPr>
            <p:grpSpPr bwMode="auto">
              <a:xfrm>
                <a:off x="2840" y="1324"/>
                <a:ext cx="416" cy="403"/>
                <a:chOff x="2840" y="1324"/>
                <a:chExt cx="416" cy="403"/>
              </a:xfrm>
            </p:grpSpPr>
            <p:sp>
              <p:nvSpPr>
                <p:cNvPr id="294" name="Rectangle 29"/>
                <p:cNvSpPr>
                  <a:spLocks noChangeArrowheads="1"/>
                </p:cNvSpPr>
                <p:nvPr/>
              </p:nvSpPr>
              <p:spPr bwMode="auto">
                <a:xfrm>
                  <a:off x="2883" y="132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95" name="Rectangle 166"/>
                <p:cNvSpPr>
                  <a:spLocks noChangeArrowheads="1"/>
                </p:cNvSpPr>
                <p:nvPr/>
              </p:nvSpPr>
              <p:spPr bwMode="auto">
                <a:xfrm>
                  <a:off x="2840" y="1324"/>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6" name="Group 169"/>
              <p:cNvGrpSpPr/>
              <p:nvPr/>
            </p:nvGrpSpPr>
            <p:grpSpPr bwMode="auto">
              <a:xfrm>
                <a:off x="3256" y="1324"/>
                <a:ext cx="416" cy="403"/>
                <a:chOff x="3256" y="1324"/>
                <a:chExt cx="416" cy="403"/>
              </a:xfrm>
            </p:grpSpPr>
            <p:sp>
              <p:nvSpPr>
                <p:cNvPr id="292" name="Rectangle 30"/>
                <p:cNvSpPr>
                  <a:spLocks noChangeArrowheads="1"/>
                </p:cNvSpPr>
                <p:nvPr/>
              </p:nvSpPr>
              <p:spPr bwMode="auto">
                <a:xfrm>
                  <a:off x="3299" y="132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1.30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93" name="Rectangle 168"/>
                <p:cNvSpPr>
                  <a:spLocks noChangeArrowheads="1"/>
                </p:cNvSpPr>
                <p:nvPr/>
              </p:nvSpPr>
              <p:spPr bwMode="auto">
                <a:xfrm>
                  <a:off x="3256" y="1324"/>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7" name="Group 171"/>
              <p:cNvGrpSpPr/>
              <p:nvPr/>
            </p:nvGrpSpPr>
            <p:grpSpPr bwMode="auto">
              <a:xfrm>
                <a:off x="3672" y="1324"/>
                <a:ext cx="441" cy="403"/>
                <a:chOff x="3672" y="1324"/>
                <a:chExt cx="441" cy="403"/>
              </a:xfrm>
            </p:grpSpPr>
            <p:sp>
              <p:nvSpPr>
                <p:cNvPr id="290" name="Rectangle 31"/>
                <p:cNvSpPr>
                  <a:spLocks noChangeArrowheads="1"/>
                </p:cNvSpPr>
                <p:nvPr/>
              </p:nvSpPr>
              <p:spPr bwMode="auto">
                <a:xfrm>
                  <a:off x="3715" y="1324"/>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1.65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91" name="Rectangle 170"/>
                <p:cNvSpPr>
                  <a:spLocks noChangeArrowheads="1"/>
                </p:cNvSpPr>
                <p:nvPr/>
              </p:nvSpPr>
              <p:spPr bwMode="auto">
                <a:xfrm>
                  <a:off x="3672" y="1324"/>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8" name="Group 173"/>
              <p:cNvGrpSpPr/>
              <p:nvPr/>
            </p:nvGrpSpPr>
            <p:grpSpPr bwMode="auto">
              <a:xfrm>
                <a:off x="0" y="1727"/>
                <a:ext cx="1455" cy="403"/>
                <a:chOff x="0" y="1727"/>
                <a:chExt cx="1455" cy="403"/>
              </a:xfrm>
            </p:grpSpPr>
            <p:sp>
              <p:nvSpPr>
                <p:cNvPr id="288" name="Rectangle 32"/>
                <p:cNvSpPr>
                  <a:spLocks noChangeArrowheads="1"/>
                </p:cNvSpPr>
                <p:nvPr/>
              </p:nvSpPr>
              <p:spPr bwMode="auto">
                <a:xfrm>
                  <a:off x="43" y="1727"/>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Execution Time Constraint</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89" name="Rectangle 172"/>
                <p:cNvSpPr>
                  <a:spLocks noChangeArrowheads="1"/>
                </p:cNvSpPr>
                <p:nvPr/>
              </p:nvSpPr>
              <p:spPr bwMode="auto">
                <a:xfrm>
                  <a:off x="0" y="1727"/>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39" name="Group 175"/>
              <p:cNvGrpSpPr/>
              <p:nvPr/>
            </p:nvGrpSpPr>
            <p:grpSpPr bwMode="auto">
              <a:xfrm>
                <a:off x="1455" y="1727"/>
                <a:ext cx="409" cy="403"/>
                <a:chOff x="1455" y="1727"/>
                <a:chExt cx="409" cy="403"/>
              </a:xfrm>
            </p:grpSpPr>
            <p:sp>
              <p:nvSpPr>
                <p:cNvPr id="286" name="Rectangle 33"/>
                <p:cNvSpPr>
                  <a:spLocks noChangeArrowheads="1"/>
                </p:cNvSpPr>
                <p:nvPr/>
              </p:nvSpPr>
              <p:spPr bwMode="auto">
                <a:xfrm>
                  <a:off x="1498" y="1727"/>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87" name="Rectangle 174"/>
                <p:cNvSpPr>
                  <a:spLocks noChangeArrowheads="1"/>
                </p:cNvSpPr>
                <p:nvPr/>
              </p:nvSpPr>
              <p:spPr bwMode="auto">
                <a:xfrm>
                  <a:off x="1455" y="1727"/>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0" name="Group 177"/>
              <p:cNvGrpSpPr/>
              <p:nvPr/>
            </p:nvGrpSpPr>
            <p:grpSpPr bwMode="auto">
              <a:xfrm>
                <a:off x="1864" y="1727"/>
                <a:ext cx="395" cy="403"/>
                <a:chOff x="1864" y="1727"/>
                <a:chExt cx="395" cy="403"/>
              </a:xfrm>
            </p:grpSpPr>
            <p:sp>
              <p:nvSpPr>
                <p:cNvPr id="284" name="Rectangle 34"/>
                <p:cNvSpPr>
                  <a:spLocks noChangeArrowheads="1"/>
                </p:cNvSpPr>
                <p:nvPr/>
              </p:nvSpPr>
              <p:spPr bwMode="auto">
                <a:xfrm>
                  <a:off x="1907" y="1727"/>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85" name="Rectangle 176"/>
                <p:cNvSpPr>
                  <a:spLocks noChangeArrowheads="1"/>
                </p:cNvSpPr>
                <p:nvPr/>
              </p:nvSpPr>
              <p:spPr bwMode="auto">
                <a:xfrm>
                  <a:off x="1864" y="1727"/>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1" name="Group 179"/>
              <p:cNvGrpSpPr/>
              <p:nvPr/>
            </p:nvGrpSpPr>
            <p:grpSpPr bwMode="auto">
              <a:xfrm>
                <a:off x="2259" y="1727"/>
                <a:ext cx="581" cy="403"/>
                <a:chOff x="2259" y="1727"/>
                <a:chExt cx="581" cy="403"/>
              </a:xfrm>
            </p:grpSpPr>
            <p:sp>
              <p:nvSpPr>
                <p:cNvPr id="282" name="Rectangle 35"/>
                <p:cNvSpPr>
                  <a:spLocks noChangeArrowheads="1"/>
                </p:cNvSpPr>
                <p:nvPr/>
              </p:nvSpPr>
              <p:spPr bwMode="auto">
                <a:xfrm>
                  <a:off x="2302" y="1727"/>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83" name="Rectangle 178"/>
                <p:cNvSpPr>
                  <a:spLocks noChangeArrowheads="1"/>
                </p:cNvSpPr>
                <p:nvPr/>
              </p:nvSpPr>
              <p:spPr bwMode="auto">
                <a:xfrm>
                  <a:off x="2259" y="1727"/>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2" name="Group 181"/>
              <p:cNvGrpSpPr/>
              <p:nvPr/>
            </p:nvGrpSpPr>
            <p:grpSpPr bwMode="auto">
              <a:xfrm>
                <a:off x="2840" y="1727"/>
                <a:ext cx="416" cy="403"/>
                <a:chOff x="2840" y="1727"/>
                <a:chExt cx="416" cy="403"/>
              </a:xfrm>
            </p:grpSpPr>
            <p:sp>
              <p:nvSpPr>
                <p:cNvPr id="280" name="Rectangle 36"/>
                <p:cNvSpPr>
                  <a:spLocks noChangeArrowheads="1"/>
                </p:cNvSpPr>
                <p:nvPr/>
              </p:nvSpPr>
              <p:spPr bwMode="auto">
                <a:xfrm>
                  <a:off x="2883" y="172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81" name="Rectangle 180"/>
                <p:cNvSpPr>
                  <a:spLocks noChangeArrowheads="1"/>
                </p:cNvSpPr>
                <p:nvPr/>
              </p:nvSpPr>
              <p:spPr bwMode="auto">
                <a:xfrm>
                  <a:off x="2840" y="1727"/>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3" name="Group 183"/>
              <p:cNvGrpSpPr/>
              <p:nvPr/>
            </p:nvGrpSpPr>
            <p:grpSpPr bwMode="auto">
              <a:xfrm>
                <a:off x="3256" y="1727"/>
                <a:ext cx="416" cy="403"/>
                <a:chOff x="3256" y="1727"/>
                <a:chExt cx="416" cy="403"/>
              </a:xfrm>
            </p:grpSpPr>
            <p:sp>
              <p:nvSpPr>
                <p:cNvPr id="278" name="Rectangle 37"/>
                <p:cNvSpPr>
                  <a:spLocks noChangeArrowheads="1"/>
                </p:cNvSpPr>
                <p:nvPr/>
              </p:nvSpPr>
              <p:spPr bwMode="auto">
                <a:xfrm>
                  <a:off x="3299" y="172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1.30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79" name="Rectangle 182"/>
                <p:cNvSpPr>
                  <a:spLocks noChangeArrowheads="1"/>
                </p:cNvSpPr>
                <p:nvPr/>
              </p:nvSpPr>
              <p:spPr bwMode="auto">
                <a:xfrm>
                  <a:off x="3256" y="1727"/>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4" name="Group 185"/>
              <p:cNvGrpSpPr/>
              <p:nvPr/>
            </p:nvGrpSpPr>
            <p:grpSpPr bwMode="auto">
              <a:xfrm>
                <a:off x="3672" y="1727"/>
                <a:ext cx="441" cy="403"/>
                <a:chOff x="3672" y="1727"/>
                <a:chExt cx="441" cy="403"/>
              </a:xfrm>
            </p:grpSpPr>
            <p:sp>
              <p:nvSpPr>
                <p:cNvPr id="276" name="Rectangle 38"/>
                <p:cNvSpPr>
                  <a:spLocks noChangeArrowheads="1"/>
                </p:cNvSpPr>
                <p:nvPr/>
              </p:nvSpPr>
              <p:spPr bwMode="auto">
                <a:xfrm>
                  <a:off x="3715" y="1727"/>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1.66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77" name="Rectangle 184"/>
                <p:cNvSpPr>
                  <a:spLocks noChangeArrowheads="1"/>
                </p:cNvSpPr>
                <p:nvPr/>
              </p:nvSpPr>
              <p:spPr bwMode="auto">
                <a:xfrm>
                  <a:off x="3672" y="1727"/>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5" name="Group 187"/>
              <p:cNvGrpSpPr/>
              <p:nvPr/>
            </p:nvGrpSpPr>
            <p:grpSpPr bwMode="auto">
              <a:xfrm>
                <a:off x="0" y="2130"/>
                <a:ext cx="1455" cy="403"/>
                <a:chOff x="0" y="2130"/>
                <a:chExt cx="1455" cy="403"/>
              </a:xfrm>
            </p:grpSpPr>
            <p:sp>
              <p:nvSpPr>
                <p:cNvPr id="274" name="Rectangle 39"/>
                <p:cNvSpPr>
                  <a:spLocks noChangeArrowheads="1"/>
                </p:cNvSpPr>
                <p:nvPr/>
              </p:nvSpPr>
              <p:spPr bwMode="auto">
                <a:xfrm>
                  <a:off x="43" y="2130"/>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Main Storage Constraint</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75" name="Rectangle 186"/>
                <p:cNvSpPr>
                  <a:spLocks noChangeArrowheads="1"/>
                </p:cNvSpPr>
                <p:nvPr/>
              </p:nvSpPr>
              <p:spPr bwMode="auto">
                <a:xfrm>
                  <a:off x="0" y="2130"/>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6" name="Group 189"/>
              <p:cNvGrpSpPr/>
              <p:nvPr/>
            </p:nvGrpSpPr>
            <p:grpSpPr bwMode="auto">
              <a:xfrm>
                <a:off x="1455" y="2130"/>
                <a:ext cx="409" cy="403"/>
                <a:chOff x="1455" y="2130"/>
                <a:chExt cx="409" cy="403"/>
              </a:xfrm>
            </p:grpSpPr>
            <p:sp>
              <p:nvSpPr>
                <p:cNvPr id="272" name="Rectangle 40"/>
                <p:cNvSpPr>
                  <a:spLocks noChangeArrowheads="1"/>
                </p:cNvSpPr>
                <p:nvPr/>
              </p:nvSpPr>
              <p:spPr bwMode="auto">
                <a:xfrm>
                  <a:off x="1498" y="2130"/>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73" name="Rectangle 188"/>
                <p:cNvSpPr>
                  <a:spLocks noChangeArrowheads="1"/>
                </p:cNvSpPr>
                <p:nvPr/>
              </p:nvSpPr>
              <p:spPr bwMode="auto">
                <a:xfrm>
                  <a:off x="1455" y="2130"/>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7" name="Group 191"/>
              <p:cNvGrpSpPr/>
              <p:nvPr/>
            </p:nvGrpSpPr>
            <p:grpSpPr bwMode="auto">
              <a:xfrm>
                <a:off x="1864" y="2130"/>
                <a:ext cx="395" cy="403"/>
                <a:chOff x="1864" y="2130"/>
                <a:chExt cx="395" cy="403"/>
              </a:xfrm>
            </p:grpSpPr>
            <p:sp>
              <p:nvSpPr>
                <p:cNvPr id="270" name="Rectangle 41"/>
                <p:cNvSpPr>
                  <a:spLocks noChangeArrowheads="1"/>
                </p:cNvSpPr>
                <p:nvPr/>
              </p:nvSpPr>
              <p:spPr bwMode="auto">
                <a:xfrm>
                  <a:off x="1907" y="2130"/>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71" name="Rectangle 190"/>
                <p:cNvSpPr>
                  <a:spLocks noChangeArrowheads="1"/>
                </p:cNvSpPr>
                <p:nvPr/>
              </p:nvSpPr>
              <p:spPr bwMode="auto">
                <a:xfrm>
                  <a:off x="1864" y="2130"/>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8" name="Group 193"/>
              <p:cNvGrpSpPr/>
              <p:nvPr/>
            </p:nvGrpSpPr>
            <p:grpSpPr bwMode="auto">
              <a:xfrm>
                <a:off x="2259" y="2130"/>
                <a:ext cx="581" cy="403"/>
                <a:chOff x="2259" y="2130"/>
                <a:chExt cx="581" cy="403"/>
              </a:xfrm>
            </p:grpSpPr>
            <p:sp>
              <p:nvSpPr>
                <p:cNvPr id="268" name="Rectangle 42"/>
                <p:cNvSpPr>
                  <a:spLocks noChangeArrowheads="1"/>
                </p:cNvSpPr>
                <p:nvPr/>
              </p:nvSpPr>
              <p:spPr bwMode="auto">
                <a:xfrm>
                  <a:off x="2302" y="2130"/>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69" name="Rectangle 192"/>
                <p:cNvSpPr>
                  <a:spLocks noChangeArrowheads="1"/>
                </p:cNvSpPr>
                <p:nvPr/>
              </p:nvSpPr>
              <p:spPr bwMode="auto">
                <a:xfrm>
                  <a:off x="2259" y="2130"/>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49" name="Group 195"/>
              <p:cNvGrpSpPr/>
              <p:nvPr/>
            </p:nvGrpSpPr>
            <p:grpSpPr bwMode="auto">
              <a:xfrm>
                <a:off x="2840" y="2130"/>
                <a:ext cx="416" cy="403"/>
                <a:chOff x="2840" y="2130"/>
                <a:chExt cx="416" cy="403"/>
              </a:xfrm>
            </p:grpSpPr>
            <p:sp>
              <p:nvSpPr>
                <p:cNvPr id="266" name="Rectangle 43"/>
                <p:cNvSpPr>
                  <a:spLocks noChangeArrowheads="1"/>
                </p:cNvSpPr>
                <p:nvPr/>
              </p:nvSpPr>
              <p:spPr bwMode="auto">
                <a:xfrm>
                  <a:off x="2883" y="213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67" name="Rectangle 194"/>
                <p:cNvSpPr>
                  <a:spLocks noChangeArrowheads="1"/>
                </p:cNvSpPr>
                <p:nvPr/>
              </p:nvSpPr>
              <p:spPr bwMode="auto">
                <a:xfrm>
                  <a:off x="2840" y="2130"/>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0" name="Group 197"/>
              <p:cNvGrpSpPr/>
              <p:nvPr/>
            </p:nvGrpSpPr>
            <p:grpSpPr bwMode="auto">
              <a:xfrm>
                <a:off x="3256" y="2130"/>
                <a:ext cx="416" cy="403"/>
                <a:chOff x="3256" y="2130"/>
                <a:chExt cx="416" cy="403"/>
              </a:xfrm>
            </p:grpSpPr>
            <p:sp>
              <p:nvSpPr>
                <p:cNvPr id="264" name="Rectangle 44"/>
                <p:cNvSpPr>
                  <a:spLocks noChangeArrowheads="1"/>
                </p:cNvSpPr>
                <p:nvPr/>
              </p:nvSpPr>
              <p:spPr bwMode="auto">
                <a:xfrm>
                  <a:off x="3299" y="213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65" name="Rectangle 196"/>
                <p:cNvSpPr>
                  <a:spLocks noChangeArrowheads="1"/>
                </p:cNvSpPr>
                <p:nvPr/>
              </p:nvSpPr>
              <p:spPr bwMode="auto">
                <a:xfrm>
                  <a:off x="3256" y="2130"/>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1" name="Group 199"/>
              <p:cNvGrpSpPr/>
              <p:nvPr/>
            </p:nvGrpSpPr>
            <p:grpSpPr bwMode="auto">
              <a:xfrm>
                <a:off x="3672" y="2130"/>
                <a:ext cx="441" cy="403"/>
                <a:chOff x="3672" y="2130"/>
                <a:chExt cx="441" cy="403"/>
              </a:xfrm>
            </p:grpSpPr>
            <p:sp>
              <p:nvSpPr>
                <p:cNvPr id="262" name="Rectangle 45"/>
                <p:cNvSpPr>
                  <a:spLocks noChangeArrowheads="1"/>
                </p:cNvSpPr>
                <p:nvPr/>
              </p:nvSpPr>
              <p:spPr bwMode="auto">
                <a:xfrm>
                  <a:off x="3715" y="2130"/>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1.56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63" name="Rectangle 198"/>
                <p:cNvSpPr>
                  <a:spLocks noChangeArrowheads="1"/>
                </p:cNvSpPr>
                <p:nvPr/>
              </p:nvSpPr>
              <p:spPr bwMode="auto">
                <a:xfrm>
                  <a:off x="3672" y="2130"/>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2" name="Group 201"/>
              <p:cNvGrpSpPr/>
              <p:nvPr/>
            </p:nvGrpSpPr>
            <p:grpSpPr bwMode="auto">
              <a:xfrm>
                <a:off x="0" y="2533"/>
                <a:ext cx="1455" cy="403"/>
                <a:chOff x="0" y="2533"/>
                <a:chExt cx="1455" cy="403"/>
              </a:xfrm>
            </p:grpSpPr>
            <p:sp>
              <p:nvSpPr>
                <p:cNvPr id="260" name="Rectangle 46"/>
                <p:cNvSpPr>
                  <a:spLocks noChangeArrowheads="1"/>
                </p:cNvSpPr>
                <p:nvPr/>
              </p:nvSpPr>
              <p:spPr bwMode="auto">
                <a:xfrm>
                  <a:off x="43" y="2533"/>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Virtual Machine Volatility</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61" name="Rectangle 200"/>
                <p:cNvSpPr>
                  <a:spLocks noChangeArrowheads="1"/>
                </p:cNvSpPr>
                <p:nvPr/>
              </p:nvSpPr>
              <p:spPr bwMode="auto">
                <a:xfrm>
                  <a:off x="0" y="2533"/>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3" name="Group 203"/>
              <p:cNvGrpSpPr/>
              <p:nvPr/>
            </p:nvGrpSpPr>
            <p:grpSpPr bwMode="auto">
              <a:xfrm>
                <a:off x="1455" y="2533"/>
                <a:ext cx="409" cy="403"/>
                <a:chOff x="1455" y="2533"/>
                <a:chExt cx="409" cy="403"/>
              </a:xfrm>
            </p:grpSpPr>
            <p:sp>
              <p:nvSpPr>
                <p:cNvPr id="258" name="Rectangle 47"/>
                <p:cNvSpPr>
                  <a:spLocks noChangeArrowheads="1"/>
                </p:cNvSpPr>
                <p:nvPr/>
              </p:nvSpPr>
              <p:spPr bwMode="auto">
                <a:xfrm>
                  <a:off x="1498" y="2533"/>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59" name="Rectangle 202"/>
                <p:cNvSpPr>
                  <a:spLocks noChangeArrowheads="1"/>
                </p:cNvSpPr>
                <p:nvPr/>
              </p:nvSpPr>
              <p:spPr bwMode="auto">
                <a:xfrm>
                  <a:off x="1455" y="2533"/>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4" name="Group 205"/>
              <p:cNvGrpSpPr/>
              <p:nvPr/>
            </p:nvGrpSpPr>
            <p:grpSpPr bwMode="auto">
              <a:xfrm>
                <a:off x="1864" y="2533"/>
                <a:ext cx="395" cy="403"/>
                <a:chOff x="1864" y="2533"/>
                <a:chExt cx="395" cy="403"/>
              </a:xfrm>
            </p:grpSpPr>
            <p:sp>
              <p:nvSpPr>
                <p:cNvPr id="256" name="Rectangle 48"/>
                <p:cNvSpPr>
                  <a:spLocks noChangeArrowheads="1"/>
                </p:cNvSpPr>
                <p:nvPr/>
              </p:nvSpPr>
              <p:spPr bwMode="auto">
                <a:xfrm>
                  <a:off x="1907" y="2533"/>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57" name="Rectangle 204"/>
                <p:cNvSpPr>
                  <a:spLocks noChangeArrowheads="1"/>
                </p:cNvSpPr>
                <p:nvPr/>
              </p:nvSpPr>
              <p:spPr bwMode="auto">
                <a:xfrm>
                  <a:off x="1864" y="2533"/>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5" name="Group 207"/>
              <p:cNvGrpSpPr/>
              <p:nvPr/>
            </p:nvGrpSpPr>
            <p:grpSpPr bwMode="auto">
              <a:xfrm>
                <a:off x="2259" y="2533"/>
                <a:ext cx="581" cy="403"/>
                <a:chOff x="2259" y="2533"/>
                <a:chExt cx="581" cy="403"/>
              </a:xfrm>
            </p:grpSpPr>
            <p:sp>
              <p:nvSpPr>
                <p:cNvPr id="254" name="Rectangle 49"/>
                <p:cNvSpPr>
                  <a:spLocks noChangeArrowheads="1"/>
                </p:cNvSpPr>
                <p:nvPr/>
              </p:nvSpPr>
              <p:spPr bwMode="auto">
                <a:xfrm>
                  <a:off x="2302" y="2533"/>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55" name="Rectangle 206"/>
                <p:cNvSpPr>
                  <a:spLocks noChangeArrowheads="1"/>
                </p:cNvSpPr>
                <p:nvPr/>
              </p:nvSpPr>
              <p:spPr bwMode="auto">
                <a:xfrm>
                  <a:off x="2259" y="2533"/>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6" name="Group 209"/>
              <p:cNvGrpSpPr/>
              <p:nvPr/>
            </p:nvGrpSpPr>
            <p:grpSpPr bwMode="auto">
              <a:xfrm>
                <a:off x="2840" y="2533"/>
                <a:ext cx="416" cy="403"/>
                <a:chOff x="2840" y="2533"/>
                <a:chExt cx="416" cy="403"/>
              </a:xfrm>
            </p:grpSpPr>
            <p:sp>
              <p:nvSpPr>
                <p:cNvPr id="252" name="Rectangle 50"/>
                <p:cNvSpPr>
                  <a:spLocks noChangeArrowheads="1"/>
                </p:cNvSpPr>
                <p:nvPr/>
              </p:nvSpPr>
              <p:spPr bwMode="auto">
                <a:xfrm>
                  <a:off x="2883" y="2533"/>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53" name="Rectangle 208"/>
                <p:cNvSpPr>
                  <a:spLocks noChangeArrowheads="1"/>
                </p:cNvSpPr>
                <p:nvPr/>
              </p:nvSpPr>
              <p:spPr bwMode="auto">
                <a:xfrm>
                  <a:off x="2840" y="2533"/>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7" name="Group 211"/>
              <p:cNvGrpSpPr/>
              <p:nvPr/>
            </p:nvGrpSpPr>
            <p:grpSpPr bwMode="auto">
              <a:xfrm>
                <a:off x="3256" y="2533"/>
                <a:ext cx="416" cy="403"/>
                <a:chOff x="3256" y="2533"/>
                <a:chExt cx="416" cy="403"/>
              </a:xfrm>
            </p:grpSpPr>
            <p:sp>
              <p:nvSpPr>
                <p:cNvPr id="250" name="Rectangle 51"/>
                <p:cNvSpPr>
                  <a:spLocks noChangeArrowheads="1"/>
                </p:cNvSpPr>
                <p:nvPr/>
              </p:nvSpPr>
              <p:spPr bwMode="auto">
                <a:xfrm>
                  <a:off x="3299" y="2533"/>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1.30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51" name="Rectangle 210"/>
                <p:cNvSpPr>
                  <a:spLocks noChangeArrowheads="1"/>
                </p:cNvSpPr>
                <p:nvPr/>
              </p:nvSpPr>
              <p:spPr bwMode="auto">
                <a:xfrm>
                  <a:off x="3256" y="2533"/>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8" name="Group 213"/>
              <p:cNvGrpSpPr/>
              <p:nvPr/>
            </p:nvGrpSpPr>
            <p:grpSpPr bwMode="auto">
              <a:xfrm>
                <a:off x="3672" y="2533"/>
                <a:ext cx="441" cy="403"/>
                <a:chOff x="3672" y="2533"/>
                <a:chExt cx="441" cy="403"/>
              </a:xfrm>
            </p:grpSpPr>
            <p:sp>
              <p:nvSpPr>
                <p:cNvPr id="248" name="Rectangle 52"/>
                <p:cNvSpPr>
                  <a:spLocks noChangeArrowheads="1"/>
                </p:cNvSpPr>
                <p:nvPr/>
              </p:nvSpPr>
              <p:spPr bwMode="auto">
                <a:xfrm>
                  <a:off x="3715" y="2533"/>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1.30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49" name="Rectangle 212"/>
                <p:cNvSpPr>
                  <a:spLocks noChangeArrowheads="1"/>
                </p:cNvSpPr>
                <p:nvPr/>
              </p:nvSpPr>
              <p:spPr bwMode="auto">
                <a:xfrm>
                  <a:off x="3672" y="2533"/>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59" name="Group 215"/>
              <p:cNvGrpSpPr/>
              <p:nvPr/>
            </p:nvGrpSpPr>
            <p:grpSpPr bwMode="auto">
              <a:xfrm>
                <a:off x="0" y="2936"/>
                <a:ext cx="1455" cy="403"/>
                <a:chOff x="0" y="2936"/>
                <a:chExt cx="1455" cy="403"/>
              </a:xfrm>
            </p:grpSpPr>
            <p:sp>
              <p:nvSpPr>
                <p:cNvPr id="246" name="Rectangle 53"/>
                <p:cNvSpPr>
                  <a:spLocks noChangeArrowheads="1"/>
                </p:cNvSpPr>
                <p:nvPr/>
              </p:nvSpPr>
              <p:spPr bwMode="auto">
                <a:xfrm>
                  <a:off x="43" y="2936"/>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Comp Turn Around Time</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47" name="Rectangle 214"/>
                <p:cNvSpPr>
                  <a:spLocks noChangeArrowheads="1"/>
                </p:cNvSpPr>
                <p:nvPr/>
              </p:nvSpPr>
              <p:spPr bwMode="auto">
                <a:xfrm>
                  <a:off x="0" y="2936"/>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0" name="Group 217"/>
              <p:cNvGrpSpPr/>
              <p:nvPr/>
            </p:nvGrpSpPr>
            <p:grpSpPr bwMode="auto">
              <a:xfrm>
                <a:off x="1455" y="2936"/>
                <a:ext cx="409" cy="403"/>
                <a:chOff x="1455" y="2936"/>
                <a:chExt cx="409" cy="403"/>
              </a:xfrm>
            </p:grpSpPr>
            <p:sp>
              <p:nvSpPr>
                <p:cNvPr id="244" name="Rectangle 54"/>
                <p:cNvSpPr>
                  <a:spLocks noChangeArrowheads="1"/>
                </p:cNvSpPr>
                <p:nvPr/>
              </p:nvSpPr>
              <p:spPr bwMode="auto">
                <a:xfrm>
                  <a:off x="1498" y="2936"/>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45" name="Rectangle 216"/>
                <p:cNvSpPr>
                  <a:spLocks noChangeArrowheads="1"/>
                </p:cNvSpPr>
                <p:nvPr/>
              </p:nvSpPr>
              <p:spPr bwMode="auto">
                <a:xfrm>
                  <a:off x="1455" y="2936"/>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1" name="Group 219"/>
              <p:cNvGrpSpPr/>
              <p:nvPr/>
            </p:nvGrpSpPr>
            <p:grpSpPr bwMode="auto">
              <a:xfrm>
                <a:off x="1864" y="2936"/>
                <a:ext cx="395" cy="403"/>
                <a:chOff x="1864" y="2936"/>
                <a:chExt cx="395" cy="403"/>
              </a:xfrm>
            </p:grpSpPr>
            <p:sp>
              <p:nvSpPr>
                <p:cNvPr id="242" name="Rectangle 55"/>
                <p:cNvSpPr>
                  <a:spLocks noChangeArrowheads="1"/>
                </p:cNvSpPr>
                <p:nvPr/>
              </p:nvSpPr>
              <p:spPr bwMode="auto">
                <a:xfrm>
                  <a:off x="1907" y="2936"/>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43" name="Rectangle 218"/>
                <p:cNvSpPr>
                  <a:spLocks noChangeArrowheads="1"/>
                </p:cNvSpPr>
                <p:nvPr/>
              </p:nvSpPr>
              <p:spPr bwMode="auto">
                <a:xfrm>
                  <a:off x="1864" y="2936"/>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2" name="Group 221"/>
              <p:cNvGrpSpPr/>
              <p:nvPr/>
            </p:nvGrpSpPr>
            <p:grpSpPr bwMode="auto">
              <a:xfrm>
                <a:off x="2259" y="2936"/>
                <a:ext cx="581" cy="403"/>
                <a:chOff x="2259" y="2936"/>
                <a:chExt cx="581" cy="403"/>
              </a:xfrm>
            </p:grpSpPr>
            <p:sp>
              <p:nvSpPr>
                <p:cNvPr id="240" name="Rectangle 56"/>
                <p:cNvSpPr>
                  <a:spLocks noChangeArrowheads="1"/>
                </p:cNvSpPr>
                <p:nvPr/>
              </p:nvSpPr>
              <p:spPr bwMode="auto">
                <a:xfrm>
                  <a:off x="2302" y="2936"/>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41" name="Rectangle 220"/>
                <p:cNvSpPr>
                  <a:spLocks noChangeArrowheads="1"/>
                </p:cNvSpPr>
                <p:nvPr/>
              </p:nvSpPr>
              <p:spPr bwMode="auto">
                <a:xfrm>
                  <a:off x="2259" y="2936"/>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3" name="Group 223"/>
              <p:cNvGrpSpPr/>
              <p:nvPr/>
            </p:nvGrpSpPr>
            <p:grpSpPr bwMode="auto">
              <a:xfrm>
                <a:off x="2840" y="2936"/>
                <a:ext cx="416" cy="403"/>
                <a:chOff x="2840" y="2936"/>
                <a:chExt cx="416" cy="403"/>
              </a:xfrm>
            </p:grpSpPr>
            <p:sp>
              <p:nvSpPr>
                <p:cNvPr id="238" name="Rectangle 57"/>
                <p:cNvSpPr>
                  <a:spLocks noChangeArrowheads="1"/>
                </p:cNvSpPr>
                <p:nvPr/>
              </p:nvSpPr>
              <p:spPr bwMode="auto">
                <a:xfrm>
                  <a:off x="2883" y="2936"/>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39" name="Rectangle 222"/>
                <p:cNvSpPr>
                  <a:spLocks noChangeArrowheads="1"/>
                </p:cNvSpPr>
                <p:nvPr/>
              </p:nvSpPr>
              <p:spPr bwMode="auto">
                <a:xfrm>
                  <a:off x="2840" y="2936"/>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4" name="Group 225"/>
              <p:cNvGrpSpPr/>
              <p:nvPr/>
            </p:nvGrpSpPr>
            <p:grpSpPr bwMode="auto">
              <a:xfrm>
                <a:off x="3256" y="2936"/>
                <a:ext cx="416" cy="403"/>
                <a:chOff x="3256" y="2936"/>
                <a:chExt cx="416" cy="403"/>
              </a:xfrm>
            </p:grpSpPr>
            <p:sp>
              <p:nvSpPr>
                <p:cNvPr id="236" name="Rectangle 58"/>
                <p:cNvSpPr>
                  <a:spLocks noChangeArrowheads="1"/>
                </p:cNvSpPr>
                <p:nvPr/>
              </p:nvSpPr>
              <p:spPr bwMode="auto">
                <a:xfrm>
                  <a:off x="3299" y="2936"/>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37" name="Rectangle 224"/>
                <p:cNvSpPr>
                  <a:spLocks noChangeArrowheads="1"/>
                </p:cNvSpPr>
                <p:nvPr/>
              </p:nvSpPr>
              <p:spPr bwMode="auto">
                <a:xfrm>
                  <a:off x="3256" y="2936"/>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5" name="Group 227"/>
              <p:cNvGrpSpPr/>
              <p:nvPr/>
            </p:nvGrpSpPr>
            <p:grpSpPr bwMode="auto">
              <a:xfrm>
                <a:off x="3672" y="2936"/>
                <a:ext cx="441" cy="403"/>
                <a:chOff x="3672" y="2936"/>
                <a:chExt cx="441" cy="403"/>
              </a:xfrm>
            </p:grpSpPr>
            <p:sp>
              <p:nvSpPr>
                <p:cNvPr id="234" name="Rectangle 59"/>
                <p:cNvSpPr>
                  <a:spLocks noChangeArrowheads="1"/>
                </p:cNvSpPr>
                <p:nvPr/>
              </p:nvSpPr>
              <p:spPr bwMode="auto">
                <a:xfrm>
                  <a:off x="3715" y="2936"/>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35" name="Rectangle 226"/>
                <p:cNvSpPr>
                  <a:spLocks noChangeArrowheads="1"/>
                </p:cNvSpPr>
                <p:nvPr/>
              </p:nvSpPr>
              <p:spPr bwMode="auto">
                <a:xfrm>
                  <a:off x="3672" y="2936"/>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6" name="Group 229"/>
              <p:cNvGrpSpPr/>
              <p:nvPr/>
            </p:nvGrpSpPr>
            <p:grpSpPr bwMode="auto">
              <a:xfrm>
                <a:off x="0" y="3339"/>
                <a:ext cx="1455" cy="403"/>
                <a:chOff x="0" y="3339"/>
                <a:chExt cx="1455" cy="403"/>
              </a:xfrm>
            </p:grpSpPr>
            <p:sp>
              <p:nvSpPr>
                <p:cNvPr id="232" name="Rectangle 60"/>
                <p:cNvSpPr>
                  <a:spLocks noChangeArrowheads="1"/>
                </p:cNvSpPr>
                <p:nvPr/>
              </p:nvSpPr>
              <p:spPr bwMode="auto">
                <a:xfrm>
                  <a:off x="43" y="3339"/>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Analyst Capability</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33" name="Rectangle 228"/>
                <p:cNvSpPr>
                  <a:spLocks noChangeArrowheads="1"/>
                </p:cNvSpPr>
                <p:nvPr/>
              </p:nvSpPr>
              <p:spPr bwMode="auto">
                <a:xfrm>
                  <a:off x="0" y="3339"/>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7" name="Group 231"/>
              <p:cNvGrpSpPr/>
              <p:nvPr/>
            </p:nvGrpSpPr>
            <p:grpSpPr bwMode="auto">
              <a:xfrm>
                <a:off x="1455" y="3339"/>
                <a:ext cx="409" cy="403"/>
                <a:chOff x="1455" y="3339"/>
                <a:chExt cx="409" cy="403"/>
              </a:xfrm>
            </p:grpSpPr>
            <p:sp>
              <p:nvSpPr>
                <p:cNvPr id="230" name="Rectangle 61"/>
                <p:cNvSpPr>
                  <a:spLocks noChangeArrowheads="1"/>
                </p:cNvSpPr>
                <p:nvPr/>
              </p:nvSpPr>
              <p:spPr bwMode="auto">
                <a:xfrm>
                  <a:off x="1498" y="3339"/>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1.46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31" name="Rectangle 230"/>
                <p:cNvSpPr>
                  <a:spLocks noChangeArrowheads="1"/>
                </p:cNvSpPr>
                <p:nvPr/>
              </p:nvSpPr>
              <p:spPr bwMode="auto">
                <a:xfrm>
                  <a:off x="1455" y="3339"/>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8" name="Group 233"/>
              <p:cNvGrpSpPr/>
              <p:nvPr/>
            </p:nvGrpSpPr>
            <p:grpSpPr bwMode="auto">
              <a:xfrm>
                <a:off x="1864" y="3339"/>
                <a:ext cx="395" cy="403"/>
                <a:chOff x="1864" y="3339"/>
                <a:chExt cx="395" cy="403"/>
              </a:xfrm>
            </p:grpSpPr>
            <p:sp>
              <p:nvSpPr>
                <p:cNvPr id="228" name="Rectangle 62"/>
                <p:cNvSpPr>
                  <a:spLocks noChangeArrowheads="1"/>
                </p:cNvSpPr>
                <p:nvPr/>
              </p:nvSpPr>
              <p:spPr bwMode="auto">
                <a:xfrm>
                  <a:off x="1907" y="3339"/>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1.19</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29" name="Rectangle 232"/>
                <p:cNvSpPr>
                  <a:spLocks noChangeArrowheads="1"/>
                </p:cNvSpPr>
                <p:nvPr/>
              </p:nvSpPr>
              <p:spPr bwMode="auto">
                <a:xfrm>
                  <a:off x="1864" y="3339"/>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69" name="Group 235"/>
              <p:cNvGrpSpPr/>
              <p:nvPr/>
            </p:nvGrpSpPr>
            <p:grpSpPr bwMode="auto">
              <a:xfrm>
                <a:off x="2259" y="3339"/>
                <a:ext cx="581" cy="403"/>
                <a:chOff x="2259" y="3339"/>
                <a:chExt cx="581" cy="403"/>
              </a:xfrm>
            </p:grpSpPr>
            <p:sp>
              <p:nvSpPr>
                <p:cNvPr id="226" name="Rectangle 63"/>
                <p:cNvSpPr>
                  <a:spLocks noChangeArrowheads="1"/>
                </p:cNvSpPr>
                <p:nvPr/>
              </p:nvSpPr>
              <p:spPr bwMode="auto">
                <a:xfrm>
                  <a:off x="2302" y="3339"/>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27" name="Rectangle 234"/>
                <p:cNvSpPr>
                  <a:spLocks noChangeArrowheads="1"/>
                </p:cNvSpPr>
                <p:nvPr/>
              </p:nvSpPr>
              <p:spPr bwMode="auto">
                <a:xfrm>
                  <a:off x="2259" y="3339"/>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0" name="Group 237"/>
              <p:cNvGrpSpPr/>
              <p:nvPr/>
            </p:nvGrpSpPr>
            <p:grpSpPr bwMode="auto">
              <a:xfrm>
                <a:off x="2840" y="3339"/>
                <a:ext cx="416" cy="403"/>
                <a:chOff x="2840" y="3339"/>
                <a:chExt cx="416" cy="403"/>
              </a:xfrm>
            </p:grpSpPr>
            <p:sp>
              <p:nvSpPr>
                <p:cNvPr id="224" name="Rectangle 64"/>
                <p:cNvSpPr>
                  <a:spLocks noChangeArrowheads="1"/>
                </p:cNvSpPr>
                <p:nvPr/>
              </p:nvSpPr>
              <p:spPr bwMode="auto">
                <a:xfrm>
                  <a:off x="2883" y="3339"/>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25" name="Rectangle 236"/>
                <p:cNvSpPr>
                  <a:spLocks noChangeArrowheads="1"/>
                </p:cNvSpPr>
                <p:nvPr/>
              </p:nvSpPr>
              <p:spPr bwMode="auto">
                <a:xfrm>
                  <a:off x="2840" y="3339"/>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1" name="Group 239"/>
              <p:cNvGrpSpPr/>
              <p:nvPr/>
            </p:nvGrpSpPr>
            <p:grpSpPr bwMode="auto">
              <a:xfrm>
                <a:off x="3256" y="3339"/>
                <a:ext cx="416" cy="403"/>
                <a:chOff x="3256" y="3339"/>
                <a:chExt cx="416" cy="403"/>
              </a:xfrm>
            </p:grpSpPr>
            <p:sp>
              <p:nvSpPr>
                <p:cNvPr id="222" name="Rectangle 65"/>
                <p:cNvSpPr>
                  <a:spLocks noChangeArrowheads="1"/>
                </p:cNvSpPr>
                <p:nvPr/>
              </p:nvSpPr>
              <p:spPr bwMode="auto">
                <a:xfrm>
                  <a:off x="3299" y="3339"/>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23" name="Rectangle 238"/>
                <p:cNvSpPr>
                  <a:spLocks noChangeArrowheads="1"/>
                </p:cNvSpPr>
                <p:nvPr/>
              </p:nvSpPr>
              <p:spPr bwMode="auto">
                <a:xfrm>
                  <a:off x="3256" y="3339"/>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2" name="Group 241"/>
              <p:cNvGrpSpPr/>
              <p:nvPr/>
            </p:nvGrpSpPr>
            <p:grpSpPr bwMode="auto">
              <a:xfrm>
                <a:off x="3672" y="3339"/>
                <a:ext cx="441" cy="403"/>
                <a:chOff x="3672" y="3339"/>
                <a:chExt cx="441" cy="403"/>
              </a:xfrm>
            </p:grpSpPr>
            <p:sp>
              <p:nvSpPr>
                <p:cNvPr id="220" name="Rectangle 66"/>
                <p:cNvSpPr>
                  <a:spLocks noChangeArrowheads="1"/>
                </p:cNvSpPr>
                <p:nvPr/>
              </p:nvSpPr>
              <p:spPr bwMode="auto">
                <a:xfrm>
                  <a:off x="3715" y="3339"/>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21" name="Rectangle 240"/>
                <p:cNvSpPr>
                  <a:spLocks noChangeArrowheads="1"/>
                </p:cNvSpPr>
                <p:nvPr/>
              </p:nvSpPr>
              <p:spPr bwMode="auto">
                <a:xfrm>
                  <a:off x="3672" y="3339"/>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3" name="Group 243"/>
              <p:cNvGrpSpPr/>
              <p:nvPr/>
            </p:nvGrpSpPr>
            <p:grpSpPr bwMode="auto">
              <a:xfrm>
                <a:off x="0" y="3742"/>
                <a:ext cx="1455" cy="403"/>
                <a:chOff x="0" y="3742"/>
                <a:chExt cx="1455" cy="403"/>
              </a:xfrm>
            </p:grpSpPr>
            <p:sp>
              <p:nvSpPr>
                <p:cNvPr id="218" name="Rectangle 67"/>
                <p:cNvSpPr>
                  <a:spLocks noChangeArrowheads="1"/>
                </p:cNvSpPr>
                <p:nvPr/>
              </p:nvSpPr>
              <p:spPr bwMode="auto">
                <a:xfrm>
                  <a:off x="43" y="3742"/>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Application Experience</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19" name="Rectangle 242"/>
                <p:cNvSpPr>
                  <a:spLocks noChangeArrowheads="1"/>
                </p:cNvSpPr>
                <p:nvPr/>
              </p:nvSpPr>
              <p:spPr bwMode="auto">
                <a:xfrm>
                  <a:off x="0" y="3742"/>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4" name="Group 245"/>
              <p:cNvGrpSpPr/>
              <p:nvPr/>
            </p:nvGrpSpPr>
            <p:grpSpPr bwMode="auto">
              <a:xfrm>
                <a:off x="1455" y="3742"/>
                <a:ext cx="409" cy="403"/>
                <a:chOff x="1455" y="3742"/>
                <a:chExt cx="409" cy="403"/>
              </a:xfrm>
            </p:grpSpPr>
            <p:sp>
              <p:nvSpPr>
                <p:cNvPr id="216" name="Rectangle 68"/>
                <p:cNvSpPr>
                  <a:spLocks noChangeArrowheads="1"/>
                </p:cNvSpPr>
                <p:nvPr/>
              </p:nvSpPr>
              <p:spPr bwMode="auto">
                <a:xfrm>
                  <a:off x="1498" y="3742"/>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1.29</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17" name="Rectangle 244"/>
                <p:cNvSpPr>
                  <a:spLocks noChangeArrowheads="1"/>
                </p:cNvSpPr>
                <p:nvPr/>
              </p:nvSpPr>
              <p:spPr bwMode="auto">
                <a:xfrm>
                  <a:off x="1455" y="3742"/>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5" name="Group 247"/>
              <p:cNvGrpSpPr/>
              <p:nvPr/>
            </p:nvGrpSpPr>
            <p:grpSpPr bwMode="auto">
              <a:xfrm>
                <a:off x="1864" y="3742"/>
                <a:ext cx="395" cy="403"/>
                <a:chOff x="1864" y="3742"/>
                <a:chExt cx="395" cy="403"/>
              </a:xfrm>
            </p:grpSpPr>
            <p:sp>
              <p:nvSpPr>
                <p:cNvPr id="214" name="Rectangle 69"/>
                <p:cNvSpPr>
                  <a:spLocks noChangeArrowheads="1"/>
                </p:cNvSpPr>
                <p:nvPr/>
              </p:nvSpPr>
              <p:spPr bwMode="auto">
                <a:xfrm>
                  <a:off x="1907" y="3742"/>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1.13</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15" name="Rectangle 246"/>
                <p:cNvSpPr>
                  <a:spLocks noChangeArrowheads="1"/>
                </p:cNvSpPr>
                <p:nvPr/>
              </p:nvSpPr>
              <p:spPr bwMode="auto">
                <a:xfrm>
                  <a:off x="1864" y="3742"/>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6" name="Group 249"/>
              <p:cNvGrpSpPr/>
              <p:nvPr/>
            </p:nvGrpSpPr>
            <p:grpSpPr bwMode="auto">
              <a:xfrm>
                <a:off x="2259" y="3742"/>
                <a:ext cx="581" cy="403"/>
                <a:chOff x="2259" y="3742"/>
                <a:chExt cx="581" cy="403"/>
              </a:xfrm>
            </p:grpSpPr>
            <p:sp>
              <p:nvSpPr>
                <p:cNvPr id="212" name="Rectangle 70"/>
                <p:cNvSpPr>
                  <a:spLocks noChangeArrowheads="1"/>
                </p:cNvSpPr>
                <p:nvPr/>
              </p:nvSpPr>
              <p:spPr bwMode="auto">
                <a:xfrm>
                  <a:off x="2302" y="3742"/>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13" name="Rectangle 248"/>
                <p:cNvSpPr>
                  <a:spLocks noChangeArrowheads="1"/>
                </p:cNvSpPr>
                <p:nvPr/>
              </p:nvSpPr>
              <p:spPr bwMode="auto">
                <a:xfrm>
                  <a:off x="2259" y="3742"/>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7" name="Group 251"/>
              <p:cNvGrpSpPr/>
              <p:nvPr/>
            </p:nvGrpSpPr>
            <p:grpSpPr bwMode="auto">
              <a:xfrm>
                <a:off x="2840" y="3742"/>
                <a:ext cx="416" cy="403"/>
                <a:chOff x="2840" y="3742"/>
                <a:chExt cx="416" cy="403"/>
              </a:xfrm>
            </p:grpSpPr>
            <p:sp>
              <p:nvSpPr>
                <p:cNvPr id="210" name="Rectangle 71"/>
                <p:cNvSpPr>
                  <a:spLocks noChangeArrowheads="1"/>
                </p:cNvSpPr>
                <p:nvPr/>
              </p:nvSpPr>
              <p:spPr bwMode="auto">
                <a:xfrm>
                  <a:off x="2883" y="3742"/>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11" name="Rectangle 250"/>
                <p:cNvSpPr>
                  <a:spLocks noChangeArrowheads="1"/>
                </p:cNvSpPr>
                <p:nvPr/>
              </p:nvSpPr>
              <p:spPr bwMode="auto">
                <a:xfrm>
                  <a:off x="2840" y="3742"/>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8" name="Group 253"/>
              <p:cNvGrpSpPr/>
              <p:nvPr/>
            </p:nvGrpSpPr>
            <p:grpSpPr bwMode="auto">
              <a:xfrm>
                <a:off x="3256" y="3742"/>
                <a:ext cx="416" cy="403"/>
                <a:chOff x="3256" y="3742"/>
                <a:chExt cx="416" cy="403"/>
              </a:xfrm>
            </p:grpSpPr>
            <p:sp>
              <p:nvSpPr>
                <p:cNvPr id="208" name="Rectangle 72"/>
                <p:cNvSpPr>
                  <a:spLocks noChangeArrowheads="1"/>
                </p:cNvSpPr>
                <p:nvPr/>
              </p:nvSpPr>
              <p:spPr bwMode="auto">
                <a:xfrm>
                  <a:off x="3299" y="3742"/>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.82</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09" name="Rectangle 252"/>
                <p:cNvSpPr>
                  <a:spLocks noChangeArrowheads="1"/>
                </p:cNvSpPr>
                <p:nvPr/>
              </p:nvSpPr>
              <p:spPr bwMode="auto">
                <a:xfrm>
                  <a:off x="3256" y="3742"/>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79" name="Group 255"/>
              <p:cNvGrpSpPr/>
              <p:nvPr/>
            </p:nvGrpSpPr>
            <p:grpSpPr bwMode="auto">
              <a:xfrm>
                <a:off x="3672" y="3742"/>
                <a:ext cx="441" cy="403"/>
                <a:chOff x="3672" y="3742"/>
                <a:chExt cx="441" cy="403"/>
              </a:xfrm>
            </p:grpSpPr>
            <p:sp>
              <p:nvSpPr>
                <p:cNvPr id="206" name="Rectangle 73"/>
                <p:cNvSpPr>
                  <a:spLocks noChangeArrowheads="1"/>
                </p:cNvSpPr>
                <p:nvPr/>
              </p:nvSpPr>
              <p:spPr bwMode="auto">
                <a:xfrm>
                  <a:off x="3715" y="3742"/>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.82</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07" name="Rectangle 254"/>
                <p:cNvSpPr>
                  <a:spLocks noChangeArrowheads="1"/>
                </p:cNvSpPr>
                <p:nvPr/>
              </p:nvSpPr>
              <p:spPr bwMode="auto">
                <a:xfrm>
                  <a:off x="3672" y="3742"/>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0" name="Group 257"/>
              <p:cNvGrpSpPr/>
              <p:nvPr/>
            </p:nvGrpSpPr>
            <p:grpSpPr bwMode="auto">
              <a:xfrm>
                <a:off x="0" y="4145"/>
                <a:ext cx="1455" cy="403"/>
                <a:chOff x="0" y="4145"/>
                <a:chExt cx="1455" cy="403"/>
              </a:xfrm>
            </p:grpSpPr>
            <p:sp>
              <p:nvSpPr>
                <p:cNvPr id="204" name="Rectangle 74"/>
                <p:cNvSpPr>
                  <a:spLocks noChangeArrowheads="1"/>
                </p:cNvSpPr>
                <p:nvPr/>
              </p:nvSpPr>
              <p:spPr bwMode="auto">
                <a:xfrm>
                  <a:off x="43" y="4145"/>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Programmers Capability</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05" name="Rectangle 256"/>
                <p:cNvSpPr>
                  <a:spLocks noChangeArrowheads="1"/>
                </p:cNvSpPr>
                <p:nvPr/>
              </p:nvSpPr>
              <p:spPr bwMode="auto">
                <a:xfrm>
                  <a:off x="0" y="4145"/>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1" name="Group 259"/>
              <p:cNvGrpSpPr/>
              <p:nvPr/>
            </p:nvGrpSpPr>
            <p:grpSpPr bwMode="auto">
              <a:xfrm>
                <a:off x="1455" y="4145"/>
                <a:ext cx="409" cy="403"/>
                <a:chOff x="1455" y="4145"/>
                <a:chExt cx="409" cy="403"/>
              </a:xfrm>
            </p:grpSpPr>
            <p:sp>
              <p:nvSpPr>
                <p:cNvPr id="202" name="Rectangle 75"/>
                <p:cNvSpPr>
                  <a:spLocks noChangeArrowheads="1"/>
                </p:cNvSpPr>
                <p:nvPr/>
              </p:nvSpPr>
              <p:spPr bwMode="auto">
                <a:xfrm>
                  <a:off x="1498" y="4145"/>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1.42</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03" name="Rectangle 258"/>
                <p:cNvSpPr>
                  <a:spLocks noChangeArrowheads="1"/>
                </p:cNvSpPr>
                <p:nvPr/>
              </p:nvSpPr>
              <p:spPr bwMode="auto">
                <a:xfrm>
                  <a:off x="1455" y="4145"/>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2" name="Group 261"/>
              <p:cNvGrpSpPr/>
              <p:nvPr/>
            </p:nvGrpSpPr>
            <p:grpSpPr bwMode="auto">
              <a:xfrm>
                <a:off x="1864" y="4145"/>
                <a:ext cx="395" cy="403"/>
                <a:chOff x="1864" y="4145"/>
                <a:chExt cx="395" cy="403"/>
              </a:xfrm>
            </p:grpSpPr>
            <p:sp>
              <p:nvSpPr>
                <p:cNvPr id="200" name="Rectangle 76"/>
                <p:cNvSpPr>
                  <a:spLocks noChangeArrowheads="1"/>
                </p:cNvSpPr>
                <p:nvPr/>
              </p:nvSpPr>
              <p:spPr bwMode="auto">
                <a:xfrm>
                  <a:off x="1907" y="4145"/>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201" name="Rectangle 260"/>
                <p:cNvSpPr>
                  <a:spLocks noChangeArrowheads="1"/>
                </p:cNvSpPr>
                <p:nvPr/>
              </p:nvSpPr>
              <p:spPr bwMode="auto">
                <a:xfrm>
                  <a:off x="1864" y="4145"/>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3" name="Group 263"/>
              <p:cNvGrpSpPr/>
              <p:nvPr/>
            </p:nvGrpSpPr>
            <p:grpSpPr bwMode="auto">
              <a:xfrm>
                <a:off x="2259" y="4145"/>
                <a:ext cx="581" cy="403"/>
                <a:chOff x="2259" y="4145"/>
                <a:chExt cx="581" cy="403"/>
              </a:xfrm>
            </p:grpSpPr>
            <p:sp>
              <p:nvSpPr>
                <p:cNvPr id="198" name="Rectangle 77"/>
                <p:cNvSpPr>
                  <a:spLocks noChangeArrowheads="1"/>
                </p:cNvSpPr>
                <p:nvPr/>
              </p:nvSpPr>
              <p:spPr bwMode="auto">
                <a:xfrm>
                  <a:off x="2302" y="4145"/>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99" name="Rectangle 262"/>
                <p:cNvSpPr>
                  <a:spLocks noChangeArrowheads="1"/>
                </p:cNvSpPr>
                <p:nvPr/>
              </p:nvSpPr>
              <p:spPr bwMode="auto">
                <a:xfrm>
                  <a:off x="2259" y="4145"/>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4" name="Group 265"/>
              <p:cNvGrpSpPr/>
              <p:nvPr/>
            </p:nvGrpSpPr>
            <p:grpSpPr bwMode="auto">
              <a:xfrm>
                <a:off x="2840" y="4145"/>
                <a:ext cx="416" cy="403"/>
                <a:chOff x="2840" y="4145"/>
                <a:chExt cx="416" cy="403"/>
              </a:xfrm>
            </p:grpSpPr>
            <p:sp>
              <p:nvSpPr>
                <p:cNvPr id="196" name="Rectangle 78"/>
                <p:cNvSpPr>
                  <a:spLocks noChangeArrowheads="1"/>
                </p:cNvSpPr>
                <p:nvPr/>
              </p:nvSpPr>
              <p:spPr bwMode="auto">
                <a:xfrm>
                  <a:off x="2883" y="4145"/>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.86</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97" name="Rectangle 264"/>
                <p:cNvSpPr>
                  <a:spLocks noChangeArrowheads="1"/>
                </p:cNvSpPr>
                <p:nvPr/>
              </p:nvSpPr>
              <p:spPr bwMode="auto">
                <a:xfrm>
                  <a:off x="2840" y="4145"/>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5" name="Group 267"/>
              <p:cNvGrpSpPr/>
              <p:nvPr/>
            </p:nvGrpSpPr>
            <p:grpSpPr bwMode="auto">
              <a:xfrm>
                <a:off x="3256" y="4145"/>
                <a:ext cx="416" cy="403"/>
                <a:chOff x="3256" y="4145"/>
                <a:chExt cx="416" cy="403"/>
              </a:xfrm>
            </p:grpSpPr>
            <p:sp>
              <p:nvSpPr>
                <p:cNvPr id="194" name="Rectangle 79"/>
                <p:cNvSpPr>
                  <a:spLocks noChangeArrowheads="1"/>
                </p:cNvSpPr>
                <p:nvPr/>
              </p:nvSpPr>
              <p:spPr bwMode="auto">
                <a:xfrm>
                  <a:off x="3299" y="4145"/>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95" name="Rectangle 266"/>
                <p:cNvSpPr>
                  <a:spLocks noChangeArrowheads="1"/>
                </p:cNvSpPr>
                <p:nvPr/>
              </p:nvSpPr>
              <p:spPr bwMode="auto">
                <a:xfrm>
                  <a:off x="3256" y="4145"/>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6" name="Group 269"/>
              <p:cNvGrpSpPr/>
              <p:nvPr/>
            </p:nvGrpSpPr>
            <p:grpSpPr bwMode="auto">
              <a:xfrm>
                <a:off x="3672" y="4145"/>
                <a:ext cx="441" cy="403"/>
                <a:chOff x="3672" y="4145"/>
                <a:chExt cx="441" cy="403"/>
              </a:xfrm>
            </p:grpSpPr>
            <p:sp>
              <p:nvSpPr>
                <p:cNvPr id="192" name="Rectangle 80"/>
                <p:cNvSpPr>
                  <a:spLocks noChangeArrowheads="1"/>
                </p:cNvSpPr>
                <p:nvPr/>
              </p:nvSpPr>
              <p:spPr bwMode="auto">
                <a:xfrm>
                  <a:off x="3715" y="4145"/>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.70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93" name="Rectangle 268"/>
                <p:cNvSpPr>
                  <a:spLocks noChangeArrowheads="1"/>
                </p:cNvSpPr>
                <p:nvPr/>
              </p:nvSpPr>
              <p:spPr bwMode="auto">
                <a:xfrm>
                  <a:off x="3672" y="4145"/>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7" name="Group 271"/>
              <p:cNvGrpSpPr/>
              <p:nvPr/>
            </p:nvGrpSpPr>
            <p:grpSpPr bwMode="auto">
              <a:xfrm>
                <a:off x="0" y="4548"/>
                <a:ext cx="1455" cy="403"/>
                <a:chOff x="0" y="4548"/>
                <a:chExt cx="1455" cy="403"/>
              </a:xfrm>
            </p:grpSpPr>
            <p:sp>
              <p:nvSpPr>
                <p:cNvPr id="190" name="Rectangle 81"/>
                <p:cNvSpPr>
                  <a:spLocks noChangeArrowheads="1"/>
                </p:cNvSpPr>
                <p:nvPr/>
              </p:nvSpPr>
              <p:spPr bwMode="auto">
                <a:xfrm>
                  <a:off x="43" y="4548"/>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Virtual machine Experience</a:t>
                  </a:r>
                  <a:endParaRPr lang="en-CA" altLang="tr-TR"/>
                </a:p>
              </p:txBody>
            </p:sp>
            <p:sp>
              <p:nvSpPr>
                <p:cNvPr id="191" name="Rectangle 270"/>
                <p:cNvSpPr>
                  <a:spLocks noChangeArrowheads="1"/>
                </p:cNvSpPr>
                <p:nvPr/>
              </p:nvSpPr>
              <p:spPr bwMode="auto">
                <a:xfrm>
                  <a:off x="0" y="4548"/>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8" name="Group 273"/>
              <p:cNvGrpSpPr/>
              <p:nvPr/>
            </p:nvGrpSpPr>
            <p:grpSpPr bwMode="auto">
              <a:xfrm>
                <a:off x="1455" y="4548"/>
                <a:ext cx="409" cy="403"/>
                <a:chOff x="1455" y="4548"/>
                <a:chExt cx="409" cy="403"/>
              </a:xfrm>
            </p:grpSpPr>
            <p:sp>
              <p:nvSpPr>
                <p:cNvPr id="188" name="Rectangle 82"/>
                <p:cNvSpPr>
                  <a:spLocks noChangeArrowheads="1"/>
                </p:cNvSpPr>
                <p:nvPr/>
              </p:nvSpPr>
              <p:spPr bwMode="auto">
                <a:xfrm>
                  <a:off x="1498" y="4548"/>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1.21</a:t>
                  </a:r>
                  <a:endParaRPr lang="en-CA" altLang="tr-TR"/>
                </a:p>
              </p:txBody>
            </p:sp>
            <p:sp>
              <p:nvSpPr>
                <p:cNvPr id="189" name="Rectangle 272"/>
                <p:cNvSpPr>
                  <a:spLocks noChangeArrowheads="1"/>
                </p:cNvSpPr>
                <p:nvPr/>
              </p:nvSpPr>
              <p:spPr bwMode="auto">
                <a:xfrm>
                  <a:off x="1455" y="4548"/>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89" name="Group 275"/>
              <p:cNvGrpSpPr/>
              <p:nvPr/>
            </p:nvGrpSpPr>
            <p:grpSpPr bwMode="auto">
              <a:xfrm>
                <a:off x="1864" y="4548"/>
                <a:ext cx="395" cy="403"/>
                <a:chOff x="1864" y="4548"/>
                <a:chExt cx="395" cy="403"/>
              </a:xfrm>
            </p:grpSpPr>
            <p:sp>
              <p:nvSpPr>
                <p:cNvPr id="186" name="Rectangle 83"/>
                <p:cNvSpPr>
                  <a:spLocks noChangeArrowheads="1"/>
                </p:cNvSpPr>
                <p:nvPr/>
              </p:nvSpPr>
              <p:spPr bwMode="auto">
                <a:xfrm>
                  <a:off x="1907" y="4548"/>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1.10</a:t>
                  </a:r>
                  <a:endParaRPr lang="en-CA" altLang="tr-TR"/>
                </a:p>
              </p:txBody>
            </p:sp>
            <p:sp>
              <p:nvSpPr>
                <p:cNvPr id="187" name="Rectangle 274"/>
                <p:cNvSpPr>
                  <a:spLocks noChangeArrowheads="1"/>
                </p:cNvSpPr>
                <p:nvPr/>
              </p:nvSpPr>
              <p:spPr bwMode="auto">
                <a:xfrm>
                  <a:off x="1864" y="4548"/>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0" name="Group 277"/>
              <p:cNvGrpSpPr/>
              <p:nvPr/>
            </p:nvGrpSpPr>
            <p:grpSpPr bwMode="auto">
              <a:xfrm>
                <a:off x="2259" y="4548"/>
                <a:ext cx="581" cy="403"/>
                <a:chOff x="2259" y="4548"/>
                <a:chExt cx="581" cy="403"/>
              </a:xfrm>
            </p:grpSpPr>
            <p:sp>
              <p:nvSpPr>
                <p:cNvPr id="184" name="Rectangle 84"/>
                <p:cNvSpPr>
                  <a:spLocks noChangeArrowheads="1"/>
                </p:cNvSpPr>
                <p:nvPr/>
              </p:nvSpPr>
              <p:spPr bwMode="auto">
                <a:xfrm>
                  <a:off x="2302" y="4548"/>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a:p>
              </p:txBody>
            </p:sp>
            <p:sp>
              <p:nvSpPr>
                <p:cNvPr id="185" name="Rectangle 276"/>
                <p:cNvSpPr>
                  <a:spLocks noChangeArrowheads="1"/>
                </p:cNvSpPr>
                <p:nvPr/>
              </p:nvSpPr>
              <p:spPr bwMode="auto">
                <a:xfrm>
                  <a:off x="2259" y="4548"/>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1" name="Group 279"/>
              <p:cNvGrpSpPr/>
              <p:nvPr/>
            </p:nvGrpSpPr>
            <p:grpSpPr bwMode="auto">
              <a:xfrm>
                <a:off x="2840" y="4548"/>
                <a:ext cx="416" cy="403"/>
                <a:chOff x="2840" y="4548"/>
                <a:chExt cx="416" cy="403"/>
              </a:xfrm>
            </p:grpSpPr>
            <p:sp>
              <p:nvSpPr>
                <p:cNvPr id="182" name="Rectangle 85"/>
                <p:cNvSpPr>
                  <a:spLocks noChangeArrowheads="1"/>
                </p:cNvSpPr>
                <p:nvPr/>
              </p:nvSpPr>
              <p:spPr bwMode="auto">
                <a:xfrm>
                  <a:off x="2883" y="454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.90</a:t>
                  </a:r>
                  <a:endParaRPr lang="en-CA" altLang="tr-TR"/>
                </a:p>
              </p:txBody>
            </p:sp>
            <p:sp>
              <p:nvSpPr>
                <p:cNvPr id="183" name="Rectangle 278"/>
                <p:cNvSpPr>
                  <a:spLocks noChangeArrowheads="1"/>
                </p:cNvSpPr>
                <p:nvPr/>
              </p:nvSpPr>
              <p:spPr bwMode="auto">
                <a:xfrm>
                  <a:off x="2840" y="4548"/>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2" name="Group 281"/>
              <p:cNvGrpSpPr/>
              <p:nvPr/>
            </p:nvGrpSpPr>
            <p:grpSpPr bwMode="auto">
              <a:xfrm>
                <a:off x="3256" y="4548"/>
                <a:ext cx="416" cy="403"/>
                <a:chOff x="3256" y="4548"/>
                <a:chExt cx="416" cy="403"/>
              </a:xfrm>
            </p:grpSpPr>
            <p:sp>
              <p:nvSpPr>
                <p:cNvPr id="180" name="Rectangle 86"/>
                <p:cNvSpPr>
                  <a:spLocks noChangeArrowheads="1"/>
                </p:cNvSpPr>
                <p:nvPr/>
              </p:nvSpPr>
              <p:spPr bwMode="auto">
                <a:xfrm>
                  <a:off x="3299" y="454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.90</a:t>
                  </a:r>
                  <a:endParaRPr lang="en-CA" altLang="tr-TR"/>
                </a:p>
              </p:txBody>
            </p:sp>
            <p:sp>
              <p:nvSpPr>
                <p:cNvPr id="181" name="Rectangle 280"/>
                <p:cNvSpPr>
                  <a:spLocks noChangeArrowheads="1"/>
                </p:cNvSpPr>
                <p:nvPr/>
              </p:nvSpPr>
              <p:spPr bwMode="auto">
                <a:xfrm>
                  <a:off x="3256" y="4548"/>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3" name="Group 283"/>
              <p:cNvGrpSpPr/>
              <p:nvPr/>
            </p:nvGrpSpPr>
            <p:grpSpPr bwMode="auto">
              <a:xfrm>
                <a:off x="3672" y="4548"/>
                <a:ext cx="441" cy="403"/>
                <a:chOff x="3672" y="4548"/>
                <a:chExt cx="441" cy="403"/>
              </a:xfrm>
            </p:grpSpPr>
            <p:sp>
              <p:nvSpPr>
                <p:cNvPr id="178" name="Rectangle 87"/>
                <p:cNvSpPr>
                  <a:spLocks noChangeArrowheads="1"/>
                </p:cNvSpPr>
                <p:nvPr/>
              </p:nvSpPr>
              <p:spPr bwMode="auto">
                <a:xfrm>
                  <a:off x="3715" y="4548"/>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.90</a:t>
                  </a:r>
                  <a:endParaRPr lang="en-CA" altLang="tr-TR"/>
                </a:p>
              </p:txBody>
            </p:sp>
            <p:sp>
              <p:nvSpPr>
                <p:cNvPr id="179" name="Rectangle 282"/>
                <p:cNvSpPr>
                  <a:spLocks noChangeArrowheads="1"/>
                </p:cNvSpPr>
                <p:nvPr/>
              </p:nvSpPr>
              <p:spPr bwMode="auto">
                <a:xfrm>
                  <a:off x="3672" y="4548"/>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4" name="Group 285"/>
              <p:cNvGrpSpPr/>
              <p:nvPr/>
            </p:nvGrpSpPr>
            <p:grpSpPr bwMode="auto">
              <a:xfrm>
                <a:off x="0" y="4951"/>
                <a:ext cx="1455" cy="403"/>
                <a:chOff x="0" y="4951"/>
                <a:chExt cx="1455" cy="403"/>
              </a:xfrm>
            </p:grpSpPr>
            <p:sp>
              <p:nvSpPr>
                <p:cNvPr id="176" name="Rectangle 88"/>
                <p:cNvSpPr>
                  <a:spLocks noChangeArrowheads="1"/>
                </p:cNvSpPr>
                <p:nvPr/>
              </p:nvSpPr>
              <p:spPr bwMode="auto">
                <a:xfrm>
                  <a:off x="43" y="4951"/>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Language Experience</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77" name="Rectangle 284"/>
                <p:cNvSpPr>
                  <a:spLocks noChangeArrowheads="1"/>
                </p:cNvSpPr>
                <p:nvPr/>
              </p:nvSpPr>
              <p:spPr bwMode="auto">
                <a:xfrm>
                  <a:off x="0" y="4951"/>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5" name="Group 287"/>
              <p:cNvGrpSpPr/>
              <p:nvPr/>
            </p:nvGrpSpPr>
            <p:grpSpPr bwMode="auto">
              <a:xfrm>
                <a:off x="1455" y="4951"/>
                <a:ext cx="409" cy="403"/>
                <a:chOff x="1455" y="4951"/>
                <a:chExt cx="409" cy="403"/>
              </a:xfrm>
            </p:grpSpPr>
            <p:sp>
              <p:nvSpPr>
                <p:cNvPr id="174" name="Rectangle 89"/>
                <p:cNvSpPr>
                  <a:spLocks noChangeArrowheads="1"/>
                </p:cNvSpPr>
                <p:nvPr/>
              </p:nvSpPr>
              <p:spPr bwMode="auto">
                <a:xfrm>
                  <a:off x="1498" y="4951"/>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75" name="Rectangle 286"/>
                <p:cNvSpPr>
                  <a:spLocks noChangeArrowheads="1"/>
                </p:cNvSpPr>
                <p:nvPr/>
              </p:nvSpPr>
              <p:spPr bwMode="auto">
                <a:xfrm>
                  <a:off x="1455" y="4951"/>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6" name="Group 289"/>
              <p:cNvGrpSpPr/>
              <p:nvPr/>
            </p:nvGrpSpPr>
            <p:grpSpPr bwMode="auto">
              <a:xfrm>
                <a:off x="1864" y="4951"/>
                <a:ext cx="395" cy="403"/>
                <a:chOff x="1864" y="4951"/>
                <a:chExt cx="395" cy="403"/>
              </a:xfrm>
            </p:grpSpPr>
            <p:sp>
              <p:nvSpPr>
                <p:cNvPr id="172" name="Rectangle 90"/>
                <p:cNvSpPr>
                  <a:spLocks noChangeArrowheads="1"/>
                </p:cNvSpPr>
                <p:nvPr/>
              </p:nvSpPr>
              <p:spPr bwMode="auto">
                <a:xfrm>
                  <a:off x="1907" y="4951"/>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1.07</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73" name="Rectangle 288"/>
                <p:cNvSpPr>
                  <a:spLocks noChangeArrowheads="1"/>
                </p:cNvSpPr>
                <p:nvPr/>
              </p:nvSpPr>
              <p:spPr bwMode="auto">
                <a:xfrm>
                  <a:off x="1864" y="4951"/>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7" name="Group 291"/>
              <p:cNvGrpSpPr/>
              <p:nvPr/>
            </p:nvGrpSpPr>
            <p:grpSpPr bwMode="auto">
              <a:xfrm>
                <a:off x="2259" y="4951"/>
                <a:ext cx="581" cy="403"/>
                <a:chOff x="2259" y="4951"/>
                <a:chExt cx="581" cy="403"/>
              </a:xfrm>
            </p:grpSpPr>
            <p:sp>
              <p:nvSpPr>
                <p:cNvPr id="170" name="Rectangle 91"/>
                <p:cNvSpPr>
                  <a:spLocks noChangeArrowheads="1"/>
                </p:cNvSpPr>
                <p:nvPr/>
              </p:nvSpPr>
              <p:spPr bwMode="auto">
                <a:xfrm>
                  <a:off x="2302" y="4951"/>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71" name="Rectangle 290"/>
                <p:cNvSpPr>
                  <a:spLocks noChangeArrowheads="1"/>
                </p:cNvSpPr>
                <p:nvPr/>
              </p:nvSpPr>
              <p:spPr bwMode="auto">
                <a:xfrm>
                  <a:off x="2259" y="4951"/>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8" name="Group 293"/>
              <p:cNvGrpSpPr/>
              <p:nvPr/>
            </p:nvGrpSpPr>
            <p:grpSpPr bwMode="auto">
              <a:xfrm>
                <a:off x="2840" y="4951"/>
                <a:ext cx="416" cy="403"/>
                <a:chOff x="2840" y="4951"/>
                <a:chExt cx="416" cy="403"/>
              </a:xfrm>
            </p:grpSpPr>
            <p:sp>
              <p:nvSpPr>
                <p:cNvPr id="168" name="Rectangle 92"/>
                <p:cNvSpPr>
                  <a:spLocks noChangeArrowheads="1"/>
                </p:cNvSpPr>
                <p:nvPr/>
              </p:nvSpPr>
              <p:spPr bwMode="auto">
                <a:xfrm>
                  <a:off x="2883" y="495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69" name="Rectangle 292"/>
                <p:cNvSpPr>
                  <a:spLocks noChangeArrowheads="1"/>
                </p:cNvSpPr>
                <p:nvPr/>
              </p:nvSpPr>
              <p:spPr bwMode="auto">
                <a:xfrm>
                  <a:off x="2840" y="4951"/>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99" name="Group 295"/>
              <p:cNvGrpSpPr/>
              <p:nvPr/>
            </p:nvGrpSpPr>
            <p:grpSpPr bwMode="auto">
              <a:xfrm>
                <a:off x="3256" y="4951"/>
                <a:ext cx="416" cy="403"/>
                <a:chOff x="3256" y="4951"/>
                <a:chExt cx="416" cy="403"/>
              </a:xfrm>
            </p:grpSpPr>
            <p:sp>
              <p:nvSpPr>
                <p:cNvPr id="166" name="Rectangle 93"/>
                <p:cNvSpPr>
                  <a:spLocks noChangeArrowheads="1"/>
                </p:cNvSpPr>
                <p:nvPr/>
              </p:nvSpPr>
              <p:spPr bwMode="auto">
                <a:xfrm>
                  <a:off x="3299" y="495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67" name="Rectangle 294"/>
                <p:cNvSpPr>
                  <a:spLocks noChangeArrowheads="1"/>
                </p:cNvSpPr>
                <p:nvPr/>
              </p:nvSpPr>
              <p:spPr bwMode="auto">
                <a:xfrm>
                  <a:off x="3256" y="4951"/>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0" name="Group 297"/>
              <p:cNvGrpSpPr/>
              <p:nvPr/>
            </p:nvGrpSpPr>
            <p:grpSpPr bwMode="auto">
              <a:xfrm>
                <a:off x="3672" y="4951"/>
                <a:ext cx="441" cy="403"/>
                <a:chOff x="3672" y="4951"/>
                <a:chExt cx="441" cy="403"/>
              </a:xfrm>
            </p:grpSpPr>
            <p:sp>
              <p:nvSpPr>
                <p:cNvPr id="164" name="Rectangle 94"/>
                <p:cNvSpPr>
                  <a:spLocks noChangeArrowheads="1"/>
                </p:cNvSpPr>
                <p:nvPr/>
              </p:nvSpPr>
              <p:spPr bwMode="auto">
                <a:xfrm>
                  <a:off x="3715" y="4951"/>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.95</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65" name="Rectangle 296"/>
                <p:cNvSpPr>
                  <a:spLocks noChangeArrowheads="1"/>
                </p:cNvSpPr>
                <p:nvPr/>
              </p:nvSpPr>
              <p:spPr bwMode="auto">
                <a:xfrm>
                  <a:off x="3672" y="4951"/>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1" name="Group 299"/>
              <p:cNvGrpSpPr/>
              <p:nvPr/>
            </p:nvGrpSpPr>
            <p:grpSpPr bwMode="auto">
              <a:xfrm>
                <a:off x="0" y="5354"/>
                <a:ext cx="1455" cy="403"/>
                <a:chOff x="0" y="5354"/>
                <a:chExt cx="1455" cy="403"/>
              </a:xfrm>
            </p:grpSpPr>
            <p:sp>
              <p:nvSpPr>
                <p:cNvPr id="162" name="Rectangle 95"/>
                <p:cNvSpPr>
                  <a:spLocks noChangeArrowheads="1"/>
                </p:cNvSpPr>
                <p:nvPr/>
              </p:nvSpPr>
              <p:spPr bwMode="auto">
                <a:xfrm>
                  <a:off x="43" y="5354"/>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Modern Prog Practices</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63" name="Rectangle 298"/>
                <p:cNvSpPr>
                  <a:spLocks noChangeArrowheads="1"/>
                </p:cNvSpPr>
                <p:nvPr/>
              </p:nvSpPr>
              <p:spPr bwMode="auto">
                <a:xfrm>
                  <a:off x="0" y="5354"/>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2" name="Group 301"/>
              <p:cNvGrpSpPr/>
              <p:nvPr/>
            </p:nvGrpSpPr>
            <p:grpSpPr bwMode="auto">
              <a:xfrm>
                <a:off x="1455" y="5354"/>
                <a:ext cx="409" cy="403"/>
                <a:chOff x="1455" y="5354"/>
                <a:chExt cx="409" cy="403"/>
              </a:xfrm>
            </p:grpSpPr>
            <p:sp>
              <p:nvSpPr>
                <p:cNvPr id="160" name="Rectangle 96"/>
                <p:cNvSpPr>
                  <a:spLocks noChangeArrowheads="1"/>
                </p:cNvSpPr>
                <p:nvPr/>
              </p:nvSpPr>
              <p:spPr bwMode="auto">
                <a:xfrm>
                  <a:off x="1498" y="5354"/>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61" name="Rectangle 300"/>
                <p:cNvSpPr>
                  <a:spLocks noChangeArrowheads="1"/>
                </p:cNvSpPr>
                <p:nvPr/>
              </p:nvSpPr>
              <p:spPr bwMode="auto">
                <a:xfrm>
                  <a:off x="1455" y="5354"/>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3" name="Group 303"/>
              <p:cNvGrpSpPr/>
              <p:nvPr/>
            </p:nvGrpSpPr>
            <p:grpSpPr bwMode="auto">
              <a:xfrm>
                <a:off x="1864" y="5354"/>
                <a:ext cx="395" cy="403"/>
                <a:chOff x="1864" y="5354"/>
                <a:chExt cx="395" cy="403"/>
              </a:xfrm>
            </p:grpSpPr>
            <p:sp>
              <p:nvSpPr>
                <p:cNvPr id="158" name="Rectangle 97"/>
                <p:cNvSpPr>
                  <a:spLocks noChangeArrowheads="1"/>
                </p:cNvSpPr>
                <p:nvPr/>
              </p:nvSpPr>
              <p:spPr bwMode="auto">
                <a:xfrm>
                  <a:off x="1907" y="5354"/>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59" name="Rectangle 302"/>
                <p:cNvSpPr>
                  <a:spLocks noChangeArrowheads="1"/>
                </p:cNvSpPr>
                <p:nvPr/>
              </p:nvSpPr>
              <p:spPr bwMode="auto">
                <a:xfrm>
                  <a:off x="1864" y="5354"/>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4" name="Group 305"/>
              <p:cNvGrpSpPr/>
              <p:nvPr/>
            </p:nvGrpSpPr>
            <p:grpSpPr bwMode="auto">
              <a:xfrm>
                <a:off x="2259" y="5354"/>
                <a:ext cx="581" cy="403"/>
                <a:chOff x="2259" y="5354"/>
                <a:chExt cx="581" cy="403"/>
              </a:xfrm>
            </p:grpSpPr>
            <p:sp>
              <p:nvSpPr>
                <p:cNvPr id="156" name="Rectangle 98"/>
                <p:cNvSpPr>
                  <a:spLocks noChangeArrowheads="1"/>
                </p:cNvSpPr>
                <p:nvPr/>
              </p:nvSpPr>
              <p:spPr bwMode="auto">
                <a:xfrm>
                  <a:off x="2302" y="5354"/>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57" name="Rectangle 304"/>
                <p:cNvSpPr>
                  <a:spLocks noChangeArrowheads="1"/>
                </p:cNvSpPr>
                <p:nvPr/>
              </p:nvSpPr>
              <p:spPr bwMode="auto">
                <a:xfrm>
                  <a:off x="2259" y="5354"/>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5" name="Group 307"/>
              <p:cNvGrpSpPr/>
              <p:nvPr/>
            </p:nvGrpSpPr>
            <p:grpSpPr bwMode="auto">
              <a:xfrm>
                <a:off x="2840" y="5354"/>
                <a:ext cx="416" cy="403"/>
                <a:chOff x="2840" y="5354"/>
                <a:chExt cx="416" cy="403"/>
              </a:xfrm>
            </p:grpSpPr>
            <p:sp>
              <p:nvSpPr>
                <p:cNvPr id="154" name="Rectangle 99"/>
                <p:cNvSpPr>
                  <a:spLocks noChangeArrowheads="1"/>
                </p:cNvSpPr>
                <p:nvPr/>
              </p:nvSpPr>
              <p:spPr bwMode="auto">
                <a:xfrm>
                  <a:off x="2883" y="535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55" name="Rectangle 306"/>
                <p:cNvSpPr>
                  <a:spLocks noChangeArrowheads="1"/>
                </p:cNvSpPr>
                <p:nvPr/>
              </p:nvSpPr>
              <p:spPr bwMode="auto">
                <a:xfrm>
                  <a:off x="2840" y="5354"/>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6" name="Group 309"/>
              <p:cNvGrpSpPr/>
              <p:nvPr/>
            </p:nvGrpSpPr>
            <p:grpSpPr bwMode="auto">
              <a:xfrm>
                <a:off x="3256" y="5354"/>
                <a:ext cx="416" cy="403"/>
                <a:chOff x="3256" y="5354"/>
                <a:chExt cx="416" cy="403"/>
              </a:xfrm>
            </p:grpSpPr>
            <p:sp>
              <p:nvSpPr>
                <p:cNvPr id="152" name="Rectangle 100"/>
                <p:cNvSpPr>
                  <a:spLocks noChangeArrowheads="1"/>
                </p:cNvSpPr>
                <p:nvPr/>
              </p:nvSpPr>
              <p:spPr bwMode="auto">
                <a:xfrm>
                  <a:off x="3299" y="535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.82</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53" name="Rectangle 308"/>
                <p:cNvSpPr>
                  <a:spLocks noChangeArrowheads="1"/>
                </p:cNvSpPr>
                <p:nvPr/>
              </p:nvSpPr>
              <p:spPr bwMode="auto">
                <a:xfrm>
                  <a:off x="3256" y="5354"/>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7" name="Group 311"/>
              <p:cNvGrpSpPr/>
              <p:nvPr/>
            </p:nvGrpSpPr>
            <p:grpSpPr bwMode="auto">
              <a:xfrm>
                <a:off x="3672" y="5354"/>
                <a:ext cx="441" cy="403"/>
                <a:chOff x="3672" y="5354"/>
                <a:chExt cx="441" cy="403"/>
              </a:xfrm>
            </p:grpSpPr>
            <p:sp>
              <p:nvSpPr>
                <p:cNvPr id="150" name="Rectangle 101"/>
                <p:cNvSpPr>
                  <a:spLocks noChangeArrowheads="1"/>
                </p:cNvSpPr>
                <p:nvPr/>
              </p:nvSpPr>
              <p:spPr bwMode="auto">
                <a:xfrm>
                  <a:off x="3715" y="5354"/>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.82</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51" name="Rectangle 310"/>
                <p:cNvSpPr>
                  <a:spLocks noChangeArrowheads="1"/>
                </p:cNvSpPr>
                <p:nvPr/>
              </p:nvSpPr>
              <p:spPr bwMode="auto">
                <a:xfrm>
                  <a:off x="3672" y="5354"/>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8" name="Group 313"/>
              <p:cNvGrpSpPr/>
              <p:nvPr/>
            </p:nvGrpSpPr>
            <p:grpSpPr bwMode="auto">
              <a:xfrm>
                <a:off x="0" y="5757"/>
                <a:ext cx="1455" cy="403"/>
                <a:chOff x="0" y="5757"/>
                <a:chExt cx="1455" cy="403"/>
              </a:xfrm>
            </p:grpSpPr>
            <p:sp>
              <p:nvSpPr>
                <p:cNvPr id="148" name="Rectangle 102"/>
                <p:cNvSpPr>
                  <a:spLocks noChangeArrowheads="1"/>
                </p:cNvSpPr>
                <p:nvPr/>
              </p:nvSpPr>
              <p:spPr bwMode="auto">
                <a:xfrm>
                  <a:off x="43" y="5757"/>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SW Tools</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49" name="Rectangle 312"/>
                <p:cNvSpPr>
                  <a:spLocks noChangeArrowheads="1"/>
                </p:cNvSpPr>
                <p:nvPr/>
              </p:nvSpPr>
              <p:spPr bwMode="auto">
                <a:xfrm>
                  <a:off x="0" y="5757"/>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09" name="Group 315"/>
              <p:cNvGrpSpPr/>
              <p:nvPr/>
            </p:nvGrpSpPr>
            <p:grpSpPr bwMode="auto">
              <a:xfrm>
                <a:off x="1455" y="5757"/>
                <a:ext cx="409" cy="403"/>
                <a:chOff x="1455" y="5757"/>
                <a:chExt cx="409" cy="403"/>
              </a:xfrm>
            </p:grpSpPr>
            <p:sp>
              <p:nvSpPr>
                <p:cNvPr id="146" name="Rectangle 103"/>
                <p:cNvSpPr>
                  <a:spLocks noChangeArrowheads="1"/>
                </p:cNvSpPr>
                <p:nvPr/>
              </p:nvSpPr>
              <p:spPr bwMode="auto">
                <a:xfrm>
                  <a:off x="1498" y="5757"/>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47" name="Rectangle 314"/>
                <p:cNvSpPr>
                  <a:spLocks noChangeArrowheads="1"/>
                </p:cNvSpPr>
                <p:nvPr/>
              </p:nvSpPr>
              <p:spPr bwMode="auto">
                <a:xfrm>
                  <a:off x="1455" y="5757"/>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0" name="Group 317"/>
              <p:cNvGrpSpPr/>
              <p:nvPr/>
            </p:nvGrpSpPr>
            <p:grpSpPr bwMode="auto">
              <a:xfrm>
                <a:off x="1864" y="5757"/>
                <a:ext cx="395" cy="403"/>
                <a:chOff x="1864" y="5757"/>
                <a:chExt cx="395" cy="403"/>
              </a:xfrm>
            </p:grpSpPr>
            <p:sp>
              <p:nvSpPr>
                <p:cNvPr id="144" name="Rectangle 104"/>
                <p:cNvSpPr>
                  <a:spLocks noChangeArrowheads="1"/>
                </p:cNvSpPr>
                <p:nvPr/>
              </p:nvSpPr>
              <p:spPr bwMode="auto">
                <a:xfrm>
                  <a:off x="1907" y="5757"/>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45" name="Rectangle 316"/>
                <p:cNvSpPr>
                  <a:spLocks noChangeArrowheads="1"/>
                </p:cNvSpPr>
                <p:nvPr/>
              </p:nvSpPr>
              <p:spPr bwMode="auto">
                <a:xfrm>
                  <a:off x="1864" y="5757"/>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1" name="Group 319"/>
              <p:cNvGrpSpPr/>
              <p:nvPr/>
            </p:nvGrpSpPr>
            <p:grpSpPr bwMode="auto">
              <a:xfrm>
                <a:off x="2259" y="5757"/>
                <a:ext cx="581" cy="403"/>
                <a:chOff x="2259" y="5757"/>
                <a:chExt cx="581" cy="403"/>
              </a:xfrm>
            </p:grpSpPr>
            <p:sp>
              <p:nvSpPr>
                <p:cNvPr id="142" name="Rectangle 105"/>
                <p:cNvSpPr>
                  <a:spLocks noChangeArrowheads="1"/>
                </p:cNvSpPr>
                <p:nvPr/>
              </p:nvSpPr>
              <p:spPr bwMode="auto">
                <a:xfrm>
                  <a:off x="2302" y="5757"/>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43" name="Rectangle 318"/>
                <p:cNvSpPr>
                  <a:spLocks noChangeArrowheads="1"/>
                </p:cNvSpPr>
                <p:nvPr/>
              </p:nvSpPr>
              <p:spPr bwMode="auto">
                <a:xfrm>
                  <a:off x="2259" y="5757"/>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2" name="Group 321"/>
              <p:cNvGrpSpPr/>
              <p:nvPr/>
            </p:nvGrpSpPr>
            <p:grpSpPr bwMode="auto">
              <a:xfrm>
                <a:off x="2840" y="5757"/>
                <a:ext cx="416" cy="403"/>
                <a:chOff x="2840" y="5757"/>
                <a:chExt cx="416" cy="403"/>
              </a:xfrm>
            </p:grpSpPr>
            <p:sp>
              <p:nvSpPr>
                <p:cNvPr id="140" name="Rectangle 106"/>
                <p:cNvSpPr>
                  <a:spLocks noChangeArrowheads="1"/>
                </p:cNvSpPr>
                <p:nvPr/>
              </p:nvSpPr>
              <p:spPr bwMode="auto">
                <a:xfrm>
                  <a:off x="2883" y="575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.91</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41" name="Rectangle 320"/>
                <p:cNvSpPr>
                  <a:spLocks noChangeArrowheads="1"/>
                </p:cNvSpPr>
                <p:nvPr/>
              </p:nvSpPr>
              <p:spPr bwMode="auto">
                <a:xfrm>
                  <a:off x="2840" y="5757"/>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3" name="Group 323"/>
              <p:cNvGrpSpPr/>
              <p:nvPr/>
            </p:nvGrpSpPr>
            <p:grpSpPr bwMode="auto">
              <a:xfrm>
                <a:off x="3256" y="5757"/>
                <a:ext cx="416" cy="403"/>
                <a:chOff x="3256" y="5757"/>
                <a:chExt cx="416" cy="403"/>
              </a:xfrm>
            </p:grpSpPr>
            <p:sp>
              <p:nvSpPr>
                <p:cNvPr id="138" name="Rectangle 107"/>
                <p:cNvSpPr>
                  <a:spLocks noChangeArrowheads="1"/>
                </p:cNvSpPr>
                <p:nvPr/>
              </p:nvSpPr>
              <p:spPr bwMode="auto">
                <a:xfrm>
                  <a:off x="3299" y="575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.83</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39" name="Rectangle 322"/>
                <p:cNvSpPr>
                  <a:spLocks noChangeArrowheads="1"/>
                </p:cNvSpPr>
                <p:nvPr/>
              </p:nvSpPr>
              <p:spPr bwMode="auto">
                <a:xfrm>
                  <a:off x="3256" y="5757"/>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4" name="Group 325"/>
              <p:cNvGrpSpPr/>
              <p:nvPr/>
            </p:nvGrpSpPr>
            <p:grpSpPr bwMode="auto">
              <a:xfrm>
                <a:off x="3672" y="5757"/>
                <a:ext cx="441" cy="403"/>
                <a:chOff x="3672" y="5757"/>
                <a:chExt cx="441" cy="403"/>
              </a:xfrm>
            </p:grpSpPr>
            <p:sp>
              <p:nvSpPr>
                <p:cNvPr id="136" name="Rectangle 108"/>
                <p:cNvSpPr>
                  <a:spLocks noChangeArrowheads="1"/>
                </p:cNvSpPr>
                <p:nvPr/>
              </p:nvSpPr>
              <p:spPr bwMode="auto">
                <a:xfrm>
                  <a:off x="3715" y="5757"/>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.83</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37" name="Rectangle 324"/>
                <p:cNvSpPr>
                  <a:spLocks noChangeArrowheads="1"/>
                </p:cNvSpPr>
                <p:nvPr/>
              </p:nvSpPr>
              <p:spPr bwMode="auto">
                <a:xfrm>
                  <a:off x="3672" y="5757"/>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5" name="Group 327"/>
              <p:cNvGrpSpPr/>
              <p:nvPr/>
            </p:nvGrpSpPr>
            <p:grpSpPr bwMode="auto">
              <a:xfrm>
                <a:off x="0" y="6160"/>
                <a:ext cx="1455" cy="403"/>
                <a:chOff x="0" y="6160"/>
                <a:chExt cx="1455" cy="403"/>
              </a:xfrm>
            </p:grpSpPr>
            <p:sp>
              <p:nvSpPr>
                <p:cNvPr id="134" name="Rectangle 109"/>
                <p:cNvSpPr>
                  <a:spLocks noChangeArrowheads="1"/>
                </p:cNvSpPr>
                <p:nvPr/>
              </p:nvSpPr>
              <p:spPr bwMode="auto">
                <a:xfrm>
                  <a:off x="43" y="6160"/>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b="1">
                      <a:latin typeface="Arial" panose="020B0604020202090204" pitchFamily="34" charset="0"/>
                      <a:cs typeface="Arial" panose="020B0604020202090204" pitchFamily="34" charset="0"/>
                    </a:rPr>
                    <a:t>Required Dev Schedule</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35" name="Rectangle 326"/>
                <p:cNvSpPr>
                  <a:spLocks noChangeArrowheads="1"/>
                </p:cNvSpPr>
                <p:nvPr/>
              </p:nvSpPr>
              <p:spPr bwMode="auto">
                <a:xfrm>
                  <a:off x="0" y="6160"/>
                  <a:ext cx="145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6" name="Group 329"/>
              <p:cNvGrpSpPr/>
              <p:nvPr/>
            </p:nvGrpSpPr>
            <p:grpSpPr bwMode="auto">
              <a:xfrm>
                <a:off x="1455" y="6160"/>
                <a:ext cx="409" cy="403"/>
                <a:chOff x="1455" y="6160"/>
                <a:chExt cx="409" cy="403"/>
              </a:xfrm>
            </p:grpSpPr>
            <p:sp>
              <p:nvSpPr>
                <p:cNvPr id="132" name="Rectangle 110"/>
                <p:cNvSpPr>
                  <a:spLocks noChangeArrowheads="1"/>
                </p:cNvSpPr>
                <p:nvPr/>
              </p:nvSpPr>
              <p:spPr bwMode="auto">
                <a:xfrm>
                  <a:off x="1498" y="6160"/>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1.23</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33" name="Rectangle 328"/>
                <p:cNvSpPr>
                  <a:spLocks noChangeArrowheads="1"/>
                </p:cNvSpPr>
                <p:nvPr/>
              </p:nvSpPr>
              <p:spPr bwMode="auto">
                <a:xfrm>
                  <a:off x="1455" y="6160"/>
                  <a:ext cx="409"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7" name="Group 331"/>
              <p:cNvGrpSpPr/>
              <p:nvPr/>
            </p:nvGrpSpPr>
            <p:grpSpPr bwMode="auto">
              <a:xfrm>
                <a:off x="1864" y="6160"/>
                <a:ext cx="395" cy="403"/>
                <a:chOff x="1864" y="6160"/>
                <a:chExt cx="395" cy="403"/>
              </a:xfrm>
            </p:grpSpPr>
            <p:sp>
              <p:nvSpPr>
                <p:cNvPr id="130" name="Rectangle 111"/>
                <p:cNvSpPr>
                  <a:spLocks noChangeArrowheads="1"/>
                </p:cNvSpPr>
                <p:nvPr/>
              </p:nvSpPr>
              <p:spPr bwMode="auto">
                <a:xfrm>
                  <a:off x="1907" y="6160"/>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1.08</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31" name="Rectangle 330"/>
                <p:cNvSpPr>
                  <a:spLocks noChangeArrowheads="1"/>
                </p:cNvSpPr>
                <p:nvPr/>
              </p:nvSpPr>
              <p:spPr bwMode="auto">
                <a:xfrm>
                  <a:off x="1864" y="6160"/>
                  <a:ext cx="395"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8" name="Group 333"/>
              <p:cNvGrpSpPr/>
              <p:nvPr/>
            </p:nvGrpSpPr>
            <p:grpSpPr bwMode="auto">
              <a:xfrm>
                <a:off x="2259" y="6160"/>
                <a:ext cx="581" cy="403"/>
                <a:chOff x="2259" y="6160"/>
                <a:chExt cx="581" cy="403"/>
              </a:xfrm>
            </p:grpSpPr>
            <p:sp>
              <p:nvSpPr>
                <p:cNvPr id="128" name="Rectangle 112"/>
                <p:cNvSpPr>
                  <a:spLocks noChangeArrowheads="1"/>
                </p:cNvSpPr>
                <p:nvPr/>
              </p:nvSpPr>
              <p:spPr bwMode="auto">
                <a:xfrm>
                  <a:off x="2302" y="6160"/>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29" name="Rectangle 332"/>
                <p:cNvSpPr>
                  <a:spLocks noChangeArrowheads="1"/>
                </p:cNvSpPr>
                <p:nvPr/>
              </p:nvSpPr>
              <p:spPr bwMode="auto">
                <a:xfrm>
                  <a:off x="2259" y="6160"/>
                  <a:ext cx="5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19" name="Group 335"/>
              <p:cNvGrpSpPr/>
              <p:nvPr/>
            </p:nvGrpSpPr>
            <p:grpSpPr bwMode="auto">
              <a:xfrm>
                <a:off x="2840" y="6160"/>
                <a:ext cx="416" cy="403"/>
                <a:chOff x="2840" y="6160"/>
                <a:chExt cx="416" cy="403"/>
              </a:xfrm>
            </p:grpSpPr>
            <p:sp>
              <p:nvSpPr>
                <p:cNvPr id="126" name="Rectangle 113"/>
                <p:cNvSpPr>
                  <a:spLocks noChangeArrowheads="1"/>
                </p:cNvSpPr>
                <p:nvPr/>
              </p:nvSpPr>
              <p:spPr bwMode="auto">
                <a:xfrm>
                  <a:off x="2883" y="616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1.04</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27" name="Rectangle 334"/>
                <p:cNvSpPr>
                  <a:spLocks noChangeArrowheads="1"/>
                </p:cNvSpPr>
                <p:nvPr/>
              </p:nvSpPr>
              <p:spPr bwMode="auto">
                <a:xfrm>
                  <a:off x="2840" y="6160"/>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20" name="Group 337"/>
              <p:cNvGrpSpPr/>
              <p:nvPr/>
            </p:nvGrpSpPr>
            <p:grpSpPr bwMode="auto">
              <a:xfrm>
                <a:off x="3256" y="6160"/>
                <a:ext cx="416" cy="403"/>
                <a:chOff x="3256" y="6160"/>
                <a:chExt cx="416" cy="403"/>
              </a:xfrm>
            </p:grpSpPr>
            <p:sp>
              <p:nvSpPr>
                <p:cNvPr id="124" name="Rectangle 114"/>
                <p:cNvSpPr>
                  <a:spLocks noChangeArrowheads="1"/>
                </p:cNvSpPr>
                <p:nvPr/>
              </p:nvSpPr>
              <p:spPr bwMode="auto">
                <a:xfrm>
                  <a:off x="3299" y="616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25" name="Rectangle 336"/>
                <p:cNvSpPr>
                  <a:spLocks noChangeArrowheads="1"/>
                </p:cNvSpPr>
                <p:nvPr/>
              </p:nvSpPr>
              <p:spPr bwMode="auto">
                <a:xfrm>
                  <a:off x="3256" y="6160"/>
                  <a:ext cx="41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nvGrpSpPr>
              <p:cNvPr id="121" name="Group 339"/>
              <p:cNvGrpSpPr/>
              <p:nvPr/>
            </p:nvGrpSpPr>
            <p:grpSpPr bwMode="auto">
              <a:xfrm>
                <a:off x="3672" y="6160"/>
                <a:ext cx="441" cy="403"/>
                <a:chOff x="3672" y="6160"/>
                <a:chExt cx="441" cy="403"/>
              </a:xfrm>
            </p:grpSpPr>
            <p:sp>
              <p:nvSpPr>
                <p:cNvPr id="122" name="Rectangle 115"/>
                <p:cNvSpPr>
                  <a:spLocks noChangeArrowheads="1"/>
                </p:cNvSpPr>
                <p:nvPr/>
              </p:nvSpPr>
              <p:spPr bwMode="auto">
                <a:xfrm>
                  <a:off x="3715" y="6160"/>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r>
                    <a:rPr lang="en-CA" altLang="tr-TR" sz="1200">
                      <a:latin typeface="Arial" panose="020B0604020202090204" pitchFamily="34" charset="0"/>
                      <a:cs typeface="Arial" panose="020B0604020202090204" pitchFamily="34" charset="0"/>
                    </a:rPr>
                    <a:t>1,10</a:t>
                  </a:r>
                  <a:endParaRPr lang="en-CA" altLang="tr-TR" sz="1200">
                    <a:ea typeface="Arial Unicode MS" panose="020B0604020202020204" pitchFamily="34" charset="-128"/>
                    <a:cs typeface="Arial Unicode MS" panose="020B0604020202020204" pitchFamily="34" charset="-128"/>
                  </a:endParaRPr>
                </a:p>
                <a:p>
                  <a:endParaRPr lang="en-CA" altLang="tr-TR"/>
                </a:p>
              </p:txBody>
            </p:sp>
            <p:sp>
              <p:nvSpPr>
                <p:cNvPr id="123" name="Rectangle 338"/>
                <p:cNvSpPr>
                  <a:spLocks noChangeArrowheads="1"/>
                </p:cNvSpPr>
                <p:nvPr/>
              </p:nvSpPr>
              <p:spPr bwMode="auto">
                <a:xfrm>
                  <a:off x="3672" y="6160"/>
                  <a:ext cx="44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grpSp>
        <p:sp>
          <p:nvSpPr>
            <p:cNvPr id="9" name="Rectangle 341"/>
            <p:cNvSpPr>
              <a:spLocks noChangeArrowheads="1"/>
            </p:cNvSpPr>
            <p:nvPr/>
          </p:nvSpPr>
          <p:spPr bwMode="auto">
            <a:xfrm>
              <a:off x="-2" y="-2"/>
              <a:ext cx="4117" cy="6567"/>
            </a:xfrm>
            <a:prstGeom prst="rect">
              <a:avLst/>
            </a:prstGeom>
            <a:noFill/>
            <a:ln w="793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endParaRPr lang="tr-TR" altLang="en-US"/>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r>
              <a:rPr lang="en-US" b="1" dirty="0">
                <a:latin typeface="Times New Roman" panose="02020503050405090304" pitchFamily="18" charset="0"/>
                <a:cs typeface="Times New Roman" panose="02020503050405090304" pitchFamily="18" charset="0"/>
              </a:rPr>
              <a:t>Example:</a:t>
            </a:r>
            <a:r>
              <a:rPr lang="en-US" dirty="0">
                <a:latin typeface="Times New Roman" panose="02020503050405090304" pitchFamily="18" charset="0"/>
                <a:cs typeface="Times New Roman" panose="02020503050405090304" pitchFamily="18" charset="0"/>
              </a:rPr>
              <a:t> For a given project was estimated with a size of 300 KLOC. Calculate the Effort, Scheduled time for development by considering developer having high application experience and very low experience in programming.</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Ans: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Given the estimated size of the project is: 300 KLOC</a:t>
            </a:r>
            <a:br>
              <a:rPr lang="en-US" dirty="0">
                <a:latin typeface="Times New Roman" panose="02020503050405090304" pitchFamily="18" charset="0"/>
                <a:cs typeface="Times New Roman" panose="02020503050405090304" pitchFamily="18" charset="0"/>
              </a:rPr>
            </a:br>
            <a:r>
              <a:rPr lang="en-US" dirty="0">
                <a:latin typeface="Times New Roman" panose="02020503050405090304" pitchFamily="18" charset="0"/>
                <a:cs typeface="Times New Roman" panose="02020503050405090304" pitchFamily="18" charset="0"/>
              </a:rPr>
              <a:t>Developer having highly application experience: 0.82 (as per above table)</a:t>
            </a:r>
            <a:br>
              <a:rPr lang="en-US" dirty="0">
                <a:latin typeface="Times New Roman" panose="02020503050405090304" pitchFamily="18" charset="0"/>
                <a:cs typeface="Times New Roman" panose="02020503050405090304" pitchFamily="18" charset="0"/>
              </a:rPr>
            </a:br>
            <a:r>
              <a:rPr lang="en-US" dirty="0">
                <a:latin typeface="Times New Roman" panose="02020503050405090304" pitchFamily="18" charset="0"/>
                <a:cs typeface="Times New Roman" panose="02020503050405090304" pitchFamily="18" charset="0"/>
              </a:rPr>
              <a:t>Developer having very low experience in programming: 1.14(as per above table)</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EAF = 0.82*1.14 = 0.9348</a:t>
            </a:r>
            <a:br>
              <a:rPr lang="en-US" dirty="0">
                <a:latin typeface="Times New Roman" panose="02020503050405090304" pitchFamily="18" charset="0"/>
                <a:cs typeface="Times New Roman" panose="02020503050405090304" pitchFamily="18" charset="0"/>
              </a:rPr>
            </a:br>
            <a:r>
              <a:rPr lang="en-US" dirty="0">
                <a:latin typeface="Times New Roman" panose="02020503050405090304" pitchFamily="18" charset="0"/>
                <a:cs typeface="Times New Roman" panose="02020503050405090304" pitchFamily="18" charset="0"/>
              </a:rPr>
              <a:t>Effort (E) = a*(KLOC)</a:t>
            </a:r>
            <a:r>
              <a:rPr lang="en-US" baseline="30000" dirty="0">
                <a:latin typeface="Times New Roman" panose="02020503050405090304" pitchFamily="18" charset="0"/>
                <a:cs typeface="Times New Roman" panose="02020503050405090304" pitchFamily="18" charset="0"/>
              </a:rPr>
              <a:t>b </a:t>
            </a:r>
            <a:r>
              <a:rPr lang="en-US" dirty="0">
                <a:latin typeface="Times New Roman" panose="02020503050405090304" pitchFamily="18" charset="0"/>
                <a:cs typeface="Times New Roman" panose="02020503050405090304" pitchFamily="18" charset="0"/>
              </a:rPr>
              <a:t>*EAF = 3.0*(300)</a:t>
            </a:r>
            <a:r>
              <a:rPr lang="en-US" baseline="30000" dirty="0">
                <a:latin typeface="Times New Roman" panose="02020503050405090304" pitchFamily="18" charset="0"/>
                <a:cs typeface="Times New Roman" panose="02020503050405090304" pitchFamily="18" charset="0"/>
              </a:rPr>
              <a:t>1.12 </a:t>
            </a:r>
            <a:r>
              <a:rPr lang="en-US" dirty="0">
                <a:latin typeface="Times New Roman" panose="02020503050405090304" pitchFamily="18" charset="0"/>
                <a:cs typeface="Times New Roman" panose="02020503050405090304" pitchFamily="18" charset="0"/>
              </a:rPr>
              <a:t>*0.9348 = 1668.07 MM</a:t>
            </a:r>
            <a:br>
              <a:rPr lang="en-US" dirty="0">
                <a:latin typeface="Times New Roman" panose="02020503050405090304" pitchFamily="18" charset="0"/>
                <a:cs typeface="Times New Roman" panose="02020503050405090304" pitchFamily="18" charset="0"/>
              </a:rPr>
            </a:br>
            <a:r>
              <a:rPr lang="en-US" dirty="0">
                <a:latin typeface="Times New Roman" panose="02020503050405090304" pitchFamily="18" charset="0"/>
                <a:cs typeface="Times New Roman" panose="02020503050405090304" pitchFamily="18" charset="0"/>
              </a:rPr>
              <a:t>Scheduled Time (D) = c*(E)</a:t>
            </a:r>
            <a:r>
              <a:rPr lang="en-US" baseline="30000" dirty="0">
                <a:latin typeface="Times New Roman" panose="02020503050405090304" pitchFamily="18" charset="0"/>
                <a:cs typeface="Times New Roman" panose="02020503050405090304" pitchFamily="18" charset="0"/>
              </a:rPr>
              <a:t>d</a:t>
            </a:r>
            <a:r>
              <a:rPr lang="en-US" b="1" baseline="30000"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 2.5*(1668.07)</a:t>
            </a:r>
            <a:r>
              <a:rPr lang="en-US" baseline="30000" dirty="0">
                <a:latin typeface="Times New Roman" panose="02020503050405090304" pitchFamily="18" charset="0"/>
                <a:cs typeface="Times New Roman" panose="02020503050405090304" pitchFamily="18" charset="0"/>
              </a:rPr>
              <a:t>0.35</a:t>
            </a:r>
            <a:r>
              <a:rPr lang="en-US" dirty="0">
                <a:latin typeface="Times New Roman" panose="02020503050405090304" pitchFamily="18" charset="0"/>
                <a:cs typeface="Times New Roman" panose="02020503050405090304" pitchFamily="18" charset="0"/>
              </a:rPr>
              <a:t> = 33.55 Months(M)</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Detailed/Advanced COCOMO Model</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38200" y="1825625"/>
            <a:ext cx="5780313" cy="4096204"/>
          </a:xfrm>
        </p:spPr>
        <p:txBody>
          <a:bodyPr>
            <a:normAutofit fontScale="85000" lnSpcReduction="10000"/>
          </a:bodyPr>
          <a:lstStyle/>
          <a:p>
            <a:r>
              <a:rPr lang="en-US" dirty="0">
                <a:latin typeface="Times New Roman" panose="02020503050405090304" pitchFamily="18" charset="0"/>
                <a:cs typeface="Times New Roman" panose="02020503050405090304" pitchFamily="18" charset="0"/>
              </a:rPr>
              <a:t>The model accounts for the influence of the individual development phase (analysis, design, etc.) of the project.</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It uses multipliers for each phase of the project. It gives more accurate estimations</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whole software is divided into different modules and then we apply COCOMO in different modules to estimate effort and then sum the effort.</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For instance, detailed COCOMO will perform cost estimation in each development phase of the Waterfall Model</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pic>
        <p:nvPicPr>
          <p:cNvPr id="4" name="Picture 3"/>
          <p:cNvPicPr>
            <a:picLocks noChangeAspect="1"/>
          </p:cNvPicPr>
          <p:nvPr/>
        </p:nvPicPr>
        <p:blipFill>
          <a:blip r:embed="rId1"/>
          <a:stretch>
            <a:fillRect/>
          </a:stretch>
        </p:blipFill>
        <p:spPr>
          <a:xfrm>
            <a:off x="6887119" y="1587546"/>
            <a:ext cx="4744692" cy="3637597"/>
          </a:xfrm>
          <a:prstGeom prst="rect">
            <a:avLst/>
          </a:prstGeom>
        </p:spPr>
      </p:pic>
      <p:sp>
        <p:nvSpPr>
          <p:cNvPr id="5" name="Slide Number Placeholder 4"/>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Detailed/Advanced COCOMO Model</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503050405090304" pitchFamily="18" charset="0"/>
                <a:cs typeface="Times New Roman" panose="02020503050405090304" pitchFamily="18" charset="0"/>
              </a:rPr>
              <a:t>In the Detailed COCOMO Model, the cost of each subsystem is estimated separately. This approach reduces the margin of error in the final estimate.</a:t>
            </a: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Example:</a:t>
            </a:r>
            <a:r>
              <a:rPr lang="en-US" dirty="0">
                <a:latin typeface="Times New Roman" panose="02020503050405090304" pitchFamily="18" charset="0"/>
                <a:cs typeface="Times New Roman" panose="02020503050405090304" pitchFamily="18" charset="0"/>
              </a:rPr>
              <a:t> A distributed Management Information System (MIS) product for an organization having offices at several places across the country can have the following sub-components:</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Database part</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Graphical User Interface (GUI) part</a:t>
            </a:r>
            <a:endParaRPr lang="en-US" dirty="0">
              <a:latin typeface="Times New Roman" panose="02020503050405090304" pitchFamily="18" charset="0"/>
              <a:cs typeface="Times New Roman" panose="02020503050405090304" pitchFamily="18" charset="0"/>
            </a:endParaRPr>
          </a:p>
          <a:p>
            <a:pPr lvl="1"/>
            <a:r>
              <a:rPr lang="en-US" dirty="0">
                <a:latin typeface="Times New Roman" panose="02020503050405090304" pitchFamily="18" charset="0"/>
                <a:cs typeface="Times New Roman" panose="02020503050405090304" pitchFamily="18" charset="0"/>
              </a:rPr>
              <a:t>Communication part</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Of these, the communication part can be considered as Embedded software. The database part could be Semi-detached software, and the GUI part Organic software.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The costs for these three components can be estimated separately, and summed up to give the overall cost of the system</a:t>
            </a:r>
            <a:endParaRPr lang="en-US" dirty="0">
              <a:latin typeface="Times New Roman" panose="02020503050405090304" pitchFamily="18" charset="0"/>
              <a:cs typeface="Times New Roman" panose="02020503050405090304" pitchFamily="18" charset="0"/>
            </a:endParaRPr>
          </a:p>
          <a:p>
            <a:pPr marL="0" indent="0">
              <a:buNone/>
            </a:pP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18383</Words>
  <Application>WPS Presentation</Application>
  <PresentationFormat>Widescreen</PresentationFormat>
  <Paragraphs>1069</Paragraphs>
  <Slides>56</Slides>
  <Notes>1</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4</vt:i4>
      </vt:variant>
      <vt:variant>
        <vt:lpstr>幻灯片标题</vt:lpstr>
      </vt:variant>
      <vt:variant>
        <vt:i4>56</vt:i4>
      </vt:variant>
    </vt:vector>
  </HeadingPairs>
  <TitlesOfParts>
    <vt:vector size="81" baseType="lpstr">
      <vt:lpstr>Arial</vt:lpstr>
      <vt:lpstr>SimSun</vt:lpstr>
      <vt:lpstr>Wingdings</vt:lpstr>
      <vt:lpstr>Times New Roman</vt:lpstr>
      <vt:lpstr>Courier New</vt:lpstr>
      <vt:lpstr>Calibri</vt:lpstr>
      <vt:lpstr>Helvetica Neue</vt:lpstr>
      <vt:lpstr>Microsoft YaHei</vt:lpstr>
      <vt:lpstr>汉仪旗黑</vt:lpstr>
      <vt:lpstr>Arial Unicode MS</vt:lpstr>
      <vt:lpstr>Calibri Light</vt:lpstr>
      <vt:lpstr>Verdana</vt:lpstr>
      <vt:lpstr>BatangChe</vt:lpstr>
      <vt:lpstr>Apple SD Gothic Neo</vt:lpstr>
      <vt:lpstr>Helvetica</vt:lpstr>
      <vt:lpstr>Cambria Math</vt:lpstr>
      <vt:lpstr>Kingsoft Math</vt:lpstr>
      <vt:lpstr>Arial Unicode MS</vt:lpstr>
      <vt:lpstr>DejaVu Math TeX Gyre</vt:lpstr>
      <vt:lpstr>汉仪书宋二KW</vt:lpstr>
      <vt:lpstr>Office Theme</vt:lpstr>
      <vt:lpstr>Paint.Picture</vt:lpstr>
      <vt:lpstr>PBrush</vt:lpstr>
      <vt:lpstr>Paint.Picture</vt:lpstr>
      <vt:lpstr>PBrush</vt:lpstr>
      <vt:lpstr>Measuring Internal Product Attributes</vt:lpstr>
      <vt:lpstr>Internal Product Attributes</vt:lpstr>
      <vt:lpstr>Software Size</vt:lpstr>
      <vt:lpstr>Properties of Valid Software Size Measurement</vt:lpstr>
      <vt:lpstr>Code Size</vt:lpstr>
      <vt:lpstr>LOC Definitions</vt:lpstr>
      <vt:lpstr>Halstead’s Approach</vt:lpstr>
      <vt:lpstr>Halstead’s Approach</vt:lpstr>
      <vt:lpstr>Halstead’s Approach Example</vt:lpstr>
      <vt:lpstr>Halstead’s Approach Example</vt:lpstr>
      <vt:lpstr>Insight</vt:lpstr>
      <vt:lpstr>Alternative Size Measures</vt:lpstr>
      <vt:lpstr>Design Size</vt:lpstr>
      <vt:lpstr>Design Size</vt:lpstr>
      <vt:lpstr>Design Size</vt:lpstr>
      <vt:lpstr>Requirement Analysis and Specification Size</vt:lpstr>
      <vt:lpstr>Cost of a Project</vt:lpstr>
      <vt:lpstr>Software Cost Estimation</vt:lpstr>
      <vt:lpstr>Actual View</vt:lpstr>
      <vt:lpstr>Effort ( using LOC)</vt:lpstr>
      <vt:lpstr>Productivity</vt:lpstr>
      <vt:lpstr>Schedule and Average Staffing</vt:lpstr>
      <vt:lpstr>Cost Estimation Process</vt:lpstr>
      <vt:lpstr>Project Size - Metrics</vt:lpstr>
      <vt:lpstr>Project Size - Metrics</vt:lpstr>
      <vt:lpstr>Function Points</vt:lpstr>
      <vt:lpstr>Function Points Calculation</vt:lpstr>
      <vt:lpstr>Function Points (cont.)</vt:lpstr>
      <vt:lpstr>Function Points (cont.)</vt:lpstr>
      <vt:lpstr>Function Points (cont.)</vt:lpstr>
      <vt:lpstr>Function Points (cont.)</vt:lpstr>
      <vt:lpstr>Function Points Example</vt:lpstr>
      <vt:lpstr>Function Points Example</vt:lpstr>
      <vt:lpstr>Function Points Example</vt:lpstr>
      <vt:lpstr>Function Points Example</vt:lpstr>
      <vt:lpstr>Function Points Example</vt:lpstr>
      <vt:lpstr>Function Points Example</vt:lpstr>
      <vt:lpstr>Function Points Example</vt:lpstr>
      <vt:lpstr>Relation between LOC and FP</vt:lpstr>
      <vt:lpstr>Relation between LOC and FP</vt:lpstr>
      <vt:lpstr>IFPUG</vt:lpstr>
      <vt:lpstr>COCOMO I</vt:lpstr>
      <vt:lpstr>COCOMO I</vt:lpstr>
      <vt:lpstr>COCOMO I</vt:lpstr>
      <vt:lpstr>Types of COCOMO Models</vt:lpstr>
      <vt:lpstr>Basic COCOMO Model</vt:lpstr>
      <vt:lpstr>Basic COCOMO Model</vt:lpstr>
      <vt:lpstr>Basic COCOMO model</vt:lpstr>
      <vt:lpstr>Intermediate COCOMO Model</vt:lpstr>
      <vt:lpstr>Classification of Cost Drivers and their Attributes</vt:lpstr>
      <vt:lpstr>Cost Drivers and Ratings</vt:lpstr>
      <vt:lpstr>Cost Drivers and Ratings</vt:lpstr>
      <vt:lpstr>Cost Drivers and Ratings (Together)</vt:lpstr>
      <vt:lpstr>Example</vt:lpstr>
      <vt:lpstr>Detailed/Advanced COCOMO Model</vt:lpstr>
      <vt:lpstr>Detailed/Advanced COCOMO Model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Internal Product Attributes</dc:title>
  <dc:creator>Windows User</dc:creator>
  <cp:lastModifiedBy>Rakibul</cp:lastModifiedBy>
  <cp:revision>152</cp:revision>
  <dcterms:created xsi:type="dcterms:W3CDTF">2025-08-07T02:31:56Z</dcterms:created>
  <dcterms:modified xsi:type="dcterms:W3CDTF">2025-08-07T02:31:56Z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E808D1FB658A420F1B1094689756CBB9_42</vt:lpwstr>
  </property>
  <property fmtid="{D5CDD505-2E9C-101B-9397-08002B2CF9AE}" pid="3" name="KSOProductBuildVer">
    <vt:lpwstr>1033-6.11.0.8608</vt:lpwstr>
  </property>
</Properties>
</file>