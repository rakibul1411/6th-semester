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7" r:id="rId4"/>
    <p:sldId id="277" r:id="rId5"/>
    <p:sldId id="278" r:id="rId6"/>
    <p:sldId id="279" r:id="rId7"/>
    <p:sldId id="280" r:id="rId8"/>
    <p:sldId id="260" r:id="rId9"/>
    <p:sldId id="283" r:id="rId10"/>
    <p:sldId id="262" r:id="rId11"/>
    <p:sldId id="263" r:id="rId12"/>
    <p:sldId id="282" r:id="rId13"/>
    <p:sldId id="261" r:id="rId14"/>
    <p:sldId id="264" r:id="rId15"/>
    <p:sldId id="275" r:id="rId16"/>
    <p:sldId id="265" r:id="rId17"/>
    <p:sldId id="266" r:id="rId18"/>
    <p:sldId id="267" r:id="rId19"/>
    <p:sldId id="258" r:id="rId20"/>
    <p:sldId id="274" r:id="rId21"/>
    <p:sldId id="268" r:id="rId22"/>
    <p:sldId id="269" r:id="rId23"/>
    <p:sldId id="270" r:id="rId24"/>
    <p:sldId id="271" r:id="rId25"/>
    <p:sldId id="272" r:id="rId26"/>
    <p:sldId id="273" r:id="rId27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2C6A1-67C4-4309-A2C8-4243E6A14C2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EACCC-7ABB-49D3-B5D0-6FC7C44817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CBCC4-6F88-4CB0-BB39-C1554EAD3E3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B6F6-C1C5-40C9-8A25-77644E97E8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2B5C-80C3-4F9B-AF48-8B53FD59983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44D5-88BC-4AE1-A44D-A9813BAAD7B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9F3D9-8B43-4ED0-9A4F-C271974E151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6983-5E7A-42D6-BB4D-B8F32B930E8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C10-C0C5-49CC-A655-F2B408ED374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11BB0-310C-4A0B-8B4E-06777F5215C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DEDE-5371-49D3-A33D-871001AFE9D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790DC-56A5-4647-9673-73907368E2D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F613-4D91-435F-BE06-21E04BE6908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C175C-519B-4434-B1C3-9C73D63B601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emf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Analyzing Measurement Data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Chapter 6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75" y="29490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Probability Distribution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575" y="177183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probability distribution for an experiment is the assignment of probability values to each of the possible outcomes.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probability density function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(PDF) is a mathematical function that describes a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continuous probability distribution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It provides the 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probability density 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each value of a variable.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Normal (Gaussian) Distribution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Distribution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Chi-Square Distribution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Classical Data Analysis Techniques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After collecting relevant data we must analyze it appropriately. We need a proper understanding of the following notions: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Measure of central tendency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Measure of dispersion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Distribution of data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Student’s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-test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-statistic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Level of significance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Confidence limits…. and more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Nature of Data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80464" y="1825625"/>
            <a:ext cx="6678866" cy="41333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000" y="5958992"/>
            <a:ext cx="8172000" cy="495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Nature of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68723" y="1825625"/>
            <a:ext cx="4577353" cy="4102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492" y="5949781"/>
            <a:ext cx="6674173" cy="54309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Nature of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86114" y="1825625"/>
            <a:ext cx="5115336" cy="41069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471" y="6014245"/>
            <a:ext cx="5407118" cy="50405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Distribution of Software Measurements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994557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used for most of the software measurements may follow the different types of distribution. The normal distribution is common.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we do not know anything about the distribution, there are a number of approaches to dealing with our lack of knowledge: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Robust statistics and nonparametric methods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Regardless of whether the data are normally distributed or not,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robust methods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yield meaningful results.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Nonparametric statistical techniques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allow us to test various hypotheses about the dataset without relying on the properties of a normal distribution.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particular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nonparametric techniques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often use properties of the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ranking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the data.  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Robust statistics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Common Robust Methods: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Median &amp; MAD: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Robust alternatives to mean and standard deviation.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Trimmed/</a:t>
            </a:r>
            <a:r>
              <a:rPr lang="en-US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Winsorized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Means: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Reduce outlier influence by trimming or capping extreme values.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Robust Regression: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Least Absolute Deviations (LAD):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Minimizes absolute errors (less sensitive to outliers).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RANSAC (Random Sample Consensus):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Iteratively fits models to outlier-free subsets.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Datasets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83260" y="1825625"/>
            <a:ext cx="6025480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Datasets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97834" y="1825625"/>
            <a:ext cx="3996331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Analysis Techniques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Many robust techniques are useful with software measurement data,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regardless of the distribution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(i.e., normal, non-normal)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can implement them using simple spreadsheets or statistical packages.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7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of Simple Analysis Techniques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036" y="141155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Box plots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measurement datasets are often not normally distributed, and the measurements may not be on a ratio scale. 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Box plots use to represent non-normal data. 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Box plots are constructed from three summary statistics: 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median (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), the upper quartile (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), and the lower quartile (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 Where (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u) is defined as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median of the values more than 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m. (l) defined as the median of the values less than m</a:t>
            </a:r>
            <a:endParaRPr lang="en-US" sz="2000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box length (</a:t>
            </a:r>
            <a:r>
              <a:rPr lang="en-US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is the distance from the upper quartile (</a:t>
            </a:r>
            <a:r>
              <a:rPr lang="en-US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to the lower (</a:t>
            </a:r>
            <a:r>
              <a:rPr lang="en-US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 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tails are the theoretical bounds between which we are likely to find all the data points if the distribution is normal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716" y="4303725"/>
            <a:ext cx="9139201" cy="194467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3728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Box plots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0261" y="2952625"/>
            <a:ext cx="9496201" cy="368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3804" y="1526875"/>
            <a:ext cx="35454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Upper tail value =</a:t>
            </a:r>
            <a:r>
              <a:rPr lang="en-US" i="1" dirty="0"/>
              <a:t> u+1.5d(IQR)</a:t>
            </a:r>
            <a:endParaRPr lang="en-US" i="1" dirty="0"/>
          </a:p>
          <a:p>
            <a:r>
              <a:rPr lang="en-US" dirty="0"/>
              <a:t>Lower tail value = </a:t>
            </a:r>
            <a:r>
              <a:rPr lang="en-US" i="1" dirty="0"/>
              <a:t>l</a:t>
            </a:r>
            <a:r>
              <a:rPr lang="en-US" dirty="0"/>
              <a:t>-1.5</a:t>
            </a:r>
            <a:r>
              <a:rPr lang="en-US" i="1" dirty="0"/>
              <a:t>d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0535"/>
            <a:ext cx="10515600" cy="991870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Box plots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7125" y="1216024"/>
            <a:ext cx="8344027" cy="500299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Bar Charts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Unlike box plots, bar charts allow us to readily identify the entity associated with each measured value.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248" y="2610507"/>
            <a:ext cx="5033700" cy="3862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Control Charts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Helps to see when your data are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within acceptable bounds.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211" y="2354725"/>
            <a:ext cx="7104301" cy="36668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Scatter plots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5128" y="1887224"/>
            <a:ext cx="8710801" cy="39516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6071" y="1969603"/>
            <a:ext cx="5063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Useful to represent relationship between two attributes (pair)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helpful for more than two variables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 Testing Approaches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key criterion for testing a hypothesis is a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“test of significance”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which evaluates the probability that a relationship was due to chance.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classical approaches examine whether or not the null hypothesis can be refuted with some predetermined confidence level, often 0.05 (5%).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Using the 0.05 confidence level, we can refute the null hypothesis only if our evidence is so strong that there is only a probability of 5% that, in spite of an apparent relationship, the null hypothesis is really true.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Type-I and Type-II errors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1601508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Rejecting the null hypothesis when it is true is a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Type-I error</a:t>
            </a:r>
            <a:endParaRPr lang="en-US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Accepting the null hypothesis when it is actually false is called a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Type-II error</a:t>
            </a:r>
            <a:endParaRPr lang="en-US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078" y="2694935"/>
            <a:ext cx="7667346" cy="41630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Measures of Association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Scatter plots depict the behavior of two attributes, and sometimes we can determine that the two attributes are related.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appearance of a relationship is not enough evidence to draw conclusions.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Statistical techniques that can help us evaluate the likelihood that the relationship seen in the past will be seen again in the future.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call these techniques </a:t>
            </a:r>
            <a:r>
              <a:rPr lang="en-US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measures of association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the measures are supported by statistical tests that check whether the association is significant.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Pearson correlation coefficient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</a:t>
            </a:r>
            <a:r>
              <a:rPr 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normally distributed attribute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values,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Pearson correlation coefficient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a valuable measure of association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Let’s consider two attributes, say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(size of a module)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(number of faults in the module)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the datasets of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 are normally distributed (or nearly), then we can form pairs (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22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22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22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where there are </a:t>
            </a:r>
            <a:r>
              <a:rPr lang="en-US" sz="22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items and we want to measure the association between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total number of pairs is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for each attribute, we calculate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mean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variance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We represent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mean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 by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2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mean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 by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2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Likewise, </a:t>
            </a:r>
            <a:r>
              <a:rPr lang="en-US" sz="2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var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is the variance of the set of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values, and </a:t>
            </a:r>
            <a:r>
              <a:rPr lang="en-US" sz="2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var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is the variance of the </a:t>
            </a:r>
            <a:r>
              <a:rPr lang="en-US" sz="2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values. Finally, we calculate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05" y="5515412"/>
            <a:ext cx="3534300" cy="1023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Pearson correlation coefficient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value of </a:t>
            </a:r>
            <a:r>
              <a:rPr lang="en-US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called the correlation coefficient, varies from −1 to 1.</a:t>
            </a:r>
            <a:endParaRPr lang="en-US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1, then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have a perfect positive linear relationship; that is, when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increases, then so do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equal linear steps.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Similarly, −1 indicates a perfect negative linear relationship (i.e., when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increases,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decreases linearly), and </a:t>
            </a:r>
            <a:r>
              <a:rPr 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 indicates no relationship between </a:t>
            </a:r>
            <a:r>
              <a:rPr lang="en-US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 </a:t>
            </a:r>
            <a:r>
              <a:rPr 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 </a:t>
            </a:r>
            <a:endParaRPr lang="en-US" sz="2400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Statistical tests can be used to check whether a calculated value of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significantly different from zero at a specified level of significance; in other words, the computation of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must be accompanied by a test to indicate how much confidence we should have in the association (strength of association).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Chi-square test?</a:t>
            </a:r>
            <a:endParaRPr lang="en-US" sz="24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Linear Regression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5195"/>
                <a:ext cx="10764328" cy="4229186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 algn="just">
                  <a:buNone/>
                </a:pPr>
                <a:endParaRPr lang="en-US" sz="3600" dirty="0"/>
              </a:p>
              <a:p>
                <a:pPr algn="just"/>
                <a:r>
                  <a:rPr lang="en-US" sz="36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Regression analysis is a set of statistical methods used for the </a:t>
                </a:r>
                <a:r>
                  <a:rPr lang="en-US" sz="36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estimation of relationships between a dependent variable and one or more independent variables.</a:t>
                </a:r>
                <a:endParaRPr lang="en-US" sz="36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algn="just"/>
                <a:r>
                  <a:rPr lang="en-US" sz="36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Linear regression expresses an association (between dependent and independent variables) as a linear formula</a:t>
                </a:r>
                <a:endParaRPr lang="en-US" sz="36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algn="just"/>
                <a:r>
                  <a:rPr lang="en-US" sz="36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 The simple linear model is expressed using the following equation:</a:t>
                </a:r>
                <a:endParaRPr lang="en-US" sz="36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0" indent="0">
                  <a:buNone/>
                </a:pPr>
                <a:endParaRPr lang="en-US" sz="26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3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300" dirty="0"/>
              </a:p>
              <a:p>
                <a:pPr marL="0" indent="0">
                  <a:buNone/>
                </a:pPr>
                <a:r>
                  <a:rPr lang="en-US" dirty="0"/>
                  <a:t> Where: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 – Dependent variable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 – Independent (explanatory) variable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 – Intercept (constant)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 – Slope                             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 – Residual (error)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5195"/>
                <a:ext cx="10764328" cy="4229186"/>
              </a:xfrm>
              <a:blipFill rotWithShape="1">
                <a:blip r:embed="rId1"/>
                <a:stretch>
                  <a:fillRect t="-625" r="4" b="-29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8385012" y="3281443"/>
                <a:ext cx="2909514" cy="6845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012" y="3281443"/>
                <a:ext cx="2909514" cy="684546"/>
              </a:xfrm>
              <a:prstGeom prst="rect">
                <a:avLst/>
              </a:prstGeom>
              <a:blipFill rotWithShape="1">
                <a:blip r:embed="rId2"/>
                <a:stretch>
                  <a:fillRect l="-16" t="-58" r="14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385012" y="3965989"/>
                <a:ext cx="1701043" cy="391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012" y="3965989"/>
                <a:ext cx="1701043" cy="391261"/>
              </a:xfrm>
              <a:prstGeom prst="rect">
                <a:avLst/>
              </a:prstGeom>
              <a:blipFill rotWithShape="1">
                <a:blip r:embed="rId3"/>
                <a:stretch>
                  <a:fillRect l="-28" t="-106" r="21" b="1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788" y="4482524"/>
            <a:ext cx="4541469" cy="217567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Linear Regression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597770" cy="39540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vertical distance from each point to the trend line represents the discrepancy between the data and the line. We need to keep the distance as small as possible. 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discrepancy for each point is called the residual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the formula for generating the linear regression line minimizes the sum of the squares of residuals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residuals values can be plotted (scatter plot) in a graph and can demonstrate if any values are unusually large. 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730" y="1825624"/>
            <a:ext cx="4325657" cy="318632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Classification Tree Analysis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82109" cy="391094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Often we want to know which measures provide the </a:t>
            </a:r>
            <a:r>
              <a:rPr lang="en-US" sz="2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best information about a particular goal or behavior. </a:t>
            </a:r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is which measures are best predictors of the behavior in a given attribute. 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Classification tree analysis can be used to address this problem. 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you want to determine which of the metrics are the best predictors of poor quality code modules among a large number of collected code module data. </a:t>
            </a:r>
            <a:endParaRPr 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7354" y="1368425"/>
            <a:ext cx="4299680" cy="45033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20309" y="5934974"/>
            <a:ext cx="1617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+ poor quality; </a:t>
            </a:r>
            <a:endParaRPr lang="en-US" dirty="0"/>
          </a:p>
          <a:p>
            <a:r>
              <a:rPr lang="en-US" dirty="0"/>
              <a:t>- good quality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Principal Component Analysis (PCA)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Principal Component Analysis, or PCA,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a dimensionality-reduction method that is often used to reduce the dimensionality of large data sets,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by transforming a large set of variables into a smaller one that still contains most of the information in the large set.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Reducing the number of variables of a data set naturally comes at the expense of accuracy, but the trick in dimensionality reduction is to trade a little accuracy for simplicity. Because smaller data sets are easier to explore and visualize and make analyzing data much easier and faster.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 to sum up, the idea of PCA is simple —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reduce the number of variables of a data set, while preserving as much information as possible.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8183</Words>
  <Application>WPS Presentation</Application>
  <PresentationFormat>Widescreen</PresentationFormat>
  <Paragraphs>222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Times New Roman</vt:lpstr>
      <vt:lpstr>Calibri</vt:lpstr>
      <vt:lpstr>Helvetica Neue</vt:lpstr>
      <vt:lpstr>Microsoft YaHei</vt:lpstr>
      <vt:lpstr>汉仪旗黑</vt:lpstr>
      <vt:lpstr>Arial Unicode MS</vt:lpstr>
      <vt:lpstr>Calibri Light</vt:lpstr>
      <vt:lpstr>Cambria Math</vt:lpstr>
      <vt:lpstr>Kingsoft Math</vt:lpstr>
      <vt:lpstr>DejaVu Math TeX Gyre</vt:lpstr>
      <vt:lpstr>汉仪书宋二KW</vt:lpstr>
      <vt:lpstr>Office Theme</vt:lpstr>
      <vt:lpstr>Analyzing Measurement Data</vt:lpstr>
      <vt:lpstr>Probability Distribution</vt:lpstr>
      <vt:lpstr>Classical Data Analysis Techniques</vt:lpstr>
      <vt:lpstr>Nature of Data</vt:lpstr>
      <vt:lpstr>Nature of Data</vt:lpstr>
      <vt:lpstr>Nature of Data</vt:lpstr>
      <vt:lpstr>Distribution of Software Measurements</vt:lpstr>
      <vt:lpstr>Robust statistics</vt:lpstr>
      <vt:lpstr>Example Datasets</vt:lpstr>
      <vt:lpstr>Example Datasets</vt:lpstr>
      <vt:lpstr>Analysis Techniques</vt:lpstr>
      <vt:lpstr>Example of Simple Analysis Techniques</vt:lpstr>
      <vt:lpstr>Box plots</vt:lpstr>
      <vt:lpstr>Box plots</vt:lpstr>
      <vt:lpstr>Bar Charts</vt:lpstr>
      <vt:lpstr>Control Charts</vt:lpstr>
      <vt:lpstr>Scatter plots</vt:lpstr>
      <vt:lpstr>Hypothesis Testing Approaches</vt:lpstr>
      <vt:lpstr>Type-I and Type-II errors</vt:lpstr>
      <vt:lpstr>Measures of Association</vt:lpstr>
      <vt:lpstr>Pearson correlation coefficient</vt:lpstr>
      <vt:lpstr>Pearson correlation coefficient</vt:lpstr>
      <vt:lpstr>Linear Regression</vt:lpstr>
      <vt:lpstr>Linear Regression</vt:lpstr>
      <vt:lpstr>Classification Tree Analysis</vt:lpstr>
      <vt:lpstr>Principal Component Analysis (PCA)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Rakibul</cp:lastModifiedBy>
  <cp:revision>105</cp:revision>
  <dcterms:created xsi:type="dcterms:W3CDTF">2025-08-02T18:37:30Z</dcterms:created>
  <dcterms:modified xsi:type="dcterms:W3CDTF">2025-08-02T18:37:30Z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4DCC15C3C1C9606B7B9A4F680E5F8FE4_42</vt:lpwstr>
  </property>
  <property fmtid="{D5CDD505-2E9C-101B-9397-08002B2CF9AE}" pid="3" name="KSOProductBuildVer">
    <vt:lpwstr>1033-6.11.0.8608</vt:lpwstr>
  </property>
</Properties>
</file>