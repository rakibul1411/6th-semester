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3"/>
    <p:sldId id="274" r:id="rId4"/>
    <p:sldId id="275" r:id="rId5"/>
    <p:sldId id="276" r:id="rId6"/>
    <p:sldId id="277" r:id="rId7"/>
    <p:sldId id="278" r:id="rId8"/>
    <p:sldId id="279" r:id="rId9"/>
    <p:sldId id="284" r:id="rId10"/>
    <p:sldId id="280" r:id="rId11"/>
    <p:sldId id="281" r:id="rId12"/>
    <p:sldId id="282" r:id="rId13"/>
    <p:sldId id="285" r:id="rId14"/>
    <p:sldId id="257" r:id="rId15"/>
    <p:sldId id="258" r:id="rId16"/>
    <p:sldId id="273"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notesMaster" Target="notesMasters/notesMaster1.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3F5D6-70BA-4741-A1AB-3B12763602DE}"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868404-1991-4650-A2C0-7BABDE8487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A00539E-3E43-42C3-AF6F-C961DF2BF2E6}"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BD19427-2228-4394-8791-4F74744C2A35}"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BC3BE644-8393-43F6-9FA8-6542E5DEE956}"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0179DE66-716A-432D-A12E-C27D2967F18D}"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746F5BF2-DDD5-49A4-8A4B-0CC1C74F6F22}"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A1FF750-4D60-4B76-B493-0B74BFCFF1EF}"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9BBCEB-2936-4924-866F-D504C5EE41E3}"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232B05BE-103D-4564-A9A2-C0AE929629F3}"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07C5F05E-700A-4901-AF10-F41DA5D8577B}"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6770F2D-957C-4582-9088-13D1EDF37923}"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C88E4B3-EEF1-49B5-9C66-9AB53C11E5A1}"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ED8C2F-FD2D-4DDE-BC3A-B688AC81213A}"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07D28F-5A9D-4E18-8428-07D5AC5FC28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503050405090304" pitchFamily="18" charset="0"/>
                <a:cs typeface="Times New Roman" panose="02020503050405090304" pitchFamily="18" charset="0"/>
              </a:rPr>
              <a:t>Data Collection Techniques and ANOVA </a:t>
            </a:r>
            <a:r>
              <a:rPr lang="en-US" dirty="0" smtClean="0">
                <a:latin typeface="Times New Roman" panose="02020503050405090304" pitchFamily="18" charset="0"/>
                <a:cs typeface="Times New Roman" panose="02020503050405090304" pitchFamily="18" charset="0"/>
              </a:rPr>
              <a:t>Test</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Software Metrics Data Collection</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838200" y="1942467"/>
            <a:ext cx="10515600" cy="4117653"/>
          </a:xfrm>
          <a:prstGeom prst="rect">
            <a:avLst/>
          </a:prstGeom>
        </p:spPr>
      </p:pic>
      <p:sp>
        <p:nvSpPr>
          <p:cNvPr id="3" name="Slide Number Placeholder 2"/>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What is Good Data?</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r>
              <a:rPr lang="en-US" dirty="0">
                <a:latin typeface="Times New Roman" panose="02020503050405090304" pitchFamily="18" charset="0"/>
                <a:cs typeface="Times New Roman" panose="02020503050405090304" pitchFamily="18" charset="0"/>
              </a:rPr>
              <a:t>Are they correct? </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Are they accurate? </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Are they appropriately precise? </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Are they consistent?</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Are they associated with a particular activity or time period? </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Can they be replicated?</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How to Define the Data</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1871801" y="1690688"/>
            <a:ext cx="8448398" cy="4595269"/>
          </a:xfrm>
          <a:prstGeom prst="rect">
            <a:avLst/>
          </a:prstGeom>
        </p:spPr>
      </p:pic>
      <p:sp>
        <p:nvSpPr>
          <p:cNvPr id="3" name="Slide Number Placeholder 2"/>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How to Define the Data</a:t>
            </a:r>
            <a:endParaRPr lang="en-US" dirty="0">
              <a:latin typeface="Times New Roman" panose="02020503050405090304" pitchFamily="18" charset="0"/>
              <a:cs typeface="Times New Roman" panose="02020503050405090304" pitchFamily="18" charset="0"/>
            </a:endParaRPr>
          </a:p>
        </p:txBody>
      </p:sp>
      <p:pic>
        <p:nvPicPr>
          <p:cNvPr id="4" name="Content Placeholder 3"/>
          <p:cNvPicPr>
            <a:picLocks noGrp="1" noChangeAspect="1"/>
          </p:cNvPicPr>
          <p:nvPr>
            <p:ph idx="1"/>
          </p:nvPr>
        </p:nvPicPr>
        <p:blipFill>
          <a:blip r:embed="rId1"/>
          <a:stretch>
            <a:fillRect/>
          </a:stretch>
        </p:blipFill>
        <p:spPr>
          <a:xfrm>
            <a:off x="2886312" y="1825625"/>
            <a:ext cx="6419376" cy="4351338"/>
          </a:xfrm>
          <a:prstGeom prst="rect">
            <a:avLst/>
          </a:prstGeom>
        </p:spPr>
      </p:pic>
      <p:sp>
        <p:nvSpPr>
          <p:cNvPr id="3" name="Slide Number Placeholder 2"/>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Data Collection Techniques for Software Field Studies</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lnSpcReduction="10000"/>
          </a:bodyPr>
          <a:lstStyle/>
          <a:p>
            <a:pPr algn="just"/>
            <a:r>
              <a:rPr lang="en-US" dirty="0">
                <a:solidFill>
                  <a:srgbClr val="FF0000"/>
                </a:solidFill>
                <a:latin typeface="Times New Roman" panose="02020503050405090304" pitchFamily="18" charset="0"/>
                <a:cs typeface="Times New Roman" panose="02020503050405090304" pitchFamily="18" charset="0"/>
              </a:rPr>
              <a:t>Interviews and questionnaires are the most straightforward instruments,</a:t>
            </a:r>
            <a:r>
              <a:rPr lang="en-US" dirty="0">
                <a:latin typeface="Times New Roman" panose="02020503050405090304" pitchFamily="18" charset="0"/>
                <a:cs typeface="Times New Roman" panose="02020503050405090304" pitchFamily="18" charset="0"/>
              </a:rPr>
              <a:t> but the data they produce typically present an incomplete picture.</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For example, assume your goal is to assess which programming language features are most error-prone. A developer can give you general opinions and anecdotal evidence about this; </a:t>
            </a:r>
            <a:r>
              <a:rPr lang="en-US" dirty="0" smtClean="0">
                <a:latin typeface="Times New Roman" panose="02020503050405090304" pitchFamily="18" charset="0"/>
                <a:cs typeface="Times New Roman" panose="02020503050405090304" pitchFamily="18" charset="0"/>
              </a:rPr>
              <a:t>however, </a:t>
            </a:r>
            <a:r>
              <a:rPr lang="en-US" dirty="0">
                <a:latin typeface="Times New Roman" panose="02020503050405090304" pitchFamily="18" charset="0"/>
                <a:cs typeface="Times New Roman" panose="02020503050405090304" pitchFamily="18" charset="0"/>
              </a:rPr>
              <a:t>you would obtain far more accurate information by recording and analyzing the </a:t>
            </a:r>
            <a:r>
              <a:rPr lang="en-US" dirty="0" smtClean="0">
                <a:latin typeface="Times New Roman" panose="02020503050405090304" pitchFamily="18" charset="0"/>
                <a:cs typeface="Times New Roman" panose="02020503050405090304" pitchFamily="18" charset="0"/>
              </a:rPr>
              <a:t>developer’s </a:t>
            </a:r>
            <a:r>
              <a:rPr lang="en-US" i="1" dirty="0">
                <a:latin typeface="Times New Roman" panose="02020503050405090304" pitchFamily="18" charset="0"/>
                <a:cs typeface="Times New Roman" panose="02020503050405090304" pitchFamily="18" charset="0"/>
              </a:rPr>
              <a:t>work practices - </a:t>
            </a:r>
            <a:r>
              <a:rPr lang="en-US" dirty="0">
                <a:latin typeface="Times New Roman" panose="02020503050405090304" pitchFamily="18" charset="0"/>
                <a:cs typeface="Times New Roman" panose="02020503050405090304" pitchFamily="18" charset="0"/>
              </a:rPr>
              <a:t>their efforts at repeatedly editing and compiling code</a:t>
            </a:r>
            <a:endParaRPr lang="en-US" dirty="0">
              <a:latin typeface="Times New Roman" panose="02020503050405090304" pitchFamily="18" charset="0"/>
              <a:cs typeface="Times New Roman" panose="02020503050405090304" pitchFamily="18" charset="0"/>
            </a:endParaRPr>
          </a:p>
          <a:p>
            <a:r>
              <a:rPr lang="en-US" dirty="0">
                <a:latin typeface="Times New Roman" panose="02020503050405090304" pitchFamily="18" charset="0"/>
                <a:cs typeface="Times New Roman" panose="02020503050405090304" pitchFamily="18" charset="0"/>
              </a:rPr>
              <a:t>To learn about different aspects of a phenomenon, it is often best to use multiple data collection methods</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A Taxonomy of Data Collection</a:t>
            </a:r>
            <a:endParaRPr lang="en-US" dirty="0">
              <a:latin typeface="Times New Roman" panose="02020503050405090304" pitchFamily="18" charset="0"/>
              <a:cs typeface="Times New Roman" panose="02020503050405090304" pitchFamily="18" charset="0"/>
            </a:endParaRPr>
          </a:p>
        </p:txBody>
      </p:sp>
      <p:pic>
        <p:nvPicPr>
          <p:cNvPr id="8" name="Content Placeholder 7"/>
          <p:cNvPicPr>
            <a:picLocks noGrp="1" noChangeAspect="1"/>
          </p:cNvPicPr>
          <p:nvPr>
            <p:ph idx="1"/>
          </p:nvPr>
        </p:nvPicPr>
        <p:blipFill>
          <a:blip r:embed="rId1"/>
          <a:stretch>
            <a:fillRect/>
          </a:stretch>
        </p:blipFill>
        <p:spPr>
          <a:xfrm>
            <a:off x="1272255" y="1446683"/>
            <a:ext cx="9247464" cy="5157363"/>
          </a:xfrm>
          <a:prstGeom prst="rect">
            <a:avLst/>
          </a:prstGeom>
        </p:spPr>
      </p:pic>
      <p:sp>
        <p:nvSpPr>
          <p:cNvPr id="3" name="Slide Number Placeholder 2"/>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Data Collection Techniques</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a:bodyPr>
          <a:lstStyle/>
          <a:p>
            <a:pPr algn="just"/>
            <a:r>
              <a:rPr lang="en-US" i="1" dirty="0">
                <a:solidFill>
                  <a:srgbClr val="FF0000"/>
                </a:solidFill>
                <a:latin typeface="Times New Roman" panose="02020503050405090304" pitchFamily="18" charset="0"/>
                <a:cs typeface="Times New Roman" panose="02020503050405090304" pitchFamily="18" charset="0"/>
              </a:rPr>
              <a:t>First degree:</a:t>
            </a:r>
            <a:r>
              <a:rPr lang="en-US" i="1" dirty="0">
                <a:latin typeface="Times New Roman" panose="02020503050405090304" pitchFamily="18" charset="0"/>
                <a:cs typeface="Times New Roman" panose="02020503050405090304" pitchFamily="18" charset="0"/>
              </a:rPr>
              <a:t> </a:t>
            </a:r>
            <a:r>
              <a:rPr lang="en-US" dirty="0">
                <a:highlight>
                  <a:srgbClr val="FFFF00"/>
                </a:highlight>
                <a:latin typeface="Times New Roman" panose="02020503050405090304" pitchFamily="18" charset="0"/>
                <a:cs typeface="Times New Roman" panose="02020503050405090304" pitchFamily="18" charset="0"/>
              </a:rPr>
              <a:t>Evaluators or researchers directly interact with developers.</a:t>
            </a:r>
            <a:r>
              <a:rPr lang="en-US" dirty="0">
                <a:latin typeface="Times New Roman" panose="02020503050405090304" pitchFamily="18" charset="0"/>
                <a:cs typeface="Times New Roman" panose="02020503050405090304" pitchFamily="18" charset="0"/>
              </a:rPr>
              <a:t> They may interview developers, observe them working, or </a:t>
            </a:r>
            <a:r>
              <a:rPr lang="en-US" dirty="0" smtClean="0">
                <a:latin typeface="Times New Roman" panose="02020503050405090304" pitchFamily="18" charset="0"/>
                <a:cs typeface="Times New Roman" panose="02020503050405090304" pitchFamily="18" charset="0"/>
              </a:rPr>
              <a:t>interact directly with developers daily.</a:t>
            </a:r>
            <a:endParaRPr lang="en-US" dirty="0">
              <a:latin typeface="Times New Roman" panose="02020503050405090304" pitchFamily="18" charset="0"/>
              <a:cs typeface="Times New Roman" panose="02020503050405090304" pitchFamily="18" charset="0"/>
            </a:endParaRPr>
          </a:p>
          <a:p>
            <a:pPr algn="just"/>
            <a:r>
              <a:rPr lang="en-US" i="1" dirty="0">
                <a:solidFill>
                  <a:srgbClr val="FF0000"/>
                </a:solidFill>
                <a:latin typeface="Times New Roman" panose="02020503050405090304" pitchFamily="18" charset="0"/>
                <a:cs typeface="Times New Roman" panose="02020503050405090304" pitchFamily="18" charset="0"/>
              </a:rPr>
              <a:t>Second degree:</a:t>
            </a:r>
            <a:r>
              <a:rPr lang="en-US" i="1" dirty="0">
                <a:latin typeface="Times New Roman" panose="02020503050405090304" pitchFamily="18" charset="0"/>
                <a:cs typeface="Times New Roman" panose="02020503050405090304" pitchFamily="18" charset="0"/>
              </a:rPr>
              <a:t> </a:t>
            </a:r>
            <a:r>
              <a:rPr lang="en-US" dirty="0">
                <a:highlight>
                  <a:srgbClr val="FFFF00"/>
                </a:highlight>
                <a:latin typeface="Times New Roman" panose="02020503050405090304" pitchFamily="18" charset="0"/>
                <a:cs typeface="Times New Roman" panose="02020503050405090304" pitchFamily="18" charset="0"/>
              </a:rPr>
              <a:t>Evaluators or researchers indirectly interact with developers.</a:t>
            </a:r>
            <a:r>
              <a:rPr lang="en-US" dirty="0">
                <a:latin typeface="Times New Roman" panose="02020503050405090304" pitchFamily="18" charset="0"/>
                <a:cs typeface="Times New Roman" panose="02020503050405090304" pitchFamily="18" charset="0"/>
              </a:rPr>
              <a:t> They may </a:t>
            </a:r>
            <a:r>
              <a:rPr lang="en-US" dirty="0" smtClean="0">
                <a:latin typeface="Times New Roman" panose="02020503050405090304" pitchFamily="18" charset="0"/>
                <a:cs typeface="Times New Roman" panose="02020503050405090304" pitchFamily="18" charset="0"/>
              </a:rPr>
              <a:t>use </a:t>
            </a:r>
            <a:r>
              <a:rPr lang="en-US" dirty="0">
                <a:latin typeface="Times New Roman" panose="02020503050405090304" pitchFamily="18" charset="0"/>
                <a:cs typeface="Times New Roman" panose="02020503050405090304" pitchFamily="18" charset="0"/>
              </a:rPr>
              <a:t>software development tools to collect information or </a:t>
            </a:r>
            <a:r>
              <a:rPr lang="en-US" dirty="0" smtClean="0">
                <a:latin typeface="Times New Roman" panose="02020503050405090304" pitchFamily="18" charset="0"/>
                <a:cs typeface="Times New Roman" panose="02020503050405090304" pitchFamily="18" charset="0"/>
              </a:rPr>
              <a:t>record </a:t>
            </a:r>
            <a:r>
              <a:rPr lang="en-US" dirty="0">
                <a:latin typeface="Times New Roman" panose="02020503050405090304" pitchFamily="18" charset="0"/>
                <a:cs typeface="Times New Roman" panose="02020503050405090304" pitchFamily="18" charset="0"/>
              </a:rPr>
              <a:t>meetings or other development activities.</a:t>
            </a:r>
            <a:endParaRPr lang="en-US" dirty="0">
              <a:latin typeface="Times New Roman" panose="02020503050405090304" pitchFamily="18" charset="0"/>
              <a:cs typeface="Times New Roman" panose="02020503050405090304" pitchFamily="18" charset="0"/>
            </a:endParaRPr>
          </a:p>
          <a:p>
            <a:pPr algn="just"/>
            <a:r>
              <a:rPr lang="en-US" i="1" dirty="0">
                <a:solidFill>
                  <a:srgbClr val="FF0000"/>
                </a:solidFill>
                <a:latin typeface="Times New Roman" panose="02020503050405090304" pitchFamily="18" charset="0"/>
                <a:cs typeface="Times New Roman" panose="02020503050405090304" pitchFamily="18" charset="0"/>
              </a:rPr>
              <a:t>Third degree:</a:t>
            </a:r>
            <a:r>
              <a:rPr lang="en-US" i="1" dirty="0">
                <a:latin typeface="Times New Roman" panose="02020503050405090304" pitchFamily="18" charset="0"/>
                <a:cs typeface="Times New Roman" panose="02020503050405090304" pitchFamily="18" charset="0"/>
              </a:rPr>
              <a:t> </a:t>
            </a:r>
            <a:r>
              <a:rPr lang="en-US" dirty="0">
                <a:highlight>
                  <a:srgbClr val="FFFF00"/>
                </a:highlight>
                <a:latin typeface="Times New Roman" panose="02020503050405090304" pitchFamily="18" charset="0"/>
                <a:cs typeface="Times New Roman" panose="02020503050405090304" pitchFamily="18" charset="0"/>
              </a:rPr>
              <a:t>Evaluators have no interactions with developers.</a:t>
            </a:r>
            <a:r>
              <a:rPr lang="en-US" dirty="0">
                <a:latin typeface="Times New Roman" panose="02020503050405090304" pitchFamily="18" charset="0"/>
                <a:cs typeface="Times New Roman" panose="02020503050405090304" pitchFamily="18" charset="0"/>
              </a:rPr>
              <a:t> Rather, they study artifacts such as revision control system records, fault reports and responses, testing records, etc. Third-degree studies can be performed </a:t>
            </a:r>
            <a:r>
              <a:rPr lang="en-US" dirty="0">
                <a:highlight>
                  <a:srgbClr val="FFFF00"/>
                </a:highlight>
                <a:latin typeface="Times New Roman" panose="02020503050405090304" pitchFamily="18" charset="0"/>
                <a:cs typeface="Times New Roman" panose="02020503050405090304" pitchFamily="18" charset="0"/>
              </a:rPr>
              <a:t>retrospectively(Backward jawa-jeta hoye gache seta dekha).</a:t>
            </a:r>
            <a:endParaRPr lang="en-US" dirty="0">
              <a:highlight>
                <a:srgbClr val="FFFF00"/>
              </a:highlight>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503050405090304" pitchFamily="18" charset="0"/>
                <a:cs typeface="Times New Roman" panose="02020503050405090304" pitchFamily="18" charset="0"/>
              </a:rPr>
              <a:t>Some Definitions</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503050405090304" pitchFamily="18" charset="0"/>
                <a:cs typeface="Times New Roman" panose="02020503050405090304" pitchFamily="18" charset="0"/>
              </a:rPr>
              <a:t>A </a:t>
            </a:r>
            <a:r>
              <a:rPr lang="en-US" b="1" dirty="0">
                <a:solidFill>
                  <a:srgbClr val="FF0000"/>
                </a:solidFill>
                <a:latin typeface="Times New Roman" panose="02020503050405090304" pitchFamily="18" charset="0"/>
                <a:cs typeface="Times New Roman" panose="02020503050405090304" pitchFamily="18" charset="0"/>
              </a:rPr>
              <a:t>work diary protocol</a:t>
            </a:r>
            <a:r>
              <a:rPr lang="en-US" b="1" dirty="0">
                <a:latin typeface="Times New Roman" panose="02020503050405090304" pitchFamily="18" charset="0"/>
                <a:cs typeface="Times New Roman" panose="02020503050405090304" pitchFamily="18" charset="0"/>
              </a:rPr>
              <a:t> </a:t>
            </a:r>
            <a:r>
              <a:rPr lang="en-US" dirty="0">
                <a:latin typeface="Times New Roman" panose="02020503050405090304" pitchFamily="18" charset="0"/>
                <a:cs typeface="Times New Roman" panose="02020503050405090304" pitchFamily="18" charset="0"/>
              </a:rPr>
              <a:t>for a study involves providing participants with guidelines and instructions for maintaining a journal or diary where they document their daily work activities, tasks, thoughts, and reflections. The collected data from these diaries is then analyzed to gain insights into participants' work processes, decision-making, challenges, and experiences</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A </a:t>
            </a:r>
            <a:r>
              <a:rPr lang="en-US" b="1" dirty="0">
                <a:solidFill>
                  <a:srgbClr val="FF0000"/>
                </a:solidFill>
                <a:latin typeface="Times New Roman" panose="02020503050405090304" pitchFamily="18" charset="0"/>
                <a:cs typeface="Times New Roman" panose="02020503050405090304" pitchFamily="18" charset="0"/>
              </a:rPr>
              <a:t>think-aloud study</a:t>
            </a:r>
            <a:r>
              <a:rPr lang="en-US" b="1" dirty="0">
                <a:latin typeface="Times New Roman" panose="02020503050405090304" pitchFamily="18" charset="0"/>
                <a:cs typeface="Times New Roman" panose="02020503050405090304" pitchFamily="18" charset="0"/>
              </a:rPr>
              <a:t> </a:t>
            </a:r>
            <a:r>
              <a:rPr lang="en-US" dirty="0">
                <a:latin typeface="Times New Roman" panose="02020503050405090304" pitchFamily="18" charset="0"/>
                <a:cs typeface="Times New Roman" panose="02020503050405090304" pitchFamily="18" charset="0"/>
              </a:rPr>
              <a:t>is a research method in which participants </a:t>
            </a:r>
            <a:r>
              <a:rPr lang="en-US" dirty="0">
                <a:solidFill>
                  <a:srgbClr val="FF0000"/>
                </a:solidFill>
                <a:latin typeface="Times New Roman" panose="02020503050405090304" pitchFamily="18" charset="0"/>
                <a:cs typeface="Times New Roman" panose="02020503050405090304" pitchFamily="18" charset="0"/>
              </a:rPr>
              <a:t>verbalize their thoughts, reactions, and decision-making processes</a:t>
            </a:r>
            <a:r>
              <a:rPr lang="en-US" dirty="0">
                <a:latin typeface="Times New Roman" panose="02020503050405090304" pitchFamily="18" charset="0"/>
                <a:cs typeface="Times New Roman" panose="02020503050405090304" pitchFamily="18" charset="0"/>
              </a:rPr>
              <a:t> while performing a specific task or solving a problem.</a:t>
            </a:r>
            <a:endParaRPr lang="en-US" dirty="0">
              <a:latin typeface="Times New Roman" panose="02020503050405090304" pitchFamily="18" charset="0"/>
              <a:cs typeface="Times New Roman" panose="02020503050405090304" pitchFamily="18" charset="0"/>
            </a:endParaRPr>
          </a:p>
          <a:p>
            <a:pPr algn="just"/>
            <a:r>
              <a:rPr lang="en-US" b="1" dirty="0">
                <a:solidFill>
                  <a:srgbClr val="FF0000"/>
                </a:solidFill>
                <a:latin typeface="Times New Roman" panose="02020503050405090304" pitchFamily="18" charset="0"/>
                <a:cs typeface="Times New Roman" panose="02020503050405090304" pitchFamily="18" charset="0"/>
              </a:rPr>
              <a:t>Shadowing and observation</a:t>
            </a:r>
            <a:r>
              <a:rPr lang="en-US" b="1" dirty="0">
                <a:latin typeface="Times New Roman" panose="02020503050405090304" pitchFamily="18" charset="0"/>
                <a:cs typeface="Times New Roman" panose="02020503050405090304" pitchFamily="18" charset="0"/>
              </a:rPr>
              <a:t> </a:t>
            </a:r>
            <a:r>
              <a:rPr lang="en-US" dirty="0" smtClean="0">
                <a:latin typeface="Times New Roman" panose="02020503050405090304" pitchFamily="18" charset="0"/>
                <a:cs typeface="Times New Roman" panose="02020503050405090304" pitchFamily="18" charset="0"/>
              </a:rPr>
              <a:t>a </a:t>
            </a:r>
            <a:r>
              <a:rPr lang="en-US" dirty="0">
                <a:latin typeface="Times New Roman" panose="02020503050405090304" pitchFamily="18" charset="0"/>
                <a:cs typeface="Times New Roman" panose="02020503050405090304" pitchFamily="18" charset="0"/>
              </a:rPr>
              <a:t>research method where a researcher </a:t>
            </a:r>
            <a:r>
              <a:rPr lang="en-US" dirty="0">
                <a:solidFill>
                  <a:srgbClr val="FF0000"/>
                </a:solidFill>
                <a:latin typeface="Times New Roman" panose="02020503050405090304" pitchFamily="18" charset="0"/>
                <a:cs typeface="Times New Roman" panose="02020503050405090304" pitchFamily="18" charset="0"/>
              </a:rPr>
              <a:t>closely follows and observes a participant</a:t>
            </a:r>
            <a:r>
              <a:rPr lang="en-US" dirty="0">
                <a:latin typeface="Times New Roman" panose="02020503050405090304" pitchFamily="18" charset="0"/>
                <a:cs typeface="Times New Roman" panose="02020503050405090304" pitchFamily="18" charset="0"/>
              </a:rPr>
              <a:t> as they go about their daily activities or tasks. Researchers use this method to collect data by directly observing participants without direct involvement.</a:t>
            </a:r>
            <a:endParaRPr lang="en-US" dirty="0">
              <a:latin typeface="Times New Roman" panose="02020503050405090304" pitchFamily="18" charset="0"/>
              <a:cs typeface="Times New Roman" panose="02020503050405090304" pitchFamily="18" charset="0"/>
            </a:endParaRPr>
          </a:p>
          <a:p>
            <a:pPr algn="just"/>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Definitions</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lgn="just"/>
            <a:r>
              <a:rPr lang="en-US" b="1" dirty="0" smtClean="0">
                <a:latin typeface="Times New Roman" panose="02020503050405090304" pitchFamily="18" charset="0"/>
                <a:cs typeface="Times New Roman" panose="02020503050405090304" pitchFamily="18" charset="0"/>
              </a:rPr>
              <a:t>Fly-on-the-wall</a:t>
            </a:r>
            <a:r>
              <a:rPr lang="en-US" dirty="0" smtClean="0">
                <a:latin typeface="Times New Roman" panose="02020503050405090304" pitchFamily="18" charset="0"/>
                <a:cs typeface="Times New Roman" panose="02020503050405090304" pitchFamily="18" charset="0"/>
              </a:rPr>
              <a:t> </a:t>
            </a:r>
            <a:r>
              <a:rPr lang="en-US" dirty="0">
                <a:latin typeface="Times New Roman" panose="02020503050405090304" pitchFamily="18" charset="0"/>
                <a:cs typeface="Times New Roman" panose="02020503050405090304" pitchFamily="18" charset="0"/>
              </a:rPr>
              <a:t>research is an observational technique that allows a researcher to </a:t>
            </a:r>
            <a:r>
              <a:rPr lang="en-US" dirty="0">
                <a:solidFill>
                  <a:srgbClr val="FF0000"/>
                </a:solidFill>
                <a:latin typeface="Times New Roman" panose="02020503050405090304" pitchFamily="18" charset="0"/>
                <a:cs typeface="Times New Roman" panose="02020503050405090304" pitchFamily="18" charset="0"/>
              </a:rPr>
              <a:t>collect data by seeing and listening.</a:t>
            </a:r>
            <a:r>
              <a:rPr lang="en-US" dirty="0">
                <a:latin typeface="Times New Roman" panose="02020503050405090304" pitchFamily="18" charset="0"/>
                <a:cs typeface="Times New Roman" panose="02020503050405090304" pitchFamily="18" charset="0"/>
              </a:rPr>
              <a:t> </a:t>
            </a:r>
            <a:r>
              <a:rPr lang="en-US" dirty="0" smtClean="0">
                <a:latin typeface="Times New Roman" panose="02020503050405090304" pitchFamily="18" charset="0"/>
                <a:cs typeface="Times New Roman" panose="02020503050405090304" pitchFamily="18" charset="0"/>
              </a:rPr>
              <a:t>Usually, </a:t>
            </a:r>
            <a:r>
              <a:rPr lang="en-US" dirty="0">
                <a:latin typeface="Times New Roman" panose="02020503050405090304" pitchFamily="18" charset="0"/>
                <a:cs typeface="Times New Roman" panose="02020503050405090304" pitchFamily="18" charset="0"/>
              </a:rPr>
              <a:t>researchers employ this method to gain insight into people, environment, interactions and objects in a space. It is the primary responsibility of the researcher to </a:t>
            </a:r>
            <a:r>
              <a:rPr lang="en-US" dirty="0">
                <a:highlight>
                  <a:srgbClr val="FFFF00"/>
                </a:highlight>
                <a:latin typeface="Times New Roman" panose="02020503050405090304" pitchFamily="18" charset="0"/>
                <a:cs typeface="Times New Roman" panose="02020503050405090304" pitchFamily="18" charset="0"/>
              </a:rPr>
              <a:t>stay completely unnoticed during the observation</a:t>
            </a:r>
            <a:r>
              <a:rPr lang="en-US" dirty="0">
                <a:latin typeface="Times New Roman" panose="02020503050405090304" pitchFamily="18" charset="0"/>
                <a:cs typeface="Times New Roman" panose="02020503050405090304" pitchFamily="18" charset="0"/>
              </a:rPr>
              <a:t> so as to not bias the participants in any way</a:t>
            </a:r>
            <a:r>
              <a:rPr lang="en-US" dirty="0" smtClean="0">
                <a:latin typeface="Times New Roman" panose="02020503050405090304" pitchFamily="18" charset="0"/>
                <a:cs typeface="Times New Roman" panose="02020503050405090304" pitchFamily="18" charset="0"/>
              </a:rPr>
              <a:t>.</a:t>
            </a:r>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a:p>
            <a:r>
              <a:rPr lang="en-US" b="1" i="1" dirty="0" smtClean="0">
                <a:latin typeface="Times New Roman" panose="02020503050405090304" pitchFamily="18" charset="0"/>
                <a:cs typeface="Times New Roman" panose="02020503050405090304" pitchFamily="18" charset="0"/>
              </a:rPr>
              <a:t>The selection </a:t>
            </a:r>
            <a:r>
              <a:rPr lang="en-US" b="1" i="1" dirty="0">
                <a:latin typeface="Times New Roman" panose="02020503050405090304" pitchFamily="18" charset="0"/>
                <a:cs typeface="Times New Roman" panose="02020503050405090304" pitchFamily="18" charset="0"/>
              </a:rPr>
              <a:t>of a data collection method should be done in the context of a research goal or question.</a:t>
            </a:r>
            <a:endParaRPr lang="en-US" b="1" i="1"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1"/>
          <a:stretch>
            <a:fillRect/>
          </a:stretch>
        </p:blipFill>
        <p:spPr>
          <a:xfrm>
            <a:off x="251253" y="156935"/>
            <a:ext cx="11945174" cy="6474524"/>
          </a:xfrm>
          <a:prstGeom prst="rect">
            <a:avLst/>
          </a:prstGeom>
        </p:spPr>
      </p:pic>
      <p:sp>
        <p:nvSpPr>
          <p:cNvPr id="5" name="Slide Number Placeholder 4"/>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503050405090304" pitchFamily="18" charset="0"/>
                <a:cs typeface="Times New Roman" panose="02020503050405090304" pitchFamily="18" charset="0"/>
              </a:rPr>
              <a:t>ANOVA Test</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r>
              <a:rPr lang="en-US" dirty="0" smtClean="0">
                <a:latin typeface="Times New Roman" panose="02020503050405090304" pitchFamily="18" charset="0"/>
                <a:cs typeface="Times New Roman" panose="02020503050405090304" pitchFamily="18" charset="0"/>
              </a:rPr>
              <a:t>Student T-test</a:t>
            </a:r>
            <a:endParaRPr lang="en-US" dirty="0" smtClean="0">
              <a:latin typeface="Times New Roman" panose="02020503050405090304" pitchFamily="18" charset="0"/>
              <a:cs typeface="Times New Roman" panose="02020503050405090304" pitchFamily="18" charset="0"/>
            </a:endParaRPr>
          </a:p>
          <a:p>
            <a:r>
              <a:rPr lang="en-US" dirty="0" smtClean="0">
                <a:latin typeface="Times New Roman" panose="02020503050405090304" pitchFamily="18" charset="0"/>
                <a:cs typeface="Times New Roman" panose="02020503050405090304" pitchFamily="18" charset="0"/>
              </a:rPr>
              <a:t>One-way </a:t>
            </a:r>
            <a:r>
              <a:rPr lang="en-US" dirty="0">
                <a:latin typeface="Times New Roman" panose="02020503050405090304" pitchFamily="18" charset="0"/>
                <a:cs typeface="Times New Roman" panose="02020503050405090304" pitchFamily="18" charset="0"/>
              </a:rPr>
              <a:t>ANOVA Test</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One-Way ANOVA</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fontScale="92500"/>
          </a:bodyPr>
          <a:lstStyle/>
          <a:p>
            <a:pPr algn="just"/>
            <a:r>
              <a:rPr lang="en-US" dirty="0" smtClean="0">
                <a:solidFill>
                  <a:srgbClr val="FF0000"/>
                </a:solidFill>
                <a:latin typeface="Times New Roman" panose="02020503050405090304" pitchFamily="18" charset="0"/>
                <a:cs typeface="Times New Roman" panose="02020503050405090304" pitchFamily="18" charset="0"/>
              </a:rPr>
              <a:t>One-way analysis of variance (ANOVA)</a:t>
            </a:r>
            <a:r>
              <a:rPr lang="en-US" dirty="0" smtClean="0">
                <a:latin typeface="Times New Roman" panose="02020503050405090304" pitchFamily="18" charset="0"/>
                <a:cs typeface="Times New Roman" panose="02020503050405090304" pitchFamily="18" charset="0"/>
              </a:rPr>
              <a:t> is a statistical method for testing for differences in the means of </a:t>
            </a:r>
            <a:r>
              <a:rPr lang="en-US" b="1" dirty="0" smtClean="0">
                <a:solidFill>
                  <a:srgbClr val="FF0000"/>
                </a:solidFill>
                <a:latin typeface="Times New Roman" panose="02020503050405090304" pitchFamily="18" charset="0"/>
                <a:cs typeface="Times New Roman" panose="02020503050405090304" pitchFamily="18" charset="0"/>
              </a:rPr>
              <a:t>three or more groups</a:t>
            </a:r>
            <a:r>
              <a:rPr lang="en-US" dirty="0" smtClean="0">
                <a:solidFill>
                  <a:srgbClr val="FF0000"/>
                </a:solidFill>
                <a:latin typeface="Times New Roman" panose="02020503050405090304" pitchFamily="18" charset="0"/>
                <a:cs typeface="Times New Roman" panose="02020503050405090304" pitchFamily="18" charset="0"/>
              </a:rPr>
              <a:t>.</a:t>
            </a:r>
            <a:endParaRPr lang="en-US" dirty="0" smtClean="0">
              <a:latin typeface="Times New Roman" panose="02020503050405090304" pitchFamily="18" charset="0"/>
              <a:cs typeface="Times New Roman" panose="02020503050405090304" pitchFamily="18" charset="0"/>
            </a:endParaRPr>
          </a:p>
          <a:p>
            <a:pPr algn="just"/>
            <a:r>
              <a:rPr lang="en-US" dirty="0" smtClean="0">
                <a:latin typeface="Times New Roman" panose="02020503050405090304" pitchFamily="18" charset="0"/>
                <a:cs typeface="Times New Roman" panose="02020503050405090304" pitchFamily="18" charset="0"/>
              </a:rPr>
              <a:t>One-way ANOVA is typically used when you have a single independent variable or factor. The independent variable divides cases into two or more mutually exclusive levels, categories, or groups. </a:t>
            </a:r>
            <a:r>
              <a:rPr lang="en-US" dirty="0" smtClean="0">
                <a:solidFill>
                  <a:srgbClr val="FF0000"/>
                </a:solidFill>
                <a:latin typeface="Times New Roman" panose="02020503050405090304" pitchFamily="18" charset="0"/>
                <a:cs typeface="Times New Roman" panose="02020503050405090304" pitchFamily="18" charset="0"/>
              </a:rPr>
              <a:t>Your goal is to investigate if variations or different levels of that independent variable or factor have a measurable effect on a dependent variable.</a:t>
            </a:r>
            <a:endParaRPr lang="en-US" dirty="0" smtClean="0">
              <a:solidFill>
                <a:srgbClr val="FF0000"/>
              </a:solidFill>
              <a:latin typeface="Times New Roman" panose="02020503050405090304" pitchFamily="18" charset="0"/>
              <a:cs typeface="Times New Roman" panose="02020503050405090304" pitchFamily="18" charset="0"/>
            </a:endParaRPr>
          </a:p>
          <a:p>
            <a:pPr algn="just"/>
            <a:r>
              <a:rPr lang="en-US" dirty="0" smtClean="0">
                <a:latin typeface="Times New Roman" panose="02020503050405090304" pitchFamily="18" charset="0"/>
                <a:cs typeface="Times New Roman" panose="02020503050405090304" pitchFamily="18" charset="0"/>
              </a:rPr>
              <a:t>One-way ANOVA can only be used when investigating a single factor and a single dependent variable. When comparing the means of three or more groups</a:t>
            </a:r>
            <a:r>
              <a:rPr lang="en-US" b="1" dirty="0" smtClean="0">
                <a:latin typeface="Times New Roman" panose="02020503050405090304" pitchFamily="18" charset="0"/>
                <a:cs typeface="Times New Roman" panose="02020503050405090304" pitchFamily="18" charset="0"/>
              </a:rPr>
              <a:t>, it can tell us if at least one pair of means is significantly different</a:t>
            </a:r>
            <a:r>
              <a:rPr lang="en-US" dirty="0" smtClean="0">
                <a:latin typeface="Times New Roman" panose="02020503050405090304" pitchFamily="18" charset="0"/>
                <a:cs typeface="Times New Roman" panose="02020503050405090304" pitchFamily="18" charset="0"/>
              </a:rPr>
              <a:t>, </a:t>
            </a:r>
            <a:r>
              <a:rPr lang="en-US" b="1" dirty="0" smtClean="0">
                <a:latin typeface="Times New Roman" panose="02020503050405090304" pitchFamily="18" charset="0"/>
                <a:cs typeface="Times New Roman" panose="02020503050405090304" pitchFamily="18" charset="0"/>
              </a:rPr>
              <a:t>but it can’t tell us which pair</a:t>
            </a:r>
            <a:r>
              <a:rPr lang="en-US" dirty="0" smtClean="0">
                <a:latin typeface="Times New Roman" panose="02020503050405090304" pitchFamily="18" charset="0"/>
                <a:cs typeface="Times New Roman" panose="02020503050405090304" pitchFamily="18" charset="0"/>
              </a:rPr>
              <a:t>. </a:t>
            </a:r>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One-Way ANOVA (cont..)</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lgn="just"/>
            <a:r>
              <a:rPr lang="en-US" dirty="0">
                <a:solidFill>
                  <a:srgbClr val="FF0000"/>
                </a:solidFill>
                <a:latin typeface="Times New Roman" panose="02020503050405090304" pitchFamily="18" charset="0"/>
                <a:cs typeface="Times New Roman" panose="02020503050405090304" pitchFamily="18" charset="0"/>
              </a:rPr>
              <a:t>One-way ANOVA is a test for differences in group means</a:t>
            </a:r>
            <a:endParaRPr lang="en-US" dirty="0">
              <a:solidFill>
                <a:srgbClr val="FF0000"/>
              </a:solidFill>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One-way ANOVA is a statistical method to test the null hypothesis (</a:t>
            </a:r>
            <a:r>
              <a:rPr lang="en-US" i="1" dirty="0">
                <a:latin typeface="Times New Roman" panose="02020503050405090304" pitchFamily="18" charset="0"/>
                <a:cs typeface="Times New Roman" panose="02020503050405090304" pitchFamily="18" charset="0"/>
              </a:rPr>
              <a:t>H</a:t>
            </a:r>
            <a:r>
              <a:rPr lang="en-US" i="1" baseline="-25000" dirty="0">
                <a:latin typeface="Times New Roman" panose="02020503050405090304" pitchFamily="18" charset="0"/>
                <a:cs typeface="Times New Roman" panose="02020503050405090304" pitchFamily="18" charset="0"/>
              </a:rPr>
              <a:t>0</a:t>
            </a:r>
            <a:r>
              <a:rPr lang="en-US" dirty="0">
                <a:latin typeface="Times New Roman" panose="02020503050405090304" pitchFamily="18" charset="0"/>
                <a:cs typeface="Times New Roman" panose="02020503050405090304" pitchFamily="18" charset="0"/>
              </a:rPr>
              <a:t>) that three or more population means are equal vs. the alternative hypothesis (</a:t>
            </a:r>
            <a:r>
              <a:rPr lang="en-US" i="1" dirty="0">
                <a:latin typeface="Times New Roman" panose="02020503050405090304" pitchFamily="18" charset="0"/>
                <a:cs typeface="Times New Roman" panose="02020503050405090304" pitchFamily="18" charset="0"/>
              </a:rPr>
              <a:t>H</a:t>
            </a:r>
            <a:r>
              <a:rPr lang="en-US" i="1" baseline="-25000" dirty="0">
                <a:latin typeface="Times New Roman" panose="02020503050405090304" pitchFamily="18" charset="0"/>
                <a:cs typeface="Times New Roman" panose="02020503050405090304" pitchFamily="18" charset="0"/>
              </a:rPr>
              <a:t>a</a:t>
            </a:r>
            <a:r>
              <a:rPr lang="en-US" dirty="0">
                <a:latin typeface="Times New Roman" panose="02020503050405090304" pitchFamily="18" charset="0"/>
                <a:cs typeface="Times New Roman" panose="02020503050405090304" pitchFamily="18" charset="0"/>
              </a:rPr>
              <a:t>) that at least one mean is different.</a:t>
            </a:r>
            <a:endParaRPr lang="en-US"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Examples</a:t>
            </a:r>
            <a:r>
              <a:rPr lang="en-US" dirty="0"/>
              <a:t> </a:t>
            </a:r>
            <a:endParaRPr lang="en-US" dirty="0"/>
          </a:p>
        </p:txBody>
      </p:sp>
      <p:sp>
        <p:nvSpPr>
          <p:cNvPr id="3" name="Content Placeholder 2"/>
          <p:cNvSpPr>
            <a:spLocks noGrp="1"/>
          </p:cNvSpPr>
          <p:nvPr>
            <p:ph idx="1"/>
          </p:nvPr>
        </p:nvSpPr>
        <p:spPr/>
        <p:txBody>
          <a:bodyPr/>
          <a:lstStyle/>
          <a:p>
            <a:r>
              <a:rPr lang="en-US" dirty="0">
                <a:solidFill>
                  <a:srgbClr val="FF0000"/>
                </a:solidFill>
                <a:latin typeface="Times New Roman" panose="02020503050405090304" pitchFamily="18" charset="0"/>
                <a:cs typeface="Times New Roman" panose="02020503050405090304" pitchFamily="18" charset="0"/>
              </a:rPr>
              <a:t>1# </a:t>
            </a:r>
            <a:r>
              <a:rPr lang="en-US" dirty="0">
                <a:latin typeface="Times New Roman" panose="02020503050405090304" pitchFamily="18" charset="0"/>
                <a:cs typeface="Times New Roman" panose="02020503050405090304" pitchFamily="18" charset="0"/>
              </a:rPr>
              <a:t>Your independent variable is social media use, and you assign groups to low, medium, and high levels of social media use to find out if there is a difference in hours of sleep per night.</a:t>
            </a:r>
            <a:endParaRPr lang="en-US" dirty="0">
              <a:latin typeface="Times New Roman" panose="02020503050405090304" pitchFamily="18" charset="0"/>
              <a:cs typeface="Times New Roman" panose="02020503050405090304" pitchFamily="18" charset="0"/>
            </a:endParaRPr>
          </a:p>
          <a:p>
            <a:r>
              <a:rPr lang="en-US" dirty="0">
                <a:solidFill>
                  <a:srgbClr val="FF0000"/>
                </a:solidFill>
                <a:latin typeface="Times New Roman" panose="02020503050405090304" pitchFamily="18" charset="0"/>
                <a:cs typeface="Times New Roman" panose="02020503050405090304" pitchFamily="18" charset="0"/>
              </a:rPr>
              <a:t>2# </a:t>
            </a:r>
            <a:r>
              <a:rPr lang="en-US" dirty="0">
                <a:latin typeface="Times New Roman" panose="02020503050405090304" pitchFamily="18" charset="0"/>
                <a:cs typeface="Times New Roman" panose="02020503050405090304" pitchFamily="18" charset="0"/>
              </a:rPr>
              <a:t>Your independent variable is brand of soda, and you collect data on Coke, Pepsi, Sprite, and Fanta to find out if there is a difference in the price per 100ml.</a:t>
            </a:r>
            <a:endParaRPr lang="en-US" dirty="0">
              <a:latin typeface="Times New Roman" panose="02020503050405090304" pitchFamily="18" charset="0"/>
              <a:cs typeface="Times New Roman" panose="02020503050405090304" pitchFamily="18" charset="0"/>
            </a:endParaRPr>
          </a:p>
          <a:p>
            <a:r>
              <a:rPr lang="en-US" dirty="0">
                <a:solidFill>
                  <a:srgbClr val="FF0000"/>
                </a:solidFill>
                <a:latin typeface="Times New Roman" panose="02020503050405090304" pitchFamily="18" charset="0"/>
                <a:cs typeface="Times New Roman" panose="02020503050405090304" pitchFamily="18" charset="0"/>
              </a:rPr>
              <a:t>3# </a:t>
            </a:r>
            <a:r>
              <a:rPr lang="en-US" dirty="0">
                <a:latin typeface="Times New Roman" panose="02020503050405090304" pitchFamily="18" charset="0"/>
                <a:cs typeface="Times New Roman" panose="02020503050405090304" pitchFamily="18" charset="0"/>
              </a:rPr>
              <a:t>You independent variable is type of fertilizer, and you treat crop fields with mixtures 1, 2 and 3 to find out if there is a difference in crop yield.</a:t>
            </a:r>
            <a:endParaRPr lang="en-US" dirty="0">
              <a:latin typeface="Times New Roman" panose="02020503050405090304" pitchFamily="18" charset="0"/>
              <a:cs typeface="Times New Roman" panose="02020503050405090304" pitchFamily="18" charset="0"/>
            </a:endParaRPr>
          </a:p>
          <a:p>
            <a:endParaRPr lang="en-US" dirty="0"/>
          </a:p>
        </p:txBody>
      </p:sp>
      <p:sp>
        <p:nvSpPr>
          <p:cNvPr id="4" name="Slide Number Placeholder 3"/>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Example </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503050405090304" pitchFamily="18" charset="0"/>
                <a:cs typeface="Times New Roman" panose="02020503050405090304" pitchFamily="18" charset="0"/>
              </a:rPr>
              <a:t>Imagine you work for a company that manufactures an adhesive gel that is sold in small jars. The viscosity of the gel is important: too thick and it becomes difficult to apply; too thin and its adhesiveness suffers. You've received some feedback from a few unhappy customers lately complaining that the viscosity of your adhesive is not as consistent as it used to be. You've been asked by your boss to investigate.</a:t>
            </a:r>
            <a:endParaRPr lang="en-US" dirty="0">
              <a:latin typeface="Times New Roman" panose="02020503050405090304" pitchFamily="18" charset="0"/>
              <a:cs typeface="Times New Roman" panose="02020503050405090304" pitchFamily="18" charset="0"/>
            </a:endParaRPr>
          </a:p>
          <a:p>
            <a:pPr algn="just"/>
            <a:r>
              <a:rPr lang="en-US" dirty="0">
                <a:latin typeface="Times New Roman" panose="02020503050405090304" pitchFamily="18" charset="0"/>
                <a:cs typeface="Times New Roman" panose="02020503050405090304" pitchFamily="18" charset="0"/>
              </a:rPr>
              <a:t>You decide that a good first step would be to examine the average viscosity of the five most recent production lots. If you find differences between lots, that would seem to confirm the issue is real. It might also help you begin to form hypotheses about factors that could cause inconsistencies between lots.</a:t>
            </a:r>
            <a:endParaRPr lang="en-US" dirty="0">
              <a:latin typeface="Times New Roman" panose="02020503050405090304" pitchFamily="18" charset="0"/>
              <a:cs typeface="Times New Roman" panose="02020503050405090304" pitchFamily="18" charset="0"/>
            </a:endParaRPr>
          </a:p>
          <a:p>
            <a:endParaRPr lang="en-US" dirty="0"/>
          </a:p>
        </p:txBody>
      </p:sp>
      <p:sp>
        <p:nvSpPr>
          <p:cNvPr id="4" name="Slide Number Placeholder 3"/>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descr="https://www.jmp.com/en_in/statistics-knowledge-portal/one-way-anova/_jcr_content/par/styledcontainer_2069/par/image_15d2.img.png/1561994340306.pn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856463" y="1529486"/>
            <a:ext cx="6986155" cy="498345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39306" y="2130096"/>
            <a:ext cx="2895600" cy="2308324"/>
          </a:xfrm>
          <a:prstGeom prst="rect">
            <a:avLst/>
          </a:prstGeom>
        </p:spPr>
        <p:txBody>
          <a:bodyPr wrap="square">
            <a:spAutoFit/>
          </a:bodyPr>
          <a:lstStyle/>
          <a:p>
            <a:r>
              <a:rPr lang="en-US" b="0" i="0" dirty="0">
                <a:solidFill>
                  <a:srgbClr val="333333"/>
                </a:solidFill>
                <a:effectLst/>
                <a:latin typeface="Times New Roman" panose="02020503050405090304" pitchFamily="18" charset="0"/>
                <a:cs typeface="Times New Roman" panose="02020503050405090304" pitchFamily="18" charset="0"/>
              </a:rPr>
              <a:t>You measure viscosity using an instrument that rotates a spindle immersed in the jar of adhesive. This test yields a measurement called torque resistance. You test five jars selected randomly from each of the most recent five lots</a:t>
            </a:r>
            <a:endParaRPr lang="en-US" dirty="0">
              <a:latin typeface="Times New Roman" panose="02020503050405090304" pitchFamily="18" charset="0"/>
              <a:cs typeface="Times New Roman" panose="02020503050405090304" pitchFamily="18" charset="0"/>
            </a:endParaRPr>
          </a:p>
        </p:txBody>
      </p:sp>
      <p:sp>
        <p:nvSpPr>
          <p:cNvPr id="3" name="Slide Number Placeholder 2"/>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5127"/>
            <a:ext cx="10515600" cy="845561"/>
          </a:xfrm>
        </p:spPr>
        <p:txBody>
          <a:bodyPr>
            <a:normAutofit fontScale="90000"/>
          </a:bodyPr>
          <a:lstStyle/>
          <a:p>
            <a:br>
              <a:rPr lang="en-US" dirty="0"/>
            </a:br>
            <a:endParaRPr lang="en-US" dirty="0"/>
          </a:p>
        </p:txBody>
      </p:sp>
      <p:sp>
        <p:nvSpPr>
          <p:cNvPr id="5"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400" b="0" i="0" u="none" strike="noStrike" cap="none" normalizeH="0" baseline="0">
                <a:ln>
                  <a:noFill/>
                </a:ln>
                <a:solidFill>
                  <a:srgbClr val="333333"/>
                </a:solidFill>
                <a:effectLst/>
                <a:latin typeface="Domine"/>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7" name="Content Placeholder 6"/>
          <p:cNvGraphicFramePr>
            <a:graphicFrameLocks noGrp="1"/>
          </p:cNvGraphicFramePr>
          <p:nvPr>
            <p:ph idx="1"/>
          </p:nvPr>
        </p:nvGraphicFramePr>
        <p:xfrm>
          <a:off x="2306782" y="2592979"/>
          <a:ext cx="7294419" cy="3419892"/>
        </p:xfrm>
        <a:graphic>
          <a:graphicData uri="http://schemas.openxmlformats.org/drawingml/2006/table">
            <a:tbl>
              <a:tblPr/>
              <a:tblGrid>
                <a:gridCol w="2431473"/>
                <a:gridCol w="2431473"/>
                <a:gridCol w="2431473"/>
              </a:tblGrid>
              <a:tr h="569982">
                <a:tc>
                  <a:txBody>
                    <a:bodyPr/>
                    <a:lstStyle/>
                    <a:p>
                      <a:r>
                        <a:rPr lang="en-US">
                          <a:solidFill>
                            <a:srgbClr val="000000"/>
                          </a:solidFill>
                          <a:effectLst/>
                        </a:rPr>
                        <a:t>Lot #</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N</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Mean</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r>
              <a:tr h="569982">
                <a:tc>
                  <a:txBody>
                    <a:bodyPr/>
                    <a:lstStyle/>
                    <a:p>
                      <a:r>
                        <a:rPr lang="en-US" dirty="0">
                          <a:effectLst/>
                        </a:rPr>
                        <a:t>1</a:t>
                      </a:r>
                      <a:endParaRPr lang="en-US" dirty="0">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5</a:t>
                      </a:r>
                      <a:endParaRPr lang="en-US">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29.65</a:t>
                      </a:r>
                      <a:endParaRPr lang="en-US">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r>
              <a:tr h="569982">
                <a:tc>
                  <a:txBody>
                    <a:bodyPr/>
                    <a:lstStyle/>
                    <a:p>
                      <a:r>
                        <a:rPr lang="en-US">
                          <a:effectLst/>
                        </a:rPr>
                        <a:t>2</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5</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30.43</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r>
              <a:tr h="569982">
                <a:tc>
                  <a:txBody>
                    <a:bodyPr/>
                    <a:lstStyle/>
                    <a:p>
                      <a:r>
                        <a:rPr lang="en-US">
                          <a:effectLst/>
                        </a:rPr>
                        <a:t>3</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5</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26.77</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r>
              <a:tr h="569982">
                <a:tc>
                  <a:txBody>
                    <a:bodyPr/>
                    <a:lstStyle/>
                    <a:p>
                      <a:r>
                        <a:rPr lang="en-US">
                          <a:effectLst/>
                        </a:rPr>
                        <a:t>4</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5</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dirty="0">
                          <a:effectLst/>
                        </a:rPr>
                        <a:t>30.42</a:t>
                      </a:r>
                      <a:endParaRPr lang="en-US" dirty="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r>
              <a:tr h="569982">
                <a:tc>
                  <a:txBody>
                    <a:bodyPr/>
                    <a:lstStyle/>
                    <a:p>
                      <a:r>
                        <a:rPr lang="en-US">
                          <a:effectLst/>
                        </a:rPr>
                        <a:t>5</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5</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29.37</a:t>
                      </a:r>
                      <a:endParaRPr lang="en-US" dirty="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r>
            </a:tbl>
          </a:graphicData>
        </a:graphic>
      </p:graphicFrame>
      <p:sp>
        <p:nvSpPr>
          <p:cNvPr id="8" name="Rectangle 2"/>
          <p:cNvSpPr>
            <a:spLocks noChangeArrowheads="1"/>
          </p:cNvSpPr>
          <p:nvPr/>
        </p:nvSpPr>
        <p:spPr bwMode="auto">
          <a:xfrm>
            <a:off x="838200" y="1800915"/>
            <a:ext cx="8003875" cy="868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5870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400" b="0" i="1" u="none" strike="noStrike" cap="none" normalizeH="0" baseline="0" dirty="0">
                <a:ln>
                  <a:noFill/>
                </a:ln>
                <a:solidFill>
                  <a:srgbClr val="333333"/>
                </a:solidFill>
                <a:effectLst/>
                <a:latin typeface="avenir-light"/>
              </a:rPr>
              <a:t>Table 1: Mean torque measurements from tests of five lots of adhesive</a:t>
            </a:r>
            <a:endParaRPr kumimoji="0" lang="en-US" altLang="en-US" sz="1400" b="0" i="0" u="none" strike="noStrike" cap="none" normalizeH="0" baseline="0" dirty="0">
              <a:ln>
                <a:noFill/>
              </a:ln>
              <a:solidFill>
                <a:srgbClr val="333333"/>
              </a:solidFill>
              <a:effectLst/>
              <a:latin typeface="avenir-light"/>
            </a:endParaRPr>
          </a:p>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400" b="0" i="0" u="none" strike="noStrike" cap="none" normalizeH="0" baseline="0" dirty="0">
                <a:ln>
                  <a:noFill/>
                </a:ln>
                <a:solidFill>
                  <a:srgbClr val="333333"/>
                </a:solidFill>
                <a:effectLst/>
                <a:latin typeface="Domine"/>
              </a:rPr>
            </a:br>
            <a:endParaRPr kumimoji="0" lang="en-US" altLang="en-US" sz="1800" b="0" i="0" u="none" strike="noStrike" cap="none" normalizeH="0" baseline="0" dirty="0">
              <a:ln>
                <a:noFill/>
              </a:ln>
              <a:solidFill>
                <a:schemeClr val="tx1"/>
              </a:solidFill>
              <a:effectLst/>
              <a:latin typeface="Arial" panose="020B0604020202090204" pitchFamily="34" charset="0"/>
            </a:endParaRPr>
          </a:p>
        </p:txBody>
      </p:sp>
      <p:sp>
        <p:nvSpPr>
          <p:cNvPr id="3" name="Slide Number Placeholder 2"/>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1932709" y="2895600"/>
          <a:ext cx="9303330" cy="2373555"/>
        </p:xfrm>
        <a:graphic>
          <a:graphicData uri="http://schemas.openxmlformats.org/drawingml/2006/table">
            <a:tbl>
              <a:tblPr/>
              <a:tblGrid>
                <a:gridCol w="1550555"/>
                <a:gridCol w="1550555"/>
                <a:gridCol w="1550555"/>
                <a:gridCol w="1550555"/>
                <a:gridCol w="1550555"/>
                <a:gridCol w="1550555"/>
              </a:tblGrid>
              <a:tr h="544805">
                <a:tc>
                  <a:txBody>
                    <a:bodyPr/>
                    <a:lstStyle/>
                    <a:p>
                      <a:r>
                        <a:rPr lang="en-US">
                          <a:solidFill>
                            <a:srgbClr val="000000"/>
                          </a:solidFill>
                          <a:effectLst/>
                        </a:rPr>
                        <a:t>Source</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DF</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Sum of Squares</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Mean Square</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F Ratio</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dirty="0" err="1">
                          <a:solidFill>
                            <a:srgbClr val="000000"/>
                          </a:solidFill>
                          <a:effectLst/>
                        </a:rPr>
                        <a:t>Prob</a:t>
                      </a:r>
                      <a:r>
                        <a:rPr lang="en-US" dirty="0">
                          <a:solidFill>
                            <a:srgbClr val="000000"/>
                          </a:solidFill>
                          <a:effectLst/>
                        </a:rPr>
                        <a:t>-&gt; F</a:t>
                      </a:r>
                      <a:endParaRPr lang="en-US" dirty="0">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r>
              <a:tr h="544805">
                <a:tc>
                  <a:txBody>
                    <a:bodyPr/>
                    <a:lstStyle/>
                    <a:p>
                      <a:r>
                        <a:rPr lang="en-US">
                          <a:effectLst/>
                        </a:rPr>
                        <a:t>Lot</a:t>
                      </a:r>
                      <a:endParaRPr lang="en-US">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4</a:t>
                      </a:r>
                      <a:endParaRPr lang="en-US">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45.25</a:t>
                      </a:r>
                      <a:endParaRPr lang="en-US">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11.31</a:t>
                      </a:r>
                      <a:endParaRPr lang="en-US" dirty="0">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6.90</a:t>
                      </a:r>
                      <a:endParaRPr lang="en-US" dirty="0">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0.0012</a:t>
                      </a:r>
                      <a:endParaRPr lang="en-US" dirty="0">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r>
              <a:tr h="544805">
                <a:tc>
                  <a:txBody>
                    <a:bodyPr/>
                    <a:lstStyle/>
                    <a:p>
                      <a:r>
                        <a:rPr lang="en-US">
                          <a:effectLst/>
                        </a:rPr>
                        <a:t>Error</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20</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32.80</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dirty="0">
                          <a:effectLst/>
                        </a:rPr>
                        <a:t>1.64</a:t>
                      </a:r>
                      <a:endParaRPr lang="en-US" dirty="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 </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 </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r>
              <a:tr h="544805">
                <a:tc>
                  <a:txBody>
                    <a:bodyPr/>
                    <a:lstStyle/>
                    <a:p>
                      <a:r>
                        <a:rPr lang="en-US">
                          <a:effectLst/>
                        </a:rPr>
                        <a:t>Total</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24</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78.05</a:t>
                      </a:r>
                      <a:endParaRPr lang="en-US" dirty="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 </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 </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 </a:t>
                      </a:r>
                      <a:endParaRPr lang="en-US" dirty="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r>
            </a:tbl>
          </a:graphicData>
        </a:graphic>
      </p:graphicFrame>
      <p:sp>
        <p:nvSpPr>
          <p:cNvPr id="5" name="Rectangle 1"/>
          <p:cNvSpPr>
            <a:spLocks noChangeArrowheads="1"/>
          </p:cNvSpPr>
          <p:nvPr/>
        </p:nvSpPr>
        <p:spPr bwMode="auto">
          <a:xfrm>
            <a:off x="838200" y="2438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5870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400" b="0" i="1" u="none" strike="noStrike" cap="none" normalizeH="0" baseline="0" dirty="0">
                <a:ln>
                  <a:noFill/>
                </a:ln>
                <a:solidFill>
                  <a:srgbClr val="333333"/>
                </a:solidFill>
                <a:effectLst/>
                <a:latin typeface="avenir-light"/>
              </a:rPr>
              <a:t>Table 2: ANOVA table with results from our torque measurements</a:t>
            </a:r>
            <a:endParaRPr kumimoji="0" lang="en-US" altLang="en-US" sz="1400" b="0" i="0" u="none" strike="noStrike" cap="none" normalizeH="0" baseline="0" dirty="0">
              <a:ln>
                <a:noFill/>
              </a:ln>
              <a:solidFill>
                <a:srgbClr val="333333"/>
              </a:solidFill>
              <a:effectLst/>
              <a:latin typeface="avenir-ligh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90204" pitchFamily="34" charset="0"/>
            </a:endParaRPr>
          </a:p>
        </p:txBody>
      </p:sp>
      <p:sp>
        <p:nvSpPr>
          <p:cNvPr id="3" name="Slide Number Placeholder 2"/>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682926" y="2024032"/>
            <a:ext cx="7054970" cy="4152481"/>
          </a:xfrm>
        </p:spPr>
        <p:txBody>
          <a:bodyPr>
            <a:normAutofit/>
          </a:bodyPr>
          <a:lstStyle/>
          <a:p>
            <a:pPr algn="just"/>
            <a:r>
              <a:rPr lang="en-US" sz="2600" dirty="0" smtClean="0">
                <a:latin typeface="Times New Roman" panose="02020503050405090304" pitchFamily="18" charset="0"/>
                <a:cs typeface="Times New Roman" panose="02020503050405090304" pitchFamily="18" charset="0"/>
              </a:rPr>
              <a:t>One key element in this table to focus on for now is the p-value. </a:t>
            </a:r>
            <a:r>
              <a:rPr lang="en-US" sz="2600" dirty="0" smtClean="0">
                <a:solidFill>
                  <a:srgbClr val="FF0000"/>
                </a:solidFill>
                <a:latin typeface="Times New Roman" panose="02020503050405090304" pitchFamily="18" charset="0"/>
                <a:cs typeface="Times New Roman" panose="02020503050405090304" pitchFamily="18" charset="0"/>
              </a:rPr>
              <a:t>The p-value is used to evaluate the validity of the null hypothesis that all the means are the same.</a:t>
            </a:r>
            <a:r>
              <a:rPr lang="en-US" sz="2600" dirty="0" smtClean="0">
                <a:latin typeface="Times New Roman" panose="02020503050405090304" pitchFamily="18" charset="0"/>
                <a:cs typeface="Times New Roman" panose="02020503050405090304" pitchFamily="18" charset="0"/>
              </a:rPr>
              <a:t> In our example, the p-value (</a:t>
            </a:r>
            <a:r>
              <a:rPr lang="en-US" sz="2600" dirty="0" err="1" smtClean="0">
                <a:latin typeface="Times New Roman" panose="02020503050405090304" pitchFamily="18" charset="0"/>
                <a:cs typeface="Times New Roman" panose="02020503050405090304" pitchFamily="18" charset="0"/>
              </a:rPr>
              <a:t>Prob</a:t>
            </a:r>
            <a:r>
              <a:rPr lang="en-US" sz="2600" dirty="0" smtClean="0">
                <a:latin typeface="Times New Roman" panose="02020503050405090304" pitchFamily="18" charset="0"/>
                <a:cs typeface="Times New Roman" panose="02020503050405090304" pitchFamily="18" charset="0"/>
              </a:rPr>
              <a:t>-&gt; F) is 0.0012. This small p-value can be taken as </a:t>
            </a:r>
            <a:r>
              <a:rPr lang="en-US" sz="2600" dirty="0" smtClean="0">
                <a:solidFill>
                  <a:srgbClr val="FF0000"/>
                </a:solidFill>
                <a:latin typeface="Times New Roman" panose="02020503050405090304" pitchFamily="18" charset="0"/>
                <a:cs typeface="Times New Roman" panose="02020503050405090304" pitchFamily="18" charset="0"/>
              </a:rPr>
              <a:t>evidence that the means are not all the same</a:t>
            </a:r>
            <a:endParaRPr lang="en-US" sz="2600" dirty="0" smtClean="0">
              <a:latin typeface="Times New Roman" panose="02020503050405090304" pitchFamily="18" charset="0"/>
              <a:cs typeface="Times New Roman" panose="02020503050405090304" pitchFamily="18" charset="0"/>
            </a:endParaRPr>
          </a:p>
          <a:p>
            <a:pPr algn="just"/>
            <a:r>
              <a:rPr lang="en-US" sz="2600" dirty="0" smtClean="0">
                <a:latin typeface="Times New Roman" panose="02020503050405090304" pitchFamily="18" charset="0"/>
                <a:cs typeface="Times New Roman" panose="02020503050405090304" pitchFamily="18" charset="0"/>
              </a:rPr>
              <a:t>Remember, an ANOVA test will not tell you which mean or means differs from the others, and (unlike our example) this isn't always obvious from a plot of the data</a:t>
            </a:r>
            <a:endParaRPr lang="en-US" sz="2600" dirty="0">
              <a:latin typeface="Times New Roman" panose="02020503050405090304" pitchFamily="18" charset="0"/>
              <a:cs typeface="Times New Roman" panose="02020503050405090304" pitchFamily="18" charset="0"/>
            </a:endParaRPr>
          </a:p>
        </p:txBody>
      </p:sp>
      <p:sp>
        <p:nvSpPr>
          <p:cNvPr id="4" name="Content Placeholder 2"/>
          <p:cNvSpPr txBox="1"/>
          <p:nvPr/>
        </p:nvSpPr>
        <p:spPr>
          <a:xfrm>
            <a:off x="7995249" y="4427929"/>
            <a:ext cx="3943709" cy="14725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sz="1600" b="1" i="1" dirty="0"/>
              <a:t>Hypothesis</a:t>
            </a:r>
            <a:r>
              <a:rPr lang="en-US" sz="1600" i="1" dirty="0"/>
              <a:t>: the viscosity of the adhesive is not consistent among different lots</a:t>
            </a:r>
            <a:endParaRPr lang="en-US" sz="1600" i="1" dirty="0"/>
          </a:p>
          <a:p>
            <a:r>
              <a:rPr lang="en-US" sz="1600" b="1" i="1" dirty="0"/>
              <a:t>Null Hypothesis: </a:t>
            </a:r>
            <a:r>
              <a:rPr lang="en-US" sz="1600" i="1" dirty="0"/>
              <a:t>the viscosity of the adhesive is consistent in all lots</a:t>
            </a:r>
            <a:endParaRPr lang="en-US" sz="1600" i="1" dirty="0"/>
          </a:p>
        </p:txBody>
      </p:sp>
      <p:sp>
        <p:nvSpPr>
          <p:cNvPr id="5" name="Slide Number Placeholder 4"/>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One-way ANOVA calculation</a:t>
            </a:r>
            <a:endParaRPr lang="en-US" dirty="0">
              <a:latin typeface="Times New Roman" panose="02020503050405090304" pitchFamily="18" charset="0"/>
              <a:cs typeface="Times New Roman" panose="02020503050405090304" pitchFamily="18" charset="0"/>
            </a:endParaRPr>
          </a:p>
        </p:txBody>
      </p:sp>
      <p:graphicFrame>
        <p:nvGraphicFramePr>
          <p:cNvPr id="4" name="Content Placeholder 3"/>
          <p:cNvGraphicFramePr>
            <a:graphicFrameLocks noGrp="1"/>
          </p:cNvGraphicFramePr>
          <p:nvPr>
            <p:ph idx="1"/>
          </p:nvPr>
        </p:nvGraphicFramePr>
        <p:xfrm>
          <a:off x="2057401" y="2388278"/>
          <a:ext cx="6961908" cy="3680012"/>
        </p:xfrm>
        <a:graphic>
          <a:graphicData uri="http://schemas.openxmlformats.org/drawingml/2006/table">
            <a:tbl>
              <a:tblPr/>
              <a:tblGrid>
                <a:gridCol w="1125988"/>
                <a:gridCol w="1167184"/>
                <a:gridCol w="1167184"/>
                <a:gridCol w="1167184"/>
                <a:gridCol w="1167184"/>
                <a:gridCol w="1167184"/>
              </a:tblGrid>
              <a:tr h="525716">
                <a:tc>
                  <a:txBody>
                    <a:bodyPr/>
                    <a:lstStyle/>
                    <a:p>
                      <a:r>
                        <a:rPr lang="en-US">
                          <a:solidFill>
                            <a:srgbClr val="000000"/>
                          </a:solidFill>
                          <a:effectLst/>
                        </a:rPr>
                        <a:t> </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Lot 1</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Lot 2</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Lot 3</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Lot 4</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Lot 5</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r>
              <a:tr h="525716">
                <a:tc>
                  <a:txBody>
                    <a:bodyPr/>
                    <a:lstStyle/>
                    <a:p>
                      <a:r>
                        <a:rPr lang="en-US">
                          <a:solidFill>
                            <a:srgbClr val="000000"/>
                          </a:solidFill>
                          <a:effectLst/>
                        </a:rPr>
                        <a:t>Jar 1</a:t>
                      </a:r>
                      <a:endParaRPr lang="en-US">
                        <a:solidFill>
                          <a:srgbClr val="000000"/>
                        </a:solidFill>
                        <a:effectLst/>
                      </a:endParaRP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solidFill>
                      <a:srgbClr val="EFEFEF"/>
                    </a:solidFill>
                  </a:tcPr>
                </a:tc>
                <a:tc>
                  <a:txBody>
                    <a:bodyPr/>
                    <a:lstStyle/>
                    <a:p>
                      <a:r>
                        <a:rPr lang="en-US">
                          <a:effectLst/>
                        </a:rPr>
                        <a:t>29.39</a:t>
                      </a:r>
                      <a:endParaRPr lang="en-US">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30.63</a:t>
                      </a:r>
                      <a:endParaRPr lang="en-US">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27.16</a:t>
                      </a:r>
                      <a:endParaRPr lang="en-US">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31.03</a:t>
                      </a:r>
                      <a:endParaRPr lang="en-US">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29.67</a:t>
                      </a:r>
                      <a:endParaRPr lang="en-US">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r>
              <a:tr h="525716">
                <a:tc>
                  <a:txBody>
                    <a:bodyPr/>
                    <a:lstStyle/>
                    <a:p>
                      <a:r>
                        <a:rPr lang="en-US">
                          <a:solidFill>
                            <a:srgbClr val="000000"/>
                          </a:solidFill>
                          <a:effectLst/>
                        </a:rPr>
                        <a:t>Jar 2</a:t>
                      </a:r>
                      <a:endParaRPr lang="en-US">
                        <a:solidFill>
                          <a:srgbClr val="000000"/>
                        </a:solidFill>
                        <a:effectLst/>
                      </a:endParaRP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tcPr>
                </a:tc>
                <a:tc>
                  <a:txBody>
                    <a:bodyPr/>
                    <a:lstStyle/>
                    <a:p>
                      <a:r>
                        <a:rPr lang="en-US">
                          <a:effectLst/>
                        </a:rPr>
                        <a:t>31.51</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dirty="0">
                          <a:effectLst/>
                        </a:rPr>
                        <a:t>32.10</a:t>
                      </a:r>
                      <a:endParaRPr lang="en-US" dirty="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26.63</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30.98</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29.32</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r>
              <a:tr h="525716">
                <a:tc>
                  <a:txBody>
                    <a:bodyPr/>
                    <a:lstStyle/>
                    <a:p>
                      <a:r>
                        <a:rPr lang="en-US">
                          <a:solidFill>
                            <a:srgbClr val="000000"/>
                          </a:solidFill>
                          <a:effectLst/>
                        </a:rPr>
                        <a:t>Jar 3</a:t>
                      </a:r>
                      <a:endParaRPr lang="en-US">
                        <a:solidFill>
                          <a:srgbClr val="000000"/>
                        </a:solidFill>
                        <a:effectLst/>
                      </a:endParaRP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solidFill>
                      <a:srgbClr val="EFEFEF"/>
                    </a:solidFill>
                  </a:tcPr>
                </a:tc>
                <a:tc>
                  <a:txBody>
                    <a:bodyPr/>
                    <a:lstStyle/>
                    <a:p>
                      <a:r>
                        <a:rPr lang="en-US">
                          <a:effectLst/>
                        </a:rPr>
                        <a:t>30.88</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30.11</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25.31</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28.95</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26.87</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r>
              <a:tr h="525716">
                <a:tc>
                  <a:txBody>
                    <a:bodyPr/>
                    <a:lstStyle/>
                    <a:p>
                      <a:r>
                        <a:rPr lang="en-US">
                          <a:solidFill>
                            <a:srgbClr val="000000"/>
                          </a:solidFill>
                          <a:effectLst/>
                        </a:rPr>
                        <a:t>Jar 4</a:t>
                      </a:r>
                      <a:endParaRPr lang="en-US">
                        <a:solidFill>
                          <a:srgbClr val="000000"/>
                        </a:solidFill>
                        <a:effectLst/>
                      </a:endParaRP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tcPr>
                </a:tc>
                <a:tc>
                  <a:txBody>
                    <a:bodyPr/>
                    <a:lstStyle/>
                    <a:p>
                      <a:r>
                        <a:rPr lang="en-US">
                          <a:effectLst/>
                        </a:rPr>
                        <a:t>27.63</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29.63</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27.66</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31.45</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31.59</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r>
              <a:tr h="525716">
                <a:tc>
                  <a:txBody>
                    <a:bodyPr/>
                    <a:lstStyle/>
                    <a:p>
                      <a:r>
                        <a:rPr lang="en-US">
                          <a:solidFill>
                            <a:srgbClr val="000000"/>
                          </a:solidFill>
                          <a:effectLst/>
                        </a:rPr>
                        <a:t>Jar 5</a:t>
                      </a:r>
                      <a:endParaRPr lang="en-US">
                        <a:solidFill>
                          <a:srgbClr val="000000"/>
                        </a:solidFill>
                        <a:effectLst/>
                      </a:endParaRP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solidFill>
                      <a:srgbClr val="EFEFEF"/>
                    </a:solidFill>
                  </a:tcPr>
                </a:tc>
                <a:tc>
                  <a:txBody>
                    <a:bodyPr/>
                    <a:lstStyle/>
                    <a:p>
                      <a:r>
                        <a:rPr lang="en-US">
                          <a:effectLst/>
                        </a:rPr>
                        <a:t>28.85</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29.68</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27.10</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29.70</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29.41</a:t>
                      </a:r>
                      <a:endParaRPr lang="en-US" dirty="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r>
              <a:tr h="525716">
                <a:tc>
                  <a:txBody>
                    <a:bodyPr/>
                    <a:lstStyle/>
                    <a:p>
                      <a:r>
                        <a:rPr lang="en-US" b="1">
                          <a:solidFill>
                            <a:srgbClr val="000000"/>
                          </a:solidFill>
                          <a:effectLst/>
                        </a:rPr>
                        <a:t>Mean</a:t>
                      </a:r>
                      <a:endParaRPr lang="en-US" b="1">
                        <a:solidFill>
                          <a:srgbClr val="000000"/>
                        </a:solidFill>
                        <a:effectLst/>
                      </a:endParaRP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tcPr>
                </a:tc>
                <a:tc>
                  <a:txBody>
                    <a:bodyPr/>
                    <a:lstStyle/>
                    <a:p>
                      <a:r>
                        <a:rPr lang="en-US" b="1">
                          <a:effectLst/>
                        </a:rPr>
                        <a:t>29.65</a:t>
                      </a:r>
                      <a:endParaRPr lang="en-US" b="1">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b="1">
                          <a:effectLst/>
                        </a:rPr>
                        <a:t>30.43</a:t>
                      </a:r>
                      <a:endParaRPr lang="en-US" b="1">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b="1">
                          <a:effectLst/>
                        </a:rPr>
                        <a:t>26.77</a:t>
                      </a:r>
                      <a:endParaRPr lang="en-US" b="1">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b="1" dirty="0">
                          <a:effectLst/>
                        </a:rPr>
                        <a:t>30.42</a:t>
                      </a:r>
                      <a:endParaRPr lang="en-US" b="1" dirty="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b="1" dirty="0">
                          <a:effectLst/>
                        </a:rPr>
                        <a:t>29.37</a:t>
                      </a:r>
                      <a:endParaRPr lang="en-US" b="1" dirty="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r>
            </a:tbl>
          </a:graphicData>
        </a:graphic>
      </p:graphicFrame>
      <p:sp>
        <p:nvSpPr>
          <p:cNvPr id="5" name="Rectangle 1"/>
          <p:cNvSpPr>
            <a:spLocks noChangeArrowheads="1"/>
          </p:cNvSpPr>
          <p:nvPr/>
        </p:nvSpPr>
        <p:spPr bwMode="auto">
          <a:xfrm>
            <a:off x="1233054" y="1874896"/>
            <a:ext cx="2998321" cy="652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5870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400" b="0" i="1" u="none" strike="noStrike" cap="none" normalizeH="0" baseline="0" dirty="0">
                <a:ln>
                  <a:noFill/>
                </a:ln>
                <a:solidFill>
                  <a:srgbClr val="333333"/>
                </a:solidFill>
                <a:effectLst/>
                <a:latin typeface="avenir-light"/>
              </a:rPr>
              <a:t>Table 3: Torque measurements by Lot</a:t>
            </a:r>
            <a:endParaRPr kumimoji="0" lang="en-US" altLang="en-US" sz="1400" b="0" i="0" u="none" strike="noStrike" cap="none" normalizeH="0" baseline="0" dirty="0">
              <a:ln>
                <a:noFill/>
              </a:ln>
              <a:solidFill>
                <a:srgbClr val="333333"/>
              </a:solidFill>
              <a:effectLst/>
              <a:latin typeface="avenir-ligh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90204" pitchFamily="34" charset="0"/>
            </a:endParaRPr>
          </a:p>
        </p:txBody>
      </p:sp>
      <p:sp>
        <p:nvSpPr>
          <p:cNvPr id="3" name="Slide Number Placeholder 2"/>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1"/>
          <a:stretch>
            <a:fillRect/>
          </a:stretch>
        </p:blipFill>
        <p:spPr>
          <a:xfrm>
            <a:off x="2115780" y="1475028"/>
            <a:ext cx="8150220" cy="4710112"/>
          </a:xfrm>
          <a:prstGeom prst="rect">
            <a:avLst/>
          </a:prstGeom>
        </p:spPr>
      </p:pic>
      <p:sp>
        <p:nvSpPr>
          <p:cNvPr id="3" name="Slide Number Placeholder 2"/>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 of Squares</a:t>
            </a:r>
            <a:endParaRPr lang="en-US" dirty="0"/>
          </a:p>
        </p:txBody>
      </p:sp>
      <p:sp>
        <p:nvSpPr>
          <p:cNvPr id="3" name="Content Placeholder 2"/>
          <p:cNvSpPr>
            <a:spLocks noGrp="1"/>
          </p:cNvSpPr>
          <p:nvPr>
            <p:ph idx="1"/>
          </p:nvPr>
        </p:nvSpPr>
        <p:spPr>
          <a:xfrm>
            <a:off x="692727" y="1506970"/>
            <a:ext cx="10515600" cy="4351338"/>
          </a:xfrm>
        </p:spPr>
        <p:txBody>
          <a:bodyPr/>
          <a:lstStyle/>
          <a:p>
            <a:pPr algn="just"/>
            <a:r>
              <a:rPr lang="en-US" dirty="0">
                <a:latin typeface="Times New Roman" panose="02020503050405090304" pitchFamily="18" charset="0"/>
                <a:cs typeface="Times New Roman" panose="02020503050405090304" pitchFamily="18" charset="0"/>
              </a:rPr>
              <a:t>The sum of squares gives us a way to quantify variability in a data set by focusing on the difference between each data point and the mean of all data points in that data set. The formula below partitions the overall variability into </a:t>
            </a:r>
            <a:r>
              <a:rPr lang="en-US" b="1" dirty="0">
                <a:latin typeface="Times New Roman" panose="02020503050405090304" pitchFamily="18" charset="0"/>
                <a:cs typeface="Times New Roman" panose="02020503050405090304" pitchFamily="18" charset="0"/>
              </a:rPr>
              <a:t>two parts</a:t>
            </a:r>
            <a:r>
              <a:rPr lang="en-US" dirty="0">
                <a:latin typeface="Times New Roman" panose="02020503050405090304" pitchFamily="18" charset="0"/>
                <a:cs typeface="Times New Roman" panose="02020503050405090304" pitchFamily="18" charset="0"/>
              </a:rPr>
              <a:t>: the variability due to the model or the factor levels, and the variability due to random error. </a:t>
            </a:r>
            <a:endParaRPr lang="en-US" dirty="0">
              <a:latin typeface="Times New Roman" panose="02020503050405090304" pitchFamily="18" charset="0"/>
              <a:cs typeface="Times New Roman" panose="02020503050405090304" pitchFamily="18" charset="0"/>
            </a:endParaRPr>
          </a:p>
          <a:p>
            <a:pPr algn="just"/>
            <a:endParaRPr lang="en-US" dirty="0">
              <a:latin typeface="Times New Roman" panose="02020503050405090304" pitchFamily="18" charset="0"/>
              <a:cs typeface="Times New Roman" panose="02020503050405090304" pitchFamily="18" charset="0"/>
            </a:endParaRPr>
          </a:p>
          <a:p>
            <a:pPr algn="just"/>
            <a:endParaRPr lang="en-US" dirty="0">
              <a:latin typeface="Times New Roman" panose="02020503050405090304" pitchFamily="18" charset="0"/>
              <a:cs typeface="Times New Roman" panose="02020503050405090304" pitchFamily="18" charset="0"/>
            </a:endParaRPr>
          </a:p>
        </p:txBody>
      </p:sp>
      <p:pic>
        <p:nvPicPr>
          <p:cNvPr id="4" name="Picture 3"/>
          <p:cNvPicPr>
            <a:picLocks noChangeAspect="1"/>
          </p:cNvPicPr>
          <p:nvPr/>
        </p:nvPicPr>
        <p:blipFill>
          <a:blip r:embed="rId1"/>
          <a:stretch>
            <a:fillRect/>
          </a:stretch>
        </p:blipFill>
        <p:spPr>
          <a:xfrm>
            <a:off x="1052079" y="3835039"/>
            <a:ext cx="10156248" cy="2498473"/>
          </a:xfrm>
          <a:prstGeom prst="rect">
            <a:avLst/>
          </a:prstGeom>
        </p:spPr>
      </p:pic>
      <p:sp>
        <p:nvSpPr>
          <p:cNvPr id="5" name="Slide Number Placeholder 4"/>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1"/>
          <a:stretch>
            <a:fillRect/>
          </a:stretch>
        </p:blipFill>
        <p:spPr>
          <a:xfrm>
            <a:off x="838200" y="1690687"/>
            <a:ext cx="10624090" cy="3906549"/>
          </a:xfrm>
          <a:prstGeom prst="rect">
            <a:avLst/>
          </a:prstGeom>
        </p:spPr>
      </p:pic>
      <p:sp>
        <p:nvSpPr>
          <p:cNvPr id="5" name="TextBox 4"/>
          <p:cNvSpPr txBox="1"/>
          <p:nvPr/>
        </p:nvSpPr>
        <p:spPr>
          <a:xfrm>
            <a:off x="6096000" y="5597236"/>
            <a:ext cx="249381" cy="1200329"/>
          </a:xfrm>
          <a:prstGeom prst="rect">
            <a:avLst/>
          </a:prstGeom>
          <a:noFill/>
        </p:spPr>
        <p:txBody>
          <a:bodyPr wrap="square" rtlCol="0">
            <a:spAutoFit/>
          </a:bodyPr>
          <a:lstStyle/>
          <a:p>
            <a:r>
              <a:rPr lang="en-US" sz="2400" b="1" dirty="0"/>
              <a:t>.</a:t>
            </a:r>
            <a:endParaRPr lang="en-US" sz="2400" b="1" dirty="0"/>
          </a:p>
          <a:p>
            <a:r>
              <a:rPr lang="en-US" sz="2400" b="1" dirty="0"/>
              <a:t>..</a:t>
            </a:r>
            <a:endParaRPr lang="en-US" sz="2400" b="1" dirty="0"/>
          </a:p>
        </p:txBody>
      </p:sp>
      <p:sp>
        <p:nvSpPr>
          <p:cNvPr id="3" name="Slide Number Placeholder 2"/>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8200" y="1537855"/>
            <a:ext cx="10515600" cy="4639108"/>
          </a:xfrm>
        </p:spPr>
        <p:txBody>
          <a:bodyPr/>
          <a:lstStyle/>
          <a:p>
            <a:pPr marL="0" indent="0" algn="ctr">
              <a:buNone/>
            </a:pPr>
            <a:r>
              <a:rPr lang="en-US" b="1" dirty="0"/>
              <a:t>.</a:t>
            </a:r>
            <a:endParaRPr lang="en-US" b="1" dirty="0"/>
          </a:p>
          <a:p>
            <a:pPr marL="0" indent="0" algn="ctr">
              <a:buNone/>
            </a:pPr>
            <a:r>
              <a:rPr lang="en-US" b="1" dirty="0"/>
              <a:t>.</a:t>
            </a:r>
            <a:endParaRPr lang="en-US" b="1" dirty="0"/>
          </a:p>
          <a:p>
            <a:endParaRPr lang="en-US" dirty="0"/>
          </a:p>
        </p:txBody>
      </p:sp>
      <p:pic>
        <p:nvPicPr>
          <p:cNvPr id="4" name="Picture 3"/>
          <p:cNvPicPr>
            <a:picLocks noChangeAspect="1"/>
          </p:cNvPicPr>
          <p:nvPr/>
        </p:nvPicPr>
        <p:blipFill>
          <a:blip r:embed="rId1"/>
          <a:stretch>
            <a:fillRect/>
          </a:stretch>
        </p:blipFill>
        <p:spPr>
          <a:xfrm>
            <a:off x="725632" y="2599691"/>
            <a:ext cx="11006740" cy="3837709"/>
          </a:xfrm>
          <a:prstGeom prst="rect">
            <a:avLst/>
          </a:prstGeom>
        </p:spPr>
      </p:pic>
      <p:sp>
        <p:nvSpPr>
          <p:cNvPr id="5" name="Slide Number Placeholder 4"/>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503050405090304" pitchFamily="18" charset="0"/>
                <a:cs typeface="Times New Roman" panose="02020503050405090304" pitchFamily="18" charset="0"/>
              </a:rPr>
              <a:t>Degrees of Freedom (DF)</a:t>
            </a:r>
            <a:br>
              <a:rPr lang="en-US" b="1" dirty="0"/>
            </a:br>
            <a:endParaRPr lang="en-US" dirty="0"/>
          </a:p>
        </p:txBody>
      </p:sp>
      <p:sp>
        <p:nvSpPr>
          <p:cNvPr id="3" name="Content Placeholder 2"/>
          <p:cNvSpPr>
            <a:spLocks noGrp="1"/>
          </p:cNvSpPr>
          <p:nvPr>
            <p:ph idx="1"/>
          </p:nvPr>
        </p:nvSpPr>
        <p:spPr>
          <a:xfrm>
            <a:off x="838199" y="1411557"/>
            <a:ext cx="10515600" cy="4351338"/>
          </a:xfrm>
        </p:spPr>
        <p:txBody>
          <a:bodyPr/>
          <a:lstStyle/>
          <a:p>
            <a:r>
              <a:rPr lang="en-US" sz="2400" dirty="0">
                <a:latin typeface="Times New Roman" panose="02020503050405090304" pitchFamily="18" charset="0"/>
                <a:cs typeface="Times New Roman" panose="02020503050405090304" pitchFamily="18" charset="0"/>
              </a:rPr>
              <a:t>The number of values that are free to vary in a data set</a:t>
            </a:r>
            <a:endParaRPr lang="en-US" sz="2400" dirty="0">
              <a:latin typeface="Times New Roman" panose="02020503050405090304" pitchFamily="18" charset="0"/>
              <a:cs typeface="Times New Roman" panose="02020503050405090304" pitchFamily="18" charset="0"/>
            </a:endParaRPr>
          </a:p>
          <a:p>
            <a:r>
              <a:rPr lang="en-US" sz="2400" dirty="0">
                <a:latin typeface="Times New Roman" panose="02020503050405090304" pitchFamily="18" charset="0"/>
                <a:cs typeface="Times New Roman" panose="02020503050405090304" pitchFamily="18" charset="0"/>
              </a:rPr>
              <a:t>The degrees of freedom indicates the number of independent pieces of information used to calculate each sum of squares.</a:t>
            </a:r>
            <a:endParaRPr lang="en-US" sz="2400" dirty="0">
              <a:latin typeface="Times New Roman" panose="02020503050405090304" pitchFamily="18" charset="0"/>
              <a:cs typeface="Times New Roman" panose="02020503050405090304" pitchFamily="18" charset="0"/>
            </a:endParaRPr>
          </a:p>
          <a:p>
            <a:r>
              <a:rPr lang="en-US" sz="2400" dirty="0">
                <a:latin typeface="Times New Roman" panose="02020503050405090304" pitchFamily="18" charset="0"/>
                <a:cs typeface="Times New Roman" panose="02020503050405090304" pitchFamily="18" charset="0"/>
              </a:rPr>
              <a:t>For a one-factor design with a factor at k levels (five lots in our example) and a total of N observations (five jars per lot for a total of 25), the degrees of freedom are as follows:</a:t>
            </a:r>
            <a:endParaRPr lang="en-US" sz="2400" dirty="0">
              <a:latin typeface="Times New Roman" panose="02020503050405090304" pitchFamily="18" charset="0"/>
              <a:cs typeface="Times New Roman" panose="02020503050405090304" pitchFamily="18" charset="0"/>
            </a:endParaRPr>
          </a:p>
          <a:p>
            <a:endParaRPr lang="en-US" dirty="0"/>
          </a:p>
        </p:txBody>
      </p:sp>
      <p:graphicFrame>
        <p:nvGraphicFramePr>
          <p:cNvPr id="4" name="Table 3"/>
          <p:cNvGraphicFramePr>
            <a:graphicFrameLocks noGrp="1"/>
          </p:cNvGraphicFramePr>
          <p:nvPr/>
        </p:nvGraphicFramePr>
        <p:xfrm>
          <a:off x="838199" y="4027618"/>
          <a:ext cx="10134601" cy="1999108"/>
        </p:xfrm>
        <a:graphic>
          <a:graphicData uri="http://schemas.openxmlformats.org/drawingml/2006/table">
            <a:tbl>
              <a:tblPr/>
              <a:tblGrid>
                <a:gridCol w="2237510"/>
                <a:gridCol w="4142509"/>
                <a:gridCol w="3754582"/>
              </a:tblGrid>
              <a:tr h="499777">
                <a:tc>
                  <a:txBody>
                    <a:bodyPr/>
                    <a:lstStyle/>
                    <a:p>
                      <a:r>
                        <a:rPr lang="en-US" sz="1800">
                          <a:solidFill>
                            <a:srgbClr val="000000"/>
                          </a:solidFill>
                          <a:effectLst/>
                        </a:rPr>
                        <a:t> </a:t>
                      </a:r>
                      <a:endParaRPr lang="en-US" sz="1800">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pPr algn="ctr"/>
                      <a:r>
                        <a:rPr lang="en-US" sz="1800" dirty="0">
                          <a:solidFill>
                            <a:srgbClr val="000000"/>
                          </a:solidFill>
                          <a:effectLst/>
                        </a:rPr>
                        <a:t>Degrees of Freedom (DF) Formula</a:t>
                      </a:r>
                      <a:endParaRPr lang="en-US" sz="1800" dirty="0">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pPr algn="ctr"/>
                      <a:r>
                        <a:rPr lang="en-US" sz="1800">
                          <a:solidFill>
                            <a:srgbClr val="000000"/>
                          </a:solidFill>
                          <a:effectLst/>
                        </a:rPr>
                        <a:t>Calculated Degrees of Freedom </a:t>
                      </a:r>
                      <a:endParaRPr lang="en-US" sz="1800">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r>
              <a:tr h="499777">
                <a:tc>
                  <a:txBody>
                    <a:bodyPr/>
                    <a:lstStyle/>
                    <a:p>
                      <a:r>
                        <a:rPr lang="en-US" sz="1800">
                          <a:solidFill>
                            <a:srgbClr val="000000"/>
                          </a:solidFill>
                          <a:effectLst/>
                        </a:rPr>
                        <a:t>SS (Factor)</a:t>
                      </a:r>
                      <a:endParaRPr lang="en-US" sz="1800">
                        <a:solidFill>
                          <a:srgbClr val="000000"/>
                        </a:solidFill>
                        <a:effectLst/>
                      </a:endParaRP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solidFill>
                      <a:srgbClr val="EFEFEF"/>
                    </a:solidFill>
                  </a:tcPr>
                </a:tc>
                <a:tc>
                  <a:txBody>
                    <a:bodyPr/>
                    <a:lstStyle/>
                    <a:p>
                      <a:pPr algn="ctr"/>
                      <a:r>
                        <a:rPr lang="en-US" sz="1800" dirty="0">
                          <a:effectLst/>
                        </a:rPr>
                        <a:t>k - 1</a:t>
                      </a:r>
                      <a:endParaRPr lang="en-US" sz="1800" dirty="0">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pPr algn="ctr"/>
                      <a:r>
                        <a:rPr lang="en-US" sz="1800">
                          <a:effectLst/>
                        </a:rPr>
                        <a:t>5 - 1 = 4</a:t>
                      </a:r>
                      <a:endParaRPr lang="en-US" sz="1800">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r>
              <a:tr h="499777">
                <a:tc>
                  <a:txBody>
                    <a:bodyPr/>
                    <a:lstStyle/>
                    <a:p>
                      <a:r>
                        <a:rPr lang="en-US" sz="1800">
                          <a:solidFill>
                            <a:srgbClr val="000000"/>
                          </a:solidFill>
                          <a:effectLst/>
                        </a:rPr>
                        <a:t>SS (Error)</a:t>
                      </a:r>
                      <a:endParaRPr lang="en-US" sz="1800">
                        <a:solidFill>
                          <a:srgbClr val="000000"/>
                        </a:solidFill>
                        <a:effectLst/>
                      </a:endParaRP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tcPr>
                </a:tc>
                <a:tc>
                  <a:txBody>
                    <a:bodyPr/>
                    <a:lstStyle/>
                    <a:p>
                      <a:pPr algn="ctr"/>
                      <a:r>
                        <a:rPr lang="en-US" sz="1800">
                          <a:effectLst/>
                        </a:rPr>
                        <a:t>N - k</a:t>
                      </a:r>
                      <a:endParaRPr lang="en-US" sz="180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pPr algn="ctr"/>
                      <a:r>
                        <a:rPr lang="en-US" sz="1800">
                          <a:effectLst/>
                        </a:rPr>
                        <a:t>25 - 5 = 20</a:t>
                      </a:r>
                      <a:endParaRPr lang="en-US" sz="180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r>
              <a:tr h="499777">
                <a:tc>
                  <a:txBody>
                    <a:bodyPr/>
                    <a:lstStyle/>
                    <a:p>
                      <a:r>
                        <a:rPr lang="en-US" sz="1800">
                          <a:solidFill>
                            <a:srgbClr val="000000"/>
                          </a:solidFill>
                          <a:effectLst/>
                        </a:rPr>
                        <a:t>SS (Total)</a:t>
                      </a:r>
                      <a:endParaRPr lang="en-US" sz="1800">
                        <a:solidFill>
                          <a:srgbClr val="000000"/>
                        </a:solidFill>
                        <a:effectLst/>
                      </a:endParaRP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solidFill>
                      <a:srgbClr val="EFEFEF"/>
                    </a:solidFill>
                  </a:tcPr>
                </a:tc>
                <a:tc>
                  <a:txBody>
                    <a:bodyPr/>
                    <a:lstStyle/>
                    <a:p>
                      <a:pPr algn="ctr"/>
                      <a:r>
                        <a:rPr lang="en-US" sz="1800">
                          <a:effectLst/>
                        </a:rPr>
                        <a:t>N - 1</a:t>
                      </a:r>
                      <a:endParaRPr lang="en-US" sz="180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pPr algn="ctr"/>
                      <a:r>
                        <a:rPr lang="en-US" sz="1800" dirty="0">
                          <a:effectLst/>
                        </a:rPr>
                        <a:t>25 - 1 = 24</a:t>
                      </a:r>
                      <a:endParaRPr lang="en-US" sz="1800" dirty="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r>
            </a:tbl>
          </a:graphicData>
        </a:graphic>
      </p:graphicFrame>
      <p:sp>
        <p:nvSpPr>
          <p:cNvPr id="5" name="Rectangle 1"/>
          <p:cNvSpPr>
            <a:spLocks noChangeArrowheads="1"/>
          </p:cNvSpPr>
          <p:nvPr/>
        </p:nvSpPr>
        <p:spPr bwMode="auto">
          <a:xfrm>
            <a:off x="838199" y="40277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400" b="0" i="0" u="none" strike="noStrike" cap="none" normalizeH="0" baseline="0">
                <a:ln>
                  <a:noFill/>
                </a:ln>
                <a:solidFill>
                  <a:srgbClr val="333333"/>
                </a:solidFill>
                <a:effectLst/>
                <a:latin typeface="Domine"/>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sp>
        <p:nvSpPr>
          <p:cNvPr id="6" name="Slide Number Placeholder 5"/>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503050405090304" pitchFamily="18" charset="0"/>
                <a:cs typeface="Times New Roman" panose="02020503050405090304" pitchFamily="18" charset="0"/>
              </a:rPr>
              <a:t>Mean Squares (MS) and F Ratio</a:t>
            </a:r>
            <a:endParaRPr lang="en-US" dirty="0">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503050405090304" pitchFamily="18" charset="0"/>
                <a:cs typeface="Times New Roman" panose="02020503050405090304" pitchFamily="18" charset="0"/>
              </a:rPr>
              <a:t>We divide each </a:t>
            </a:r>
            <a:r>
              <a:rPr lang="en-US" dirty="0">
                <a:solidFill>
                  <a:srgbClr val="FF0000"/>
                </a:solidFill>
                <a:latin typeface="Times New Roman" panose="02020503050405090304" pitchFamily="18" charset="0"/>
                <a:cs typeface="Times New Roman" panose="02020503050405090304" pitchFamily="18" charset="0"/>
              </a:rPr>
              <a:t>sum of squares by the corresponding degrees of freedom to obtain Mean Squares (</a:t>
            </a:r>
            <a:r>
              <a:rPr lang="en-US" b="1" dirty="0">
                <a:solidFill>
                  <a:srgbClr val="FF0000"/>
                </a:solidFill>
                <a:latin typeface="Times New Roman" panose="02020503050405090304" pitchFamily="18" charset="0"/>
                <a:cs typeface="Times New Roman" panose="02020503050405090304" pitchFamily="18" charset="0"/>
              </a:rPr>
              <a:t>MS)</a:t>
            </a:r>
            <a:r>
              <a:rPr lang="en-US" dirty="0">
                <a:solidFill>
                  <a:srgbClr val="FF0000"/>
                </a:solidFill>
                <a:latin typeface="Times New Roman" panose="02020503050405090304" pitchFamily="18" charset="0"/>
                <a:cs typeface="Times New Roman" panose="02020503050405090304" pitchFamily="18" charset="0"/>
              </a:rPr>
              <a:t>.</a:t>
            </a:r>
            <a:r>
              <a:rPr lang="en-US" dirty="0">
                <a:latin typeface="Times New Roman" panose="02020503050405090304" pitchFamily="18" charset="0"/>
                <a:cs typeface="Times New Roman" panose="02020503050405090304" pitchFamily="18" charset="0"/>
              </a:rPr>
              <a:t> When the null hypothesis is true (i.e. the means are equal), </a:t>
            </a:r>
            <a:r>
              <a:rPr lang="en-US" b="1" dirty="0">
                <a:latin typeface="Times New Roman" panose="02020503050405090304" pitchFamily="18" charset="0"/>
                <a:cs typeface="Times New Roman" panose="02020503050405090304" pitchFamily="18" charset="0"/>
              </a:rPr>
              <a:t>MS (Factor) and MS (Error) are both would be about the same size</a:t>
            </a:r>
            <a:r>
              <a:rPr lang="en-US" dirty="0">
                <a:latin typeface="Times New Roman" panose="02020503050405090304" pitchFamily="18" charset="0"/>
                <a:cs typeface="Times New Roman" panose="02020503050405090304" pitchFamily="18" charset="0"/>
              </a:rPr>
              <a:t>. </a:t>
            </a:r>
            <a:r>
              <a:rPr lang="en-US" b="1" dirty="0">
                <a:latin typeface="Times New Roman" panose="02020503050405090304" pitchFamily="18" charset="0"/>
                <a:cs typeface="Times New Roman" panose="02020503050405090304" pitchFamily="18" charset="0"/>
              </a:rPr>
              <a:t>Their ratio, or the F ratio, would be close to one. </a:t>
            </a:r>
            <a:r>
              <a:rPr lang="en-US" dirty="0">
                <a:solidFill>
                  <a:srgbClr val="FF0000"/>
                </a:solidFill>
                <a:latin typeface="Times New Roman" panose="02020503050405090304" pitchFamily="18" charset="0"/>
                <a:cs typeface="Times New Roman" panose="02020503050405090304" pitchFamily="18" charset="0"/>
              </a:rPr>
              <a:t>When the null hypothesis is not true then the MS (Factor) will be larger than MS (Error) and </a:t>
            </a:r>
            <a:r>
              <a:rPr lang="en-US" b="1" dirty="0">
                <a:solidFill>
                  <a:srgbClr val="FF0000"/>
                </a:solidFill>
                <a:latin typeface="Times New Roman" panose="02020503050405090304" pitchFamily="18" charset="0"/>
                <a:cs typeface="Times New Roman" panose="02020503050405090304" pitchFamily="18" charset="0"/>
              </a:rPr>
              <a:t>their ratio greater than 1</a:t>
            </a:r>
            <a:r>
              <a:rPr lang="en-US" dirty="0">
                <a:solidFill>
                  <a:srgbClr val="FF0000"/>
                </a:solidFill>
                <a:latin typeface="Times New Roman" panose="02020503050405090304" pitchFamily="18" charset="0"/>
                <a:cs typeface="Times New Roman" panose="02020503050405090304" pitchFamily="18" charset="0"/>
              </a:rPr>
              <a:t>.</a:t>
            </a:r>
            <a:r>
              <a:rPr lang="en-US" dirty="0">
                <a:latin typeface="Times New Roman" panose="02020503050405090304" pitchFamily="18" charset="0"/>
                <a:cs typeface="Times New Roman" panose="02020503050405090304" pitchFamily="18" charset="0"/>
              </a:rPr>
              <a:t> In our adhesive testing example, the computed F ratio, 6.90, presents significant evidence </a:t>
            </a:r>
            <a:r>
              <a:rPr lang="en-US" b="1" dirty="0">
                <a:latin typeface="Times New Roman" panose="02020503050405090304" pitchFamily="18" charset="0"/>
                <a:cs typeface="Times New Roman" panose="02020503050405090304" pitchFamily="18" charset="0"/>
              </a:rPr>
              <a:t>against</a:t>
            </a:r>
            <a:r>
              <a:rPr lang="en-US" dirty="0">
                <a:latin typeface="Times New Roman" panose="02020503050405090304" pitchFamily="18" charset="0"/>
                <a:cs typeface="Times New Roman" panose="02020503050405090304" pitchFamily="18" charset="0"/>
              </a:rPr>
              <a:t> the null hypothesis that the means are equal.</a:t>
            </a:r>
            <a:endParaRPr lang="en-US" dirty="0">
              <a:latin typeface="Times New Roman" panose="02020503050405090304" pitchFamily="18" charset="0"/>
              <a:cs typeface="Times New Roman" panose="02020503050405090304" pitchFamily="18" charset="0"/>
            </a:endParaRPr>
          </a:p>
          <a:p>
            <a:pPr algn="just"/>
            <a:endParaRPr lang="en-US" dirty="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1420091" y="2896318"/>
          <a:ext cx="9608126" cy="1932612"/>
        </p:xfrm>
        <a:graphic>
          <a:graphicData uri="http://schemas.openxmlformats.org/drawingml/2006/table">
            <a:tbl>
              <a:tblPr/>
              <a:tblGrid>
                <a:gridCol w="1866982"/>
                <a:gridCol w="1935286"/>
                <a:gridCol w="1935286"/>
                <a:gridCol w="2026513"/>
                <a:gridCol w="1844059"/>
              </a:tblGrid>
              <a:tr h="734506">
                <a:tc>
                  <a:txBody>
                    <a:bodyPr/>
                    <a:lstStyle/>
                    <a:p>
                      <a:r>
                        <a:rPr lang="en-US">
                          <a:solidFill>
                            <a:srgbClr val="000000"/>
                          </a:solidFill>
                          <a:effectLst/>
                        </a:rPr>
                        <a:t> </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dirty="0">
                          <a:solidFill>
                            <a:srgbClr val="000000"/>
                          </a:solidFill>
                          <a:effectLst/>
                        </a:rPr>
                        <a:t>Sum of Squares (SS)</a:t>
                      </a:r>
                      <a:endParaRPr lang="en-US" dirty="0">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Degrees of Freedom (DF)</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Mean Squares</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c>
                  <a:txBody>
                    <a:bodyPr/>
                    <a:lstStyle/>
                    <a:p>
                      <a:r>
                        <a:rPr lang="en-US">
                          <a:solidFill>
                            <a:srgbClr val="000000"/>
                          </a:solidFill>
                          <a:effectLst/>
                        </a:rPr>
                        <a:t>F Ratio</a:t>
                      </a:r>
                      <a:endParaRPr lang="en-US">
                        <a:solidFill>
                          <a:srgbClr val="000000"/>
                        </a:solidFill>
                        <a:effectLst/>
                      </a:endParaRPr>
                    </a:p>
                  </a:txBody>
                  <a:tcPr marT="95250" marB="95250" anchor="ctr">
                    <a:lnL>
                      <a:noFill/>
                    </a:lnL>
                    <a:lnR>
                      <a:noFill/>
                    </a:lnR>
                    <a:lnT>
                      <a:noFill/>
                    </a:lnT>
                    <a:lnB w="19050" cap="flat" cmpd="sng" algn="ctr">
                      <a:solidFill>
                        <a:srgbClr val="929496"/>
                      </a:solidFill>
                      <a:prstDash val="solid"/>
                      <a:round/>
                      <a:headEnd type="none" w="med" len="med"/>
                      <a:tailEnd type="none" w="med" len="med"/>
                    </a:lnB>
                  </a:tcPr>
                </a:tc>
              </a:tr>
              <a:tr h="728652">
                <a:tc>
                  <a:txBody>
                    <a:bodyPr/>
                    <a:lstStyle/>
                    <a:p>
                      <a:r>
                        <a:rPr lang="en-US">
                          <a:solidFill>
                            <a:srgbClr val="000000"/>
                          </a:solidFill>
                          <a:effectLst/>
                        </a:rPr>
                        <a:t>SS (Factor)</a:t>
                      </a:r>
                      <a:endParaRPr lang="en-US">
                        <a:solidFill>
                          <a:srgbClr val="000000"/>
                        </a:solidFill>
                        <a:effectLst/>
                      </a:endParaRP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solidFill>
                      <a:srgbClr val="EFEFEF"/>
                    </a:solidFill>
                  </a:tcPr>
                </a:tc>
                <a:tc>
                  <a:txBody>
                    <a:bodyPr/>
                    <a:lstStyle/>
                    <a:p>
                      <a:r>
                        <a:rPr lang="en-US">
                          <a:effectLst/>
                        </a:rPr>
                        <a:t>45.25</a:t>
                      </a:r>
                      <a:endParaRPr lang="en-US">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4</a:t>
                      </a:r>
                      <a:endParaRPr lang="en-US">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a:effectLst/>
                        </a:rPr>
                        <a:t>45.25/4 = 11.31</a:t>
                      </a:r>
                      <a:endParaRPr lang="en-US">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c>
                  <a:txBody>
                    <a:bodyPr/>
                    <a:lstStyle/>
                    <a:p>
                      <a:r>
                        <a:rPr lang="en-US" dirty="0">
                          <a:effectLst/>
                        </a:rPr>
                        <a:t>11.31/1.64 = 6.90</a:t>
                      </a:r>
                      <a:endParaRPr lang="en-US" dirty="0">
                        <a:effectLst/>
                      </a:endParaRPr>
                    </a:p>
                  </a:txBody>
                  <a:tcPr marL="95250" marR="95250" marT="95250" marB="95250" anchor="ctr">
                    <a:lnL>
                      <a:noFill/>
                    </a:lnL>
                    <a:lnR>
                      <a:noFill/>
                    </a:lnR>
                    <a:lnT w="19050"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solidFill>
                      <a:srgbClr val="EFEFEF"/>
                    </a:solidFill>
                  </a:tcPr>
                </a:tc>
              </a:tr>
              <a:tr h="461906">
                <a:tc>
                  <a:txBody>
                    <a:bodyPr/>
                    <a:lstStyle/>
                    <a:p>
                      <a:r>
                        <a:rPr lang="en-US">
                          <a:solidFill>
                            <a:srgbClr val="000000"/>
                          </a:solidFill>
                          <a:effectLst/>
                        </a:rPr>
                        <a:t>SS (Error)</a:t>
                      </a:r>
                      <a:endParaRPr lang="en-US">
                        <a:solidFill>
                          <a:srgbClr val="000000"/>
                        </a:solidFill>
                        <a:effectLst/>
                      </a:endParaRPr>
                    </a:p>
                  </a:txBody>
                  <a:tcPr marT="95250" marB="95250" anchor="ctr">
                    <a:lnL>
                      <a:noFill/>
                    </a:lnL>
                    <a:lnR>
                      <a:noFill/>
                    </a:lnR>
                    <a:lnT w="19050" cap="flat" cmpd="sng" algn="ctr">
                      <a:solidFill>
                        <a:srgbClr val="929496"/>
                      </a:solidFill>
                      <a:prstDash val="solid"/>
                      <a:round/>
                      <a:headEnd type="none" w="med" len="med"/>
                      <a:tailEnd type="none" w="med" len="med"/>
                    </a:lnT>
                    <a:lnB w="19050" cap="flat" cmpd="sng" algn="ctr">
                      <a:solidFill>
                        <a:srgbClr val="929496"/>
                      </a:solidFill>
                      <a:prstDash val="solid"/>
                      <a:round/>
                      <a:headEnd type="none" w="med" len="med"/>
                      <a:tailEnd type="none" w="med" len="med"/>
                    </a:lnB>
                  </a:tcPr>
                </a:tc>
                <a:tc>
                  <a:txBody>
                    <a:bodyPr/>
                    <a:lstStyle/>
                    <a:p>
                      <a:r>
                        <a:rPr lang="en-US" dirty="0">
                          <a:effectLst/>
                        </a:rPr>
                        <a:t>32.80</a:t>
                      </a:r>
                      <a:endParaRPr lang="en-US" dirty="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20</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a:effectLst/>
                        </a:rPr>
                        <a:t>32.80/20 = 1.64</a:t>
                      </a:r>
                      <a:endParaRPr lang="en-US">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c>
                  <a:txBody>
                    <a:bodyPr/>
                    <a:lstStyle/>
                    <a:p>
                      <a:r>
                        <a:rPr lang="en-US" dirty="0">
                          <a:effectLst/>
                        </a:rPr>
                        <a:t> </a:t>
                      </a:r>
                      <a:endParaRPr lang="en-US" dirty="0">
                        <a:effectLst/>
                      </a:endParaRPr>
                    </a:p>
                  </a:txBody>
                  <a:tcPr marL="95250" marR="95250" marT="95250" marB="95250" anchor="ctr">
                    <a:lnL>
                      <a:noFill/>
                    </a:lnL>
                    <a:lnR>
                      <a:noFill/>
                    </a:lnR>
                    <a:lnT w="9525" cap="flat" cmpd="sng" algn="ctr">
                      <a:solidFill>
                        <a:srgbClr val="929496"/>
                      </a:solidFill>
                      <a:prstDash val="solid"/>
                      <a:round/>
                      <a:headEnd type="none" w="med" len="med"/>
                      <a:tailEnd type="none" w="med" len="med"/>
                    </a:lnT>
                    <a:lnB w="9525" cap="flat" cmpd="sng" algn="ctr">
                      <a:solidFill>
                        <a:srgbClr val="929496"/>
                      </a:solidFill>
                      <a:prstDash val="solid"/>
                      <a:round/>
                      <a:headEnd type="none" w="med" len="med"/>
                      <a:tailEnd type="none" w="med" len="med"/>
                    </a:lnB>
                  </a:tcPr>
                </a:tc>
              </a:tr>
            </a:tbl>
          </a:graphicData>
        </a:graphic>
      </p:graphicFrame>
      <p:sp>
        <p:nvSpPr>
          <p:cNvPr id="5" name="Rectangle 1"/>
          <p:cNvSpPr>
            <a:spLocks noChangeArrowheads="1"/>
          </p:cNvSpPr>
          <p:nvPr/>
        </p:nvSpPr>
        <p:spPr bwMode="auto">
          <a:xfrm>
            <a:off x="955963" y="243911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5870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400" b="0" i="1" u="none" strike="noStrike" cap="none" normalizeH="0" baseline="0" dirty="0">
                <a:ln>
                  <a:noFill/>
                </a:ln>
                <a:solidFill>
                  <a:srgbClr val="333333"/>
                </a:solidFill>
                <a:effectLst/>
                <a:latin typeface="avenir-light"/>
              </a:rPr>
              <a:t>Table 6: Calculating mean squares and F ratio</a:t>
            </a:r>
            <a:endParaRPr kumimoji="0" lang="en-US" altLang="en-US" sz="1400" b="0" i="0" u="none" strike="noStrike" cap="none" normalizeH="0" baseline="0" dirty="0">
              <a:ln>
                <a:noFill/>
              </a:ln>
              <a:solidFill>
                <a:srgbClr val="333333"/>
              </a:solidFill>
              <a:effectLst/>
              <a:latin typeface="avenir-light"/>
            </a:endParaRPr>
          </a:p>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400" b="0" i="0" u="none" strike="noStrike" cap="none" normalizeH="0" baseline="0" dirty="0">
                <a:ln>
                  <a:noFill/>
                </a:ln>
                <a:solidFill>
                  <a:srgbClr val="333333"/>
                </a:solidFill>
                <a:effectLst/>
                <a:latin typeface="Domine"/>
              </a:rPr>
            </a:br>
            <a:endParaRPr kumimoji="0" lang="en-US" altLang="en-US" sz="1800" b="0" i="0" u="none" strike="noStrike" cap="none" normalizeH="0" baseline="0" dirty="0">
              <a:ln>
                <a:noFill/>
              </a:ln>
              <a:solidFill>
                <a:schemeClr val="tx1"/>
              </a:solidFill>
              <a:effectLst/>
              <a:latin typeface="Arial" panose="020B0604020202090204" pitchFamily="34" charset="0"/>
            </a:endParaRPr>
          </a:p>
        </p:txBody>
      </p:sp>
      <p:sp>
        <p:nvSpPr>
          <p:cNvPr id="3" name="Slide Number Placeholder 2"/>
          <p:cNvSpPr>
            <a:spLocks noGrp="1"/>
          </p:cNvSpPr>
          <p:nvPr>
            <p:ph type="sldNum" sz="quarter" idx="12"/>
          </p:nvPr>
        </p:nvSpPr>
        <p:spPr/>
        <p:txBody>
          <a:bodyPr/>
          <a:lstStyle/>
          <a:p>
            <a:fld id="{7307D28F-5A9D-4E18-8428-07D5AC5FC289}"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8336</Words>
  <Application>WPS Presentation</Application>
  <PresentationFormat>Widescreen</PresentationFormat>
  <Paragraphs>405</Paragraphs>
  <Slides>28</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28</vt:i4>
      </vt:variant>
    </vt:vector>
  </HeadingPairs>
  <TitlesOfParts>
    <vt:vector size="43" baseType="lpstr">
      <vt:lpstr>Arial</vt:lpstr>
      <vt:lpstr>SimSun</vt:lpstr>
      <vt:lpstr>Wingdings</vt:lpstr>
      <vt:lpstr>Times New Roman</vt:lpstr>
      <vt:lpstr>Calibri</vt:lpstr>
      <vt:lpstr>Helvetica Neue</vt:lpstr>
      <vt:lpstr>Microsoft YaHei</vt:lpstr>
      <vt:lpstr>汉仪旗黑</vt:lpstr>
      <vt:lpstr>Arial Unicode MS</vt:lpstr>
      <vt:lpstr>Calibri Light</vt:lpstr>
      <vt:lpstr>Domine</vt:lpstr>
      <vt:lpstr>avenir-light</vt:lpstr>
      <vt:lpstr>Thonburi</vt:lpstr>
      <vt:lpstr>汉仪书宋二KW</vt:lpstr>
      <vt:lpstr>Office Theme</vt:lpstr>
      <vt:lpstr>Data Collection Techniques and ANOVA Test</vt:lpstr>
      <vt:lpstr>Software Metrics Data Collection</vt:lpstr>
      <vt:lpstr>What is Good Data?</vt:lpstr>
      <vt:lpstr>How to Define the Data</vt:lpstr>
      <vt:lpstr>How to Define the Data</vt:lpstr>
      <vt:lpstr>Data Collection Techniques for Software Field Studies</vt:lpstr>
      <vt:lpstr>A Taxonomy of Data Collection</vt:lpstr>
      <vt:lpstr>Data Collection Techniques</vt:lpstr>
      <vt:lpstr>Some Definitions</vt:lpstr>
      <vt:lpstr>Definitions</vt:lpstr>
      <vt:lpstr>PowerPoint 演示文稿</vt:lpstr>
      <vt:lpstr>ANOVA Test</vt:lpstr>
      <vt:lpstr>One-Way ANOVA</vt:lpstr>
      <vt:lpstr>One-Way ANOVA (cont..)</vt:lpstr>
      <vt:lpstr>Examples </vt:lpstr>
      <vt:lpstr>Example </vt:lpstr>
      <vt:lpstr>PowerPoint 演示文稿</vt:lpstr>
      <vt:lpstr> </vt:lpstr>
      <vt:lpstr>PowerPoint 演示文稿</vt:lpstr>
      <vt:lpstr>PowerPoint 演示文稿</vt:lpstr>
      <vt:lpstr>One-way ANOVA calculation</vt:lpstr>
      <vt:lpstr>PowerPoint 演示文稿</vt:lpstr>
      <vt:lpstr>Sum of Squares</vt:lpstr>
      <vt:lpstr>PowerPoint 演示文稿</vt:lpstr>
      <vt:lpstr>PowerPoint 演示文稿</vt:lpstr>
      <vt:lpstr>Degrees of Freedom (DF) </vt:lpstr>
      <vt:lpstr>Mean Squares (MS) and F Ratio</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Rakibul</cp:lastModifiedBy>
  <cp:revision>81</cp:revision>
  <dcterms:created xsi:type="dcterms:W3CDTF">2025-06-16T03:43:08Z</dcterms:created>
  <dcterms:modified xsi:type="dcterms:W3CDTF">2025-06-16T03:43:08Z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E5C3DF71F0887CF09D022B68F64F1A4F_42</vt:lpwstr>
  </property>
  <property fmtid="{D5CDD505-2E9C-101B-9397-08002B2CF9AE}" pid="3" name="KSOProductBuildVer">
    <vt:lpwstr>1033-6.11.0.8608</vt:lpwstr>
  </property>
</Properties>
</file>