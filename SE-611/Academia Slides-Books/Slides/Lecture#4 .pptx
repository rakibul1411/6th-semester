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239CE-BDF7-4AE7-AA1F-93FAF5D343F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E39A9-BAF9-44DD-9347-63FA39177FF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0DBA-D628-4A9E-9259-F1D4FF35767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51F11-5DA4-4790-BB25-0AC636AE8B0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F5B56-F471-41E8-BA39-C239A23A39A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91193-FDC5-417E-8DCB-0301FAE14FC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43E3-7F41-4563-811D-A3F8F1E5CB62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A884-7036-464E-AA1A-88DA19E43DC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BD27-32E0-49FF-B4BA-05104B4EBCB5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8B42803-5426-4C3B-B71A-B978D593282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B763-421F-4603-A6BF-E50EB1AF9B5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3C0A-825C-430B-9FE0-A0E0D024722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0D83-67A8-44CF-8E05-784D4675829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D6FC3B6-1D02-46D3-B64F-AD61DB317E3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CD59F3B-FA5A-4D45-8CD5-BDD6698005F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Investigation</a:t>
            </a:r>
            <a:endParaRPr lang="en-US" sz="7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</a:t>
            </a:r>
            <a:r>
              <a:rPr lang="en-US" dirty="0"/>
              <a:t>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Studies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Selecting the best or optimal tool or technique requires some empirical support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research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is based on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observed and measured phenomena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derives knowledge from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actual experience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rather than from theory or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belief.</a:t>
            </a:r>
            <a:endParaRPr lang="en-US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Empirical studies are conducted to test the theory or belief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Empirical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studies do not prove that a theory is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true; rather,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they provide further evidence to support or refute the theory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An empirical study examines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 specific sample or observation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the possible values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of the variable involved </a:t>
            </a:r>
            <a:r>
              <a:rPr 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a cause-effect relationship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Studies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6794" y="1846263"/>
            <a:ext cx="7698738" cy="40227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Studies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158" y="1845734"/>
            <a:ext cx="10189522" cy="4023360"/>
          </a:xfrm>
        </p:spPr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Key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characteristics involved in designing empirical studies include: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32815" lvl="2" indent="-4572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level of control of </a:t>
            </a:r>
            <a:r>
              <a:rPr lang="en-US" sz="2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study variables </a:t>
            </a: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(e.g., 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population, behavior, or </a:t>
            </a: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phenomena</a:t>
            </a:r>
            <a:r>
              <a:rPr lang="en-US" sz="2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that determines the </a:t>
            </a:r>
            <a:r>
              <a:rPr lang="en-US" sz="2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appropriate type of study</a:t>
            </a:r>
            <a:endParaRPr lang="en-US" sz="20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32815" lvl="2" indent="-4572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Study goals and hypotheses</a:t>
            </a:r>
            <a:endParaRPr lang="en-US" sz="20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32815" lvl="2" indent="-4572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Maintaining </a:t>
            </a: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control </a:t>
            </a: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of variables</a:t>
            </a:r>
            <a:endParaRPr lang="en-US" sz="20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32815" lvl="2" indent="-4572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Threats to validity</a:t>
            </a:r>
            <a:endParaRPr lang="en-US" sz="20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32815" lvl="2" indent="-457200" algn="just">
              <a:buFont typeface="+mj-lt"/>
              <a:buAutoNum type="arabicPeriod"/>
            </a:pPr>
            <a:r>
              <a:rPr lang="en-US" sz="20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use of human subjects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1. Control of Variables and Study Type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912" y="1871614"/>
            <a:ext cx="9815135" cy="402336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Controlled experiments involve the testing of well-defined hypotheses concerning the postulated(</a:t>
            </a:r>
            <a:r>
              <a:rPr lang="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স্বীকার</a:t>
            </a:r>
            <a:r>
              <a:rPr lang="en-US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করিয়া</a:t>
            </a:r>
            <a:r>
              <a:rPr lang="en-US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লত্তয়া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effects of independent variables on dependent variables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Sometimes the input variables can not be controlled, e.g., in the research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areas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of astrophysics and geology.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Ethical and legal issues are also factors that prevent conducting experiments.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Investigation Type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2912" y="2010875"/>
            <a:ext cx="8746501" cy="3693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Experiments:  When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Research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Small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●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Experiments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require a great deal of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control;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tend to involve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small numbers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people or events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● Controlled experiments tend to be conducted in academia or research labs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● Rarely performed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in a software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industrial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environment,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 controlling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for confounding(</a:t>
            </a:r>
            <a:r>
              <a:rPr lang="" alt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বিভ্রান্তিকর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factors are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hard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Case Studies: Research is Typical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studies that involve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observations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where potential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confounding variables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cannot be controlled and/or subjects cannot be assigned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to treatment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 control groups are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called </a:t>
            </a:r>
            <a:r>
              <a:rPr lang="en-US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observational </a:t>
            </a:r>
            <a:r>
              <a:rPr lang="en-US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studies, </a:t>
            </a:r>
            <a:r>
              <a:rPr lang="en-US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natural experiments</a:t>
            </a:r>
            <a:r>
              <a:rPr lang="en-US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and/or </a:t>
            </a:r>
            <a:r>
              <a:rPr lang="en-US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quasi-experiments</a:t>
            </a:r>
            <a:endParaRPr lang="en-US" b="1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 case study documents activity by identifying key factors (inputs, constraints, and resources) that may affect the outcomes of a research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studies in software engineering are case studies that involve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use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a tool or technique on projects without random assignment of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subjects to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projects and control of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all other variables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Experiments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controlled, case studies are observational data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collection and study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If the activity has yet to occur, you may choose between a case study and a controlled experiment. If the investigation has already occurred, you must perform a survey or case study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Experiments vs Case Studies </a:t>
            </a:r>
            <a:r>
              <a:rPr lang="en-US" sz="1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(Table is read across and up)</a:t>
            </a:r>
            <a:endParaRPr lang="en-US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3762" y="2148825"/>
            <a:ext cx="9424801" cy="3417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Survey: Research is Large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Survey is an empirical method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that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enables researchers to collect data from a large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population.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main aim of the survey is to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generalize the findings</a:t>
            </a:r>
            <a:endParaRPr lang="en-US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Surveys try to pool what is happening broadly over large groups of projects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survey is a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retrospective study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a situation to try to document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relationships and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outcomes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survey is done after an event has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occurred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Steps of a survey include: </a:t>
            </a:r>
            <a:r>
              <a:rPr lang="en-US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Identifying the objective, target audience, instruments/questionnaire design, instruments/questionnaire evaluation, analysis, conclusion, and documentation </a:t>
            </a:r>
            <a:endParaRPr lang="en-US" b="1" i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8966" y="1846263"/>
            <a:ext cx="8410755" cy="408008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61514" y="1983756"/>
            <a:ext cx="8305512" cy="4028855"/>
          </a:xfrm>
        </p:spPr>
        <p:txBody>
          <a:bodyPr/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Case Study: </a:t>
            </a:r>
            <a:r>
              <a:rPr lang="en-US" sz="3600" b="1" dirty="0">
                <a:solidFill>
                  <a:srgbClr val="00B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research in the typical</a:t>
            </a:r>
            <a:endParaRPr lang="en-US" sz="3600" b="1" dirty="0">
              <a:solidFill>
                <a:srgbClr val="00B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may want to use or may have used software reliability engineering (SRE) for the first time in a project. You can perform case studies to capture different aspects. 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78066" y="1846263"/>
            <a:ext cx="7096193" cy="40227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2. Study goal and hypothesis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goal of the research can be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expressed as a hypothesis that you want to test.</a:t>
            </a:r>
            <a:endParaRPr lang="en-US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Hypothesis: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 tentative idea that you think explains the behavior you want to explore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should be empirically testable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hypotheses must be conceptually clear and specific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The hypotheses should be related to a body of theory or some theoretical orientation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Hypotheses should have quantitative terms and in terms of independent and dependent variables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are as direct and unambiguous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as possible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 example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●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Using the Scrum method produces better quality software than </a:t>
            </a:r>
            <a:r>
              <a:rPr lang="en-US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using the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XP method </a:t>
            </a:r>
            <a:endParaRPr lang="en-US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01295" lvl="1" indent="0">
              <a:buNone/>
            </a:pPr>
            <a:r>
              <a:rPr lang="en-US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-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hypothesis. However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it is not testable because the notion of quality is not given in 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measurable way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 define “quality” in terms of the defects found and restate the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hypothesis as -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using the Scrum method produces better quality software than </a:t>
            </a:r>
            <a:r>
              <a:rPr lang="en-US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using the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XP </a:t>
            </a:r>
            <a:r>
              <a:rPr lang="en-US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method,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then code produced using Scrum will have fewer </a:t>
            </a:r>
            <a:r>
              <a:rPr lang="en-US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defects per </a:t>
            </a:r>
            <a:r>
              <a:rPr lang="en-US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thousand lines of code than code produced using the XP method.</a:t>
            </a:r>
            <a:endParaRPr lang="en-US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3. Maintaining Control over Variables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key discriminator between experiments and case studies is the degree of control over variables.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case study is preferable when you are examining events where relevant behaviors or variables can not be manipulated.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●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State variable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independent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variable that characterizes the project or goals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	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Example: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Suppose your hypothesis involves the effect of programming language on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quality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the resulting code.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	“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Language” is a state variable, and an ideal experiment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would involve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projects where many different languages would be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used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● The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treatment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any independent variable manipulated by the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experimenter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84175" lvl="2" indent="0">
              <a:buNone/>
            </a:pPr>
            <a:r>
              <a:rPr lang="en-US" sz="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  Example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If you want to test whether a new testing strategy is better than other used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testing strategies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new one is 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treatment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● After the case studies, you take a sample from the state variables for your project. So, if you have less control over the state variables of your project and if you are not sure about any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treatments,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then you must have to choose a case study instead of an experiment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4. Threats to Validity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No study is perfect. Potential problems with empirical studies are classified as categories of </a:t>
            </a:r>
            <a:r>
              <a:rPr lang="en-US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Threats to Validity</a:t>
            </a:r>
            <a:endParaRPr lang="en-US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1. Conclusion Validity: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study has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 validity if the results are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statistically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significant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using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appropriate statistical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tests over the independent and dependent variables.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Threats to conclusion validity include using the wrong statistical tests, having too small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 sample,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etc.</a:t>
            </a:r>
            <a:endParaRPr lang="en-US" sz="14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2. Construct Validity: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 validity is used to determine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how well a test measures what it is supposed to measure</a:t>
            </a:r>
            <a:endParaRPr lang="en-US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For example, using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measure faults per KLOC as a measure of code quality has some threats to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validity since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its value depends in part on when the measure is taken, for example: during </a:t>
            </a:r>
            <a:r>
              <a:rPr lang="en-US" sz="14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testing(faults </a:t>
            </a: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found during testing) or after release (faults found by customers)</a:t>
            </a:r>
            <a:endParaRPr 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45" y="937260"/>
            <a:ext cx="3822700" cy="80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4. Threats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Validity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Internal </a:t>
            </a:r>
            <a:r>
              <a:rPr lang="en-US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Validity: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Internal validity refers to the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cause-effect relationship between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independent and dependent variables.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study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internal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validity if the treatment actually caused the 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effect. </a:t>
            </a:r>
            <a:endParaRPr lang="en-US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Specific threats include the effects of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other, possibly unidentified variables.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endParaRPr 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External </a:t>
            </a:r>
            <a:r>
              <a:rPr lang="en-US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Validity: 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External validity refers to how well you can </a:t>
            </a: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generalize from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findings of a study to other situations, people, </a:t>
            </a:r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settings, </a:t>
            </a: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measures. In other words,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 you apply the findings of your study to a broader context?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seven threats to external validity: 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selection bias, history, experimenter effect, Hawthorne effect, testing effect, </a:t>
            </a:r>
            <a:r>
              <a:rPr 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aptitude-treatment,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situation </a:t>
            </a:r>
            <a:r>
              <a:rPr 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effect</a:t>
            </a:r>
            <a:endParaRPr lang="en-US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/>
            <a:r>
              <a:rPr lang="en-US" sz="14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Hawthorne effect: </a:t>
            </a:r>
            <a:r>
              <a:rPr lang="en-US" sz="1400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tendency for participants to change their behaviors simply because they know they are being studied.</a:t>
            </a:r>
            <a:endParaRPr lang="en-US" sz="1400" b="1" i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5. Human Subject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Consent!!!!!!</a:t>
            </a:r>
            <a:endParaRPr lang="en-US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Should not be any harm or damage or injury to the subjects while studying. </a:t>
            </a:r>
            <a:endParaRPr lang="en-US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engineering studies rarely involve risks of physical harm to human subjects. The major risks are due to </a:t>
            </a:r>
            <a:r>
              <a:rPr 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privacy issues</a:t>
            </a:r>
            <a:r>
              <a:rPr lang="en-US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9F3B-FA5A-4D45-8CD5-BDD6698005F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7398</Words>
  <Application>WPS Presentation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Times New Roman</vt:lpstr>
      <vt:lpstr>Calibri Light</vt:lpstr>
      <vt:lpstr>Microsoft YaHei</vt:lpstr>
      <vt:lpstr>汉仪旗黑</vt:lpstr>
      <vt:lpstr>Arial Unicode MS</vt:lpstr>
      <vt:lpstr>汉仪书宋二KW</vt:lpstr>
      <vt:lpstr>Retrospect</vt:lpstr>
      <vt:lpstr>Empirical Investigation</vt:lpstr>
      <vt:lpstr>Empirical Studies</vt:lpstr>
      <vt:lpstr>Empirical Studies</vt:lpstr>
      <vt:lpstr>Empirical Studies</vt:lpstr>
      <vt:lpstr>1. Control of Variables and Study Type</vt:lpstr>
      <vt:lpstr>Investigation Type</vt:lpstr>
      <vt:lpstr>Experiments:  When Research is Small</vt:lpstr>
      <vt:lpstr>Case Studies: Research is Typical</vt:lpstr>
      <vt:lpstr>Experiments vs Case Studies (Table is read across and up)</vt:lpstr>
      <vt:lpstr>Survey: Research is Large</vt:lpstr>
      <vt:lpstr>Example:</vt:lpstr>
      <vt:lpstr>Example</vt:lpstr>
      <vt:lpstr>Example</vt:lpstr>
      <vt:lpstr>2. Study goal and hypothesis</vt:lpstr>
      <vt:lpstr>Hypothesis example</vt:lpstr>
      <vt:lpstr>3. Maintaining Control over Variables</vt:lpstr>
      <vt:lpstr>4. Threats to Validity</vt:lpstr>
      <vt:lpstr>4. Threats to Validity</vt:lpstr>
      <vt:lpstr>5. Human Subject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Goal-Based Framework for Software Measurement</dc:title>
  <dc:creator>Windows User</dc:creator>
  <cp:lastModifiedBy>Rakibul</cp:lastModifiedBy>
  <cp:revision>114</cp:revision>
  <dcterms:created xsi:type="dcterms:W3CDTF">2025-06-16T02:05:49Z</dcterms:created>
  <dcterms:modified xsi:type="dcterms:W3CDTF">2025-06-16T02:05:49Z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24DC8C51D9FB8725FD7B4F681AB19FEF_42</vt:lpwstr>
  </property>
  <property fmtid="{D5CDD505-2E9C-101B-9397-08002B2CF9AE}" pid="3" name="KSOProductBuildVer">
    <vt:lpwstr>1033-6.11.0.8608</vt:lpwstr>
  </property>
</Properties>
</file>