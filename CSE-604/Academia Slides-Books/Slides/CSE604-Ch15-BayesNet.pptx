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60" r:id="rId2"/>
    <p:sldId id="262" r:id="rId3"/>
    <p:sldId id="263" r:id="rId4"/>
    <p:sldId id="264" r:id="rId5"/>
    <p:sldId id="265" r:id="rId6"/>
    <p:sldId id="266" r:id="rId7"/>
    <p:sldId id="268" r:id="rId8"/>
    <p:sldId id="276" r:id="rId9"/>
    <p:sldId id="278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90" r:id="rId18"/>
    <p:sldId id="291" r:id="rId19"/>
    <p:sldId id="293" r:id="rId20"/>
    <p:sldId id="294" r:id="rId21"/>
    <p:sldId id="295" r:id="rId22"/>
    <p:sldId id="296" r:id="rId23"/>
    <p:sldId id="311" r:id="rId24"/>
    <p:sldId id="297" r:id="rId25"/>
    <p:sldId id="298" r:id="rId26"/>
    <p:sldId id="299" r:id="rId27"/>
    <p:sldId id="307" r:id="rId28"/>
    <p:sldId id="306" r:id="rId29"/>
    <p:sldId id="300" r:id="rId30"/>
    <p:sldId id="301" r:id="rId31"/>
    <p:sldId id="310" r:id="rId32"/>
    <p:sldId id="308" r:id="rId33"/>
    <p:sldId id="309" r:id="rId34"/>
    <p:sldId id="312" r:id="rId35"/>
    <p:sldId id="302" r:id="rId36"/>
    <p:sldId id="275" r:id="rId37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  <a:srgbClr val="FF66FF"/>
    <a:srgbClr val="CC00FF"/>
    <a:srgbClr val="990099"/>
    <a:srgbClr val="FF0000"/>
    <a:srgbClr val="CCFFFF"/>
    <a:srgbClr val="3333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91" autoAdjust="0"/>
    <p:restoredTop sz="94729" autoAdjust="0"/>
  </p:normalViewPr>
  <p:slideViewPr>
    <p:cSldViewPr>
      <p:cViewPr varScale="1">
        <p:scale>
          <a:sx n="64" d="100"/>
          <a:sy n="64" d="100"/>
        </p:scale>
        <p:origin x="139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/>
            </a:lvl1pPr>
          </a:lstStyle>
          <a:p>
            <a:fld id="{81FE1EB0-7198-4FA0-8AD2-656601AC2EE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7650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2BDD6FFA-E558-4940-A8C4-F9DA19D0DED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084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D6FFA-E558-4940-A8C4-F9DA19D0DED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489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4F7D8A-DE81-46DE-996E-17DC255A3F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335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C701D9-A224-450C-A0F8-093E727EA52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61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944C6B-2BEE-417C-B13C-CA40BC7EB7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753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Weng-Keen Wong, Oregon State University ©2005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A48F3C-119E-48D4-AA86-95054F60864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781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Weng-Keen Wong, Oregon State University ©2005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10D026-4782-4AE4-A2E3-E1F59EB0354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17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Weng-Keen Wong, Oregon State University ©2005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3D00CD-5C7E-4B8C-9B16-4A02CB59D46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3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Weng-Keen Wong, Oregon State University ©2005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FB6F8E-78F8-436A-B138-DFD125B36B9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438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Weng-Keen Wong, Oregon State University ©2005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97845F-7521-4E97-A1F0-F3864C455A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770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Weng-Keen Wong, Oregon State University ©2005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67566B-234C-4E09-88A4-8EB1093EACA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350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Weng-Keen Wong, Oregon State University ©2005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784D21-873E-46C9-94D6-55590D2F55F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767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Weng-Keen Wong, Oregon State University ©2005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CC6871-31DF-4A3B-A563-4B0106FEB44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56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09800" y="6400800"/>
            <a:ext cx="4648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Weng-Keen Wong, Oregon State University ©2005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67600" y="6248400"/>
            <a:ext cx="99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0613904-45C5-4F0C-9DF4-BB8C0579D20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7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0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1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2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70B1F1D-389B-43CC-9527-C11EA58A4FC0}" type="slidenum">
              <a:rPr lang="en-US" sz="1400"/>
              <a:pPr eaLnBrk="1" hangingPunct="1"/>
              <a:t>1</a:t>
            </a:fld>
            <a:endParaRPr lang="en-US" sz="1400"/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457200"/>
            <a:ext cx="7772400" cy="1470025"/>
          </a:xfrm>
        </p:spPr>
        <p:txBody>
          <a:bodyPr/>
          <a:lstStyle/>
          <a:p>
            <a:pPr eaLnBrk="1" hangingPunct="1"/>
            <a:r>
              <a:rPr lang="en-US" dirty="0"/>
              <a:t>Bayesian Networks</a:t>
            </a:r>
          </a:p>
        </p:txBody>
      </p:sp>
      <p:sp>
        <p:nvSpPr>
          <p:cNvPr id="18437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600200"/>
            <a:ext cx="8077200" cy="1752600"/>
          </a:xfrm>
        </p:spPr>
        <p:txBody>
          <a:bodyPr/>
          <a:lstStyle/>
          <a:p>
            <a:pPr eaLnBrk="1" hangingPunct="1"/>
            <a:endParaRPr lang="en-US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531216" y="5945105"/>
            <a:ext cx="40815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Courtesy: </a:t>
            </a:r>
            <a:r>
              <a:rPr lang="en-US" sz="1400" dirty="0" err="1"/>
              <a:t>Weng</a:t>
            </a:r>
            <a:r>
              <a:rPr lang="en-US" sz="1400" dirty="0"/>
              <a:t>-Keen Wong, Oregon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715C707-1E07-4DCC-97C2-B8E3A6B54889}" type="slidenum">
              <a:rPr lang="en-US" sz="1400"/>
              <a:pPr eaLnBrk="1" hangingPunct="1"/>
              <a:t>2</a:t>
            </a:fld>
            <a:endParaRPr lang="en-US" sz="1400"/>
          </a:p>
        </p:txBody>
      </p:sp>
      <p:sp>
        <p:nvSpPr>
          <p:cNvPr id="1946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Introduction</a:t>
            </a:r>
          </a:p>
        </p:txBody>
      </p:sp>
      <p:pic>
        <p:nvPicPr>
          <p:cNvPr id="19461" name="Picture 17" descr="MCj0331728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71600"/>
            <a:ext cx="3048000" cy="297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2" name="Text Box 26"/>
          <p:cNvSpPr txBox="1">
            <a:spLocks noChangeArrowheads="1"/>
          </p:cNvSpPr>
          <p:nvPr/>
        </p:nvSpPr>
        <p:spPr bwMode="auto">
          <a:xfrm>
            <a:off x="3962400" y="1447800"/>
            <a:ext cx="4648200" cy="356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Suppose you are trying to determine if a patient has inhalational anthrax.  You observe the following symptoms: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/>
              <a:t>The patient has a cough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/>
              <a:t>The patient has a fever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/>
              <a:t>The patient has difficulty breathing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45EA3C4-FBCC-4FE0-A567-78CEBCFBC4CD}" type="slidenum">
              <a:rPr lang="en-US" sz="1400"/>
              <a:pPr eaLnBrk="1" hangingPunct="1"/>
              <a:t>3</a:t>
            </a:fld>
            <a:endParaRPr lang="en-US" sz="1400"/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Introduction</a:t>
            </a:r>
          </a:p>
        </p:txBody>
      </p:sp>
      <p:pic>
        <p:nvPicPr>
          <p:cNvPr id="20485" name="Picture 3" descr="MCj0331728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71600"/>
            <a:ext cx="3048000" cy="297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Text Box 4"/>
          <p:cNvSpPr txBox="1">
            <a:spLocks noChangeArrowheads="1"/>
          </p:cNvSpPr>
          <p:nvPr/>
        </p:nvSpPr>
        <p:spPr bwMode="auto">
          <a:xfrm>
            <a:off x="3962400" y="1447800"/>
            <a:ext cx="46482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You would like to determine how likely the patient is infected with inhalational anthrax given that the patient has a cough, a fever, and difficulty breathing</a:t>
            </a:r>
          </a:p>
        </p:txBody>
      </p:sp>
      <p:sp>
        <p:nvSpPr>
          <p:cNvPr id="20487" name="Text Box 6"/>
          <p:cNvSpPr txBox="1">
            <a:spLocks noChangeArrowheads="1"/>
          </p:cNvSpPr>
          <p:nvPr/>
        </p:nvSpPr>
        <p:spPr bwMode="auto">
          <a:xfrm>
            <a:off x="3886200" y="4038600"/>
            <a:ext cx="4648200" cy="1562100"/>
          </a:xfrm>
          <a:prstGeom prst="rect">
            <a:avLst/>
          </a:prstGeom>
          <a:solidFill>
            <a:srgbClr val="FF99CC"/>
          </a:solidFill>
          <a:ln w="9525">
            <a:solidFill>
              <a:srgbClr val="99009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/>
              <a:t>We are not 100% certain that the patient has anthrax because of these symptoms.  We are dealing with uncertainty!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4E1F352-757F-4C77-986C-BC835ACCF873}" type="slidenum">
              <a:rPr lang="en-US" sz="1400"/>
              <a:pPr eaLnBrk="1" hangingPunct="1"/>
              <a:t>4</a:t>
            </a:fld>
            <a:endParaRPr lang="en-US" sz="1400"/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Introduction</a:t>
            </a:r>
          </a:p>
        </p:txBody>
      </p:sp>
      <p:pic>
        <p:nvPicPr>
          <p:cNvPr id="21509" name="Picture 9" descr="MCj0339194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47800"/>
            <a:ext cx="3348038" cy="334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0" name="Text Box 10"/>
          <p:cNvSpPr txBox="1">
            <a:spLocks noChangeArrowheads="1"/>
          </p:cNvSpPr>
          <p:nvPr/>
        </p:nvSpPr>
        <p:spPr bwMode="auto">
          <a:xfrm>
            <a:off x="4038600" y="1676400"/>
            <a:ext cx="4648200" cy="246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Now suppose you order an x-ray and observe that the patient has a wide mediastinum.</a:t>
            </a:r>
          </a:p>
          <a:p>
            <a:pPr eaLnBrk="1" hangingPunct="1">
              <a:spcBef>
                <a:spcPct val="50000"/>
              </a:spcBef>
            </a:pPr>
            <a:r>
              <a:rPr lang="en-US"/>
              <a:t>Your belief that that the patient  is infected with inhalational anthrax is now much higher.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A70E22E-97CE-493E-A9D4-777D2A298C2F}" type="slidenum">
              <a:rPr lang="en-US" sz="1400"/>
              <a:pPr eaLnBrk="1" hangingPunct="1"/>
              <a:t>5</a:t>
            </a:fld>
            <a:endParaRPr lang="en-US" sz="1400"/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Introduction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3810000"/>
          </a:xfrm>
        </p:spPr>
        <p:txBody>
          <a:bodyPr/>
          <a:lstStyle/>
          <a:p>
            <a:pPr eaLnBrk="1" hangingPunct="1"/>
            <a:r>
              <a:rPr lang="en-US"/>
              <a:t>In the previous slides, what you observed affected your belief that the patient is infected with anthrax</a:t>
            </a:r>
          </a:p>
          <a:p>
            <a:pPr eaLnBrk="1" hangingPunct="1"/>
            <a:r>
              <a:rPr lang="en-US"/>
              <a:t>This is called </a:t>
            </a:r>
            <a:r>
              <a:rPr lang="en-US">
                <a:solidFill>
                  <a:srgbClr val="FF0000"/>
                </a:solidFill>
              </a:rPr>
              <a:t>reasoning with uncertainty</a:t>
            </a:r>
          </a:p>
          <a:p>
            <a:pPr eaLnBrk="1" hangingPunct="1"/>
            <a:r>
              <a:rPr lang="en-US"/>
              <a:t>Wouldn’t it be nice if we had some methodology for reasoning with uncertainty? Well in fact, we do…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9177FBB-AF03-466E-A425-9FCF213600A8}" type="slidenum">
              <a:rPr lang="en-US" sz="1400"/>
              <a:pPr eaLnBrk="1" hangingPunct="1"/>
              <a:t>6</a:t>
            </a:fld>
            <a:endParaRPr lang="en-US" sz="1400"/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Bayesian Networks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2450" y="3619500"/>
            <a:ext cx="7772400" cy="2819400"/>
          </a:xfrm>
        </p:spPr>
        <p:txBody>
          <a:bodyPr/>
          <a:lstStyle/>
          <a:p>
            <a:pPr eaLnBrk="1" hangingPunct="1"/>
            <a:r>
              <a:rPr lang="en-US" sz="2800" dirty="0"/>
              <a:t>Bayesian networks are used in many applications </a:t>
            </a:r>
            <a:r>
              <a:rPr lang="en-US" sz="2800" dirty="0" err="1"/>
              <a:t>eg</a:t>
            </a:r>
            <a:r>
              <a:rPr lang="en-US" sz="2800" dirty="0"/>
              <a:t>. spam filtering, speech recognition, robotics, diagnostic systems and even </a:t>
            </a:r>
            <a:r>
              <a:rPr lang="en-US" sz="2800" dirty="0" err="1"/>
              <a:t>syndromic</a:t>
            </a:r>
            <a:r>
              <a:rPr lang="en-US" sz="2800" dirty="0"/>
              <a:t> surveillance</a:t>
            </a:r>
          </a:p>
        </p:txBody>
      </p:sp>
      <p:sp>
        <p:nvSpPr>
          <p:cNvPr id="23558" name="Oval 4"/>
          <p:cNvSpPr>
            <a:spLocks noChangeArrowheads="1"/>
          </p:cNvSpPr>
          <p:nvPr/>
        </p:nvSpPr>
        <p:spPr bwMode="auto">
          <a:xfrm>
            <a:off x="3581400" y="1371600"/>
            <a:ext cx="1600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sz="1800"/>
              <a:t>HasAnthrax</a:t>
            </a:r>
          </a:p>
        </p:txBody>
      </p:sp>
      <p:sp>
        <p:nvSpPr>
          <p:cNvPr id="23559" name="Oval 8"/>
          <p:cNvSpPr>
            <a:spLocks noChangeArrowheads="1"/>
          </p:cNvSpPr>
          <p:nvPr/>
        </p:nvSpPr>
        <p:spPr bwMode="auto">
          <a:xfrm>
            <a:off x="685800" y="2590800"/>
            <a:ext cx="11430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sz="1800"/>
              <a:t>HasCough</a:t>
            </a:r>
          </a:p>
        </p:txBody>
      </p:sp>
      <p:sp>
        <p:nvSpPr>
          <p:cNvPr id="23560" name="Oval 9"/>
          <p:cNvSpPr>
            <a:spLocks noChangeArrowheads="1"/>
          </p:cNvSpPr>
          <p:nvPr/>
        </p:nvSpPr>
        <p:spPr bwMode="auto">
          <a:xfrm>
            <a:off x="1981200" y="2590800"/>
            <a:ext cx="11430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sz="1800"/>
              <a:t>HasFever</a:t>
            </a:r>
          </a:p>
        </p:txBody>
      </p:sp>
      <p:sp>
        <p:nvSpPr>
          <p:cNvPr id="23561" name="Oval 10"/>
          <p:cNvSpPr>
            <a:spLocks noChangeArrowheads="1"/>
          </p:cNvSpPr>
          <p:nvPr/>
        </p:nvSpPr>
        <p:spPr bwMode="auto">
          <a:xfrm>
            <a:off x="3276600" y="2590800"/>
            <a:ext cx="24384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sz="1800"/>
              <a:t>HasDifficultyBreathing</a:t>
            </a:r>
          </a:p>
        </p:txBody>
      </p:sp>
      <p:sp>
        <p:nvSpPr>
          <p:cNvPr id="23562" name="Oval 11"/>
          <p:cNvSpPr>
            <a:spLocks noChangeArrowheads="1"/>
          </p:cNvSpPr>
          <p:nvPr/>
        </p:nvSpPr>
        <p:spPr bwMode="auto">
          <a:xfrm>
            <a:off x="5867400" y="2590800"/>
            <a:ext cx="28194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sz="1800"/>
              <a:t>HasWideMediastinum</a:t>
            </a:r>
          </a:p>
        </p:txBody>
      </p:sp>
      <p:cxnSp>
        <p:nvCxnSpPr>
          <p:cNvPr id="23563" name="AutoShape 12"/>
          <p:cNvCxnSpPr>
            <a:cxnSpLocks noChangeShapeType="1"/>
            <a:stCxn id="23558" idx="4"/>
            <a:endCxn id="23559" idx="0"/>
          </p:cNvCxnSpPr>
          <p:nvPr/>
        </p:nvCxnSpPr>
        <p:spPr bwMode="auto">
          <a:xfrm flipH="1">
            <a:off x="1257300" y="1828800"/>
            <a:ext cx="3124200" cy="762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4" name="AutoShape 13"/>
          <p:cNvCxnSpPr>
            <a:cxnSpLocks noChangeShapeType="1"/>
            <a:stCxn id="23558" idx="4"/>
            <a:endCxn id="23560" idx="0"/>
          </p:cNvCxnSpPr>
          <p:nvPr/>
        </p:nvCxnSpPr>
        <p:spPr bwMode="auto">
          <a:xfrm flipH="1">
            <a:off x="2552700" y="1828800"/>
            <a:ext cx="1828800" cy="762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5" name="AutoShape 14"/>
          <p:cNvCxnSpPr>
            <a:cxnSpLocks noChangeShapeType="1"/>
            <a:stCxn id="23558" idx="4"/>
            <a:endCxn id="23561" idx="0"/>
          </p:cNvCxnSpPr>
          <p:nvPr/>
        </p:nvCxnSpPr>
        <p:spPr bwMode="auto">
          <a:xfrm>
            <a:off x="4381500" y="1828800"/>
            <a:ext cx="114300" cy="762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6" name="AutoShape 15"/>
          <p:cNvCxnSpPr>
            <a:cxnSpLocks noChangeShapeType="1"/>
            <a:stCxn id="23558" idx="4"/>
            <a:endCxn id="23562" idx="0"/>
          </p:cNvCxnSpPr>
          <p:nvPr/>
        </p:nvCxnSpPr>
        <p:spPr bwMode="auto">
          <a:xfrm>
            <a:off x="4381500" y="1828800"/>
            <a:ext cx="2895600" cy="762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97A8A77-E104-43FF-952B-E57AAB59CB0F}" type="slidenum">
              <a:rPr lang="en-US" sz="1400"/>
              <a:pPr eaLnBrk="1" hangingPunct="1"/>
              <a:t>7</a:t>
            </a:fld>
            <a:endParaRPr lang="en-US" sz="1400"/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Outline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447800"/>
            <a:ext cx="7772400" cy="4648200"/>
          </a:xfrm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en-US"/>
              <a:t>Introduction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/>
              <a:t>Probability Primer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/>
              <a:t>Bayesian networks </a:t>
            </a:r>
          </a:p>
          <a:p>
            <a:pPr marL="609600" indent="-609600" eaLnBrk="1" hangingPunct="1">
              <a:buFontTx/>
              <a:buAutoNum type="arabicPeriod"/>
            </a:pPr>
            <a:endParaRPr lang="en-US"/>
          </a:p>
        </p:txBody>
      </p:sp>
      <p:sp>
        <p:nvSpPr>
          <p:cNvPr id="24582" name="AutoShape 4"/>
          <p:cNvSpPr>
            <a:spLocks noChangeArrowheads="1"/>
          </p:cNvSpPr>
          <p:nvPr/>
        </p:nvSpPr>
        <p:spPr bwMode="auto">
          <a:xfrm>
            <a:off x="381000" y="2133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977DA37-53F5-470C-89D5-C701FEFF5CDC}" type="slidenum">
              <a:rPr lang="en-US" sz="1400"/>
              <a:pPr eaLnBrk="1" hangingPunct="1"/>
              <a:t>8</a:t>
            </a:fld>
            <a:endParaRPr lang="en-US" sz="1400"/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1143000"/>
          </a:xfrm>
        </p:spPr>
        <p:txBody>
          <a:bodyPr/>
          <a:lstStyle/>
          <a:p>
            <a:pPr eaLnBrk="1" hangingPunct="1"/>
            <a:r>
              <a:rPr lang="en-US" sz="4000"/>
              <a:t>Probability Primer: Random Variables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3810000"/>
          </a:xfrm>
        </p:spPr>
        <p:txBody>
          <a:bodyPr/>
          <a:lstStyle/>
          <a:p>
            <a:pPr eaLnBrk="1" hangingPunct="1"/>
            <a:r>
              <a:rPr lang="en-US"/>
              <a:t>A </a:t>
            </a:r>
            <a:r>
              <a:rPr lang="en-US">
                <a:solidFill>
                  <a:srgbClr val="FF0000"/>
                </a:solidFill>
              </a:rPr>
              <a:t>random variable </a:t>
            </a:r>
            <a:r>
              <a:rPr lang="en-US"/>
              <a:t>is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the basic element of probability </a:t>
            </a:r>
            <a:endParaRPr lang="en-US">
              <a:solidFill>
                <a:srgbClr val="FF0000"/>
              </a:solidFill>
            </a:endParaRPr>
          </a:p>
          <a:p>
            <a:pPr eaLnBrk="1" hangingPunct="1"/>
            <a:r>
              <a:rPr lang="en-US"/>
              <a:t>Refers to an event and there is some degree of uncertainty as to the outcome of the event</a:t>
            </a:r>
          </a:p>
          <a:p>
            <a:pPr eaLnBrk="1" hangingPunct="1"/>
            <a:r>
              <a:rPr lang="en-US"/>
              <a:t>For example, the random variable </a:t>
            </a:r>
            <a:r>
              <a:rPr lang="en-US" i="1"/>
              <a:t>A</a:t>
            </a:r>
            <a:r>
              <a:rPr lang="en-US"/>
              <a:t> could be the event of getting a head on a coin flip</a:t>
            </a:r>
          </a:p>
        </p:txBody>
      </p:sp>
      <p:pic>
        <p:nvPicPr>
          <p:cNvPr id="25606" name="Picture 4" descr="MCj0311368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5105400"/>
            <a:ext cx="1196975" cy="110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C13E9A6-F31F-4083-925C-5DDB233D3486}" type="slidenum">
              <a:rPr lang="en-US" sz="1400"/>
              <a:pPr eaLnBrk="1" hangingPunct="1"/>
              <a:t>9</a:t>
            </a:fld>
            <a:endParaRPr lang="en-US" sz="1400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Boolean Random Variables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pPr eaLnBrk="1" hangingPunct="1"/>
            <a:r>
              <a:rPr lang="en-US" sz="2800"/>
              <a:t>We will start with the simplest type of random variables – Boolean ones</a:t>
            </a:r>
          </a:p>
          <a:p>
            <a:pPr eaLnBrk="1" hangingPunct="1"/>
            <a:r>
              <a:rPr lang="en-US" sz="2800"/>
              <a:t>Take the values </a:t>
            </a:r>
            <a:r>
              <a:rPr lang="en-US" sz="2800" i="1"/>
              <a:t>true</a:t>
            </a:r>
            <a:r>
              <a:rPr lang="en-US" sz="2800"/>
              <a:t> or </a:t>
            </a:r>
            <a:r>
              <a:rPr lang="en-US" sz="2800" i="1"/>
              <a:t>false</a:t>
            </a:r>
          </a:p>
          <a:p>
            <a:pPr eaLnBrk="1" hangingPunct="1"/>
            <a:r>
              <a:rPr lang="en-US" sz="2800"/>
              <a:t>Think of the event as occurring or not occurring</a:t>
            </a:r>
          </a:p>
          <a:p>
            <a:pPr eaLnBrk="1" hangingPunct="1"/>
            <a:r>
              <a:rPr lang="en-US" sz="2800"/>
              <a:t>Examples (Let </a:t>
            </a:r>
            <a:r>
              <a:rPr lang="en-US" sz="2800" i="1"/>
              <a:t>A</a:t>
            </a:r>
            <a:r>
              <a:rPr lang="en-US" sz="2800"/>
              <a:t> be a Boolean random variable):</a:t>
            </a:r>
          </a:p>
          <a:p>
            <a:pPr lvl="1" eaLnBrk="1" hangingPunct="1">
              <a:buFontTx/>
              <a:buNone/>
            </a:pPr>
            <a:r>
              <a:rPr lang="en-US" i="1"/>
              <a:t>A</a:t>
            </a:r>
            <a:r>
              <a:rPr lang="en-US"/>
              <a:t> = Getting a head on a coin flip </a:t>
            </a:r>
          </a:p>
          <a:p>
            <a:pPr lvl="1" eaLnBrk="1" hangingPunct="1">
              <a:buFontTx/>
              <a:buNone/>
            </a:pPr>
            <a:r>
              <a:rPr lang="en-US" i="1"/>
              <a:t>A</a:t>
            </a:r>
            <a:r>
              <a:rPr lang="en-US"/>
              <a:t> = It will rain today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9D89B90-F909-4511-8D12-6292EF4B547B}" type="slidenum">
              <a:rPr lang="en-US" sz="1400"/>
              <a:pPr eaLnBrk="1" hangingPunct="1"/>
              <a:t>10</a:t>
            </a:fld>
            <a:endParaRPr lang="en-US" sz="1400"/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Joint Probability Distribution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4876800" cy="3276600"/>
          </a:xfrm>
        </p:spPr>
        <p:txBody>
          <a:bodyPr/>
          <a:lstStyle/>
          <a:p>
            <a:pPr eaLnBrk="1" hangingPunct="1"/>
            <a:r>
              <a:rPr lang="en-US" sz="2400"/>
              <a:t>Joint probabilities can be between any number of variables</a:t>
            </a:r>
          </a:p>
          <a:p>
            <a:pPr eaLnBrk="1" hangingPunct="1">
              <a:buFontTx/>
              <a:buNone/>
            </a:pPr>
            <a:r>
              <a:rPr lang="en-US" sz="2400"/>
              <a:t>	eg. </a:t>
            </a:r>
            <a:r>
              <a:rPr lang="en-US" sz="2400" i="1"/>
              <a:t>P(A = true, B = true, C = true)</a:t>
            </a:r>
          </a:p>
          <a:p>
            <a:pPr eaLnBrk="1" hangingPunct="1"/>
            <a:r>
              <a:rPr lang="en-US" sz="2400"/>
              <a:t>For each combination of variables, we need to say how probable that combination is</a:t>
            </a:r>
          </a:p>
          <a:p>
            <a:pPr eaLnBrk="1" hangingPunct="1"/>
            <a:r>
              <a:rPr lang="en-US" sz="2400"/>
              <a:t>The probabilities of these combinations need to sum to 1</a:t>
            </a:r>
          </a:p>
        </p:txBody>
      </p:sp>
      <p:graphicFrame>
        <p:nvGraphicFramePr>
          <p:cNvPr id="854093" name="Group 77"/>
          <p:cNvGraphicFramePr>
            <a:graphicFrameLocks noGrp="1"/>
          </p:cNvGraphicFramePr>
          <p:nvPr/>
        </p:nvGraphicFramePr>
        <p:xfrm>
          <a:off x="5410200" y="1447800"/>
          <a:ext cx="3124200" cy="3292479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P(A,B,C)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0.2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0.05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0.05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0.3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0.05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0.15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7706" name="AutoShape 78"/>
          <p:cNvSpPr>
            <a:spLocks/>
          </p:cNvSpPr>
          <p:nvPr/>
        </p:nvSpPr>
        <p:spPr bwMode="auto">
          <a:xfrm rot="5400000">
            <a:off x="7772400" y="4343400"/>
            <a:ext cx="381000" cy="11430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27707" name="Text Box 79"/>
          <p:cNvSpPr txBox="1">
            <a:spLocks noChangeArrowheads="1"/>
          </p:cNvSpPr>
          <p:nvPr/>
        </p:nvSpPr>
        <p:spPr bwMode="auto">
          <a:xfrm>
            <a:off x="7239000" y="52578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Sums to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56CFA29-9032-4E06-A12B-DB2E788FDC15}" type="slidenum">
              <a:rPr lang="en-US" sz="1400"/>
              <a:pPr eaLnBrk="1" hangingPunct="1"/>
              <a:t>11</a:t>
            </a:fld>
            <a:endParaRPr lang="en-US" sz="1400"/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Joint Probability Distribution</a:t>
            </a:r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76400"/>
            <a:ext cx="4876800" cy="2286000"/>
          </a:xfrm>
        </p:spPr>
        <p:txBody>
          <a:bodyPr/>
          <a:lstStyle/>
          <a:p>
            <a:pPr marL="350838" indent="-350838" eaLnBrk="1" hangingPunct="1">
              <a:lnSpc>
                <a:spcPct val="80000"/>
              </a:lnSpc>
            </a:pPr>
            <a:r>
              <a:rPr lang="en-US" sz="2400"/>
              <a:t>Once you have the joint probability distribution, you can calculate any probability involving </a:t>
            </a:r>
            <a:r>
              <a:rPr lang="en-US" sz="2400" i="1"/>
              <a:t>A</a:t>
            </a:r>
            <a:r>
              <a:rPr lang="en-US" sz="2400"/>
              <a:t>, </a:t>
            </a:r>
            <a:r>
              <a:rPr lang="en-US" sz="2400" i="1"/>
              <a:t>B</a:t>
            </a:r>
            <a:r>
              <a:rPr lang="en-US" sz="2400"/>
              <a:t>, and </a:t>
            </a:r>
            <a:r>
              <a:rPr lang="en-US" sz="2400" i="1"/>
              <a:t>C</a:t>
            </a:r>
            <a:r>
              <a:rPr lang="en-US" sz="2400"/>
              <a:t> </a:t>
            </a:r>
          </a:p>
          <a:p>
            <a:pPr marL="350838" indent="-350838" eaLnBrk="1" hangingPunct="1">
              <a:lnSpc>
                <a:spcPct val="80000"/>
              </a:lnSpc>
            </a:pPr>
            <a:r>
              <a:rPr lang="en-US" sz="2400"/>
              <a:t>Note: May need to use marginalization and Bayes rule, (both of which are not discussed in these slides)</a:t>
            </a:r>
          </a:p>
        </p:txBody>
      </p:sp>
      <p:graphicFrame>
        <p:nvGraphicFramePr>
          <p:cNvPr id="855044" name="Group 4"/>
          <p:cNvGraphicFramePr>
            <a:graphicFrameLocks noGrp="1"/>
          </p:cNvGraphicFramePr>
          <p:nvPr/>
        </p:nvGraphicFramePr>
        <p:xfrm>
          <a:off x="5715000" y="1219200"/>
          <a:ext cx="3124200" cy="3292479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P(A,B,C)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0.2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0.05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0.05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0.3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0.05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0.15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730" name="Text Box 58"/>
          <p:cNvSpPr txBox="1">
            <a:spLocks noChangeArrowheads="1"/>
          </p:cNvSpPr>
          <p:nvPr/>
        </p:nvSpPr>
        <p:spPr bwMode="auto">
          <a:xfrm>
            <a:off x="304800" y="4191000"/>
            <a:ext cx="6858000" cy="210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0838" indent="-35083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Examples of things you can compute: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i="1"/>
              <a:t>P(A=true)</a:t>
            </a:r>
            <a:r>
              <a:rPr lang="en-US"/>
              <a:t> = sum of </a:t>
            </a:r>
            <a:r>
              <a:rPr lang="en-US" i="1"/>
              <a:t>P(A,B,C)</a:t>
            </a:r>
            <a:r>
              <a:rPr lang="en-US"/>
              <a:t> in rows with </a:t>
            </a:r>
            <a:r>
              <a:rPr lang="en-US" i="1"/>
              <a:t>A=true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i="1"/>
              <a:t>P(A=true, B = true | C=true)</a:t>
            </a:r>
            <a:r>
              <a:rPr lang="en-US"/>
              <a:t> = </a:t>
            </a:r>
          </a:p>
          <a:p>
            <a:pPr eaLnBrk="1" hangingPunct="1">
              <a:spcBef>
                <a:spcPct val="50000"/>
              </a:spcBef>
            </a:pPr>
            <a:r>
              <a:rPr lang="en-US"/>
              <a:t>	</a:t>
            </a:r>
            <a:r>
              <a:rPr lang="en-US" i="1"/>
              <a:t>P(A = true, B = true, C = true)</a:t>
            </a:r>
            <a:r>
              <a:rPr lang="en-US"/>
              <a:t> / </a:t>
            </a:r>
            <a:r>
              <a:rPr lang="en-US" i="1"/>
              <a:t>P(C = true)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00C2550-C20D-4BAB-BAED-FC90236789BA}" type="slidenum">
              <a:rPr lang="en-US" sz="1400"/>
              <a:pPr eaLnBrk="1" hangingPunct="1"/>
              <a:t>12</a:t>
            </a:fld>
            <a:endParaRPr lang="en-US" sz="140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The Problem with the Joint Distribution</a:t>
            </a:r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41910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Lots of entries in the table to fill up!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For </a:t>
            </a:r>
            <a:r>
              <a:rPr lang="en-US" i="1"/>
              <a:t>k</a:t>
            </a:r>
            <a:r>
              <a:rPr lang="en-US"/>
              <a:t> Boolean random variables, you need a table of size 2</a:t>
            </a:r>
            <a:r>
              <a:rPr lang="en-US" baseline="30000"/>
              <a:t>k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How do we use fewer numbers?  Need the concept of independence</a:t>
            </a:r>
          </a:p>
        </p:txBody>
      </p:sp>
      <p:graphicFrame>
        <p:nvGraphicFramePr>
          <p:cNvPr id="856068" name="Group 4"/>
          <p:cNvGraphicFramePr>
            <a:graphicFrameLocks noGrp="1"/>
          </p:cNvGraphicFramePr>
          <p:nvPr/>
        </p:nvGraphicFramePr>
        <p:xfrm>
          <a:off x="5486400" y="1676400"/>
          <a:ext cx="3124200" cy="3292479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P(A,B,C)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0.2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0.05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0.05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0.3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0.05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0.15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DB2D2DB-9D96-4B85-BFD1-EB0B4E0D34FA}" type="slidenum">
              <a:rPr lang="en-US" sz="1400"/>
              <a:pPr eaLnBrk="1" hangingPunct="1"/>
              <a:t>13</a:t>
            </a:fld>
            <a:endParaRPr lang="en-US" sz="1400"/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Independence</a:t>
            </a:r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2971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/>
              <a:t>Variables </a:t>
            </a:r>
            <a:r>
              <a:rPr lang="en-US" i="1"/>
              <a:t>A</a:t>
            </a:r>
            <a:r>
              <a:rPr lang="en-US"/>
              <a:t> and </a:t>
            </a:r>
            <a:r>
              <a:rPr lang="en-US" i="1"/>
              <a:t>B</a:t>
            </a:r>
            <a:r>
              <a:rPr lang="en-US"/>
              <a:t> are independent if any of the following hold:</a:t>
            </a:r>
          </a:p>
          <a:p>
            <a:pPr eaLnBrk="1" hangingPunct="1"/>
            <a:r>
              <a:rPr lang="en-US" i="1"/>
              <a:t>P(A,B)</a:t>
            </a:r>
            <a:r>
              <a:rPr lang="en-US"/>
              <a:t> = </a:t>
            </a:r>
            <a:r>
              <a:rPr lang="en-US" i="1"/>
              <a:t>P(A)</a:t>
            </a:r>
            <a:r>
              <a:rPr lang="en-US"/>
              <a:t> </a:t>
            </a:r>
            <a:r>
              <a:rPr lang="en-US" i="1"/>
              <a:t>P(B)</a:t>
            </a:r>
          </a:p>
          <a:p>
            <a:pPr eaLnBrk="1" hangingPunct="1"/>
            <a:r>
              <a:rPr lang="en-US" i="1"/>
              <a:t>P(A | B)</a:t>
            </a:r>
            <a:r>
              <a:rPr lang="en-US"/>
              <a:t> = </a:t>
            </a:r>
            <a:r>
              <a:rPr lang="en-US" i="1"/>
              <a:t>P(A)</a:t>
            </a:r>
          </a:p>
          <a:p>
            <a:pPr eaLnBrk="1" hangingPunct="1"/>
            <a:r>
              <a:rPr lang="en-US" i="1"/>
              <a:t>P(B | A)</a:t>
            </a:r>
            <a:r>
              <a:rPr lang="en-US"/>
              <a:t> = </a:t>
            </a:r>
            <a:r>
              <a:rPr lang="en-US" i="1"/>
              <a:t>P(B)</a:t>
            </a:r>
          </a:p>
        </p:txBody>
      </p:sp>
      <p:sp>
        <p:nvSpPr>
          <p:cNvPr id="30726" name="AutoShape 4"/>
          <p:cNvSpPr>
            <a:spLocks noChangeArrowheads="1"/>
          </p:cNvSpPr>
          <p:nvPr/>
        </p:nvSpPr>
        <p:spPr bwMode="auto">
          <a:xfrm>
            <a:off x="3657600" y="4495800"/>
            <a:ext cx="5029200" cy="1219200"/>
          </a:xfrm>
          <a:prstGeom prst="wedgeRectCallout">
            <a:avLst>
              <a:gd name="adj1" fmla="val -56157"/>
              <a:gd name="adj2" fmla="val -70051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This says that knowing the outcome of </a:t>
            </a:r>
            <a:r>
              <a:rPr lang="en-US" i="1"/>
              <a:t>A</a:t>
            </a:r>
            <a:r>
              <a:rPr lang="en-US"/>
              <a:t> does not tell me anything new about the outcome of </a:t>
            </a:r>
            <a:r>
              <a:rPr lang="en-US" i="1"/>
              <a:t>B</a:t>
            </a:r>
            <a:r>
              <a:rPr lang="en-US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BC81E01-7B38-4231-9471-BDE8F30D9449}" type="slidenum">
              <a:rPr lang="en-US" sz="1400"/>
              <a:pPr eaLnBrk="1" hangingPunct="1"/>
              <a:t>14</a:t>
            </a:fld>
            <a:endParaRPr lang="en-US" sz="140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Independence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3048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800"/>
              <a:t>How is independence useful?</a:t>
            </a:r>
          </a:p>
          <a:p>
            <a:pPr eaLnBrk="1" hangingPunct="1"/>
            <a:r>
              <a:rPr lang="en-US" sz="2800"/>
              <a:t>Suppose you have n coin flips and you want to calculate the joint distribution </a:t>
            </a:r>
            <a:r>
              <a:rPr lang="en-US" sz="2800" b="1" i="1"/>
              <a:t>P</a:t>
            </a:r>
            <a:r>
              <a:rPr lang="en-US" sz="2800"/>
              <a:t>(</a:t>
            </a:r>
            <a:r>
              <a:rPr lang="en-US" sz="2800" i="1"/>
              <a:t>C</a:t>
            </a:r>
            <a:r>
              <a:rPr lang="en-US" sz="2800" i="1" baseline="-25000"/>
              <a:t>1</a:t>
            </a:r>
            <a:r>
              <a:rPr lang="en-US" sz="2800"/>
              <a:t>, …, </a:t>
            </a:r>
            <a:r>
              <a:rPr lang="en-US" sz="2800" i="1"/>
              <a:t>C</a:t>
            </a:r>
            <a:r>
              <a:rPr lang="en-US" sz="2800" i="1" baseline="-25000"/>
              <a:t>n</a:t>
            </a:r>
            <a:r>
              <a:rPr lang="en-US" sz="2800"/>
              <a:t>)</a:t>
            </a:r>
          </a:p>
          <a:p>
            <a:pPr eaLnBrk="1" hangingPunct="1"/>
            <a:r>
              <a:rPr lang="en-US" sz="2800"/>
              <a:t>If the coin flips are not independent, you need 2</a:t>
            </a:r>
            <a:r>
              <a:rPr lang="en-US" sz="2800" baseline="30000"/>
              <a:t>n</a:t>
            </a:r>
            <a:r>
              <a:rPr lang="en-US" sz="2800"/>
              <a:t> values in the table</a:t>
            </a:r>
          </a:p>
          <a:p>
            <a:pPr eaLnBrk="1" hangingPunct="1"/>
            <a:r>
              <a:rPr lang="en-US" sz="2800"/>
              <a:t>If the coin flips are independent, then</a:t>
            </a:r>
          </a:p>
          <a:p>
            <a:pPr eaLnBrk="1" hangingPunct="1"/>
            <a:endParaRPr lang="en-US" sz="2800"/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1143000" y="4419600"/>
          <a:ext cx="3581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3" imgW="1485720" imgH="431640" progId="Equation.3">
                  <p:embed/>
                </p:oleObj>
              </mc:Choice>
              <mc:Fallback>
                <p:oleObj name="Equation" r:id="rId3" imgW="148572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419600"/>
                        <a:ext cx="35814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" name="Text Box 6"/>
          <p:cNvSpPr txBox="1">
            <a:spLocks noChangeArrowheads="1"/>
          </p:cNvSpPr>
          <p:nvPr/>
        </p:nvSpPr>
        <p:spPr bwMode="auto">
          <a:xfrm>
            <a:off x="5029200" y="4572000"/>
            <a:ext cx="3810000" cy="1196975"/>
          </a:xfrm>
          <a:prstGeom prst="rect">
            <a:avLst/>
          </a:prstGeom>
          <a:solidFill>
            <a:srgbClr val="FF99CC"/>
          </a:solidFill>
          <a:ln w="9525">
            <a:solidFill>
              <a:srgbClr val="80008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Each P(</a:t>
            </a:r>
            <a:r>
              <a:rPr lang="en-US" i="1"/>
              <a:t>C</a:t>
            </a:r>
            <a:r>
              <a:rPr lang="en-US" i="1" baseline="-25000"/>
              <a:t>i</a:t>
            </a:r>
            <a:r>
              <a:rPr lang="en-US"/>
              <a:t>) table has 2 entries and there are </a:t>
            </a:r>
            <a:r>
              <a:rPr lang="en-US" i="1"/>
              <a:t>n</a:t>
            </a:r>
            <a:r>
              <a:rPr lang="en-US"/>
              <a:t> of them for a total of 2</a:t>
            </a:r>
            <a:r>
              <a:rPr lang="en-US" i="1"/>
              <a:t>n</a:t>
            </a:r>
            <a:r>
              <a:rPr lang="en-US"/>
              <a:t> values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3D778DA-BBC0-423E-8B05-FC068AD22A66}" type="slidenum">
              <a:rPr lang="en-US" sz="1400"/>
              <a:pPr eaLnBrk="1" hangingPunct="1"/>
              <a:t>15</a:t>
            </a:fld>
            <a:endParaRPr lang="en-US" sz="1400"/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Conditional Independence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3352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/>
              <a:t>Variables </a:t>
            </a:r>
            <a:r>
              <a:rPr lang="en-US" i="1"/>
              <a:t>A</a:t>
            </a:r>
            <a:r>
              <a:rPr lang="en-US"/>
              <a:t> and </a:t>
            </a:r>
            <a:r>
              <a:rPr lang="en-US" i="1"/>
              <a:t>B</a:t>
            </a:r>
            <a:r>
              <a:rPr lang="en-US"/>
              <a:t> are conditionally independent given </a:t>
            </a:r>
            <a:r>
              <a:rPr lang="en-US" i="1"/>
              <a:t>C</a:t>
            </a:r>
            <a:r>
              <a:rPr lang="en-US"/>
              <a:t> if any of the following hold:</a:t>
            </a:r>
          </a:p>
          <a:p>
            <a:pPr eaLnBrk="1" hangingPunct="1"/>
            <a:r>
              <a:rPr lang="en-US" i="1"/>
              <a:t>P(A, B | C)</a:t>
            </a:r>
            <a:r>
              <a:rPr lang="en-US"/>
              <a:t> = </a:t>
            </a:r>
            <a:r>
              <a:rPr lang="en-US" i="1"/>
              <a:t>P(A | C)</a:t>
            </a:r>
            <a:r>
              <a:rPr lang="en-US"/>
              <a:t> </a:t>
            </a:r>
            <a:r>
              <a:rPr lang="en-US" i="1"/>
              <a:t>P(B | C)</a:t>
            </a:r>
          </a:p>
          <a:p>
            <a:pPr eaLnBrk="1" hangingPunct="1"/>
            <a:r>
              <a:rPr lang="en-US" i="1"/>
              <a:t>P(A | B, C)</a:t>
            </a:r>
            <a:r>
              <a:rPr lang="en-US"/>
              <a:t> = </a:t>
            </a:r>
            <a:r>
              <a:rPr lang="en-US" i="1"/>
              <a:t>P(A | C)</a:t>
            </a:r>
          </a:p>
          <a:p>
            <a:pPr eaLnBrk="1" hangingPunct="1"/>
            <a:r>
              <a:rPr lang="en-US" i="1"/>
              <a:t>P(B | A, C)</a:t>
            </a:r>
            <a:r>
              <a:rPr lang="en-US"/>
              <a:t> = </a:t>
            </a:r>
            <a:r>
              <a:rPr lang="en-US" i="1"/>
              <a:t>P(B | C)</a:t>
            </a:r>
          </a:p>
        </p:txBody>
      </p:sp>
      <p:sp>
        <p:nvSpPr>
          <p:cNvPr id="31750" name="AutoShape 5"/>
          <p:cNvSpPr>
            <a:spLocks noChangeArrowheads="1"/>
          </p:cNvSpPr>
          <p:nvPr/>
        </p:nvSpPr>
        <p:spPr bwMode="auto">
          <a:xfrm>
            <a:off x="838200" y="5029200"/>
            <a:ext cx="7086600" cy="1676400"/>
          </a:xfrm>
          <a:prstGeom prst="wedgeRectCallout">
            <a:avLst>
              <a:gd name="adj1" fmla="val -28046"/>
              <a:gd name="adj2" fmla="val -65435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Knowing </a:t>
            </a:r>
            <a:r>
              <a:rPr lang="en-US" i="1"/>
              <a:t>C </a:t>
            </a:r>
            <a:r>
              <a:rPr lang="en-US"/>
              <a:t>tells me everything about </a:t>
            </a:r>
            <a:r>
              <a:rPr lang="en-US" i="1"/>
              <a:t>B</a:t>
            </a:r>
            <a:r>
              <a:rPr lang="en-US"/>
              <a:t>. I don’t gain anything by knowing </a:t>
            </a:r>
            <a:r>
              <a:rPr lang="en-US" i="1"/>
              <a:t>A </a:t>
            </a:r>
            <a:r>
              <a:rPr lang="en-US"/>
              <a:t>(either because </a:t>
            </a:r>
            <a:r>
              <a:rPr lang="en-US" i="1"/>
              <a:t>A</a:t>
            </a:r>
            <a:r>
              <a:rPr lang="en-US"/>
              <a:t> doesn’t influence </a:t>
            </a:r>
            <a:r>
              <a:rPr lang="en-US" i="1"/>
              <a:t>B</a:t>
            </a:r>
            <a:r>
              <a:rPr lang="en-US"/>
              <a:t> or because knowing </a:t>
            </a:r>
            <a:r>
              <a:rPr lang="en-US" i="1"/>
              <a:t>C</a:t>
            </a:r>
            <a:r>
              <a:rPr lang="en-US"/>
              <a:t> provides all the information knowing </a:t>
            </a:r>
            <a:r>
              <a:rPr lang="en-US" i="1"/>
              <a:t>A</a:t>
            </a:r>
            <a:r>
              <a:rPr lang="en-US"/>
              <a:t> would give)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0BDA83C-EF0B-45C2-8929-9B7A37ADF779}" type="slidenum">
              <a:rPr lang="en-US" sz="1400"/>
              <a:pPr eaLnBrk="1" hangingPunct="1"/>
              <a:t>16</a:t>
            </a:fld>
            <a:endParaRPr lang="en-US" sz="1400"/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Outline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447800"/>
            <a:ext cx="7772400" cy="4648200"/>
          </a:xfrm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en-US"/>
              <a:t>Introduction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/>
              <a:t>Probability Primer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/>
              <a:t>Bayesian networks </a:t>
            </a:r>
          </a:p>
          <a:p>
            <a:pPr marL="609600" indent="-609600" eaLnBrk="1" hangingPunct="1">
              <a:buFontTx/>
              <a:buNone/>
            </a:pPr>
            <a:endParaRPr lang="en-US"/>
          </a:p>
        </p:txBody>
      </p:sp>
      <p:sp>
        <p:nvSpPr>
          <p:cNvPr id="32774" name="AutoShape 4"/>
          <p:cNvSpPr>
            <a:spLocks noChangeArrowheads="1"/>
          </p:cNvSpPr>
          <p:nvPr/>
        </p:nvSpPr>
        <p:spPr bwMode="auto">
          <a:xfrm>
            <a:off x="457200" y="26670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pPr eaLnBrk="1" hangingPunct="1"/>
            <a:r>
              <a:rPr lang="en-US"/>
              <a:t>A Bayesian Network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81000" y="1066800"/>
            <a:ext cx="4572000" cy="533400"/>
          </a:xfrm>
          <a:noFill/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sz="2400"/>
              <a:t>A Bayesian network is made up of:</a:t>
            </a:r>
          </a:p>
        </p:txBody>
      </p:sp>
      <p:graphicFrame>
        <p:nvGraphicFramePr>
          <p:cNvPr id="862217" name="Group 9"/>
          <p:cNvGraphicFramePr>
            <a:graphicFrameLocks noGrp="1"/>
          </p:cNvGraphicFramePr>
          <p:nvPr/>
        </p:nvGraphicFramePr>
        <p:xfrm>
          <a:off x="685800" y="4876800"/>
          <a:ext cx="1295400" cy="1006476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P(A)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0.6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0.4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810" name="Oval 89"/>
          <p:cNvSpPr>
            <a:spLocks noChangeArrowheads="1"/>
          </p:cNvSpPr>
          <p:nvPr/>
        </p:nvSpPr>
        <p:spPr bwMode="auto">
          <a:xfrm>
            <a:off x="4572000" y="17526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A</a:t>
            </a:r>
          </a:p>
        </p:txBody>
      </p:sp>
      <p:sp>
        <p:nvSpPr>
          <p:cNvPr id="33811" name="Oval 90"/>
          <p:cNvSpPr>
            <a:spLocks noChangeArrowheads="1"/>
          </p:cNvSpPr>
          <p:nvPr/>
        </p:nvSpPr>
        <p:spPr bwMode="auto">
          <a:xfrm>
            <a:off x="4572000" y="26670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B</a:t>
            </a:r>
          </a:p>
        </p:txBody>
      </p:sp>
      <p:sp>
        <p:nvSpPr>
          <p:cNvPr id="33812" name="Oval 91"/>
          <p:cNvSpPr>
            <a:spLocks noChangeArrowheads="1"/>
          </p:cNvSpPr>
          <p:nvPr/>
        </p:nvSpPr>
        <p:spPr bwMode="auto">
          <a:xfrm>
            <a:off x="4038600" y="35052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C</a:t>
            </a:r>
          </a:p>
        </p:txBody>
      </p:sp>
      <p:sp>
        <p:nvSpPr>
          <p:cNvPr id="33813" name="Oval 92"/>
          <p:cNvSpPr>
            <a:spLocks noChangeArrowheads="1"/>
          </p:cNvSpPr>
          <p:nvPr/>
        </p:nvSpPr>
        <p:spPr bwMode="auto">
          <a:xfrm>
            <a:off x="5181600" y="35052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D</a:t>
            </a:r>
          </a:p>
        </p:txBody>
      </p:sp>
      <p:cxnSp>
        <p:nvCxnSpPr>
          <p:cNvPr id="33814" name="AutoShape 93"/>
          <p:cNvCxnSpPr>
            <a:cxnSpLocks noChangeShapeType="1"/>
            <a:stCxn id="33810" idx="4"/>
            <a:endCxn id="33811" idx="0"/>
          </p:cNvCxnSpPr>
          <p:nvPr/>
        </p:nvCxnSpPr>
        <p:spPr bwMode="auto">
          <a:xfrm>
            <a:off x="4838700" y="22860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5" name="AutoShape 94"/>
          <p:cNvCxnSpPr>
            <a:cxnSpLocks noChangeShapeType="1"/>
            <a:stCxn id="33811" idx="3"/>
            <a:endCxn id="33812" idx="0"/>
          </p:cNvCxnSpPr>
          <p:nvPr/>
        </p:nvCxnSpPr>
        <p:spPr bwMode="auto">
          <a:xfrm flipH="1">
            <a:off x="4305300" y="3122613"/>
            <a:ext cx="344488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6" name="AutoShape 95"/>
          <p:cNvCxnSpPr>
            <a:cxnSpLocks noChangeShapeType="1"/>
            <a:stCxn id="33811" idx="5"/>
            <a:endCxn id="33813" idx="0"/>
          </p:cNvCxnSpPr>
          <p:nvPr/>
        </p:nvCxnSpPr>
        <p:spPr bwMode="auto">
          <a:xfrm>
            <a:off x="5027613" y="3122613"/>
            <a:ext cx="420687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862409" name="Group 201"/>
          <p:cNvGraphicFramePr>
            <a:graphicFrameLocks noGrp="1"/>
          </p:cNvGraphicFramePr>
          <p:nvPr/>
        </p:nvGraphicFramePr>
        <p:xfrm>
          <a:off x="2057400" y="4876800"/>
          <a:ext cx="2133600" cy="167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P(B|A)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62376" name="Group 168"/>
          <p:cNvGraphicFramePr>
            <a:graphicFrameLocks noGrp="1"/>
          </p:cNvGraphicFramePr>
          <p:nvPr/>
        </p:nvGraphicFramePr>
        <p:xfrm>
          <a:off x="6477000" y="4876800"/>
          <a:ext cx="2133600" cy="167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P(C|B)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62377" name="Group 169"/>
          <p:cNvGraphicFramePr>
            <a:graphicFrameLocks noGrp="1"/>
          </p:cNvGraphicFramePr>
          <p:nvPr/>
        </p:nvGraphicFramePr>
        <p:xfrm>
          <a:off x="4267200" y="4876800"/>
          <a:ext cx="2133600" cy="167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P(D|B)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895" name="Text Box 202"/>
          <p:cNvSpPr txBox="1">
            <a:spLocks noChangeArrowheads="1"/>
          </p:cNvSpPr>
          <p:nvPr/>
        </p:nvSpPr>
        <p:spPr bwMode="auto">
          <a:xfrm>
            <a:off x="381000" y="1600200"/>
            <a:ext cx="381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1. A Directed Acyclic Graph</a:t>
            </a:r>
          </a:p>
        </p:txBody>
      </p:sp>
      <p:sp>
        <p:nvSpPr>
          <p:cNvPr id="33896" name="Text Box 203"/>
          <p:cNvSpPr txBox="1">
            <a:spLocks noChangeArrowheads="1"/>
          </p:cNvSpPr>
          <p:nvPr/>
        </p:nvSpPr>
        <p:spPr bwMode="auto">
          <a:xfrm>
            <a:off x="228600" y="4343400"/>
            <a:ext cx="655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2. A set of tables for each node in the graph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A48F3C-119E-48D4-AA86-95054F608644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72C3A8F-FDA3-4338-BD3B-C21D5C4971ED}" type="slidenum">
              <a:rPr lang="en-US" sz="1400"/>
              <a:pPr eaLnBrk="1" hangingPunct="1"/>
              <a:t>18</a:t>
            </a:fld>
            <a:endParaRPr lang="en-US" sz="1400"/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pPr eaLnBrk="1" hangingPunct="1"/>
            <a:r>
              <a:rPr lang="en-US"/>
              <a:t>A Directed Acyclic Graph</a:t>
            </a:r>
          </a:p>
        </p:txBody>
      </p:sp>
      <p:sp>
        <p:nvSpPr>
          <p:cNvPr id="34821" name="Oval 9"/>
          <p:cNvSpPr>
            <a:spLocks noChangeArrowheads="1"/>
          </p:cNvSpPr>
          <p:nvPr/>
        </p:nvSpPr>
        <p:spPr bwMode="auto">
          <a:xfrm>
            <a:off x="4191000" y="2438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A</a:t>
            </a:r>
          </a:p>
        </p:txBody>
      </p:sp>
      <p:sp>
        <p:nvSpPr>
          <p:cNvPr id="34822" name="Oval 10"/>
          <p:cNvSpPr>
            <a:spLocks noChangeArrowheads="1"/>
          </p:cNvSpPr>
          <p:nvPr/>
        </p:nvSpPr>
        <p:spPr bwMode="auto">
          <a:xfrm>
            <a:off x="4191000" y="33528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B</a:t>
            </a:r>
          </a:p>
        </p:txBody>
      </p:sp>
      <p:sp>
        <p:nvSpPr>
          <p:cNvPr id="34823" name="Oval 11"/>
          <p:cNvSpPr>
            <a:spLocks noChangeArrowheads="1"/>
          </p:cNvSpPr>
          <p:nvPr/>
        </p:nvSpPr>
        <p:spPr bwMode="auto">
          <a:xfrm>
            <a:off x="3657600" y="41910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C</a:t>
            </a:r>
          </a:p>
        </p:txBody>
      </p:sp>
      <p:sp>
        <p:nvSpPr>
          <p:cNvPr id="34824" name="Oval 12"/>
          <p:cNvSpPr>
            <a:spLocks noChangeArrowheads="1"/>
          </p:cNvSpPr>
          <p:nvPr/>
        </p:nvSpPr>
        <p:spPr bwMode="auto">
          <a:xfrm>
            <a:off x="4800600" y="41910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D</a:t>
            </a:r>
          </a:p>
        </p:txBody>
      </p:sp>
      <p:cxnSp>
        <p:nvCxnSpPr>
          <p:cNvPr id="34825" name="AutoShape 13"/>
          <p:cNvCxnSpPr>
            <a:cxnSpLocks noChangeShapeType="1"/>
            <a:stCxn id="34821" idx="4"/>
            <a:endCxn id="34822" idx="0"/>
          </p:cNvCxnSpPr>
          <p:nvPr/>
        </p:nvCxnSpPr>
        <p:spPr bwMode="auto">
          <a:xfrm>
            <a:off x="4457700" y="29718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6" name="AutoShape 14"/>
          <p:cNvCxnSpPr>
            <a:cxnSpLocks noChangeShapeType="1"/>
            <a:stCxn id="34822" idx="3"/>
            <a:endCxn id="34823" idx="0"/>
          </p:cNvCxnSpPr>
          <p:nvPr/>
        </p:nvCxnSpPr>
        <p:spPr bwMode="auto">
          <a:xfrm flipH="1">
            <a:off x="3924300" y="3808413"/>
            <a:ext cx="344488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7" name="AutoShape 15"/>
          <p:cNvCxnSpPr>
            <a:cxnSpLocks noChangeShapeType="1"/>
            <a:stCxn id="34822" idx="5"/>
            <a:endCxn id="34824" idx="0"/>
          </p:cNvCxnSpPr>
          <p:nvPr/>
        </p:nvCxnSpPr>
        <p:spPr bwMode="auto">
          <a:xfrm>
            <a:off x="4646613" y="3808413"/>
            <a:ext cx="420687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28" name="Text Box 16"/>
          <p:cNvSpPr txBox="1">
            <a:spLocks noChangeArrowheads="1"/>
          </p:cNvSpPr>
          <p:nvPr/>
        </p:nvSpPr>
        <p:spPr bwMode="auto">
          <a:xfrm>
            <a:off x="381000" y="1371600"/>
            <a:ext cx="35814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Each node in the graph is a random variable</a:t>
            </a:r>
          </a:p>
        </p:txBody>
      </p:sp>
      <p:sp>
        <p:nvSpPr>
          <p:cNvPr id="34829" name="Text Box 17"/>
          <p:cNvSpPr txBox="1">
            <a:spLocks noChangeArrowheads="1"/>
          </p:cNvSpPr>
          <p:nvPr/>
        </p:nvSpPr>
        <p:spPr bwMode="auto">
          <a:xfrm>
            <a:off x="5105400" y="1371600"/>
            <a:ext cx="3810000" cy="156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A node </a:t>
            </a:r>
            <a:r>
              <a:rPr lang="en-US" i="1"/>
              <a:t>X</a:t>
            </a:r>
            <a:r>
              <a:rPr lang="en-US"/>
              <a:t> is a parent of another node </a:t>
            </a:r>
            <a:r>
              <a:rPr lang="en-US" i="1"/>
              <a:t>Y</a:t>
            </a:r>
            <a:r>
              <a:rPr lang="en-US"/>
              <a:t> if there is an arrow from node </a:t>
            </a:r>
            <a:r>
              <a:rPr lang="en-US" i="1"/>
              <a:t>X</a:t>
            </a:r>
            <a:r>
              <a:rPr lang="en-US"/>
              <a:t> to node </a:t>
            </a:r>
            <a:r>
              <a:rPr lang="en-US" i="1"/>
              <a:t>Y</a:t>
            </a:r>
            <a:r>
              <a:rPr lang="en-US"/>
              <a:t> eg. </a:t>
            </a:r>
            <a:r>
              <a:rPr lang="en-US" i="1"/>
              <a:t>A</a:t>
            </a:r>
            <a:r>
              <a:rPr lang="en-US"/>
              <a:t> is a parent of </a:t>
            </a:r>
            <a:r>
              <a:rPr lang="en-US" i="1"/>
              <a:t>B</a:t>
            </a:r>
            <a:r>
              <a:rPr lang="en-US"/>
              <a:t> </a:t>
            </a:r>
          </a:p>
        </p:txBody>
      </p:sp>
      <p:sp>
        <p:nvSpPr>
          <p:cNvPr id="34830" name="Text Box 18"/>
          <p:cNvSpPr txBox="1">
            <a:spLocks noChangeArrowheads="1"/>
          </p:cNvSpPr>
          <p:nvPr/>
        </p:nvSpPr>
        <p:spPr bwMode="auto">
          <a:xfrm>
            <a:off x="304800" y="4953000"/>
            <a:ext cx="3581400" cy="1196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/>
              <a:t>Informally, an arrow from node </a:t>
            </a:r>
            <a:r>
              <a:rPr lang="en-US" i="1"/>
              <a:t>X</a:t>
            </a:r>
            <a:r>
              <a:rPr lang="en-US"/>
              <a:t> to node </a:t>
            </a:r>
            <a:r>
              <a:rPr lang="en-US" i="1"/>
              <a:t>Y</a:t>
            </a:r>
            <a:r>
              <a:rPr lang="en-US"/>
              <a:t> means </a:t>
            </a:r>
            <a:r>
              <a:rPr lang="en-US" i="1"/>
              <a:t>X</a:t>
            </a:r>
            <a:r>
              <a:rPr lang="en-US"/>
              <a:t> has a direct influence on </a:t>
            </a:r>
            <a:r>
              <a:rPr lang="en-US" i="1"/>
              <a:t>Y</a:t>
            </a:r>
          </a:p>
        </p:txBody>
      </p:sp>
      <p:sp>
        <p:nvSpPr>
          <p:cNvPr id="34831" name="Line 20"/>
          <p:cNvSpPr>
            <a:spLocks noChangeShapeType="1"/>
          </p:cNvSpPr>
          <p:nvPr/>
        </p:nvSpPr>
        <p:spPr bwMode="auto">
          <a:xfrm>
            <a:off x="3505200" y="2209800"/>
            <a:ext cx="609600" cy="3810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2" name="Line 21"/>
          <p:cNvSpPr>
            <a:spLocks noChangeShapeType="1"/>
          </p:cNvSpPr>
          <p:nvPr/>
        </p:nvSpPr>
        <p:spPr bwMode="auto">
          <a:xfrm flipH="1">
            <a:off x="4648200" y="2895600"/>
            <a:ext cx="457200" cy="2286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3" name="Line 22"/>
          <p:cNvSpPr>
            <a:spLocks noChangeShapeType="1"/>
          </p:cNvSpPr>
          <p:nvPr/>
        </p:nvSpPr>
        <p:spPr bwMode="auto">
          <a:xfrm flipV="1">
            <a:off x="2438400" y="3962400"/>
            <a:ext cx="1295400" cy="9906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pPr eaLnBrk="1" hangingPunct="1"/>
            <a:r>
              <a:rPr lang="en-US"/>
              <a:t>A Set of Tables for Each Node</a:t>
            </a:r>
          </a:p>
        </p:txBody>
      </p:sp>
      <p:sp>
        <p:nvSpPr>
          <p:cNvPr id="35843" name="Text Box 88"/>
          <p:cNvSpPr txBox="1">
            <a:spLocks noChangeArrowheads="1"/>
          </p:cNvSpPr>
          <p:nvPr/>
        </p:nvSpPr>
        <p:spPr bwMode="auto">
          <a:xfrm>
            <a:off x="5257800" y="1066800"/>
            <a:ext cx="3886200" cy="356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Each node </a:t>
            </a:r>
            <a:r>
              <a:rPr lang="en-US" i="1">
                <a:solidFill>
                  <a:srgbClr val="FF0000"/>
                </a:solidFill>
              </a:rPr>
              <a:t>X</a:t>
            </a:r>
            <a:r>
              <a:rPr lang="en-US" i="1" baseline="-25000">
                <a:solidFill>
                  <a:srgbClr val="FF0000"/>
                </a:solidFill>
              </a:rPr>
              <a:t>i</a:t>
            </a:r>
            <a:r>
              <a:rPr lang="en-US">
                <a:solidFill>
                  <a:srgbClr val="FF0000"/>
                </a:solidFill>
              </a:rPr>
              <a:t> has a conditional probability distribution P(</a:t>
            </a:r>
            <a:r>
              <a:rPr lang="en-US" i="1">
                <a:solidFill>
                  <a:srgbClr val="FF0000"/>
                </a:solidFill>
              </a:rPr>
              <a:t>X</a:t>
            </a:r>
            <a:r>
              <a:rPr lang="en-US" i="1" baseline="-25000">
                <a:solidFill>
                  <a:srgbClr val="FF0000"/>
                </a:solidFill>
              </a:rPr>
              <a:t>i</a:t>
            </a:r>
            <a:r>
              <a:rPr lang="en-US">
                <a:solidFill>
                  <a:srgbClr val="FF0000"/>
                </a:solidFill>
              </a:rPr>
              <a:t> | Parents(</a:t>
            </a:r>
            <a:r>
              <a:rPr lang="en-US" i="1">
                <a:solidFill>
                  <a:srgbClr val="FF0000"/>
                </a:solidFill>
              </a:rPr>
              <a:t>X</a:t>
            </a:r>
            <a:r>
              <a:rPr lang="en-US" i="1" baseline="-25000">
                <a:solidFill>
                  <a:srgbClr val="FF0000"/>
                </a:solidFill>
              </a:rPr>
              <a:t>i</a:t>
            </a:r>
            <a:r>
              <a:rPr lang="en-US">
                <a:solidFill>
                  <a:srgbClr val="FF0000"/>
                </a:solidFill>
              </a:rPr>
              <a:t>)) that quantifies the effect of the parents on the node</a:t>
            </a:r>
          </a:p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The parameters are the probabilities in these conditional probability tables (CPTs)</a:t>
            </a:r>
          </a:p>
        </p:txBody>
      </p:sp>
      <p:graphicFrame>
        <p:nvGraphicFramePr>
          <p:cNvPr id="865395" name="Group 115"/>
          <p:cNvGraphicFramePr>
            <a:graphicFrameLocks noGrp="1"/>
          </p:cNvGraphicFramePr>
          <p:nvPr/>
        </p:nvGraphicFramePr>
        <p:xfrm>
          <a:off x="381000" y="1066800"/>
          <a:ext cx="1295400" cy="1006476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P(A)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0.6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0.4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65409" name="Group 129"/>
          <p:cNvGraphicFramePr>
            <a:graphicFrameLocks noGrp="1"/>
          </p:cNvGraphicFramePr>
          <p:nvPr/>
        </p:nvGraphicFramePr>
        <p:xfrm>
          <a:off x="2743200" y="1066800"/>
          <a:ext cx="2133600" cy="167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P(B|A)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65435" name="Group 155"/>
          <p:cNvGraphicFramePr>
            <a:graphicFrameLocks noGrp="1"/>
          </p:cNvGraphicFramePr>
          <p:nvPr/>
        </p:nvGraphicFramePr>
        <p:xfrm>
          <a:off x="304800" y="3048000"/>
          <a:ext cx="2133600" cy="167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P(C|B)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65499" name="Group 219"/>
          <p:cNvGraphicFramePr>
            <a:graphicFrameLocks noGrp="1"/>
          </p:cNvGraphicFramePr>
          <p:nvPr/>
        </p:nvGraphicFramePr>
        <p:xfrm>
          <a:off x="4800600" y="5029200"/>
          <a:ext cx="2133600" cy="167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P(D|B)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936" name="Oval 207"/>
          <p:cNvSpPr>
            <a:spLocks noChangeArrowheads="1"/>
          </p:cNvSpPr>
          <p:nvPr/>
        </p:nvSpPr>
        <p:spPr bwMode="auto">
          <a:xfrm>
            <a:off x="2819400" y="3581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A</a:t>
            </a:r>
          </a:p>
        </p:txBody>
      </p:sp>
      <p:sp>
        <p:nvSpPr>
          <p:cNvPr id="35937" name="Oval 208"/>
          <p:cNvSpPr>
            <a:spLocks noChangeArrowheads="1"/>
          </p:cNvSpPr>
          <p:nvPr/>
        </p:nvSpPr>
        <p:spPr bwMode="auto">
          <a:xfrm>
            <a:off x="2819400" y="44958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B</a:t>
            </a:r>
          </a:p>
        </p:txBody>
      </p:sp>
      <p:sp>
        <p:nvSpPr>
          <p:cNvPr id="35938" name="Oval 209"/>
          <p:cNvSpPr>
            <a:spLocks noChangeArrowheads="1"/>
          </p:cNvSpPr>
          <p:nvPr/>
        </p:nvSpPr>
        <p:spPr bwMode="auto">
          <a:xfrm>
            <a:off x="2286000" y="53340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C</a:t>
            </a:r>
          </a:p>
        </p:txBody>
      </p:sp>
      <p:sp>
        <p:nvSpPr>
          <p:cNvPr id="35939" name="Oval 210"/>
          <p:cNvSpPr>
            <a:spLocks noChangeArrowheads="1"/>
          </p:cNvSpPr>
          <p:nvPr/>
        </p:nvSpPr>
        <p:spPr bwMode="auto">
          <a:xfrm>
            <a:off x="3429000" y="53340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D</a:t>
            </a:r>
          </a:p>
        </p:txBody>
      </p:sp>
      <p:cxnSp>
        <p:nvCxnSpPr>
          <p:cNvPr id="35940" name="AutoShape 211"/>
          <p:cNvCxnSpPr>
            <a:cxnSpLocks noChangeShapeType="1"/>
            <a:stCxn id="35936" idx="4"/>
            <a:endCxn id="35937" idx="0"/>
          </p:cNvCxnSpPr>
          <p:nvPr/>
        </p:nvCxnSpPr>
        <p:spPr bwMode="auto">
          <a:xfrm>
            <a:off x="3086100" y="41148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941" name="AutoShape 212"/>
          <p:cNvCxnSpPr>
            <a:cxnSpLocks noChangeShapeType="1"/>
            <a:stCxn id="35937" idx="3"/>
            <a:endCxn id="35938" idx="0"/>
          </p:cNvCxnSpPr>
          <p:nvPr/>
        </p:nvCxnSpPr>
        <p:spPr bwMode="auto">
          <a:xfrm flipH="1">
            <a:off x="2552700" y="4951413"/>
            <a:ext cx="344488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942" name="AutoShape 213"/>
          <p:cNvCxnSpPr>
            <a:cxnSpLocks noChangeShapeType="1"/>
            <a:stCxn id="35937" idx="5"/>
            <a:endCxn id="35939" idx="0"/>
          </p:cNvCxnSpPr>
          <p:nvPr/>
        </p:nvCxnSpPr>
        <p:spPr bwMode="auto">
          <a:xfrm>
            <a:off x="3275013" y="4951413"/>
            <a:ext cx="420687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943" name="Line 214"/>
          <p:cNvSpPr>
            <a:spLocks noChangeShapeType="1"/>
          </p:cNvSpPr>
          <p:nvPr/>
        </p:nvSpPr>
        <p:spPr bwMode="auto">
          <a:xfrm>
            <a:off x="1676400" y="2133600"/>
            <a:ext cx="1447800" cy="13716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44" name="Line 215"/>
          <p:cNvSpPr>
            <a:spLocks noChangeShapeType="1"/>
          </p:cNvSpPr>
          <p:nvPr/>
        </p:nvSpPr>
        <p:spPr bwMode="auto">
          <a:xfrm flipH="1">
            <a:off x="3352800" y="2819400"/>
            <a:ext cx="457200" cy="16764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45" name="Line 216"/>
          <p:cNvSpPr>
            <a:spLocks noChangeShapeType="1"/>
          </p:cNvSpPr>
          <p:nvPr/>
        </p:nvSpPr>
        <p:spPr bwMode="auto">
          <a:xfrm flipH="1">
            <a:off x="4038600" y="5562600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46" name="Line 217"/>
          <p:cNvSpPr>
            <a:spLocks noChangeShapeType="1"/>
          </p:cNvSpPr>
          <p:nvPr/>
        </p:nvSpPr>
        <p:spPr bwMode="auto">
          <a:xfrm>
            <a:off x="1600200" y="4800600"/>
            <a:ext cx="685800" cy="6096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A48F3C-119E-48D4-AA86-95054F608644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4513E36-8E14-4AB8-8805-FA7537A93F1B}" type="slidenum">
              <a:rPr lang="en-US" sz="1400"/>
              <a:pPr eaLnBrk="1" hangingPunct="1"/>
              <a:t>20</a:t>
            </a:fld>
            <a:endParaRPr lang="en-US" sz="1400"/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pPr eaLnBrk="1" hangingPunct="1"/>
            <a:r>
              <a:rPr lang="en-US"/>
              <a:t>A Set of Tables for Each Node</a:t>
            </a:r>
          </a:p>
        </p:txBody>
      </p:sp>
      <p:sp>
        <p:nvSpPr>
          <p:cNvPr id="36869" name="Text Box 55"/>
          <p:cNvSpPr txBox="1">
            <a:spLocks noChangeArrowheads="1"/>
          </p:cNvSpPr>
          <p:nvPr/>
        </p:nvSpPr>
        <p:spPr bwMode="auto">
          <a:xfrm>
            <a:off x="228600" y="1219200"/>
            <a:ext cx="3733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Conditional Probability Distribution for C given B</a:t>
            </a:r>
          </a:p>
        </p:txBody>
      </p:sp>
      <p:sp>
        <p:nvSpPr>
          <p:cNvPr id="36870" name="AutoShape 56"/>
          <p:cNvSpPr>
            <a:spLocks/>
          </p:cNvSpPr>
          <p:nvPr/>
        </p:nvSpPr>
        <p:spPr bwMode="auto">
          <a:xfrm>
            <a:off x="2895600" y="2667000"/>
            <a:ext cx="228600" cy="609600"/>
          </a:xfrm>
          <a:prstGeom prst="rightBrace">
            <a:avLst>
              <a:gd name="adj1" fmla="val 22222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6871" name="Text Box 59"/>
          <p:cNvSpPr txBox="1">
            <a:spLocks noChangeArrowheads="1"/>
          </p:cNvSpPr>
          <p:nvPr/>
        </p:nvSpPr>
        <p:spPr bwMode="auto">
          <a:xfrm>
            <a:off x="381000" y="5181600"/>
            <a:ext cx="8458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If you have a Boolean variable with k Boolean parents, this table has 2</a:t>
            </a:r>
            <a:r>
              <a:rPr lang="en-US" baseline="30000"/>
              <a:t>k+1</a:t>
            </a:r>
            <a:r>
              <a:rPr lang="en-US"/>
              <a:t> probabilities (but only 2</a:t>
            </a:r>
            <a:r>
              <a:rPr lang="en-US" baseline="30000"/>
              <a:t>k</a:t>
            </a:r>
            <a:r>
              <a:rPr lang="en-US"/>
              <a:t> need to be stored)</a:t>
            </a:r>
          </a:p>
        </p:txBody>
      </p:sp>
      <p:graphicFrame>
        <p:nvGraphicFramePr>
          <p:cNvPr id="866364" name="Group 60"/>
          <p:cNvGraphicFramePr>
            <a:graphicFrameLocks noGrp="1"/>
          </p:cNvGraphicFramePr>
          <p:nvPr/>
        </p:nvGraphicFramePr>
        <p:xfrm>
          <a:off x="685800" y="2286000"/>
          <a:ext cx="2133600" cy="167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P(C|B)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898" name="Text Box 86"/>
          <p:cNvSpPr txBox="1">
            <a:spLocks noChangeArrowheads="1"/>
          </p:cNvSpPr>
          <p:nvPr/>
        </p:nvSpPr>
        <p:spPr bwMode="auto">
          <a:xfrm>
            <a:off x="3505200" y="3581400"/>
            <a:ext cx="5486400" cy="1320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</a:rPr>
              <a:t>For a given combination of values of the parents (B in this example), the entries for P(C=true | B) and P(C=false | B) must add up to 1 </a:t>
            </a:r>
          </a:p>
          <a:p>
            <a:pPr eaLnBrk="1" hangingPunct="1"/>
            <a:r>
              <a:rPr lang="en-US" sz="2000">
                <a:solidFill>
                  <a:srgbClr val="FF0000"/>
                </a:solidFill>
              </a:rPr>
              <a:t>eg. P(C=true | B=false) + P(C=false |B=false )=1</a:t>
            </a:r>
          </a:p>
        </p:txBody>
      </p:sp>
      <p:sp>
        <p:nvSpPr>
          <p:cNvPr id="36899" name="Line 88"/>
          <p:cNvSpPr>
            <a:spLocks noChangeShapeType="1"/>
          </p:cNvSpPr>
          <p:nvPr/>
        </p:nvSpPr>
        <p:spPr bwMode="auto">
          <a:xfrm flipH="1" flipV="1">
            <a:off x="3124200" y="3048000"/>
            <a:ext cx="381000" cy="533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9020E39-0A07-44E0-B263-E8105FB6ADBB}" type="slidenum">
              <a:rPr lang="en-US" sz="1400"/>
              <a:pPr eaLnBrk="1" hangingPunct="1"/>
              <a:t>21</a:t>
            </a:fld>
            <a:endParaRPr lang="en-US" sz="1400"/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Bayesian Networks</a:t>
            </a:r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/>
              <a:t>Two important properties: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/>
              <a:t>Encodes the conditional independence relationships between the variables in the graph structure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/>
              <a:t>Is a compact representation of the joint probability distribution over the variables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B675ADB-78E5-48FE-8D20-AA74C13A9B25}" type="slidenum">
              <a:rPr lang="en-US" sz="1400"/>
              <a:pPr eaLnBrk="1" hangingPunct="1"/>
              <a:t>22</a:t>
            </a:fld>
            <a:endParaRPr lang="en-US" sz="1400"/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Conditional Independence</a:t>
            </a:r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848600" cy="13716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sz="2800"/>
              <a:t>The Markov condition: given its parents (P</a:t>
            </a:r>
            <a:r>
              <a:rPr lang="en-US" sz="2800" baseline="-25000"/>
              <a:t>1</a:t>
            </a:r>
            <a:r>
              <a:rPr lang="en-US" sz="2800"/>
              <a:t>, P</a:t>
            </a:r>
            <a:r>
              <a:rPr lang="en-US" sz="2800" baseline="-25000"/>
              <a:t>2</a:t>
            </a:r>
            <a:r>
              <a:rPr lang="en-US" sz="2800"/>
              <a:t>),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sz="2800"/>
              <a:t>a node (X) is conditionally independent of its non-descendants (ND</a:t>
            </a:r>
            <a:r>
              <a:rPr lang="en-US" sz="2800" baseline="-25000"/>
              <a:t>1</a:t>
            </a:r>
            <a:r>
              <a:rPr lang="en-US" sz="2800"/>
              <a:t>, ND</a:t>
            </a:r>
            <a:r>
              <a:rPr lang="en-US" sz="2800" baseline="-25000"/>
              <a:t>2</a:t>
            </a:r>
            <a:r>
              <a:rPr lang="en-US" sz="2800"/>
              <a:t>)</a:t>
            </a:r>
          </a:p>
        </p:txBody>
      </p:sp>
      <p:sp>
        <p:nvSpPr>
          <p:cNvPr id="38918" name="Oval 4"/>
          <p:cNvSpPr>
            <a:spLocks noChangeArrowheads="1"/>
          </p:cNvSpPr>
          <p:nvPr/>
        </p:nvSpPr>
        <p:spPr bwMode="auto">
          <a:xfrm>
            <a:off x="3962400" y="4191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X</a:t>
            </a:r>
          </a:p>
        </p:txBody>
      </p:sp>
      <p:sp>
        <p:nvSpPr>
          <p:cNvPr id="38919" name="Oval 5"/>
          <p:cNvSpPr>
            <a:spLocks noChangeArrowheads="1"/>
          </p:cNvSpPr>
          <p:nvPr/>
        </p:nvSpPr>
        <p:spPr bwMode="auto">
          <a:xfrm>
            <a:off x="3200400" y="3276600"/>
            <a:ext cx="533400" cy="533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P</a:t>
            </a:r>
            <a:r>
              <a:rPr lang="en-US" baseline="-25000"/>
              <a:t>1</a:t>
            </a:r>
          </a:p>
        </p:txBody>
      </p:sp>
      <p:sp>
        <p:nvSpPr>
          <p:cNvPr id="38920" name="Oval 6"/>
          <p:cNvSpPr>
            <a:spLocks noChangeArrowheads="1"/>
          </p:cNvSpPr>
          <p:nvPr/>
        </p:nvSpPr>
        <p:spPr bwMode="auto">
          <a:xfrm>
            <a:off x="4724400" y="3276600"/>
            <a:ext cx="533400" cy="533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P</a:t>
            </a:r>
            <a:r>
              <a:rPr lang="en-US" baseline="-25000"/>
              <a:t>2</a:t>
            </a:r>
          </a:p>
        </p:txBody>
      </p:sp>
      <p:sp>
        <p:nvSpPr>
          <p:cNvPr id="38921" name="Oval 7"/>
          <p:cNvSpPr>
            <a:spLocks noChangeArrowheads="1"/>
          </p:cNvSpPr>
          <p:nvPr/>
        </p:nvSpPr>
        <p:spPr bwMode="auto">
          <a:xfrm>
            <a:off x="3200400" y="5257800"/>
            <a:ext cx="533400" cy="533400"/>
          </a:xfrm>
          <a:prstGeom prst="ellipse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C</a:t>
            </a:r>
            <a:r>
              <a:rPr lang="en-US" baseline="-25000"/>
              <a:t>1</a:t>
            </a:r>
          </a:p>
        </p:txBody>
      </p:sp>
      <p:sp>
        <p:nvSpPr>
          <p:cNvPr id="38922" name="Oval 8"/>
          <p:cNvSpPr>
            <a:spLocks noChangeArrowheads="1"/>
          </p:cNvSpPr>
          <p:nvPr/>
        </p:nvSpPr>
        <p:spPr bwMode="auto">
          <a:xfrm>
            <a:off x="4724400" y="5257800"/>
            <a:ext cx="533400" cy="533400"/>
          </a:xfrm>
          <a:prstGeom prst="ellipse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C</a:t>
            </a:r>
            <a:r>
              <a:rPr lang="en-US" baseline="-25000"/>
              <a:t>2</a:t>
            </a:r>
          </a:p>
        </p:txBody>
      </p:sp>
      <p:sp>
        <p:nvSpPr>
          <p:cNvPr id="38923" name="Oval 9"/>
          <p:cNvSpPr>
            <a:spLocks noChangeArrowheads="1"/>
          </p:cNvSpPr>
          <p:nvPr/>
        </p:nvSpPr>
        <p:spPr bwMode="auto">
          <a:xfrm>
            <a:off x="5562600" y="4191000"/>
            <a:ext cx="685800" cy="533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ND</a:t>
            </a:r>
            <a:r>
              <a:rPr lang="en-US" baseline="-25000"/>
              <a:t>2</a:t>
            </a:r>
          </a:p>
        </p:txBody>
      </p:sp>
      <p:sp>
        <p:nvSpPr>
          <p:cNvPr id="38924" name="Oval 10"/>
          <p:cNvSpPr>
            <a:spLocks noChangeArrowheads="1"/>
          </p:cNvSpPr>
          <p:nvPr/>
        </p:nvSpPr>
        <p:spPr bwMode="auto">
          <a:xfrm>
            <a:off x="2286000" y="4191000"/>
            <a:ext cx="685800" cy="533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ND</a:t>
            </a:r>
            <a:r>
              <a:rPr lang="en-US" baseline="-25000"/>
              <a:t>1</a:t>
            </a:r>
          </a:p>
        </p:txBody>
      </p:sp>
      <p:cxnSp>
        <p:nvCxnSpPr>
          <p:cNvPr id="38925" name="AutoShape 11"/>
          <p:cNvCxnSpPr>
            <a:cxnSpLocks noChangeShapeType="1"/>
            <a:stCxn id="38919" idx="4"/>
            <a:endCxn id="38918" idx="1"/>
          </p:cNvCxnSpPr>
          <p:nvPr/>
        </p:nvCxnSpPr>
        <p:spPr bwMode="auto">
          <a:xfrm>
            <a:off x="3467100" y="3810000"/>
            <a:ext cx="573088" cy="4587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6" name="AutoShape 12"/>
          <p:cNvCxnSpPr>
            <a:cxnSpLocks noChangeShapeType="1"/>
            <a:stCxn id="38920" idx="4"/>
            <a:endCxn id="38918" idx="7"/>
          </p:cNvCxnSpPr>
          <p:nvPr/>
        </p:nvCxnSpPr>
        <p:spPr bwMode="auto">
          <a:xfrm flipH="1">
            <a:off x="4418013" y="3810000"/>
            <a:ext cx="573087" cy="4587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7" name="AutoShape 13"/>
          <p:cNvCxnSpPr>
            <a:cxnSpLocks noChangeShapeType="1"/>
            <a:stCxn id="38918" idx="5"/>
            <a:endCxn id="38922" idx="0"/>
          </p:cNvCxnSpPr>
          <p:nvPr/>
        </p:nvCxnSpPr>
        <p:spPr bwMode="auto">
          <a:xfrm>
            <a:off x="4418013" y="4646613"/>
            <a:ext cx="573087" cy="611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8" name="AutoShape 14"/>
          <p:cNvCxnSpPr>
            <a:cxnSpLocks noChangeShapeType="1"/>
            <a:stCxn id="38918" idx="3"/>
            <a:endCxn id="38921" idx="0"/>
          </p:cNvCxnSpPr>
          <p:nvPr/>
        </p:nvCxnSpPr>
        <p:spPr bwMode="auto">
          <a:xfrm flipH="1">
            <a:off x="3467100" y="4646613"/>
            <a:ext cx="573088" cy="611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9" name="AutoShape 15"/>
          <p:cNvCxnSpPr>
            <a:cxnSpLocks noChangeShapeType="1"/>
            <a:stCxn id="38924" idx="4"/>
            <a:endCxn id="38921" idx="0"/>
          </p:cNvCxnSpPr>
          <p:nvPr/>
        </p:nvCxnSpPr>
        <p:spPr bwMode="auto">
          <a:xfrm>
            <a:off x="2628900" y="4724400"/>
            <a:ext cx="8382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0" name="AutoShape 16"/>
          <p:cNvCxnSpPr>
            <a:cxnSpLocks noChangeShapeType="1"/>
            <a:stCxn id="38923" idx="4"/>
            <a:endCxn id="38922" idx="0"/>
          </p:cNvCxnSpPr>
          <p:nvPr/>
        </p:nvCxnSpPr>
        <p:spPr bwMode="auto">
          <a:xfrm flipH="1">
            <a:off x="4991100" y="4724400"/>
            <a:ext cx="9144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85A55-085B-4B28-AF96-B5910BE97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types of Conditional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08099-856B-4802-AB7F-94176AE96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6809F-C275-42B4-9D37-CB37923F78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C701D9-A224-450C-A0F8-093E727EA525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446959-86C4-44E8-81D0-6E3E73A91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327" y="2009630"/>
            <a:ext cx="5859073" cy="30195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41A815-2DFF-49E6-AC47-CBA29654F752}"/>
              </a:ext>
            </a:extLst>
          </p:cNvPr>
          <p:cNvSpPr txBox="1"/>
          <p:nvPr/>
        </p:nvSpPr>
        <p:spPr>
          <a:xfrm flipH="1">
            <a:off x="1417319" y="5029199"/>
            <a:ext cx="1859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Causal chain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733826-092B-41A2-8755-94E8B941E0B3}"/>
              </a:ext>
            </a:extLst>
          </p:cNvPr>
          <p:cNvSpPr txBox="1"/>
          <p:nvPr/>
        </p:nvSpPr>
        <p:spPr>
          <a:xfrm flipH="1">
            <a:off x="5181600" y="5029199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Common cause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AE0B0F-B40C-48DF-87FF-61C1CBC1E86E}"/>
              </a:ext>
            </a:extLst>
          </p:cNvPr>
          <p:cNvSpPr txBox="1"/>
          <p:nvPr/>
        </p:nvSpPr>
        <p:spPr>
          <a:xfrm>
            <a:off x="1642463" y="5815733"/>
            <a:ext cx="5905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X and Y are conditionally independent given Z</a:t>
            </a:r>
          </a:p>
        </p:txBody>
      </p:sp>
    </p:spTree>
    <p:extLst>
      <p:ext uri="{BB962C8B-B14F-4D97-AF65-F5344CB8AC3E}">
        <p14:creationId xmlns:p14="http://schemas.microsoft.com/office/powerpoint/2010/main" val="4056347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0B9EB98-FA12-488E-BC73-012C1C4DC56F}" type="slidenum">
              <a:rPr lang="en-US" sz="1400"/>
              <a:pPr eaLnBrk="1" hangingPunct="1"/>
              <a:t>24</a:t>
            </a:fld>
            <a:endParaRPr lang="en-US" sz="1400"/>
          </a:p>
        </p:txBody>
      </p:sp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Joint Probability Distribution</a:t>
            </a:r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21336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/>
              <a:t>Due to the Markov condition, we can compute the joint probability distribution over all the variables X</a:t>
            </a:r>
            <a:r>
              <a:rPr lang="en-US" baseline="-25000"/>
              <a:t>1</a:t>
            </a:r>
            <a:r>
              <a:rPr lang="en-US"/>
              <a:t>, …, X</a:t>
            </a:r>
            <a:r>
              <a:rPr lang="en-US" baseline="-25000"/>
              <a:t>n</a:t>
            </a:r>
            <a:r>
              <a:rPr lang="en-US"/>
              <a:t> in the Bayesian net using the formula:</a:t>
            </a: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685800" y="3505200"/>
          <a:ext cx="7545388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3" imgW="3225600" imgH="431640" progId="Equation.3">
                  <p:embed/>
                </p:oleObj>
              </mc:Choice>
              <mc:Fallback>
                <p:oleObj name="Equation" r:id="rId3" imgW="322560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505200"/>
                        <a:ext cx="7545388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" name="Text Box 5"/>
          <p:cNvSpPr txBox="1">
            <a:spLocks noChangeArrowheads="1"/>
          </p:cNvSpPr>
          <p:nvPr/>
        </p:nvSpPr>
        <p:spPr bwMode="auto">
          <a:xfrm>
            <a:off x="533400" y="5029200"/>
            <a:ext cx="8382000" cy="8318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Where Parents(X</a:t>
            </a:r>
            <a:r>
              <a:rPr lang="en-US" baseline="-25000">
                <a:solidFill>
                  <a:srgbClr val="FF0000"/>
                </a:solidFill>
              </a:rPr>
              <a:t>i</a:t>
            </a:r>
            <a:r>
              <a:rPr lang="en-US">
                <a:solidFill>
                  <a:srgbClr val="FF0000"/>
                </a:solidFill>
              </a:rPr>
              <a:t>) means the values of the Parents of the node X</a:t>
            </a:r>
            <a:r>
              <a:rPr lang="en-US" baseline="-25000">
                <a:solidFill>
                  <a:srgbClr val="FF0000"/>
                </a:solidFill>
              </a:rPr>
              <a:t>i</a:t>
            </a:r>
            <a:r>
              <a:rPr lang="en-US">
                <a:solidFill>
                  <a:srgbClr val="FF0000"/>
                </a:solidFill>
              </a:rPr>
              <a:t> with respect to the graph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DFDEFAB-4846-41FA-B80D-08E7688FD853}" type="slidenum">
              <a:rPr lang="en-US" sz="1400"/>
              <a:pPr eaLnBrk="1" hangingPunct="1"/>
              <a:t>25</a:t>
            </a:fld>
            <a:endParaRPr lang="en-US" sz="1400"/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Using a Bayesian Network Example</a:t>
            </a:r>
          </a:p>
        </p:txBody>
      </p:sp>
      <p:sp>
        <p:nvSpPr>
          <p:cNvPr id="399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25908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sz="2400"/>
              <a:t>Using the network in the example, suppose you want to calculate:</a:t>
            </a:r>
          </a:p>
          <a:p>
            <a:pPr marL="0" indent="0" eaLnBrk="1" hangingPunct="1">
              <a:buFontTx/>
              <a:buNone/>
            </a:pPr>
            <a:r>
              <a:rPr lang="en-US" sz="2400"/>
              <a:t>P(A = true, B = true, C = true, D = true)</a:t>
            </a:r>
          </a:p>
          <a:p>
            <a:pPr marL="0" indent="0" eaLnBrk="1" hangingPunct="1">
              <a:buFontTx/>
              <a:buNone/>
            </a:pPr>
            <a:r>
              <a:rPr lang="en-US" sz="2400"/>
              <a:t>= P(A = true) * P(B = true | A = true) * </a:t>
            </a:r>
          </a:p>
          <a:p>
            <a:pPr marL="0" indent="0" eaLnBrk="1" hangingPunct="1">
              <a:buFontTx/>
              <a:buNone/>
            </a:pPr>
            <a:r>
              <a:rPr lang="en-US" sz="2400"/>
              <a:t>   P(C = true | B = true) P( D = true | B = true) </a:t>
            </a:r>
          </a:p>
          <a:p>
            <a:pPr marL="0" indent="0" eaLnBrk="1" hangingPunct="1">
              <a:buFontTx/>
              <a:buNone/>
            </a:pPr>
            <a:r>
              <a:rPr lang="en-US" sz="2400"/>
              <a:t>= (0.4)*(0.3)*(0.1)*(0.95)</a:t>
            </a:r>
          </a:p>
        </p:txBody>
      </p:sp>
      <p:sp>
        <p:nvSpPr>
          <p:cNvPr id="39942" name="Oval 4"/>
          <p:cNvSpPr>
            <a:spLocks noChangeArrowheads="1"/>
          </p:cNvSpPr>
          <p:nvPr/>
        </p:nvSpPr>
        <p:spPr bwMode="auto">
          <a:xfrm>
            <a:off x="7391400" y="36576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A</a:t>
            </a:r>
          </a:p>
        </p:txBody>
      </p:sp>
      <p:sp>
        <p:nvSpPr>
          <p:cNvPr id="39943" name="Oval 5"/>
          <p:cNvSpPr>
            <a:spLocks noChangeArrowheads="1"/>
          </p:cNvSpPr>
          <p:nvPr/>
        </p:nvSpPr>
        <p:spPr bwMode="auto">
          <a:xfrm>
            <a:off x="7391400" y="45720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B</a:t>
            </a:r>
          </a:p>
        </p:txBody>
      </p:sp>
      <p:sp>
        <p:nvSpPr>
          <p:cNvPr id="39944" name="Oval 6"/>
          <p:cNvSpPr>
            <a:spLocks noChangeArrowheads="1"/>
          </p:cNvSpPr>
          <p:nvPr/>
        </p:nvSpPr>
        <p:spPr bwMode="auto">
          <a:xfrm>
            <a:off x="6858000" y="54102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C</a:t>
            </a:r>
          </a:p>
        </p:txBody>
      </p:sp>
      <p:sp>
        <p:nvSpPr>
          <p:cNvPr id="39945" name="Oval 7"/>
          <p:cNvSpPr>
            <a:spLocks noChangeArrowheads="1"/>
          </p:cNvSpPr>
          <p:nvPr/>
        </p:nvSpPr>
        <p:spPr bwMode="auto">
          <a:xfrm>
            <a:off x="8001000" y="54102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D</a:t>
            </a:r>
          </a:p>
        </p:txBody>
      </p:sp>
      <p:cxnSp>
        <p:nvCxnSpPr>
          <p:cNvPr id="39946" name="AutoShape 8"/>
          <p:cNvCxnSpPr>
            <a:cxnSpLocks noChangeShapeType="1"/>
            <a:stCxn id="39942" idx="4"/>
            <a:endCxn id="39943" idx="0"/>
          </p:cNvCxnSpPr>
          <p:nvPr/>
        </p:nvCxnSpPr>
        <p:spPr bwMode="auto">
          <a:xfrm>
            <a:off x="7658100" y="41910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7" name="AutoShape 9"/>
          <p:cNvCxnSpPr>
            <a:cxnSpLocks noChangeShapeType="1"/>
            <a:stCxn id="39943" idx="3"/>
            <a:endCxn id="39944" idx="0"/>
          </p:cNvCxnSpPr>
          <p:nvPr/>
        </p:nvCxnSpPr>
        <p:spPr bwMode="auto">
          <a:xfrm flipH="1">
            <a:off x="7124700" y="5027613"/>
            <a:ext cx="344488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8" name="AutoShape 10"/>
          <p:cNvCxnSpPr>
            <a:cxnSpLocks noChangeShapeType="1"/>
            <a:stCxn id="39943" idx="5"/>
            <a:endCxn id="39945" idx="0"/>
          </p:cNvCxnSpPr>
          <p:nvPr/>
        </p:nvCxnSpPr>
        <p:spPr bwMode="auto">
          <a:xfrm>
            <a:off x="7847013" y="5027613"/>
            <a:ext cx="420687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3AF73D8-72D7-41DC-81CB-7CD9C5BA5A5D}" type="slidenum">
              <a:rPr lang="en-US" sz="1400"/>
              <a:pPr eaLnBrk="1" hangingPunct="1"/>
              <a:t>26</a:t>
            </a:fld>
            <a:endParaRPr lang="en-US" sz="1400"/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Using a Bayesian Network Example</a:t>
            </a:r>
          </a:p>
        </p:txBody>
      </p:sp>
      <p:sp>
        <p:nvSpPr>
          <p:cNvPr id="409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25908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sz="2400"/>
              <a:t>Using the network in the example, suppose you want to calculate:</a:t>
            </a:r>
          </a:p>
          <a:p>
            <a:pPr marL="0" indent="0" eaLnBrk="1" hangingPunct="1">
              <a:buFontTx/>
              <a:buNone/>
            </a:pPr>
            <a:r>
              <a:rPr lang="en-US" sz="2400"/>
              <a:t>P(A = true, B = true, C = true, D = true)</a:t>
            </a:r>
          </a:p>
          <a:p>
            <a:pPr marL="0" indent="0" eaLnBrk="1" hangingPunct="1">
              <a:buFontTx/>
              <a:buNone/>
            </a:pPr>
            <a:r>
              <a:rPr lang="en-US" sz="2400"/>
              <a:t>= P(A = true) * P(B = true | A = true) * </a:t>
            </a:r>
          </a:p>
          <a:p>
            <a:pPr marL="0" indent="0" eaLnBrk="1" hangingPunct="1">
              <a:buFontTx/>
              <a:buNone/>
            </a:pPr>
            <a:r>
              <a:rPr lang="en-US" sz="2400"/>
              <a:t>   P(C = true | B = true) P( D = true | B = true) </a:t>
            </a:r>
          </a:p>
          <a:p>
            <a:pPr marL="0" indent="0" eaLnBrk="1" hangingPunct="1">
              <a:buFontTx/>
              <a:buNone/>
            </a:pPr>
            <a:r>
              <a:rPr lang="en-US" sz="2400"/>
              <a:t>= (0.4)*(0.3)*(0.1)*(0.95)</a:t>
            </a:r>
          </a:p>
        </p:txBody>
      </p:sp>
      <p:sp>
        <p:nvSpPr>
          <p:cNvPr id="40966" name="Oval 4"/>
          <p:cNvSpPr>
            <a:spLocks noChangeArrowheads="1"/>
          </p:cNvSpPr>
          <p:nvPr/>
        </p:nvSpPr>
        <p:spPr bwMode="auto">
          <a:xfrm>
            <a:off x="7391400" y="36576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A</a:t>
            </a:r>
          </a:p>
        </p:txBody>
      </p:sp>
      <p:sp>
        <p:nvSpPr>
          <p:cNvPr id="40967" name="Oval 5"/>
          <p:cNvSpPr>
            <a:spLocks noChangeArrowheads="1"/>
          </p:cNvSpPr>
          <p:nvPr/>
        </p:nvSpPr>
        <p:spPr bwMode="auto">
          <a:xfrm>
            <a:off x="7391400" y="45720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B</a:t>
            </a:r>
          </a:p>
        </p:txBody>
      </p:sp>
      <p:sp>
        <p:nvSpPr>
          <p:cNvPr id="40968" name="Oval 6"/>
          <p:cNvSpPr>
            <a:spLocks noChangeArrowheads="1"/>
          </p:cNvSpPr>
          <p:nvPr/>
        </p:nvSpPr>
        <p:spPr bwMode="auto">
          <a:xfrm>
            <a:off x="6858000" y="54102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C</a:t>
            </a:r>
          </a:p>
        </p:txBody>
      </p:sp>
      <p:sp>
        <p:nvSpPr>
          <p:cNvPr id="40969" name="Oval 7"/>
          <p:cNvSpPr>
            <a:spLocks noChangeArrowheads="1"/>
          </p:cNvSpPr>
          <p:nvPr/>
        </p:nvSpPr>
        <p:spPr bwMode="auto">
          <a:xfrm>
            <a:off x="8001000" y="54102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D</a:t>
            </a:r>
          </a:p>
        </p:txBody>
      </p:sp>
      <p:cxnSp>
        <p:nvCxnSpPr>
          <p:cNvPr id="40970" name="AutoShape 8"/>
          <p:cNvCxnSpPr>
            <a:cxnSpLocks noChangeShapeType="1"/>
            <a:stCxn id="40966" idx="4"/>
            <a:endCxn id="40967" idx="0"/>
          </p:cNvCxnSpPr>
          <p:nvPr/>
        </p:nvCxnSpPr>
        <p:spPr bwMode="auto">
          <a:xfrm>
            <a:off x="7658100" y="41910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1" name="AutoShape 9"/>
          <p:cNvCxnSpPr>
            <a:cxnSpLocks noChangeShapeType="1"/>
            <a:stCxn id="40967" idx="3"/>
            <a:endCxn id="40968" idx="0"/>
          </p:cNvCxnSpPr>
          <p:nvPr/>
        </p:nvCxnSpPr>
        <p:spPr bwMode="auto">
          <a:xfrm flipH="1">
            <a:off x="7124700" y="5027613"/>
            <a:ext cx="344488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2" name="AutoShape 10"/>
          <p:cNvCxnSpPr>
            <a:cxnSpLocks noChangeShapeType="1"/>
            <a:stCxn id="40967" idx="5"/>
            <a:endCxn id="40969" idx="0"/>
          </p:cNvCxnSpPr>
          <p:nvPr/>
        </p:nvCxnSpPr>
        <p:spPr bwMode="auto">
          <a:xfrm>
            <a:off x="7847013" y="5027613"/>
            <a:ext cx="420687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73" name="AutoShape 11"/>
          <p:cNvSpPr>
            <a:spLocks/>
          </p:cNvSpPr>
          <p:nvPr/>
        </p:nvSpPr>
        <p:spPr bwMode="auto">
          <a:xfrm>
            <a:off x="6553200" y="2819400"/>
            <a:ext cx="304800" cy="685800"/>
          </a:xfrm>
          <a:prstGeom prst="rightBrace">
            <a:avLst>
              <a:gd name="adj1" fmla="val 18750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0974" name="Text Box 12"/>
          <p:cNvSpPr txBox="1">
            <a:spLocks noChangeArrowheads="1"/>
          </p:cNvSpPr>
          <p:nvPr/>
        </p:nvSpPr>
        <p:spPr bwMode="auto">
          <a:xfrm>
            <a:off x="6858000" y="1981200"/>
            <a:ext cx="2133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This is from the graph structure</a:t>
            </a:r>
          </a:p>
        </p:txBody>
      </p:sp>
      <p:sp>
        <p:nvSpPr>
          <p:cNvPr id="40975" name="Line 13"/>
          <p:cNvSpPr>
            <a:spLocks noChangeShapeType="1"/>
          </p:cNvSpPr>
          <p:nvPr/>
        </p:nvSpPr>
        <p:spPr bwMode="auto">
          <a:xfrm flipH="1">
            <a:off x="6934200" y="2743200"/>
            <a:ext cx="609600" cy="381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6" name="AutoShape 14"/>
          <p:cNvSpPr>
            <a:spLocks/>
          </p:cNvSpPr>
          <p:nvPr/>
        </p:nvSpPr>
        <p:spPr bwMode="auto">
          <a:xfrm rot="5400000">
            <a:off x="2324100" y="2628900"/>
            <a:ext cx="381000" cy="3048000"/>
          </a:xfrm>
          <a:prstGeom prst="rightBrace">
            <a:avLst>
              <a:gd name="adj1" fmla="val 108185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0977" name="Text Box 15"/>
          <p:cNvSpPr txBox="1">
            <a:spLocks noChangeArrowheads="1"/>
          </p:cNvSpPr>
          <p:nvPr/>
        </p:nvSpPr>
        <p:spPr bwMode="auto">
          <a:xfrm>
            <a:off x="838200" y="4876800"/>
            <a:ext cx="3886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These numbers are from the conditional probability tables</a:t>
            </a:r>
          </a:p>
        </p:txBody>
      </p:sp>
      <p:sp>
        <p:nvSpPr>
          <p:cNvPr id="40978" name="Line 16"/>
          <p:cNvSpPr>
            <a:spLocks noChangeShapeType="1"/>
          </p:cNvSpPr>
          <p:nvPr/>
        </p:nvSpPr>
        <p:spPr bwMode="auto">
          <a:xfrm flipH="1" flipV="1">
            <a:off x="2514600" y="4419600"/>
            <a:ext cx="0" cy="533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24D7587-E39B-40C2-A6AF-5FC47B94DDCD}" type="slidenum">
              <a:rPr lang="en-US" sz="1400"/>
              <a:pPr eaLnBrk="1" hangingPunct="1"/>
              <a:t>27</a:t>
            </a:fld>
            <a:endParaRPr lang="en-US" sz="1400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pPr eaLnBrk="1" hangingPunct="1"/>
            <a:r>
              <a:rPr lang="en-US" sz="3600"/>
              <a:t>Joint Probability Factorization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19050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sz="2400"/>
              <a:t>For any joint distribution of random variables the following factorization is always true:</a:t>
            </a:r>
          </a:p>
          <a:p>
            <a:pPr marL="0" indent="0" eaLnBrk="1" hangingPunct="1">
              <a:buFontTx/>
              <a:buNone/>
            </a:pPr>
            <a:endParaRPr lang="en-US" sz="2400"/>
          </a:p>
          <a:p>
            <a:pPr marL="0" indent="0" eaLnBrk="1" hangingPunct="1">
              <a:buFontTx/>
              <a:buNone/>
            </a:pPr>
            <a:endParaRPr lang="en-US" sz="2400"/>
          </a:p>
          <a:p>
            <a:pPr marL="0" indent="0" eaLnBrk="1" hangingPunct="1">
              <a:buFontTx/>
              <a:buNone/>
            </a:pPr>
            <a:r>
              <a:rPr lang="en-US" sz="2400"/>
              <a:t>We derive it by repeatedly applying the Bayes’ Rule</a:t>
            </a:r>
          </a:p>
          <a:p>
            <a:pPr marL="0" indent="0" eaLnBrk="1" hangingPunct="1">
              <a:buFontTx/>
              <a:buNone/>
            </a:pPr>
            <a:r>
              <a:rPr lang="en-US" sz="2400"/>
              <a:t>P(X,Y)=P(X|Y)P(Y): </a:t>
            </a: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1295400" y="3886200"/>
          <a:ext cx="6156325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3" imgW="2476440" imgH="888840" progId="Equation.3">
                  <p:embed/>
                </p:oleObj>
              </mc:Choice>
              <mc:Fallback>
                <p:oleObj name="Equation" r:id="rId3" imgW="2476440" imgH="8888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886200"/>
                        <a:ext cx="6156325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381000" y="1981200"/>
          <a:ext cx="82407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5" imgW="3314520" imgH="203040" progId="Equation.3">
                  <p:embed/>
                </p:oleObj>
              </mc:Choice>
              <mc:Fallback>
                <p:oleObj name="Equation" r:id="rId5" imgW="3314520" imgH="203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981200"/>
                        <a:ext cx="824071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55885C6-2220-40B4-80DF-20E5BCD7138E}" type="slidenum">
              <a:rPr lang="en-US" sz="1400"/>
              <a:pPr eaLnBrk="1" hangingPunct="1"/>
              <a:t>28</a:t>
            </a:fld>
            <a:endParaRPr lang="en-US" sz="1400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pPr eaLnBrk="1" hangingPunct="1"/>
            <a:r>
              <a:rPr lang="en-US" sz="3600"/>
              <a:t>Joint Probability Factorization</a:t>
            </a:r>
          </a:p>
        </p:txBody>
      </p:sp>
      <p:sp>
        <p:nvSpPr>
          <p:cNvPr id="4101" name="Oval 4"/>
          <p:cNvSpPr>
            <a:spLocks noChangeArrowheads="1"/>
          </p:cNvSpPr>
          <p:nvPr/>
        </p:nvSpPr>
        <p:spPr bwMode="auto">
          <a:xfrm>
            <a:off x="7391400" y="36576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A</a:t>
            </a:r>
          </a:p>
        </p:txBody>
      </p:sp>
      <p:sp>
        <p:nvSpPr>
          <p:cNvPr id="4102" name="Oval 5"/>
          <p:cNvSpPr>
            <a:spLocks noChangeArrowheads="1"/>
          </p:cNvSpPr>
          <p:nvPr/>
        </p:nvSpPr>
        <p:spPr bwMode="auto">
          <a:xfrm>
            <a:off x="7391400" y="45720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B</a:t>
            </a:r>
          </a:p>
        </p:txBody>
      </p:sp>
      <p:sp>
        <p:nvSpPr>
          <p:cNvPr id="4103" name="Oval 6"/>
          <p:cNvSpPr>
            <a:spLocks noChangeArrowheads="1"/>
          </p:cNvSpPr>
          <p:nvPr/>
        </p:nvSpPr>
        <p:spPr bwMode="auto">
          <a:xfrm>
            <a:off x="6858000" y="54102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C</a:t>
            </a:r>
          </a:p>
        </p:txBody>
      </p:sp>
      <p:sp>
        <p:nvSpPr>
          <p:cNvPr id="4104" name="Oval 7"/>
          <p:cNvSpPr>
            <a:spLocks noChangeArrowheads="1"/>
          </p:cNvSpPr>
          <p:nvPr/>
        </p:nvSpPr>
        <p:spPr bwMode="auto">
          <a:xfrm>
            <a:off x="8001000" y="54102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D</a:t>
            </a:r>
          </a:p>
        </p:txBody>
      </p:sp>
      <p:cxnSp>
        <p:nvCxnSpPr>
          <p:cNvPr id="4105" name="AutoShape 8"/>
          <p:cNvCxnSpPr>
            <a:cxnSpLocks noChangeShapeType="1"/>
            <a:stCxn id="4101" idx="4"/>
            <a:endCxn id="4102" idx="0"/>
          </p:cNvCxnSpPr>
          <p:nvPr/>
        </p:nvCxnSpPr>
        <p:spPr bwMode="auto">
          <a:xfrm>
            <a:off x="7658100" y="41910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6" name="AutoShape 9"/>
          <p:cNvCxnSpPr>
            <a:cxnSpLocks noChangeShapeType="1"/>
            <a:stCxn id="4102" idx="3"/>
            <a:endCxn id="4103" idx="0"/>
          </p:cNvCxnSpPr>
          <p:nvPr/>
        </p:nvCxnSpPr>
        <p:spPr bwMode="auto">
          <a:xfrm flipH="1">
            <a:off x="7124700" y="5027613"/>
            <a:ext cx="344488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7" name="AutoShape 10"/>
          <p:cNvCxnSpPr>
            <a:cxnSpLocks noChangeShapeType="1"/>
            <a:stCxn id="4102" idx="5"/>
            <a:endCxn id="4104" idx="0"/>
          </p:cNvCxnSpPr>
          <p:nvPr/>
        </p:nvCxnSpPr>
        <p:spPr bwMode="auto">
          <a:xfrm>
            <a:off x="7847013" y="5027613"/>
            <a:ext cx="420687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4098" name="Object 3"/>
          <p:cNvGraphicFramePr>
            <a:graphicFrameLocks noChangeAspect="1"/>
          </p:cNvGraphicFramePr>
          <p:nvPr/>
        </p:nvGraphicFramePr>
        <p:xfrm>
          <a:off x="304800" y="1905000"/>
          <a:ext cx="8240713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3" imgW="3314520" imgH="431640" progId="Equation.3">
                  <p:embed/>
                </p:oleObj>
              </mc:Choice>
              <mc:Fallback>
                <p:oleObj name="Equation" r:id="rId3" imgW="3314520" imgH="431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905000"/>
                        <a:ext cx="8240713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533400" y="914400"/>
            <a:ext cx="7772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en-US" kern="0" dirty="0">
                <a:latin typeface="+mn-lt"/>
              </a:rPr>
              <a:t>Our example graph carries additional independence information, which simplifies the joint distribution: </a:t>
            </a:r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 bwMode="auto">
          <a:xfrm>
            <a:off x="381000" y="3429000"/>
            <a:ext cx="77724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en-US" kern="0" dirty="0">
                <a:latin typeface="+mn-lt"/>
              </a:rPr>
              <a:t>This is why, we only need the tables for</a:t>
            </a:r>
          </a:p>
          <a:p>
            <a:pPr>
              <a:spcBef>
                <a:spcPct val="20000"/>
              </a:spcBef>
              <a:defRPr/>
            </a:pPr>
            <a:r>
              <a:rPr lang="en-US" kern="0" dirty="0">
                <a:latin typeface="+mn-lt"/>
              </a:rPr>
              <a:t>P(A), P(B|A), P(C|B), and P(D|B)</a:t>
            </a:r>
          </a:p>
          <a:p>
            <a:pPr>
              <a:spcBef>
                <a:spcPct val="20000"/>
              </a:spcBef>
              <a:defRPr/>
            </a:pPr>
            <a:r>
              <a:rPr lang="en-US" kern="0" dirty="0">
                <a:latin typeface="+mn-lt"/>
              </a:rPr>
              <a:t>and why we computed</a:t>
            </a:r>
          </a:p>
          <a:p>
            <a:pPr>
              <a:spcBef>
                <a:spcPct val="20000"/>
              </a:spcBef>
              <a:defRPr/>
            </a:pPr>
            <a:r>
              <a:rPr lang="en-US" kern="0" dirty="0">
                <a:latin typeface="+mn-lt"/>
              </a:rPr>
              <a:t>P(A = true, B = true, C = true, D = true)</a:t>
            </a:r>
          </a:p>
          <a:p>
            <a:pPr>
              <a:spcBef>
                <a:spcPct val="20000"/>
              </a:spcBef>
              <a:defRPr/>
            </a:pPr>
            <a:r>
              <a:rPr lang="en-US" kern="0" dirty="0">
                <a:latin typeface="+mn-lt"/>
              </a:rPr>
              <a:t>= P(A = true) * P(B = true | A = true) * </a:t>
            </a:r>
          </a:p>
          <a:p>
            <a:pPr>
              <a:spcBef>
                <a:spcPct val="20000"/>
              </a:spcBef>
              <a:defRPr/>
            </a:pPr>
            <a:r>
              <a:rPr lang="en-US" kern="0" dirty="0">
                <a:latin typeface="+mn-lt"/>
              </a:rPr>
              <a:t>   P(C = true | B = true) P( D = true | B = true) </a:t>
            </a:r>
          </a:p>
          <a:p>
            <a:pPr>
              <a:spcBef>
                <a:spcPct val="20000"/>
              </a:spcBef>
              <a:defRPr/>
            </a:pPr>
            <a:r>
              <a:rPr lang="en-US" kern="0" dirty="0">
                <a:latin typeface="+mn-lt"/>
              </a:rPr>
              <a:t>= (0.4)*(0.3)*(0.1)*(0.95)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8ED04DC-08E9-49E6-B898-227A36412115}" type="slidenum">
              <a:rPr lang="en-US" sz="1400"/>
              <a:pPr eaLnBrk="1" hangingPunct="1"/>
              <a:t>29</a:t>
            </a:fld>
            <a:endParaRPr lang="en-US" sz="1400"/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Inference</a:t>
            </a:r>
          </a:p>
        </p:txBody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2057400"/>
          </a:xfrm>
        </p:spPr>
        <p:txBody>
          <a:bodyPr/>
          <a:lstStyle/>
          <a:p>
            <a:pPr marL="350838" indent="-350838" eaLnBrk="1" hangingPunct="1"/>
            <a:r>
              <a:rPr lang="en-US" sz="2800"/>
              <a:t>Using a Bayesian network to compute probabilities is called inference</a:t>
            </a:r>
          </a:p>
          <a:p>
            <a:pPr marL="350838" indent="-350838" eaLnBrk="1" hangingPunct="1"/>
            <a:r>
              <a:rPr lang="en-US" sz="2800"/>
              <a:t>In general, inference involves queries of the form:</a:t>
            </a:r>
          </a:p>
          <a:p>
            <a:pPr marL="350838" indent="-350838" eaLnBrk="1" hangingPunct="1">
              <a:buFontTx/>
              <a:buNone/>
            </a:pPr>
            <a:r>
              <a:rPr lang="en-US" sz="2800"/>
              <a:t>	P( X | E )</a:t>
            </a:r>
          </a:p>
        </p:txBody>
      </p:sp>
      <p:sp>
        <p:nvSpPr>
          <p:cNvPr id="41990" name="Text Box 17"/>
          <p:cNvSpPr txBox="1">
            <a:spLocks noChangeArrowheads="1"/>
          </p:cNvSpPr>
          <p:nvPr/>
        </p:nvSpPr>
        <p:spPr bwMode="auto">
          <a:xfrm>
            <a:off x="1676400" y="4267200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3333FF"/>
                </a:solidFill>
              </a:rPr>
              <a:t>X = The query variable(s)</a:t>
            </a:r>
          </a:p>
        </p:txBody>
      </p:sp>
      <p:sp>
        <p:nvSpPr>
          <p:cNvPr id="41991" name="Text Box 18"/>
          <p:cNvSpPr txBox="1">
            <a:spLocks noChangeArrowheads="1"/>
          </p:cNvSpPr>
          <p:nvPr/>
        </p:nvSpPr>
        <p:spPr bwMode="auto">
          <a:xfrm>
            <a:off x="2438400" y="3657600"/>
            <a:ext cx="381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E = The evidence variable(s)</a:t>
            </a:r>
          </a:p>
        </p:txBody>
      </p:sp>
      <p:sp>
        <p:nvSpPr>
          <p:cNvPr id="41992" name="Line 19"/>
          <p:cNvSpPr>
            <a:spLocks noChangeShapeType="1"/>
          </p:cNvSpPr>
          <p:nvPr/>
        </p:nvSpPr>
        <p:spPr bwMode="auto">
          <a:xfrm flipH="1" flipV="1">
            <a:off x="1676400" y="3505200"/>
            <a:ext cx="152400" cy="685800"/>
          </a:xfrm>
          <a:prstGeom prst="line">
            <a:avLst/>
          </a:prstGeom>
          <a:noFill/>
          <a:ln w="9525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3" name="Line 20"/>
          <p:cNvSpPr>
            <a:spLocks noChangeShapeType="1"/>
          </p:cNvSpPr>
          <p:nvPr/>
        </p:nvSpPr>
        <p:spPr bwMode="auto">
          <a:xfrm flipH="1" flipV="1">
            <a:off x="2133600" y="3429000"/>
            <a:ext cx="304800" cy="457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68789B4-FF8E-4A63-B780-9DC2DD1D3709}" type="slidenum">
              <a:rPr lang="en-US" sz="1400"/>
              <a:pPr eaLnBrk="1" hangingPunct="1"/>
              <a:t>30</a:t>
            </a:fld>
            <a:endParaRPr lang="en-US" sz="1400"/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Inference</a:t>
            </a:r>
          </a:p>
        </p:txBody>
      </p:sp>
      <p:sp>
        <p:nvSpPr>
          <p:cNvPr id="430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3429000"/>
            <a:ext cx="8305800" cy="2667000"/>
          </a:xfrm>
        </p:spPr>
        <p:txBody>
          <a:bodyPr/>
          <a:lstStyle/>
          <a:p>
            <a:pPr marL="350838" indent="-350838" eaLnBrk="1" hangingPunct="1">
              <a:lnSpc>
                <a:spcPct val="90000"/>
              </a:lnSpc>
            </a:pPr>
            <a:r>
              <a:rPr lang="en-US" sz="2400"/>
              <a:t>An example of a query would be:</a:t>
            </a:r>
          </a:p>
          <a:p>
            <a:pPr marL="350838" indent="-350838" eaLnBrk="1" hangingPunct="1">
              <a:lnSpc>
                <a:spcPct val="90000"/>
              </a:lnSpc>
              <a:buFontTx/>
              <a:buNone/>
            </a:pPr>
            <a:r>
              <a:rPr lang="en-US" sz="2400"/>
              <a:t>	P( </a:t>
            </a:r>
            <a:r>
              <a:rPr lang="en-US" sz="2400" i="1"/>
              <a:t>HasAnthrax = true</a:t>
            </a:r>
            <a:r>
              <a:rPr lang="en-US" sz="2400"/>
              <a:t> | </a:t>
            </a:r>
            <a:r>
              <a:rPr lang="en-US" sz="2400" i="1"/>
              <a:t>HasFever = true</a:t>
            </a:r>
            <a:r>
              <a:rPr lang="en-US" sz="2400"/>
              <a:t>, </a:t>
            </a:r>
            <a:r>
              <a:rPr lang="en-US" sz="2400" i="1"/>
              <a:t>HasCough</a:t>
            </a:r>
            <a:r>
              <a:rPr lang="en-US" sz="2400"/>
              <a:t> </a:t>
            </a:r>
            <a:r>
              <a:rPr lang="en-US" sz="2400" i="1"/>
              <a:t>= true</a:t>
            </a:r>
            <a:r>
              <a:rPr lang="en-US" sz="2400"/>
              <a:t>)</a:t>
            </a:r>
          </a:p>
          <a:p>
            <a:pPr marL="350838" indent="-350838" eaLnBrk="1" hangingPunct="1">
              <a:lnSpc>
                <a:spcPct val="90000"/>
              </a:lnSpc>
            </a:pPr>
            <a:r>
              <a:rPr lang="en-US" sz="2400"/>
              <a:t>Note:  Even though </a:t>
            </a:r>
            <a:r>
              <a:rPr lang="en-US" sz="2400" i="1"/>
              <a:t>HasDifficultyBreathing</a:t>
            </a:r>
            <a:r>
              <a:rPr lang="en-US" sz="2400"/>
              <a:t> and </a:t>
            </a:r>
            <a:r>
              <a:rPr lang="en-US" sz="2400" i="1"/>
              <a:t>HasWideMediastinum</a:t>
            </a:r>
            <a:r>
              <a:rPr lang="en-US" sz="2400"/>
              <a:t> are in the Bayesian network, they are not given values in the query (ie. they do not appear either as query variables or evidence variables)</a:t>
            </a:r>
          </a:p>
          <a:p>
            <a:pPr marL="350838" indent="-350838" eaLnBrk="1" hangingPunct="1">
              <a:lnSpc>
                <a:spcPct val="90000"/>
              </a:lnSpc>
            </a:pPr>
            <a:r>
              <a:rPr lang="en-US" sz="2400"/>
              <a:t>They are treated as unobserved variables and summed out.</a:t>
            </a:r>
          </a:p>
        </p:txBody>
      </p:sp>
      <p:sp>
        <p:nvSpPr>
          <p:cNvPr id="43014" name="Oval 9"/>
          <p:cNvSpPr>
            <a:spLocks noChangeArrowheads="1"/>
          </p:cNvSpPr>
          <p:nvPr/>
        </p:nvSpPr>
        <p:spPr bwMode="auto">
          <a:xfrm>
            <a:off x="3581400" y="1371600"/>
            <a:ext cx="1600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sz="1800"/>
              <a:t>HasAnthrax</a:t>
            </a:r>
          </a:p>
        </p:txBody>
      </p:sp>
      <p:sp>
        <p:nvSpPr>
          <p:cNvPr id="43015" name="Oval 10"/>
          <p:cNvSpPr>
            <a:spLocks noChangeArrowheads="1"/>
          </p:cNvSpPr>
          <p:nvPr/>
        </p:nvSpPr>
        <p:spPr bwMode="auto">
          <a:xfrm>
            <a:off x="685800" y="2590800"/>
            <a:ext cx="11430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sz="1800"/>
              <a:t>HasCough</a:t>
            </a:r>
          </a:p>
        </p:txBody>
      </p:sp>
      <p:sp>
        <p:nvSpPr>
          <p:cNvPr id="43016" name="Oval 11"/>
          <p:cNvSpPr>
            <a:spLocks noChangeArrowheads="1"/>
          </p:cNvSpPr>
          <p:nvPr/>
        </p:nvSpPr>
        <p:spPr bwMode="auto">
          <a:xfrm>
            <a:off x="1981200" y="2590800"/>
            <a:ext cx="11430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sz="1800"/>
              <a:t>HasFever</a:t>
            </a:r>
          </a:p>
        </p:txBody>
      </p:sp>
      <p:sp>
        <p:nvSpPr>
          <p:cNvPr id="43017" name="Oval 12"/>
          <p:cNvSpPr>
            <a:spLocks noChangeArrowheads="1"/>
          </p:cNvSpPr>
          <p:nvPr/>
        </p:nvSpPr>
        <p:spPr bwMode="auto">
          <a:xfrm>
            <a:off x="3276600" y="2590800"/>
            <a:ext cx="24384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sz="1800"/>
              <a:t>HasDifficultyBreathing</a:t>
            </a:r>
          </a:p>
        </p:txBody>
      </p:sp>
      <p:sp>
        <p:nvSpPr>
          <p:cNvPr id="43018" name="Oval 13"/>
          <p:cNvSpPr>
            <a:spLocks noChangeArrowheads="1"/>
          </p:cNvSpPr>
          <p:nvPr/>
        </p:nvSpPr>
        <p:spPr bwMode="auto">
          <a:xfrm>
            <a:off x="5867400" y="2590800"/>
            <a:ext cx="28194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sz="1800"/>
              <a:t>HasWideMediastinum</a:t>
            </a:r>
          </a:p>
        </p:txBody>
      </p:sp>
      <p:cxnSp>
        <p:nvCxnSpPr>
          <p:cNvPr id="43019" name="AutoShape 14"/>
          <p:cNvCxnSpPr>
            <a:cxnSpLocks noChangeShapeType="1"/>
            <a:stCxn id="43014" idx="4"/>
            <a:endCxn id="43015" idx="0"/>
          </p:cNvCxnSpPr>
          <p:nvPr/>
        </p:nvCxnSpPr>
        <p:spPr bwMode="auto">
          <a:xfrm flipH="1">
            <a:off x="1257300" y="1828800"/>
            <a:ext cx="3124200" cy="762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0" name="AutoShape 15"/>
          <p:cNvCxnSpPr>
            <a:cxnSpLocks noChangeShapeType="1"/>
            <a:stCxn id="43014" idx="4"/>
            <a:endCxn id="43016" idx="0"/>
          </p:cNvCxnSpPr>
          <p:nvPr/>
        </p:nvCxnSpPr>
        <p:spPr bwMode="auto">
          <a:xfrm flipH="1">
            <a:off x="2552700" y="1828800"/>
            <a:ext cx="1828800" cy="762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1" name="AutoShape 16"/>
          <p:cNvCxnSpPr>
            <a:cxnSpLocks noChangeShapeType="1"/>
            <a:stCxn id="43014" idx="4"/>
            <a:endCxn id="43017" idx="0"/>
          </p:cNvCxnSpPr>
          <p:nvPr/>
        </p:nvCxnSpPr>
        <p:spPr bwMode="auto">
          <a:xfrm>
            <a:off x="4381500" y="1828800"/>
            <a:ext cx="114300" cy="762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2" name="AutoShape 17"/>
          <p:cNvCxnSpPr>
            <a:cxnSpLocks noChangeShapeType="1"/>
            <a:stCxn id="43014" idx="4"/>
            <a:endCxn id="43018" idx="0"/>
          </p:cNvCxnSpPr>
          <p:nvPr/>
        </p:nvCxnSpPr>
        <p:spPr bwMode="auto">
          <a:xfrm>
            <a:off x="4381500" y="1828800"/>
            <a:ext cx="2895600" cy="762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6629400" cy="685800"/>
          </a:xfrm>
        </p:spPr>
        <p:txBody>
          <a:bodyPr/>
          <a:lstStyle/>
          <a:p>
            <a:pPr eaLnBrk="1" hangingPunct="1"/>
            <a:r>
              <a:rPr lang="en-US" sz="3200"/>
              <a:t>Inference Example</a:t>
            </a:r>
          </a:p>
        </p:txBody>
      </p:sp>
      <p:graphicFrame>
        <p:nvGraphicFramePr>
          <p:cNvPr id="862217" name="Group 9"/>
          <p:cNvGraphicFramePr>
            <a:graphicFrameLocks noGrp="1"/>
          </p:cNvGraphicFramePr>
          <p:nvPr/>
        </p:nvGraphicFramePr>
        <p:xfrm>
          <a:off x="685800" y="4876800"/>
          <a:ext cx="1295400" cy="1006476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P(A)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0.6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0.4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38" name="Oval 89"/>
          <p:cNvSpPr>
            <a:spLocks noChangeArrowheads="1"/>
          </p:cNvSpPr>
          <p:nvPr/>
        </p:nvSpPr>
        <p:spPr bwMode="auto">
          <a:xfrm>
            <a:off x="7734300" y="152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A</a:t>
            </a:r>
          </a:p>
        </p:txBody>
      </p:sp>
      <p:sp>
        <p:nvSpPr>
          <p:cNvPr id="5139" name="Oval 90"/>
          <p:cNvSpPr>
            <a:spLocks noChangeArrowheads="1"/>
          </p:cNvSpPr>
          <p:nvPr/>
        </p:nvSpPr>
        <p:spPr bwMode="auto">
          <a:xfrm>
            <a:off x="7734300" y="10668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B</a:t>
            </a:r>
          </a:p>
        </p:txBody>
      </p:sp>
      <p:sp>
        <p:nvSpPr>
          <p:cNvPr id="5140" name="Oval 91"/>
          <p:cNvSpPr>
            <a:spLocks noChangeArrowheads="1"/>
          </p:cNvSpPr>
          <p:nvPr/>
        </p:nvSpPr>
        <p:spPr bwMode="auto">
          <a:xfrm>
            <a:off x="7200900" y="19050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C</a:t>
            </a:r>
          </a:p>
        </p:txBody>
      </p:sp>
      <p:sp>
        <p:nvSpPr>
          <p:cNvPr id="5141" name="Oval 92"/>
          <p:cNvSpPr>
            <a:spLocks noChangeArrowheads="1"/>
          </p:cNvSpPr>
          <p:nvPr/>
        </p:nvSpPr>
        <p:spPr bwMode="auto">
          <a:xfrm>
            <a:off x="8343900" y="19050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D</a:t>
            </a:r>
          </a:p>
        </p:txBody>
      </p:sp>
      <p:cxnSp>
        <p:nvCxnSpPr>
          <p:cNvPr id="5142" name="AutoShape 93"/>
          <p:cNvCxnSpPr>
            <a:cxnSpLocks noChangeShapeType="1"/>
            <a:stCxn id="5138" idx="4"/>
            <a:endCxn id="5139" idx="0"/>
          </p:cNvCxnSpPr>
          <p:nvPr/>
        </p:nvCxnSpPr>
        <p:spPr bwMode="auto">
          <a:xfrm>
            <a:off x="8001000" y="6858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3" name="AutoShape 94"/>
          <p:cNvCxnSpPr>
            <a:cxnSpLocks noChangeShapeType="1"/>
            <a:stCxn id="5139" idx="3"/>
            <a:endCxn id="5140" idx="0"/>
          </p:cNvCxnSpPr>
          <p:nvPr/>
        </p:nvCxnSpPr>
        <p:spPr bwMode="auto">
          <a:xfrm flipH="1">
            <a:off x="7467600" y="1522413"/>
            <a:ext cx="344488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4" name="AutoShape 95"/>
          <p:cNvCxnSpPr>
            <a:cxnSpLocks noChangeShapeType="1"/>
            <a:stCxn id="5139" idx="5"/>
            <a:endCxn id="5141" idx="0"/>
          </p:cNvCxnSpPr>
          <p:nvPr/>
        </p:nvCxnSpPr>
        <p:spPr bwMode="auto">
          <a:xfrm>
            <a:off x="8189913" y="1522413"/>
            <a:ext cx="420687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862409" name="Group 201"/>
          <p:cNvGraphicFramePr>
            <a:graphicFrameLocks noGrp="1"/>
          </p:cNvGraphicFramePr>
          <p:nvPr/>
        </p:nvGraphicFramePr>
        <p:xfrm>
          <a:off x="2057400" y="4876800"/>
          <a:ext cx="2133600" cy="167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P(B|A)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62376" name="Group 168"/>
          <p:cNvGraphicFramePr>
            <a:graphicFrameLocks noGrp="1"/>
          </p:cNvGraphicFramePr>
          <p:nvPr/>
        </p:nvGraphicFramePr>
        <p:xfrm>
          <a:off x="6477000" y="4876800"/>
          <a:ext cx="2133600" cy="167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P(C|B)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62377" name="Group 169"/>
          <p:cNvGraphicFramePr>
            <a:graphicFrameLocks noGrp="1"/>
          </p:cNvGraphicFramePr>
          <p:nvPr/>
        </p:nvGraphicFramePr>
        <p:xfrm>
          <a:off x="4267200" y="4876800"/>
          <a:ext cx="2133600" cy="167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P(D|B)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304800" y="3048000"/>
          <a:ext cx="78835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3" imgW="4127400" imgH="558720" progId="Equation.3">
                  <p:embed/>
                </p:oleObj>
              </mc:Choice>
              <mc:Fallback>
                <p:oleObj name="Equation" r:id="rId3" imgW="4127400" imgH="5587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048000"/>
                        <a:ext cx="788352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" name="TextBox 15"/>
          <p:cNvSpPr txBox="1">
            <a:spLocks noChangeArrowheads="1"/>
          </p:cNvSpPr>
          <p:nvPr/>
        </p:nvSpPr>
        <p:spPr bwMode="auto">
          <a:xfrm>
            <a:off x="304800" y="914400"/>
            <a:ext cx="53467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/>
              <a:t>Supposed we know that A=true. </a:t>
            </a:r>
          </a:p>
          <a:p>
            <a:pPr eaLnBrk="1" hangingPunct="1"/>
            <a:r>
              <a:rPr lang="en-US"/>
              <a:t>What is more probable C=true or D=true?</a:t>
            </a:r>
          </a:p>
          <a:p>
            <a:pPr eaLnBrk="1" hangingPunct="1"/>
            <a:r>
              <a:rPr lang="en-US"/>
              <a:t>For this we need to compute </a:t>
            </a:r>
          </a:p>
          <a:p>
            <a:pPr eaLnBrk="1" hangingPunct="1"/>
            <a:r>
              <a:rPr lang="en-US"/>
              <a:t>P(C=t | A =t) and P(D=t | A =t).</a:t>
            </a:r>
          </a:p>
          <a:p>
            <a:pPr eaLnBrk="1" hangingPunct="1"/>
            <a:r>
              <a:rPr lang="en-US"/>
              <a:t>Let us compute the first one.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A48F3C-119E-48D4-AA86-95054F608644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685800"/>
          </a:xfrm>
        </p:spPr>
        <p:txBody>
          <a:bodyPr/>
          <a:lstStyle/>
          <a:p>
            <a:pPr eaLnBrk="1" hangingPunct="1"/>
            <a:r>
              <a:rPr lang="en-US" sz="3200"/>
              <a:t>What is P(A=true)?</a:t>
            </a:r>
          </a:p>
        </p:txBody>
      </p:sp>
      <p:graphicFrame>
        <p:nvGraphicFramePr>
          <p:cNvPr id="862217" name="Group 9"/>
          <p:cNvGraphicFramePr>
            <a:graphicFrameLocks noGrp="1"/>
          </p:cNvGraphicFramePr>
          <p:nvPr/>
        </p:nvGraphicFramePr>
        <p:xfrm>
          <a:off x="685800" y="4876800"/>
          <a:ext cx="1295400" cy="1006476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P(A)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0.6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0.4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162" name="Oval 89"/>
          <p:cNvSpPr>
            <a:spLocks noChangeArrowheads="1"/>
          </p:cNvSpPr>
          <p:nvPr/>
        </p:nvSpPr>
        <p:spPr bwMode="auto">
          <a:xfrm>
            <a:off x="7734300" y="152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A</a:t>
            </a:r>
          </a:p>
        </p:txBody>
      </p:sp>
      <p:sp>
        <p:nvSpPr>
          <p:cNvPr id="6163" name="Oval 90"/>
          <p:cNvSpPr>
            <a:spLocks noChangeArrowheads="1"/>
          </p:cNvSpPr>
          <p:nvPr/>
        </p:nvSpPr>
        <p:spPr bwMode="auto">
          <a:xfrm>
            <a:off x="7734300" y="10668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B</a:t>
            </a:r>
          </a:p>
        </p:txBody>
      </p:sp>
      <p:sp>
        <p:nvSpPr>
          <p:cNvPr id="6164" name="Oval 91"/>
          <p:cNvSpPr>
            <a:spLocks noChangeArrowheads="1"/>
          </p:cNvSpPr>
          <p:nvPr/>
        </p:nvSpPr>
        <p:spPr bwMode="auto">
          <a:xfrm>
            <a:off x="7200900" y="19050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C</a:t>
            </a:r>
          </a:p>
        </p:txBody>
      </p:sp>
      <p:sp>
        <p:nvSpPr>
          <p:cNvPr id="6165" name="Oval 92"/>
          <p:cNvSpPr>
            <a:spLocks noChangeArrowheads="1"/>
          </p:cNvSpPr>
          <p:nvPr/>
        </p:nvSpPr>
        <p:spPr bwMode="auto">
          <a:xfrm>
            <a:off x="8343900" y="19050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D</a:t>
            </a:r>
          </a:p>
        </p:txBody>
      </p:sp>
      <p:cxnSp>
        <p:nvCxnSpPr>
          <p:cNvPr id="6166" name="AutoShape 93"/>
          <p:cNvCxnSpPr>
            <a:cxnSpLocks noChangeShapeType="1"/>
            <a:stCxn id="6162" idx="4"/>
            <a:endCxn id="6163" idx="0"/>
          </p:cNvCxnSpPr>
          <p:nvPr/>
        </p:nvCxnSpPr>
        <p:spPr bwMode="auto">
          <a:xfrm>
            <a:off x="8001000" y="6858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7" name="AutoShape 94"/>
          <p:cNvCxnSpPr>
            <a:cxnSpLocks noChangeShapeType="1"/>
            <a:stCxn id="6163" idx="3"/>
            <a:endCxn id="6164" idx="0"/>
          </p:cNvCxnSpPr>
          <p:nvPr/>
        </p:nvCxnSpPr>
        <p:spPr bwMode="auto">
          <a:xfrm flipH="1">
            <a:off x="7467600" y="1522413"/>
            <a:ext cx="344488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8" name="AutoShape 95"/>
          <p:cNvCxnSpPr>
            <a:cxnSpLocks noChangeShapeType="1"/>
            <a:stCxn id="6163" idx="5"/>
            <a:endCxn id="6165" idx="0"/>
          </p:cNvCxnSpPr>
          <p:nvPr/>
        </p:nvCxnSpPr>
        <p:spPr bwMode="auto">
          <a:xfrm>
            <a:off x="8189913" y="1522413"/>
            <a:ext cx="420687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862409" name="Group 201"/>
          <p:cNvGraphicFramePr>
            <a:graphicFrameLocks noGrp="1"/>
          </p:cNvGraphicFramePr>
          <p:nvPr/>
        </p:nvGraphicFramePr>
        <p:xfrm>
          <a:off x="2057400" y="4876800"/>
          <a:ext cx="2133600" cy="167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P(B|A)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62376" name="Group 168"/>
          <p:cNvGraphicFramePr>
            <a:graphicFrameLocks noGrp="1"/>
          </p:cNvGraphicFramePr>
          <p:nvPr/>
        </p:nvGraphicFramePr>
        <p:xfrm>
          <a:off x="6477000" y="4876800"/>
          <a:ext cx="2133600" cy="167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P(C|B)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62377" name="Group 169"/>
          <p:cNvGraphicFramePr>
            <a:graphicFrameLocks noGrp="1"/>
          </p:cNvGraphicFramePr>
          <p:nvPr/>
        </p:nvGraphicFramePr>
        <p:xfrm>
          <a:off x="4267200" y="4876800"/>
          <a:ext cx="2133600" cy="167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P(D|B)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304800" y="762000"/>
          <a:ext cx="8396288" cy="415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3" imgW="5155920" imgH="2552400" progId="Equation.3">
                  <p:embed/>
                </p:oleObj>
              </mc:Choice>
              <mc:Fallback>
                <p:oleObj name="Equation" r:id="rId3" imgW="5155920" imgH="2552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762000"/>
                        <a:ext cx="8396288" cy="415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A48F3C-119E-48D4-AA86-95054F608644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6629400" cy="685800"/>
          </a:xfrm>
        </p:spPr>
        <p:txBody>
          <a:bodyPr/>
          <a:lstStyle/>
          <a:p>
            <a:pPr eaLnBrk="1" hangingPunct="1"/>
            <a:r>
              <a:rPr lang="en-US" sz="3200"/>
              <a:t>What is P(C=true, A=true)?</a:t>
            </a:r>
          </a:p>
        </p:txBody>
      </p:sp>
      <p:graphicFrame>
        <p:nvGraphicFramePr>
          <p:cNvPr id="862217" name="Group 9"/>
          <p:cNvGraphicFramePr>
            <a:graphicFrameLocks noGrp="1"/>
          </p:cNvGraphicFramePr>
          <p:nvPr/>
        </p:nvGraphicFramePr>
        <p:xfrm>
          <a:off x="685800" y="4876800"/>
          <a:ext cx="1295400" cy="1006476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P(A)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0.6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0.4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186" name="Oval 89"/>
          <p:cNvSpPr>
            <a:spLocks noChangeArrowheads="1"/>
          </p:cNvSpPr>
          <p:nvPr/>
        </p:nvSpPr>
        <p:spPr bwMode="auto">
          <a:xfrm>
            <a:off x="7734300" y="152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A</a:t>
            </a:r>
          </a:p>
        </p:txBody>
      </p:sp>
      <p:sp>
        <p:nvSpPr>
          <p:cNvPr id="7187" name="Oval 90"/>
          <p:cNvSpPr>
            <a:spLocks noChangeArrowheads="1"/>
          </p:cNvSpPr>
          <p:nvPr/>
        </p:nvSpPr>
        <p:spPr bwMode="auto">
          <a:xfrm>
            <a:off x="7734300" y="10668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B</a:t>
            </a:r>
          </a:p>
        </p:txBody>
      </p:sp>
      <p:sp>
        <p:nvSpPr>
          <p:cNvPr id="7188" name="Oval 91"/>
          <p:cNvSpPr>
            <a:spLocks noChangeArrowheads="1"/>
          </p:cNvSpPr>
          <p:nvPr/>
        </p:nvSpPr>
        <p:spPr bwMode="auto">
          <a:xfrm>
            <a:off x="7200900" y="19050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C</a:t>
            </a:r>
          </a:p>
        </p:txBody>
      </p:sp>
      <p:sp>
        <p:nvSpPr>
          <p:cNvPr id="7189" name="Oval 92"/>
          <p:cNvSpPr>
            <a:spLocks noChangeArrowheads="1"/>
          </p:cNvSpPr>
          <p:nvPr/>
        </p:nvSpPr>
        <p:spPr bwMode="auto">
          <a:xfrm>
            <a:off x="8343900" y="19050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D</a:t>
            </a:r>
          </a:p>
        </p:txBody>
      </p:sp>
      <p:cxnSp>
        <p:nvCxnSpPr>
          <p:cNvPr id="7190" name="AutoShape 93"/>
          <p:cNvCxnSpPr>
            <a:cxnSpLocks noChangeShapeType="1"/>
            <a:stCxn id="7186" idx="4"/>
            <a:endCxn id="7187" idx="0"/>
          </p:cNvCxnSpPr>
          <p:nvPr/>
        </p:nvCxnSpPr>
        <p:spPr bwMode="auto">
          <a:xfrm>
            <a:off x="8001000" y="6858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91" name="AutoShape 94"/>
          <p:cNvCxnSpPr>
            <a:cxnSpLocks noChangeShapeType="1"/>
            <a:stCxn id="7187" idx="3"/>
            <a:endCxn id="7188" idx="0"/>
          </p:cNvCxnSpPr>
          <p:nvPr/>
        </p:nvCxnSpPr>
        <p:spPr bwMode="auto">
          <a:xfrm flipH="1">
            <a:off x="7467600" y="1522413"/>
            <a:ext cx="344488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92" name="AutoShape 95"/>
          <p:cNvCxnSpPr>
            <a:cxnSpLocks noChangeShapeType="1"/>
            <a:stCxn id="7187" idx="5"/>
            <a:endCxn id="7189" idx="0"/>
          </p:cNvCxnSpPr>
          <p:nvPr/>
        </p:nvCxnSpPr>
        <p:spPr bwMode="auto">
          <a:xfrm>
            <a:off x="8189913" y="1522413"/>
            <a:ext cx="420687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862409" name="Group 201"/>
          <p:cNvGraphicFramePr>
            <a:graphicFrameLocks noGrp="1"/>
          </p:cNvGraphicFramePr>
          <p:nvPr/>
        </p:nvGraphicFramePr>
        <p:xfrm>
          <a:off x="2057400" y="4876800"/>
          <a:ext cx="2133600" cy="167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P(B|A)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62376" name="Group 168"/>
          <p:cNvGraphicFramePr>
            <a:graphicFrameLocks noGrp="1"/>
          </p:cNvGraphicFramePr>
          <p:nvPr/>
        </p:nvGraphicFramePr>
        <p:xfrm>
          <a:off x="6477000" y="4876800"/>
          <a:ext cx="2133600" cy="167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P(C|B)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62377" name="Group 169"/>
          <p:cNvGraphicFramePr>
            <a:graphicFrameLocks noGrp="1"/>
          </p:cNvGraphicFramePr>
          <p:nvPr/>
        </p:nvGraphicFramePr>
        <p:xfrm>
          <a:off x="4267200" y="4876800"/>
          <a:ext cx="2133600" cy="167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P(D|B)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170" name="Object 4"/>
          <p:cNvGraphicFramePr>
            <a:graphicFrameLocks noChangeAspect="1"/>
          </p:cNvGraphicFramePr>
          <p:nvPr/>
        </p:nvGraphicFramePr>
        <p:xfrm>
          <a:off x="49213" y="1143000"/>
          <a:ext cx="7588250" cy="371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3" imgW="4152600" imgH="2031840" progId="Equation.3">
                  <p:embed/>
                </p:oleObj>
              </mc:Choice>
              <mc:Fallback>
                <p:oleObj name="Equation" r:id="rId3" imgW="4152600" imgH="20318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3" y="1143000"/>
                        <a:ext cx="7588250" cy="371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A48F3C-119E-48D4-AA86-95054F608644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A3A54-69CE-4C82-B0AA-9FC050FD5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classic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54965-FAE4-4BDC-A7CD-888D63C299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A48F3C-119E-48D4-AA86-95054F608644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9218" name="Picture 2" descr="Bayes network for a Burglary-Earthquake scenario. Drakos et al. (2010)  ">
            <a:extLst>
              <a:ext uri="{FF2B5EF4-FFF2-40B4-BE49-F238E27FC236}">
                <a16:creationId xmlns:a16="http://schemas.microsoft.com/office/drawing/2014/main" id="{36037651-7444-40FB-855D-62BD2B7B7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525" y="1600200"/>
            <a:ext cx="7615173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80623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61D153D-3295-4A9C-A188-91850DB9115A}" type="slidenum">
              <a:rPr lang="en-US" sz="1400"/>
              <a:pPr eaLnBrk="1" hangingPunct="1"/>
              <a:t>35</a:t>
            </a:fld>
            <a:endParaRPr lang="en-US" sz="1400"/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Bad News</a:t>
            </a:r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Exact inference is feasible in small to medium-sized networks</a:t>
            </a:r>
          </a:p>
          <a:p>
            <a:pPr eaLnBrk="1" hangingPunct="1"/>
            <a:r>
              <a:rPr lang="en-US"/>
              <a:t>Exact inference in large networks takes a very long time</a:t>
            </a:r>
          </a:p>
          <a:p>
            <a:pPr eaLnBrk="1" hangingPunct="1"/>
            <a:r>
              <a:rPr lang="en-US"/>
              <a:t>We resort to approximate inference techniques which are much faster and give pretty good results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FB49B72-0CD0-485B-AFC8-7DDA24D38EE8}" type="slidenum">
              <a:rPr lang="en-US" sz="1400"/>
              <a:pPr eaLnBrk="1" hangingPunct="1"/>
              <a:t>36</a:t>
            </a:fld>
            <a:endParaRPr lang="en-US" sz="1400"/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One last unresolved issue…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/>
              <a:t>We still haven’t said where we get the Bayesian network from.  There are two options:</a:t>
            </a:r>
          </a:p>
          <a:p>
            <a:pPr marL="609600" indent="-609600" eaLnBrk="1" hangingPunct="1"/>
            <a:r>
              <a:rPr lang="en-US"/>
              <a:t>Get an expert to design it</a:t>
            </a:r>
          </a:p>
          <a:p>
            <a:pPr marL="609600" indent="-609600" eaLnBrk="1" hangingPunct="1"/>
            <a:r>
              <a:rPr lang="en-US"/>
              <a:t>Learn it from data, e.g., the same way as in the lecture on Bayes Classifier in Ch. 8.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6155</TotalTime>
  <Words>2232</Words>
  <Application>Microsoft Office PowerPoint</Application>
  <PresentationFormat>On-screen Show (4:3)</PresentationFormat>
  <Paragraphs>628</Paragraphs>
  <Slides>36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Times New Roman</vt:lpstr>
      <vt:lpstr>Default Design</vt:lpstr>
      <vt:lpstr>Equation</vt:lpstr>
      <vt:lpstr>Bayesian Networks</vt:lpstr>
      <vt:lpstr>Introduction</vt:lpstr>
      <vt:lpstr>Introduction</vt:lpstr>
      <vt:lpstr>Introduction</vt:lpstr>
      <vt:lpstr>Introduction</vt:lpstr>
      <vt:lpstr>Bayesian Networks</vt:lpstr>
      <vt:lpstr>Outline</vt:lpstr>
      <vt:lpstr>Probability Primer: Random Variables</vt:lpstr>
      <vt:lpstr>Boolean Random Variables</vt:lpstr>
      <vt:lpstr>The Joint Probability Distribution</vt:lpstr>
      <vt:lpstr>The Joint Probability Distribution</vt:lpstr>
      <vt:lpstr>The Problem with the Joint Distribution</vt:lpstr>
      <vt:lpstr>Independence</vt:lpstr>
      <vt:lpstr>Independence</vt:lpstr>
      <vt:lpstr>Conditional Independence</vt:lpstr>
      <vt:lpstr>Outline</vt:lpstr>
      <vt:lpstr>A Bayesian Network</vt:lpstr>
      <vt:lpstr>A Directed Acyclic Graph</vt:lpstr>
      <vt:lpstr>A Set of Tables for Each Node</vt:lpstr>
      <vt:lpstr>A Set of Tables for Each Node</vt:lpstr>
      <vt:lpstr>Bayesian Networks</vt:lpstr>
      <vt:lpstr>Conditional Independence</vt:lpstr>
      <vt:lpstr>Different types of Conditional Independence</vt:lpstr>
      <vt:lpstr>The Joint Probability Distribution</vt:lpstr>
      <vt:lpstr>Using a Bayesian Network Example</vt:lpstr>
      <vt:lpstr>Using a Bayesian Network Example</vt:lpstr>
      <vt:lpstr>Joint Probability Factorization</vt:lpstr>
      <vt:lpstr>Joint Probability Factorization</vt:lpstr>
      <vt:lpstr>Inference</vt:lpstr>
      <vt:lpstr>Inference</vt:lpstr>
      <vt:lpstr>Inference Example</vt:lpstr>
      <vt:lpstr>What is P(A=true)?</vt:lpstr>
      <vt:lpstr>What is P(C=true, A=true)?</vt:lpstr>
      <vt:lpstr>A classic example</vt:lpstr>
      <vt:lpstr>The Bad News</vt:lpstr>
      <vt:lpstr>One last unresolved issue…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Latecki</dc:creator>
  <cp:lastModifiedBy>Ahmedul Kabir</cp:lastModifiedBy>
  <cp:revision>405</cp:revision>
  <dcterms:created xsi:type="dcterms:W3CDTF">1601-01-01T00:00:00Z</dcterms:created>
  <dcterms:modified xsi:type="dcterms:W3CDTF">2025-08-04T03:59:09Z</dcterms:modified>
</cp:coreProperties>
</file>