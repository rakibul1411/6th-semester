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35" r:id="rId1"/>
  </p:sldMasterIdLst>
  <p:notesMasterIdLst>
    <p:notesMasterId r:id="rId31"/>
  </p:notesMasterIdLst>
  <p:handoutMasterIdLst>
    <p:handoutMasterId r:id="rId32"/>
  </p:handoutMasterIdLst>
  <p:sldIdLst>
    <p:sldId id="1834" r:id="rId2"/>
    <p:sldId id="367" r:id="rId3"/>
    <p:sldId id="368" r:id="rId4"/>
    <p:sldId id="1854" r:id="rId5"/>
    <p:sldId id="370" r:id="rId6"/>
    <p:sldId id="1855" r:id="rId7"/>
    <p:sldId id="1857" r:id="rId8"/>
    <p:sldId id="1858" r:id="rId9"/>
    <p:sldId id="1859" r:id="rId10"/>
    <p:sldId id="1860" r:id="rId11"/>
    <p:sldId id="1863" r:id="rId12"/>
    <p:sldId id="371" r:id="rId13"/>
    <p:sldId id="1865" r:id="rId14"/>
    <p:sldId id="1868" r:id="rId15"/>
    <p:sldId id="1869" r:id="rId16"/>
    <p:sldId id="1871" r:id="rId17"/>
    <p:sldId id="1874" r:id="rId18"/>
    <p:sldId id="1875" r:id="rId19"/>
    <p:sldId id="1876" r:id="rId20"/>
    <p:sldId id="1877" r:id="rId21"/>
    <p:sldId id="1878" r:id="rId22"/>
    <p:sldId id="1867" r:id="rId23"/>
    <p:sldId id="1880" r:id="rId24"/>
    <p:sldId id="1882" r:id="rId25"/>
    <p:sldId id="386" r:id="rId26"/>
    <p:sldId id="1920" r:id="rId27"/>
    <p:sldId id="1889" r:id="rId28"/>
    <p:sldId id="414" r:id="rId29"/>
    <p:sldId id="396" r:id="rId30"/>
  </p:sldIdLst>
  <p:sldSz cx="9144000" cy="5143500" type="screen16x9"/>
  <p:notesSz cx="7315200" cy="9601200"/>
  <p:defaultTextStyle>
    <a:defPPr>
      <a:defRPr lang="en-US"/>
    </a:defPPr>
    <a:lvl1pPr marL="0" algn="l" defTabSz="685783" rtl="0" eaLnBrk="1" latinLnBrk="0" hangingPunct="1">
      <a:defRPr sz="1350" kern="1200">
        <a:solidFill>
          <a:schemeClr val="tx1"/>
        </a:solidFill>
        <a:latin typeface="+mn-lt"/>
        <a:ea typeface="+mn-ea"/>
        <a:cs typeface="+mn-cs"/>
      </a:defRPr>
    </a:lvl1pPr>
    <a:lvl2pPr marL="342892" algn="l" defTabSz="685783" rtl="0" eaLnBrk="1" latinLnBrk="0" hangingPunct="1">
      <a:defRPr sz="1350" kern="1200">
        <a:solidFill>
          <a:schemeClr val="tx1"/>
        </a:solidFill>
        <a:latin typeface="+mn-lt"/>
        <a:ea typeface="+mn-ea"/>
        <a:cs typeface="+mn-cs"/>
      </a:defRPr>
    </a:lvl2pPr>
    <a:lvl3pPr marL="685783" algn="l" defTabSz="685783" rtl="0" eaLnBrk="1" latinLnBrk="0" hangingPunct="1">
      <a:defRPr sz="1350" kern="1200">
        <a:solidFill>
          <a:schemeClr val="tx1"/>
        </a:solidFill>
        <a:latin typeface="+mn-lt"/>
        <a:ea typeface="+mn-ea"/>
        <a:cs typeface="+mn-cs"/>
      </a:defRPr>
    </a:lvl3pPr>
    <a:lvl4pPr marL="1028675" algn="l" defTabSz="685783" rtl="0" eaLnBrk="1" latinLnBrk="0" hangingPunct="1">
      <a:defRPr sz="1350" kern="1200">
        <a:solidFill>
          <a:schemeClr val="tx1"/>
        </a:solidFill>
        <a:latin typeface="+mn-lt"/>
        <a:ea typeface="+mn-ea"/>
        <a:cs typeface="+mn-cs"/>
      </a:defRPr>
    </a:lvl4pPr>
    <a:lvl5pPr marL="1371566" algn="l" defTabSz="685783" rtl="0" eaLnBrk="1" latinLnBrk="0" hangingPunct="1">
      <a:defRPr sz="1350" kern="1200">
        <a:solidFill>
          <a:schemeClr val="tx1"/>
        </a:solidFill>
        <a:latin typeface="+mn-lt"/>
        <a:ea typeface="+mn-ea"/>
        <a:cs typeface="+mn-cs"/>
      </a:defRPr>
    </a:lvl5pPr>
    <a:lvl6pPr marL="1714457" algn="l" defTabSz="685783" rtl="0" eaLnBrk="1" latinLnBrk="0" hangingPunct="1">
      <a:defRPr sz="1350" kern="1200">
        <a:solidFill>
          <a:schemeClr val="tx1"/>
        </a:solidFill>
        <a:latin typeface="+mn-lt"/>
        <a:ea typeface="+mn-ea"/>
        <a:cs typeface="+mn-cs"/>
      </a:defRPr>
    </a:lvl6pPr>
    <a:lvl7pPr marL="2057348" algn="l" defTabSz="685783" rtl="0" eaLnBrk="1" latinLnBrk="0" hangingPunct="1">
      <a:defRPr sz="1350" kern="1200">
        <a:solidFill>
          <a:schemeClr val="tx1"/>
        </a:solidFill>
        <a:latin typeface="+mn-lt"/>
        <a:ea typeface="+mn-ea"/>
        <a:cs typeface="+mn-cs"/>
      </a:defRPr>
    </a:lvl7pPr>
    <a:lvl8pPr marL="2400240" algn="l" defTabSz="685783" rtl="0" eaLnBrk="1" latinLnBrk="0" hangingPunct="1">
      <a:defRPr sz="1350" kern="1200">
        <a:solidFill>
          <a:schemeClr val="tx1"/>
        </a:solidFill>
        <a:latin typeface="+mn-lt"/>
        <a:ea typeface="+mn-ea"/>
        <a:cs typeface="+mn-cs"/>
      </a:defRPr>
    </a:lvl8pPr>
    <a:lvl9pPr marL="2743132" algn="l" defTabSz="685783"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 uri="{2D200454-40CA-4A62-9FC3-DE9A4176ACB9}">
      <p15:notesGuideLst xmlns:p15="http://schemas.microsoft.com/office/powerpoint/2012/main">
        <p15:guide id="1" orient="horz" pos="3024">
          <p15:clr>
            <a:srgbClr val="A4A3A4"/>
          </p15:clr>
        </p15:guide>
        <p15:guide id="2" pos="2305">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000000"/>
        </p14:laserClr>
      </p:ext>
      <p:ext uri="{2FDB2607-1784-4EEB-B798-7EB5836EED8A}">
        <p14:showMediaCtrls xmlns:p14="http://schemas.microsoft.com/office/powerpoint/2010/main" val="1"/>
      </p:ext>
    </p:extLst>
  </p:showPr>
  <p:clrMru>
    <a:srgbClr val="627152"/>
    <a:srgbClr val="0000FF"/>
    <a:srgbClr val="FF0066"/>
    <a:srgbClr val="008000"/>
    <a:srgbClr val="D60093"/>
    <a:srgbClr val="33CC33"/>
    <a:srgbClr val="FF0000"/>
    <a:srgbClr val="CC0066"/>
    <a:srgbClr val="3333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313" autoAdjust="0"/>
    <p:restoredTop sz="75374" autoAdjust="0"/>
  </p:normalViewPr>
  <p:slideViewPr>
    <p:cSldViewPr>
      <p:cViewPr varScale="1">
        <p:scale>
          <a:sx n="66" d="100"/>
          <a:sy n="66" d="100"/>
        </p:scale>
        <p:origin x="1230" y="66"/>
      </p:cViewPr>
      <p:guideLst>
        <p:guide orient="horz" pos="1620"/>
        <p:guide pos="2880"/>
      </p:guideLst>
    </p:cSldViewPr>
  </p:slideViewPr>
  <p:notesTextViewPr>
    <p:cViewPr>
      <p:scale>
        <a:sx n="140" d="100"/>
        <a:sy n="140" d="100"/>
      </p:scale>
      <p:origin x="0" y="0"/>
    </p:cViewPr>
  </p:notesTextViewPr>
  <p:sorterViewPr>
    <p:cViewPr>
      <p:scale>
        <a:sx n="51" d="100"/>
        <a:sy n="51" d="100"/>
      </p:scale>
      <p:origin x="0" y="3768"/>
    </p:cViewPr>
  </p:sorterViewPr>
  <p:notesViewPr>
    <p:cSldViewPr>
      <p:cViewPr varScale="1">
        <p:scale>
          <a:sx n="53" d="100"/>
          <a:sy n="53" d="100"/>
        </p:scale>
        <p:origin x="-1836" y="-84"/>
      </p:cViewPr>
      <p:guideLst>
        <p:guide orient="horz" pos="3024"/>
        <p:guide pos="2305"/>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170238" cy="479425"/>
          </a:xfrm>
          <a:prstGeom prst="rect">
            <a:avLst/>
          </a:prstGeom>
        </p:spPr>
        <p:txBody>
          <a:bodyPr vert="horz" lIns="91430" tIns="45715" rIns="91430" bIns="45715" rtlCol="0"/>
          <a:lstStyle>
            <a:lvl1pPr algn="l">
              <a:defRPr sz="1200"/>
            </a:lvl1pPr>
          </a:lstStyle>
          <a:p>
            <a:endParaRPr lang="en-US"/>
          </a:p>
        </p:txBody>
      </p:sp>
      <p:sp>
        <p:nvSpPr>
          <p:cNvPr id="3" name="Date Placeholder 2"/>
          <p:cNvSpPr>
            <a:spLocks noGrp="1"/>
          </p:cNvSpPr>
          <p:nvPr>
            <p:ph type="dt" sz="quarter" idx="1"/>
          </p:nvPr>
        </p:nvSpPr>
        <p:spPr>
          <a:xfrm>
            <a:off x="4143375" y="1"/>
            <a:ext cx="3170238" cy="479425"/>
          </a:xfrm>
          <a:prstGeom prst="rect">
            <a:avLst/>
          </a:prstGeom>
        </p:spPr>
        <p:txBody>
          <a:bodyPr vert="horz" lIns="91430" tIns="45715" rIns="91430" bIns="45715" rtlCol="0"/>
          <a:lstStyle>
            <a:lvl1pPr algn="r">
              <a:defRPr sz="1200"/>
            </a:lvl1pPr>
          </a:lstStyle>
          <a:p>
            <a:fld id="{D3E28C4F-4FE9-4D22-93D8-487A4D01D983}" type="datetimeFigureOut">
              <a:rPr lang="en-US" smtClean="0"/>
              <a:pPr/>
              <a:t>29-Jul-25</a:t>
            </a:fld>
            <a:endParaRPr lang="en-US"/>
          </a:p>
        </p:txBody>
      </p:sp>
      <p:sp>
        <p:nvSpPr>
          <p:cNvPr id="4" name="Footer Placeholder 3"/>
          <p:cNvSpPr>
            <a:spLocks noGrp="1"/>
          </p:cNvSpPr>
          <p:nvPr>
            <p:ph type="ftr" sz="quarter" idx="2"/>
          </p:nvPr>
        </p:nvSpPr>
        <p:spPr>
          <a:xfrm>
            <a:off x="1" y="9120189"/>
            <a:ext cx="3170238" cy="479425"/>
          </a:xfrm>
          <a:prstGeom prst="rect">
            <a:avLst/>
          </a:prstGeom>
        </p:spPr>
        <p:txBody>
          <a:bodyPr vert="horz" lIns="91430" tIns="45715" rIns="91430" bIns="45715" rtlCol="0" anchor="b"/>
          <a:lstStyle>
            <a:lvl1pPr algn="l">
              <a:defRPr sz="1200"/>
            </a:lvl1pPr>
          </a:lstStyle>
          <a:p>
            <a:endParaRPr lang="en-US"/>
          </a:p>
        </p:txBody>
      </p:sp>
      <p:sp>
        <p:nvSpPr>
          <p:cNvPr id="5" name="Slide Number Placeholder 4"/>
          <p:cNvSpPr>
            <a:spLocks noGrp="1"/>
          </p:cNvSpPr>
          <p:nvPr>
            <p:ph type="sldNum" sz="quarter" idx="3"/>
          </p:nvPr>
        </p:nvSpPr>
        <p:spPr>
          <a:xfrm>
            <a:off x="4143375" y="9120189"/>
            <a:ext cx="3170238" cy="479425"/>
          </a:xfrm>
          <a:prstGeom prst="rect">
            <a:avLst/>
          </a:prstGeom>
        </p:spPr>
        <p:txBody>
          <a:bodyPr vert="horz" lIns="91430" tIns="45715" rIns="91430" bIns="45715" rtlCol="0" anchor="b"/>
          <a:lstStyle>
            <a:lvl1pPr algn="r">
              <a:defRPr sz="1200"/>
            </a:lvl1pPr>
          </a:lstStyle>
          <a:p>
            <a:fld id="{BD5F390F-F66B-4732-9C46-6C80D0575FA0}" type="slidenum">
              <a:rPr lang="en-US" smtClean="0"/>
              <a:pPr/>
              <a:t>‹#›</a:t>
            </a:fld>
            <a:endParaRPr lang="en-US"/>
          </a:p>
        </p:txBody>
      </p:sp>
    </p:spTree>
    <p:extLst>
      <p:ext uri="{BB962C8B-B14F-4D97-AF65-F5344CB8AC3E}">
        <p14:creationId xmlns:p14="http://schemas.microsoft.com/office/powerpoint/2010/main" val="70649601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3169920" cy="480060"/>
          </a:xfrm>
          <a:prstGeom prst="rect">
            <a:avLst/>
          </a:prstGeom>
        </p:spPr>
        <p:txBody>
          <a:bodyPr vert="horz" lIns="96651" tIns="48326" rIns="96651" bIns="48326" rtlCol="0"/>
          <a:lstStyle>
            <a:lvl1pPr algn="l">
              <a:defRPr sz="1300"/>
            </a:lvl1pPr>
          </a:lstStyle>
          <a:p>
            <a:endParaRPr lang="en-US"/>
          </a:p>
        </p:txBody>
      </p:sp>
      <p:sp>
        <p:nvSpPr>
          <p:cNvPr id="3" name="Date Placeholder 2"/>
          <p:cNvSpPr>
            <a:spLocks noGrp="1"/>
          </p:cNvSpPr>
          <p:nvPr>
            <p:ph type="dt" idx="1"/>
          </p:nvPr>
        </p:nvSpPr>
        <p:spPr>
          <a:xfrm>
            <a:off x="4143587" y="1"/>
            <a:ext cx="3169920" cy="480060"/>
          </a:xfrm>
          <a:prstGeom prst="rect">
            <a:avLst/>
          </a:prstGeom>
        </p:spPr>
        <p:txBody>
          <a:bodyPr vert="horz" lIns="96651" tIns="48326" rIns="96651" bIns="48326" rtlCol="0"/>
          <a:lstStyle>
            <a:lvl1pPr algn="r">
              <a:defRPr sz="1300"/>
            </a:lvl1pPr>
          </a:lstStyle>
          <a:p>
            <a:fld id="{EE18CB36-612C-4E4A-AC83-E89476AEC2BF}" type="datetimeFigureOut">
              <a:rPr lang="en-US" smtClean="0"/>
              <a:pPr/>
              <a:t>29-Jul-25</a:t>
            </a:fld>
            <a:endParaRPr lang="en-US"/>
          </a:p>
        </p:txBody>
      </p:sp>
      <p:sp>
        <p:nvSpPr>
          <p:cNvPr id="4" name="Slide Image Placeholder 3"/>
          <p:cNvSpPr>
            <a:spLocks noGrp="1" noRot="1" noChangeAspect="1"/>
          </p:cNvSpPr>
          <p:nvPr>
            <p:ph type="sldImg" idx="2"/>
          </p:nvPr>
        </p:nvSpPr>
        <p:spPr>
          <a:xfrm>
            <a:off x="457200" y="720725"/>
            <a:ext cx="6400800" cy="3600450"/>
          </a:xfrm>
          <a:prstGeom prst="rect">
            <a:avLst/>
          </a:prstGeom>
          <a:noFill/>
          <a:ln w="12700">
            <a:solidFill>
              <a:prstClr val="black"/>
            </a:solidFill>
          </a:ln>
        </p:spPr>
        <p:txBody>
          <a:bodyPr vert="horz" lIns="96651" tIns="48326" rIns="96651" bIns="48326" rtlCol="0" anchor="ctr"/>
          <a:lstStyle/>
          <a:p>
            <a:endParaRPr lang="en-US"/>
          </a:p>
        </p:txBody>
      </p:sp>
      <p:sp>
        <p:nvSpPr>
          <p:cNvPr id="5" name="Notes Placeholder 4"/>
          <p:cNvSpPr>
            <a:spLocks noGrp="1"/>
          </p:cNvSpPr>
          <p:nvPr>
            <p:ph type="body" sz="quarter" idx="3"/>
          </p:nvPr>
        </p:nvSpPr>
        <p:spPr>
          <a:xfrm>
            <a:off x="731521" y="4560571"/>
            <a:ext cx="5852160" cy="4320540"/>
          </a:xfrm>
          <a:prstGeom prst="rect">
            <a:avLst/>
          </a:prstGeom>
        </p:spPr>
        <p:txBody>
          <a:bodyPr vert="horz" lIns="96651" tIns="48326" rIns="96651" bIns="48326"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5"/>
            <a:ext cx="3169920" cy="480060"/>
          </a:xfrm>
          <a:prstGeom prst="rect">
            <a:avLst/>
          </a:prstGeom>
        </p:spPr>
        <p:txBody>
          <a:bodyPr vert="horz" lIns="96651" tIns="48326" rIns="96651" bIns="48326" rtlCol="0" anchor="b"/>
          <a:lstStyle>
            <a:lvl1pPr algn="l">
              <a:defRPr sz="1300"/>
            </a:lvl1pPr>
          </a:lstStyle>
          <a:p>
            <a:endParaRPr lang="en-US"/>
          </a:p>
        </p:txBody>
      </p:sp>
      <p:sp>
        <p:nvSpPr>
          <p:cNvPr id="7" name="Slide Number Placeholder 6"/>
          <p:cNvSpPr>
            <a:spLocks noGrp="1"/>
          </p:cNvSpPr>
          <p:nvPr>
            <p:ph type="sldNum" sz="quarter" idx="5"/>
          </p:nvPr>
        </p:nvSpPr>
        <p:spPr>
          <a:xfrm>
            <a:off x="4143587" y="9119475"/>
            <a:ext cx="3169920" cy="480060"/>
          </a:xfrm>
          <a:prstGeom prst="rect">
            <a:avLst/>
          </a:prstGeom>
        </p:spPr>
        <p:txBody>
          <a:bodyPr vert="horz" lIns="96651" tIns="48326" rIns="96651" bIns="48326" rtlCol="0" anchor="b"/>
          <a:lstStyle>
            <a:lvl1pPr algn="r">
              <a:defRPr sz="1300"/>
            </a:lvl1pPr>
          </a:lstStyle>
          <a:p>
            <a:fld id="{EE707532-839C-41A2-9E71-D5288AEAE66A}" type="slidenum">
              <a:rPr lang="en-US" smtClean="0"/>
              <a:pPr/>
              <a:t>‹#›</a:t>
            </a:fld>
            <a:endParaRPr lang="en-US"/>
          </a:p>
        </p:txBody>
      </p:sp>
    </p:spTree>
    <p:extLst>
      <p:ext uri="{BB962C8B-B14F-4D97-AF65-F5344CB8AC3E}">
        <p14:creationId xmlns:p14="http://schemas.microsoft.com/office/powerpoint/2010/main" val="2786649714"/>
      </p:ext>
    </p:extLst>
  </p:cSld>
  <p:clrMap bg1="lt1" tx1="dk1" bg2="lt2" tx2="dk2" accent1="accent1" accent2="accent2" accent3="accent3" accent4="accent4" accent5="accent5" accent6="accent6" hlink="hlink" folHlink="folHlink"/>
  <p:notesStyle>
    <a:lvl1pPr marL="0" algn="l" defTabSz="685783" rtl="0" eaLnBrk="1" latinLnBrk="0" hangingPunct="1">
      <a:defRPr sz="900" kern="1200">
        <a:solidFill>
          <a:schemeClr val="tx1"/>
        </a:solidFill>
        <a:latin typeface="+mn-lt"/>
        <a:ea typeface="+mn-ea"/>
        <a:cs typeface="+mn-cs"/>
      </a:defRPr>
    </a:lvl1pPr>
    <a:lvl2pPr marL="342892" algn="l" defTabSz="685783" rtl="0" eaLnBrk="1" latinLnBrk="0" hangingPunct="1">
      <a:defRPr sz="900" kern="1200">
        <a:solidFill>
          <a:schemeClr val="tx1"/>
        </a:solidFill>
        <a:latin typeface="+mn-lt"/>
        <a:ea typeface="+mn-ea"/>
        <a:cs typeface="+mn-cs"/>
      </a:defRPr>
    </a:lvl2pPr>
    <a:lvl3pPr marL="685783" algn="l" defTabSz="685783" rtl="0" eaLnBrk="1" latinLnBrk="0" hangingPunct="1">
      <a:defRPr sz="900" kern="1200">
        <a:solidFill>
          <a:schemeClr val="tx1"/>
        </a:solidFill>
        <a:latin typeface="+mn-lt"/>
        <a:ea typeface="+mn-ea"/>
        <a:cs typeface="+mn-cs"/>
      </a:defRPr>
    </a:lvl3pPr>
    <a:lvl4pPr marL="1028675" algn="l" defTabSz="685783" rtl="0" eaLnBrk="1" latinLnBrk="0" hangingPunct="1">
      <a:defRPr sz="900" kern="1200">
        <a:solidFill>
          <a:schemeClr val="tx1"/>
        </a:solidFill>
        <a:latin typeface="+mn-lt"/>
        <a:ea typeface="+mn-ea"/>
        <a:cs typeface="+mn-cs"/>
      </a:defRPr>
    </a:lvl4pPr>
    <a:lvl5pPr marL="1371566" algn="l" defTabSz="685783" rtl="0" eaLnBrk="1" latinLnBrk="0" hangingPunct="1">
      <a:defRPr sz="900" kern="1200">
        <a:solidFill>
          <a:schemeClr val="tx1"/>
        </a:solidFill>
        <a:latin typeface="+mn-lt"/>
        <a:ea typeface="+mn-ea"/>
        <a:cs typeface="+mn-cs"/>
      </a:defRPr>
    </a:lvl5pPr>
    <a:lvl6pPr marL="1714457" algn="l" defTabSz="685783" rtl="0" eaLnBrk="1" latinLnBrk="0" hangingPunct="1">
      <a:defRPr sz="900" kern="1200">
        <a:solidFill>
          <a:schemeClr val="tx1"/>
        </a:solidFill>
        <a:latin typeface="+mn-lt"/>
        <a:ea typeface="+mn-ea"/>
        <a:cs typeface="+mn-cs"/>
      </a:defRPr>
    </a:lvl6pPr>
    <a:lvl7pPr marL="2057348" algn="l" defTabSz="685783" rtl="0" eaLnBrk="1" latinLnBrk="0" hangingPunct="1">
      <a:defRPr sz="900" kern="1200">
        <a:solidFill>
          <a:schemeClr val="tx1"/>
        </a:solidFill>
        <a:latin typeface="+mn-lt"/>
        <a:ea typeface="+mn-ea"/>
        <a:cs typeface="+mn-cs"/>
      </a:defRPr>
    </a:lvl7pPr>
    <a:lvl8pPr marL="2400240" algn="l" defTabSz="685783" rtl="0" eaLnBrk="1" latinLnBrk="0" hangingPunct="1">
      <a:defRPr sz="900" kern="1200">
        <a:solidFill>
          <a:schemeClr val="tx1"/>
        </a:solidFill>
        <a:latin typeface="+mn-lt"/>
        <a:ea typeface="+mn-ea"/>
        <a:cs typeface="+mn-cs"/>
      </a:defRPr>
    </a:lvl8pPr>
    <a:lvl9pPr marL="2743132" algn="l" defTabSz="685783"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720725"/>
            <a:ext cx="6400800" cy="3600450"/>
          </a:xfrm>
        </p:spPr>
      </p:sp>
      <p:sp>
        <p:nvSpPr>
          <p:cNvPr id="3" name="Notes Placeholder 2"/>
          <p:cNvSpPr>
            <a:spLocks noGrp="1"/>
          </p:cNvSpPr>
          <p:nvPr>
            <p:ph type="body" idx="1"/>
          </p:nvPr>
        </p:nvSpPr>
        <p:spPr/>
        <p:txBody>
          <a:bodyPr>
            <a:normAutofit/>
          </a:bodyPr>
          <a:lstStyle/>
          <a:p>
            <a:r>
              <a:rPr lang="en-US" baseline="0" dirty="0"/>
              <a:t>Here we introduce the individual computing unit that makes up neural networks.</a:t>
            </a: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E707532-839C-41A2-9E71-D5288AEAE66A}" type="slidenum">
              <a:rPr kumimoji="0" lang="en-US" sz="13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3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8623751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Neural networks are called neural because their origins lie in the </a:t>
            </a:r>
            <a:r>
              <a:rPr lang="en-US" sz="1200" b="0" kern="1200" dirty="0">
                <a:solidFill>
                  <a:schemeClr val="tx1"/>
                </a:solidFill>
                <a:effectLst/>
                <a:latin typeface="+mn-lt"/>
                <a:ea typeface="+mn-ea"/>
                <a:cs typeface="+mn-cs"/>
              </a:rPr>
              <a:t>McCulloch-Pitts neuron, which was  </a:t>
            </a:r>
            <a:r>
              <a:rPr lang="en-US" sz="1200" kern="1200" dirty="0">
                <a:solidFill>
                  <a:schemeClr val="tx1"/>
                </a:solidFill>
                <a:effectLst/>
                <a:latin typeface="+mn-lt"/>
                <a:ea typeface="+mn-ea"/>
                <a:cs typeface="+mn-cs"/>
              </a:rPr>
              <a:t>a 1943 simplified model of the human neuron as a kind of computing element that could be described in terms of propositional logic. But the modern use in language processing no longer draws on these early biological inspirations and the name neural is really just a kind of historical remnant.</a:t>
            </a:r>
            <a:endParaRPr lang="en-US" dirty="0"/>
          </a:p>
        </p:txBody>
      </p:sp>
      <p:sp>
        <p:nvSpPr>
          <p:cNvPr id="4" name="Slide Number Placeholder 3"/>
          <p:cNvSpPr>
            <a:spLocks noGrp="1"/>
          </p:cNvSpPr>
          <p:nvPr>
            <p:ph type="sldNum" sz="quarter" idx="5"/>
          </p:nvPr>
        </p:nvSpPr>
        <p:spPr/>
        <p:txBody>
          <a:bodyPr/>
          <a:lstStyle/>
          <a:p>
            <a:fld id="{EE707532-839C-41A2-9E71-D5288AEAE66A}" type="slidenum">
              <a:rPr lang="en-US" smtClean="0"/>
              <a:pPr/>
              <a:t>2</a:t>
            </a:fld>
            <a:endParaRPr lang="en-US"/>
          </a:p>
        </p:txBody>
      </p:sp>
    </p:spTree>
    <p:extLst>
      <p:ext uri="{BB962C8B-B14F-4D97-AF65-F5344CB8AC3E}">
        <p14:creationId xmlns:p14="http://schemas.microsoft.com/office/powerpoint/2010/main" val="34185048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Instead, a modern neural network is a network of small computing units, each of which takes a vector of input values and produces a single output value.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Over the next few lectures we'll introduce these units and see how they connect together into </a:t>
            </a:r>
            <a:r>
              <a:rPr lang="en-US" sz="1200" b="0" kern="1200" dirty="0">
                <a:solidFill>
                  <a:schemeClr val="tx1"/>
                </a:solidFill>
                <a:effectLst/>
                <a:latin typeface="+mn-lt"/>
                <a:ea typeface="+mn-ea"/>
                <a:cs typeface="+mn-cs"/>
              </a:rPr>
              <a:t>feedforward networks, so called </a:t>
            </a:r>
            <a:r>
              <a:rPr lang="en-US" sz="1200" kern="1200" dirty="0">
                <a:solidFill>
                  <a:schemeClr val="tx1"/>
                </a:solidFill>
                <a:effectLst/>
                <a:latin typeface="+mn-lt"/>
                <a:ea typeface="+mn-ea"/>
                <a:cs typeface="+mn-cs"/>
              </a:rPr>
              <a:t>because the computation proceeds iteratively from one layer of units to the next. The use of modern neural nets is often called </a:t>
            </a:r>
            <a:r>
              <a:rPr lang="en-US" sz="1200" b="0" kern="1200" dirty="0">
                <a:solidFill>
                  <a:schemeClr val="tx1"/>
                </a:solidFill>
                <a:effectLst/>
                <a:latin typeface="+mn-lt"/>
                <a:ea typeface="+mn-ea"/>
                <a:cs typeface="+mn-cs"/>
              </a:rPr>
              <a:t>deep learning</a:t>
            </a:r>
            <a:r>
              <a:rPr lang="en-US" sz="1200" kern="1200" dirty="0">
                <a:solidFill>
                  <a:schemeClr val="tx1"/>
                </a:solidFill>
                <a:effectLst/>
                <a:latin typeface="+mn-lt"/>
                <a:ea typeface="+mn-ea"/>
                <a:cs typeface="+mn-cs"/>
              </a:rPr>
              <a:t>, because modern networks are often </a:t>
            </a:r>
            <a:r>
              <a:rPr lang="en-US" sz="1200" b="0" kern="1200" dirty="0">
                <a:solidFill>
                  <a:schemeClr val="tx1"/>
                </a:solidFill>
                <a:effectLst/>
                <a:latin typeface="+mn-lt"/>
                <a:ea typeface="+mn-ea"/>
                <a:cs typeface="+mn-cs"/>
              </a:rPr>
              <a:t>deep </a:t>
            </a:r>
            <a:r>
              <a:rPr lang="en-US" sz="1200" kern="1200" dirty="0">
                <a:solidFill>
                  <a:schemeClr val="tx1"/>
                </a:solidFill>
                <a:effectLst/>
                <a:latin typeface="+mn-lt"/>
                <a:ea typeface="+mn-ea"/>
                <a:cs typeface="+mn-cs"/>
              </a:rPr>
              <a:t>(have many layers).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The building block of a neural network is a single computational unit. A unit takes a set of real valued numbers as input, performs some computation on them (combining with weights and biases and a non-linear transform), and produces an output. Let's see this in more detail.</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p:txBody>
      </p:sp>
      <p:sp>
        <p:nvSpPr>
          <p:cNvPr id="4" name="Slide Number Placeholder 3"/>
          <p:cNvSpPr>
            <a:spLocks noGrp="1"/>
          </p:cNvSpPr>
          <p:nvPr>
            <p:ph type="sldNum" sz="quarter" idx="5"/>
          </p:nvPr>
        </p:nvSpPr>
        <p:spPr/>
        <p:txBody>
          <a:bodyPr/>
          <a:lstStyle/>
          <a:p>
            <a:fld id="{EE707532-839C-41A2-9E71-D5288AEAE66A}" type="slidenum">
              <a:rPr lang="en-US" smtClean="0"/>
              <a:pPr/>
              <a:t>3</a:t>
            </a:fld>
            <a:endParaRPr lang="en-US"/>
          </a:p>
        </p:txBody>
      </p:sp>
    </p:spTree>
    <p:extLst>
      <p:ext uri="{BB962C8B-B14F-4D97-AF65-F5344CB8AC3E}">
        <p14:creationId xmlns:p14="http://schemas.microsoft.com/office/powerpoint/2010/main" val="4194586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At its heart, a neural unit is taking a weighted sum of its inputs, with one additional term in the sum called a </a:t>
            </a:r>
            <a:r>
              <a:rPr lang="en-US" sz="1200" b="0" kern="1200" dirty="0">
                <a:solidFill>
                  <a:schemeClr val="tx1"/>
                </a:solidFill>
                <a:effectLst/>
                <a:latin typeface="+mn-lt"/>
                <a:ea typeface="+mn-ea"/>
                <a:cs typeface="+mn-cs"/>
              </a:rPr>
              <a:t>bias term</a:t>
            </a:r>
            <a:r>
              <a:rPr lang="en-US" sz="1200" kern="1200" dirty="0">
                <a:solidFill>
                  <a:schemeClr val="tx1"/>
                </a:solidFill>
                <a:effectLst/>
                <a:latin typeface="+mn-lt"/>
                <a:ea typeface="+mn-ea"/>
                <a:cs typeface="+mn-cs"/>
              </a:rPr>
              <a:t>. Given a set of inputs </a:t>
            </a:r>
            <a:r>
              <a:rPr lang="en-US" sz="1200" i="1" kern="1200" dirty="0">
                <a:solidFill>
                  <a:schemeClr val="tx1"/>
                </a:solidFill>
                <a:effectLst/>
                <a:latin typeface="+mn-lt"/>
                <a:ea typeface="+mn-ea"/>
                <a:cs typeface="+mn-cs"/>
              </a:rPr>
              <a:t>x</a:t>
            </a:r>
            <a:r>
              <a:rPr lang="en-US" sz="1200" kern="1200" dirty="0">
                <a:solidFill>
                  <a:schemeClr val="tx1"/>
                </a:solidFill>
                <a:effectLst/>
                <a:latin typeface="+mn-lt"/>
                <a:ea typeface="+mn-ea"/>
                <a:cs typeface="+mn-cs"/>
              </a:rPr>
              <a:t>1...</a:t>
            </a:r>
            <a:r>
              <a:rPr lang="en-US" sz="1200" i="1" kern="1200" dirty="0" err="1">
                <a:solidFill>
                  <a:schemeClr val="tx1"/>
                </a:solidFill>
                <a:effectLst/>
                <a:latin typeface="+mn-lt"/>
                <a:ea typeface="+mn-ea"/>
                <a:cs typeface="+mn-cs"/>
              </a:rPr>
              <a:t>xn</a:t>
            </a:r>
            <a:r>
              <a:rPr lang="en-US" sz="1200" kern="1200" dirty="0">
                <a:solidFill>
                  <a:schemeClr val="tx1"/>
                </a:solidFill>
                <a:effectLst/>
                <a:latin typeface="+mn-lt"/>
                <a:ea typeface="+mn-ea"/>
                <a:cs typeface="+mn-cs"/>
              </a:rPr>
              <a:t>, a unit has a set of corresponding weights </a:t>
            </a:r>
            <a:r>
              <a:rPr lang="en-US" sz="1200" i="1" kern="1200" dirty="0">
                <a:solidFill>
                  <a:schemeClr val="tx1"/>
                </a:solidFill>
                <a:effectLst/>
                <a:latin typeface="+mn-lt"/>
                <a:ea typeface="+mn-ea"/>
                <a:cs typeface="+mn-cs"/>
              </a:rPr>
              <a:t>w</a:t>
            </a:r>
            <a:r>
              <a:rPr lang="en-US" sz="1200" kern="1200" dirty="0">
                <a:solidFill>
                  <a:schemeClr val="tx1"/>
                </a:solidFill>
                <a:effectLst/>
                <a:latin typeface="+mn-lt"/>
                <a:ea typeface="+mn-ea"/>
                <a:cs typeface="+mn-cs"/>
              </a:rPr>
              <a:t>1...</a:t>
            </a:r>
            <a:r>
              <a:rPr lang="en-US" sz="1200" i="1" kern="1200" dirty="0" err="1">
                <a:solidFill>
                  <a:schemeClr val="tx1"/>
                </a:solidFill>
                <a:effectLst/>
                <a:latin typeface="+mn-lt"/>
                <a:ea typeface="+mn-ea"/>
                <a:cs typeface="+mn-cs"/>
              </a:rPr>
              <a:t>wn</a:t>
            </a:r>
            <a:r>
              <a:rPr lang="en-US" sz="1200" i="1" kern="1200" dirty="0">
                <a:solidFill>
                  <a:schemeClr val="tx1"/>
                </a:solidFill>
                <a:effectLst/>
                <a:latin typeface="+mn-lt"/>
                <a:ea typeface="+mn-ea"/>
                <a:cs typeface="+mn-cs"/>
              </a:rPr>
              <a:t> </a:t>
            </a:r>
            <a:r>
              <a:rPr lang="en-US" sz="1200" kern="1200" dirty="0">
                <a:solidFill>
                  <a:schemeClr val="tx1"/>
                </a:solidFill>
                <a:effectLst/>
                <a:latin typeface="+mn-lt"/>
                <a:ea typeface="+mn-ea"/>
                <a:cs typeface="+mn-cs"/>
              </a:rPr>
              <a:t>and a bias </a:t>
            </a:r>
            <a:r>
              <a:rPr lang="en-US" sz="1200" i="1" kern="1200" dirty="0">
                <a:solidFill>
                  <a:schemeClr val="tx1"/>
                </a:solidFill>
                <a:effectLst/>
                <a:latin typeface="+mn-lt"/>
                <a:ea typeface="+mn-ea"/>
                <a:cs typeface="+mn-cs"/>
              </a:rPr>
              <a:t>b</a:t>
            </a:r>
            <a:r>
              <a:rPr lang="en-US" sz="1200" kern="1200" dirty="0">
                <a:solidFill>
                  <a:schemeClr val="tx1"/>
                </a:solidFill>
                <a:effectLst/>
                <a:latin typeface="+mn-lt"/>
                <a:ea typeface="+mn-ea"/>
                <a:cs typeface="+mn-cs"/>
              </a:rPr>
              <a:t>, so the weighted sum </a:t>
            </a:r>
            <a:r>
              <a:rPr lang="en-US" sz="1200" i="1" kern="1200" dirty="0">
                <a:solidFill>
                  <a:schemeClr val="tx1"/>
                </a:solidFill>
                <a:effectLst/>
                <a:latin typeface="+mn-lt"/>
                <a:ea typeface="+mn-ea"/>
                <a:cs typeface="+mn-cs"/>
              </a:rPr>
              <a:t>z </a:t>
            </a:r>
            <a:r>
              <a:rPr lang="en-US" sz="1200" kern="1200" dirty="0">
                <a:solidFill>
                  <a:schemeClr val="tx1"/>
                </a:solidFill>
                <a:effectLst/>
                <a:latin typeface="+mn-lt"/>
                <a:ea typeface="+mn-ea"/>
                <a:cs typeface="+mn-cs"/>
              </a:rPr>
              <a:t>can be represented as: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Often it’s more convenient to express this weighted sum using vector notation, i.e. a scalar z computed from the dot product of a weight vector </a:t>
            </a:r>
            <a:r>
              <a:rPr lang="en-US" sz="1200" i="1" kern="1200" dirty="0">
                <a:solidFill>
                  <a:schemeClr val="tx1"/>
                </a:solidFill>
                <a:effectLst/>
                <a:latin typeface="+mn-lt"/>
                <a:ea typeface="+mn-ea"/>
                <a:cs typeface="+mn-cs"/>
              </a:rPr>
              <a:t>w and an input vector x</a:t>
            </a:r>
            <a:r>
              <a:rPr lang="en-US" sz="1200" kern="1200" dirty="0">
                <a:solidFill>
                  <a:schemeClr val="tx1"/>
                </a:solidFill>
                <a:effectLst/>
                <a:latin typeface="+mn-lt"/>
                <a:ea typeface="+mn-ea"/>
                <a:cs typeface="+mn-cs"/>
              </a:rPr>
              <a:t>, plus a scalar bias </a:t>
            </a:r>
            <a:r>
              <a:rPr lang="en-US" sz="1200" i="1" kern="1200" dirty="0">
                <a:solidFill>
                  <a:schemeClr val="tx1"/>
                </a:solidFill>
                <a:effectLst/>
                <a:latin typeface="+mn-lt"/>
                <a:ea typeface="+mn-ea"/>
                <a:cs typeface="+mn-cs"/>
              </a:rPr>
              <a:t>b</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r>
              <a:rPr lang="en-US" sz="1200" kern="1200" dirty="0">
                <a:solidFill>
                  <a:schemeClr val="tx1"/>
                </a:solidFill>
                <a:effectLst/>
                <a:latin typeface="+mn-lt"/>
                <a:ea typeface="+mn-ea"/>
                <a:cs typeface="+mn-cs"/>
              </a:rPr>
              <a:t>Finally, instead of using </a:t>
            </a:r>
            <a:r>
              <a:rPr lang="en-US" sz="1200" i="1" kern="1200" dirty="0">
                <a:solidFill>
                  <a:schemeClr val="tx1"/>
                </a:solidFill>
                <a:effectLst/>
                <a:latin typeface="+mn-lt"/>
                <a:ea typeface="+mn-ea"/>
                <a:cs typeface="+mn-cs"/>
              </a:rPr>
              <a:t>z</a:t>
            </a:r>
            <a:r>
              <a:rPr lang="en-US" sz="1200" kern="1200" dirty="0">
                <a:solidFill>
                  <a:schemeClr val="tx1"/>
                </a:solidFill>
                <a:effectLst/>
                <a:latin typeface="+mn-lt"/>
                <a:ea typeface="+mn-ea"/>
                <a:cs typeface="+mn-cs"/>
              </a:rPr>
              <a:t>, a linear function of </a:t>
            </a:r>
            <a:r>
              <a:rPr lang="en-US" sz="1200" i="1" kern="1200" dirty="0">
                <a:solidFill>
                  <a:schemeClr val="tx1"/>
                </a:solidFill>
                <a:effectLst/>
                <a:latin typeface="+mn-lt"/>
                <a:ea typeface="+mn-ea"/>
                <a:cs typeface="+mn-cs"/>
              </a:rPr>
              <a:t>x</a:t>
            </a:r>
            <a:r>
              <a:rPr lang="en-US" sz="1200" kern="1200" dirty="0">
                <a:solidFill>
                  <a:schemeClr val="tx1"/>
                </a:solidFill>
                <a:effectLst/>
                <a:latin typeface="+mn-lt"/>
                <a:ea typeface="+mn-ea"/>
                <a:cs typeface="+mn-cs"/>
              </a:rPr>
              <a:t>, as the output, neural units </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apply a non-linear function </a:t>
            </a:r>
            <a:r>
              <a:rPr lang="en-US" sz="1200" i="1" kern="1200" dirty="0">
                <a:solidFill>
                  <a:schemeClr val="tx1"/>
                </a:solidFill>
                <a:effectLst/>
                <a:latin typeface="+mn-lt"/>
                <a:ea typeface="+mn-ea"/>
                <a:cs typeface="+mn-cs"/>
              </a:rPr>
              <a:t>f </a:t>
            </a:r>
            <a:r>
              <a:rPr lang="en-US" sz="1200" kern="1200" dirty="0">
                <a:solidFill>
                  <a:schemeClr val="tx1"/>
                </a:solidFill>
                <a:effectLst/>
                <a:latin typeface="+mn-lt"/>
                <a:ea typeface="+mn-ea"/>
                <a:cs typeface="+mn-cs"/>
              </a:rPr>
              <a:t>to </a:t>
            </a:r>
            <a:r>
              <a:rPr lang="en-US" sz="1200" i="1" kern="1200" dirty="0">
                <a:solidFill>
                  <a:schemeClr val="tx1"/>
                </a:solidFill>
                <a:effectLst/>
                <a:latin typeface="+mn-lt"/>
                <a:ea typeface="+mn-ea"/>
                <a:cs typeface="+mn-cs"/>
              </a:rPr>
              <a:t>z</a:t>
            </a:r>
            <a:r>
              <a:rPr lang="en-US" sz="1200" kern="1200" dirty="0">
                <a:solidFill>
                  <a:schemeClr val="tx1"/>
                </a:solidFill>
                <a:effectLst/>
                <a:latin typeface="+mn-lt"/>
                <a:ea typeface="+mn-ea"/>
                <a:cs typeface="+mn-cs"/>
              </a:rPr>
              <a:t>. We will refer to the output of this function as the </a:t>
            </a:r>
            <a:r>
              <a:rPr lang="en-US" sz="1200" b="0" kern="1200" dirty="0">
                <a:solidFill>
                  <a:schemeClr val="tx1"/>
                </a:solidFill>
                <a:effectLst/>
                <a:latin typeface="+mn-lt"/>
                <a:ea typeface="+mn-ea"/>
                <a:cs typeface="+mn-cs"/>
              </a:rPr>
              <a:t>activation </a:t>
            </a:r>
            <a:r>
              <a:rPr lang="en-US" sz="1200" kern="1200" dirty="0">
                <a:solidFill>
                  <a:schemeClr val="tx1"/>
                </a:solidFill>
                <a:effectLst/>
                <a:latin typeface="+mn-lt"/>
                <a:ea typeface="+mn-ea"/>
                <a:cs typeface="+mn-cs"/>
              </a:rPr>
              <a:t>value for the unit, </a:t>
            </a:r>
            <a:r>
              <a:rPr lang="en-US" sz="1200" i="1" kern="1200" dirty="0">
                <a:solidFill>
                  <a:schemeClr val="tx1"/>
                </a:solidFill>
                <a:effectLst/>
                <a:latin typeface="+mn-lt"/>
                <a:ea typeface="+mn-ea"/>
                <a:cs typeface="+mn-cs"/>
              </a:rPr>
              <a:t>a</a:t>
            </a:r>
            <a:r>
              <a:rPr lang="en-US" sz="1200" kern="1200" dirty="0">
                <a:solidFill>
                  <a:schemeClr val="tx1"/>
                </a:solidFill>
                <a:effectLst/>
                <a:latin typeface="+mn-lt"/>
                <a:ea typeface="+mn-ea"/>
                <a:cs typeface="+mn-cs"/>
              </a:rPr>
              <a:t>. Since we are just modeling a single unit, the activation for the node is in fact the final output of the network, which we’ll generally call </a:t>
            </a:r>
            <a:r>
              <a:rPr lang="en-US" sz="1200" i="1" kern="1200" dirty="0">
                <a:solidFill>
                  <a:schemeClr val="tx1"/>
                </a:solidFill>
                <a:effectLst/>
                <a:latin typeface="+mn-lt"/>
                <a:ea typeface="+mn-ea"/>
                <a:cs typeface="+mn-cs"/>
              </a:rPr>
              <a:t>y</a:t>
            </a:r>
            <a:r>
              <a:rPr lang="en-US" sz="1200" kern="1200" dirty="0">
                <a:solidFill>
                  <a:schemeClr val="tx1"/>
                </a:solidFill>
                <a:effectLst/>
                <a:latin typeface="+mn-lt"/>
                <a:ea typeface="+mn-ea"/>
                <a:cs typeface="+mn-cs"/>
              </a:rPr>
              <a:t>. So the value </a:t>
            </a:r>
            <a:r>
              <a:rPr lang="en-US" sz="1200" i="1" kern="1200" dirty="0">
                <a:solidFill>
                  <a:schemeClr val="tx1"/>
                </a:solidFill>
                <a:effectLst/>
                <a:latin typeface="+mn-lt"/>
                <a:ea typeface="+mn-ea"/>
                <a:cs typeface="+mn-cs"/>
              </a:rPr>
              <a:t>y </a:t>
            </a:r>
            <a:r>
              <a:rPr lang="en-US" sz="1200" kern="1200" dirty="0">
                <a:solidFill>
                  <a:schemeClr val="tx1"/>
                </a:solidFill>
                <a:effectLst/>
                <a:latin typeface="+mn-lt"/>
                <a:ea typeface="+mn-ea"/>
                <a:cs typeface="+mn-cs"/>
              </a:rPr>
              <a:t>is defined as:  </a:t>
            </a:r>
            <a:r>
              <a:rPr lang="en-US" sz="1200" i="1" kern="1200" dirty="0">
                <a:solidFill>
                  <a:schemeClr val="tx1"/>
                </a:solidFill>
                <a:effectLst/>
                <a:latin typeface="+mn-lt"/>
                <a:ea typeface="+mn-ea"/>
                <a:cs typeface="+mn-cs"/>
              </a:rPr>
              <a:t>y</a:t>
            </a:r>
            <a:r>
              <a:rPr lang="en-US" sz="1200" kern="1200" dirty="0">
                <a:solidFill>
                  <a:schemeClr val="tx1"/>
                </a:solidFill>
                <a:effectLst/>
                <a:latin typeface="+mn-lt"/>
                <a:ea typeface="+mn-ea"/>
                <a:cs typeface="+mn-cs"/>
              </a:rPr>
              <a:t>=</a:t>
            </a:r>
            <a:r>
              <a:rPr lang="en-US" sz="1200" i="1" kern="1200" dirty="0">
                <a:solidFill>
                  <a:schemeClr val="tx1"/>
                </a:solidFill>
                <a:effectLst/>
                <a:latin typeface="+mn-lt"/>
                <a:ea typeface="+mn-ea"/>
                <a:cs typeface="+mn-cs"/>
              </a:rPr>
              <a:t>a</a:t>
            </a:r>
            <a:r>
              <a:rPr lang="en-US" sz="120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f</a:t>
            </a:r>
            <a:r>
              <a:rPr lang="en-US" sz="1200" kern="1200" dirty="0">
                <a:solidFill>
                  <a:schemeClr val="tx1"/>
                </a:solidFill>
                <a:effectLst/>
                <a:latin typeface="+mn-lt"/>
                <a:ea typeface="+mn-ea"/>
                <a:cs typeface="+mn-cs"/>
              </a:rPr>
              <a:t>(</a:t>
            </a:r>
            <a:r>
              <a:rPr lang="en-US" sz="1200" i="1" kern="1200" dirty="0">
                <a:solidFill>
                  <a:schemeClr val="tx1"/>
                </a:solidFill>
                <a:effectLst/>
                <a:latin typeface="+mn-lt"/>
                <a:ea typeface="+mn-ea"/>
                <a:cs typeface="+mn-cs"/>
              </a:rPr>
              <a:t>z</a:t>
            </a:r>
            <a:r>
              <a:rPr lang="en-US" sz="1200" kern="1200" dirty="0">
                <a:solidFill>
                  <a:schemeClr val="tx1"/>
                </a:solidFill>
                <a:effectLst/>
                <a:latin typeface="+mn-lt"/>
                <a:ea typeface="+mn-ea"/>
                <a:cs typeface="+mn-cs"/>
              </a:rPr>
              <a:t>) </a:t>
            </a:r>
            <a:endParaRPr lang="en-US" dirty="0"/>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p:txBody>
      </p:sp>
      <p:sp>
        <p:nvSpPr>
          <p:cNvPr id="4" name="Slide Number Placeholder 3"/>
          <p:cNvSpPr>
            <a:spLocks noGrp="1"/>
          </p:cNvSpPr>
          <p:nvPr>
            <p:ph type="sldNum" sz="quarter" idx="5"/>
          </p:nvPr>
        </p:nvSpPr>
        <p:spPr/>
        <p:txBody>
          <a:bodyPr/>
          <a:lstStyle/>
          <a:p>
            <a:fld id="{EE707532-839C-41A2-9E71-D5288AEAE66A}" type="slidenum">
              <a:rPr lang="en-US" smtClean="0"/>
              <a:pPr/>
              <a:t>4</a:t>
            </a:fld>
            <a:endParaRPr lang="en-US"/>
          </a:p>
        </p:txBody>
      </p:sp>
    </p:spTree>
    <p:extLst>
      <p:ext uri="{BB962C8B-B14F-4D97-AF65-F5344CB8AC3E}">
        <p14:creationId xmlns:p14="http://schemas.microsoft.com/office/powerpoint/2010/main" val="162840580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We're already seen the sigmoid for logistic regression: 1 over 1 plus exp (-z).</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The sigmoid has a number of advantages; it maps the output into the range [0,1], which is useful in squashing outliers toward 0 or 1. And it’s differentiable, which as we saw is handy for learning </a:t>
            </a:r>
            <a:endParaRPr lang="en-US" dirty="0"/>
          </a:p>
          <a:p>
            <a:endParaRPr lang="en-US" dirty="0"/>
          </a:p>
        </p:txBody>
      </p:sp>
      <p:sp>
        <p:nvSpPr>
          <p:cNvPr id="4" name="Slide Number Placeholder 3"/>
          <p:cNvSpPr>
            <a:spLocks noGrp="1"/>
          </p:cNvSpPr>
          <p:nvPr>
            <p:ph type="sldNum" sz="quarter" idx="5"/>
          </p:nvPr>
        </p:nvSpPr>
        <p:spPr/>
        <p:txBody>
          <a:bodyPr/>
          <a:lstStyle/>
          <a:p>
            <a:fld id="{EE707532-839C-41A2-9E71-D5288AEAE66A}" type="slidenum">
              <a:rPr lang="en-US" smtClean="0"/>
              <a:pPr/>
              <a:t>5</a:t>
            </a:fld>
            <a:endParaRPr lang="en-US"/>
          </a:p>
        </p:txBody>
      </p:sp>
    </p:spTree>
    <p:extLst>
      <p:ext uri="{BB962C8B-B14F-4D97-AF65-F5344CB8AC3E}">
        <p14:creationId xmlns:p14="http://schemas.microsoft.com/office/powerpoint/2010/main" val="11009034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here's the function that a simple unit with a sigmoid activation function is computing from an input x, a weight vector w, and a bias term b</a:t>
            </a:r>
          </a:p>
        </p:txBody>
      </p:sp>
      <p:sp>
        <p:nvSpPr>
          <p:cNvPr id="4" name="Slide Number Placeholder 3"/>
          <p:cNvSpPr>
            <a:spLocks noGrp="1"/>
          </p:cNvSpPr>
          <p:nvPr>
            <p:ph type="sldNum" sz="quarter" idx="5"/>
          </p:nvPr>
        </p:nvSpPr>
        <p:spPr/>
        <p:txBody>
          <a:bodyPr/>
          <a:lstStyle/>
          <a:p>
            <a:fld id="{EE707532-839C-41A2-9E71-D5288AEAE66A}" type="slidenum">
              <a:rPr lang="en-US" smtClean="0"/>
              <a:pPr/>
              <a:t>6</a:t>
            </a:fld>
            <a:endParaRPr lang="en-US"/>
          </a:p>
        </p:txBody>
      </p:sp>
    </p:spTree>
    <p:extLst>
      <p:ext uri="{BB962C8B-B14F-4D97-AF65-F5344CB8AC3E}">
        <p14:creationId xmlns:p14="http://schemas.microsoft.com/office/powerpoint/2010/main" val="105218476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here's our picture of the unit again, showing the pieces</a:t>
            </a:r>
          </a:p>
        </p:txBody>
      </p:sp>
      <p:sp>
        <p:nvSpPr>
          <p:cNvPr id="4" name="Slide Number Placeholder 3"/>
          <p:cNvSpPr>
            <a:spLocks noGrp="1"/>
          </p:cNvSpPr>
          <p:nvPr>
            <p:ph type="sldNum" sz="quarter" idx="5"/>
          </p:nvPr>
        </p:nvSpPr>
        <p:spPr/>
        <p:txBody>
          <a:bodyPr/>
          <a:lstStyle/>
          <a:p>
            <a:fld id="{EE707532-839C-41A2-9E71-D5288AEAE66A}" type="slidenum">
              <a:rPr lang="en-US" smtClean="0"/>
              <a:pPr/>
              <a:t>7</a:t>
            </a:fld>
            <a:endParaRPr lang="en-US"/>
          </a:p>
        </p:txBody>
      </p:sp>
    </p:spTree>
    <p:extLst>
      <p:ext uri="{BB962C8B-B14F-4D97-AF65-F5344CB8AC3E}">
        <p14:creationId xmlns:p14="http://schemas.microsoft.com/office/powerpoint/2010/main" val="10682640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Let’s walk through an example just to get an intuition. Let’s suppose we have a unit with the following weight vector and bias , and given the input</a:t>
            </a:r>
            <a:endParaRPr lang="en-US" dirty="0"/>
          </a:p>
          <a:p>
            <a:endParaRPr lang="en-US" dirty="0"/>
          </a:p>
        </p:txBody>
      </p:sp>
      <p:sp>
        <p:nvSpPr>
          <p:cNvPr id="4" name="Slide Number Placeholder 3"/>
          <p:cNvSpPr>
            <a:spLocks noGrp="1"/>
          </p:cNvSpPr>
          <p:nvPr>
            <p:ph type="sldNum" sz="quarter" idx="5"/>
          </p:nvPr>
        </p:nvSpPr>
        <p:spPr/>
        <p:txBody>
          <a:bodyPr/>
          <a:lstStyle/>
          <a:p>
            <a:fld id="{EE707532-839C-41A2-9E71-D5288AEAE66A}" type="slidenum">
              <a:rPr lang="en-US" smtClean="0"/>
              <a:pPr/>
              <a:t>8</a:t>
            </a:fld>
            <a:endParaRPr lang="en-US"/>
          </a:p>
        </p:txBody>
      </p:sp>
    </p:spTree>
    <p:extLst>
      <p:ext uri="{BB962C8B-B14F-4D97-AF65-F5344CB8AC3E}">
        <p14:creationId xmlns:p14="http://schemas.microsoft.com/office/powerpoint/2010/main" val="53542714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In practice, the sigmoid is not commonly used as an activation function. A function that is very similar but almost always better is the </a:t>
            </a:r>
            <a:r>
              <a:rPr lang="en-US" sz="1200" b="0" kern="1200" dirty="0">
                <a:solidFill>
                  <a:schemeClr val="tx1"/>
                </a:solidFill>
                <a:effectLst/>
                <a:latin typeface="+mn-lt"/>
                <a:ea typeface="+mn-ea"/>
                <a:cs typeface="+mn-cs"/>
              </a:rPr>
              <a:t>tanh </a:t>
            </a:r>
            <a:r>
              <a:rPr lang="en-US" sz="1200" kern="1200" dirty="0">
                <a:solidFill>
                  <a:schemeClr val="tx1"/>
                </a:solidFill>
                <a:effectLst/>
                <a:latin typeface="+mn-lt"/>
                <a:ea typeface="+mn-ea"/>
                <a:cs typeface="+mn-cs"/>
              </a:rPr>
              <a:t>function; tanh is a variant of the sigmoid that ranges from -1 to +1: </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 </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The tanh function has the nice properties of being smoothly differentiable and mapping outlier values toward the mean.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 simplest activation function, and perhaps the most commonly used, is the rectified linear unit, also called the </a:t>
            </a:r>
            <a:r>
              <a:rPr lang="en-US" sz="1200" b="0" kern="1200" dirty="0" err="1">
                <a:solidFill>
                  <a:schemeClr val="tx1"/>
                </a:solidFill>
                <a:effectLst/>
                <a:latin typeface="+mn-lt"/>
                <a:ea typeface="+mn-ea"/>
                <a:cs typeface="+mn-cs"/>
              </a:rPr>
              <a:t>ReLU</a:t>
            </a:r>
            <a:r>
              <a:rPr lang="en-US" sz="1200" kern="1200" dirty="0">
                <a:solidFill>
                  <a:schemeClr val="tx1"/>
                </a:solidFill>
                <a:effectLst/>
                <a:latin typeface="+mn-lt"/>
                <a:ea typeface="+mn-ea"/>
                <a:cs typeface="+mn-cs"/>
              </a:rPr>
              <a:t>,. It’s just the same as </a:t>
            </a:r>
            <a:r>
              <a:rPr lang="en-US" sz="1200" i="1" kern="1200" dirty="0">
                <a:solidFill>
                  <a:schemeClr val="tx1"/>
                </a:solidFill>
                <a:effectLst/>
                <a:latin typeface="+mn-lt"/>
                <a:ea typeface="+mn-ea"/>
                <a:cs typeface="+mn-cs"/>
              </a:rPr>
              <a:t>z </a:t>
            </a:r>
            <a:endParaRPr lang="en-US" dirty="0"/>
          </a:p>
          <a:p>
            <a:r>
              <a:rPr lang="en-US" sz="1200" kern="1200" dirty="0">
                <a:solidFill>
                  <a:schemeClr val="tx1"/>
                </a:solidFill>
                <a:effectLst/>
                <a:latin typeface="+mn-lt"/>
                <a:ea typeface="+mn-ea"/>
                <a:cs typeface="+mn-cs"/>
              </a:rPr>
              <a:t>when </a:t>
            </a:r>
            <a:r>
              <a:rPr lang="en-US" sz="1200" i="1" kern="1200" dirty="0">
                <a:solidFill>
                  <a:schemeClr val="tx1"/>
                </a:solidFill>
                <a:effectLst/>
                <a:latin typeface="+mn-lt"/>
                <a:ea typeface="+mn-ea"/>
                <a:cs typeface="+mn-cs"/>
              </a:rPr>
              <a:t>z </a:t>
            </a:r>
            <a:r>
              <a:rPr lang="en-US" sz="1200" kern="1200" dirty="0">
                <a:solidFill>
                  <a:schemeClr val="tx1"/>
                </a:solidFill>
                <a:effectLst/>
                <a:latin typeface="+mn-lt"/>
                <a:ea typeface="+mn-ea"/>
                <a:cs typeface="+mn-cs"/>
              </a:rPr>
              <a:t>is positive, and 0 otherwise:</a:t>
            </a:r>
            <a:br>
              <a:rPr lang="en-US" sz="1200" kern="1200" dirty="0">
                <a:solidFill>
                  <a:schemeClr val="tx1"/>
                </a:solidFill>
                <a:effectLst/>
                <a:latin typeface="+mn-lt"/>
                <a:ea typeface="+mn-ea"/>
                <a:cs typeface="+mn-cs"/>
              </a:rPr>
            </a:b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The Rectified Linear Unit function, has nice properties that result from it being very close to linear. In the sigmoid or tanh functions, very high values of </a:t>
            </a:r>
            <a:r>
              <a:rPr lang="en-US" sz="1200" i="1" kern="1200" dirty="0">
                <a:solidFill>
                  <a:schemeClr val="tx1"/>
                </a:solidFill>
                <a:effectLst/>
                <a:latin typeface="+mn-lt"/>
                <a:ea typeface="+mn-ea"/>
                <a:cs typeface="+mn-cs"/>
              </a:rPr>
              <a:t>z </a:t>
            </a:r>
            <a:r>
              <a:rPr lang="en-US" sz="1200" kern="1200" dirty="0">
                <a:solidFill>
                  <a:schemeClr val="tx1"/>
                </a:solidFill>
                <a:effectLst/>
                <a:latin typeface="+mn-lt"/>
                <a:ea typeface="+mn-ea"/>
                <a:cs typeface="+mn-cs"/>
              </a:rPr>
              <a:t>result in values of </a:t>
            </a:r>
            <a:r>
              <a:rPr lang="en-US" sz="1200" i="1" kern="1200" dirty="0">
                <a:solidFill>
                  <a:schemeClr val="tx1"/>
                </a:solidFill>
                <a:effectLst/>
                <a:latin typeface="+mn-lt"/>
                <a:ea typeface="+mn-ea"/>
                <a:cs typeface="+mn-cs"/>
              </a:rPr>
              <a:t>y </a:t>
            </a:r>
            <a:r>
              <a:rPr lang="en-US" sz="1200" kern="1200" dirty="0">
                <a:solidFill>
                  <a:schemeClr val="tx1"/>
                </a:solidFill>
                <a:effectLst/>
                <a:latin typeface="+mn-lt"/>
                <a:ea typeface="+mn-ea"/>
                <a:cs typeface="+mn-cs"/>
              </a:rPr>
              <a:t>that are </a:t>
            </a:r>
            <a:r>
              <a:rPr lang="en-US" sz="1200" b="1" kern="1200" dirty="0">
                <a:solidFill>
                  <a:schemeClr val="tx1"/>
                </a:solidFill>
                <a:effectLst/>
                <a:latin typeface="+mn-lt"/>
                <a:ea typeface="+mn-ea"/>
                <a:cs typeface="+mn-cs"/>
              </a:rPr>
              <a:t>saturated</a:t>
            </a:r>
            <a:r>
              <a:rPr lang="en-US" sz="1200" kern="1200" dirty="0">
                <a:solidFill>
                  <a:schemeClr val="tx1"/>
                </a:solidFill>
                <a:effectLst/>
                <a:latin typeface="+mn-lt"/>
                <a:ea typeface="+mn-ea"/>
                <a:cs typeface="+mn-cs"/>
              </a:rPr>
              <a:t>, i.e., extremely close to 1 and have derivatives very close to 0. Zero derivatives cause problems for learning: gradients that are almost 0 cause the error signal to get smaller and smaller until it is too small to be used for training, a problem called the </a:t>
            </a:r>
            <a:r>
              <a:rPr lang="en-US" sz="1200" b="1" kern="1200" dirty="0">
                <a:solidFill>
                  <a:schemeClr val="tx1"/>
                </a:solidFill>
                <a:effectLst/>
                <a:latin typeface="+mn-lt"/>
                <a:ea typeface="+mn-ea"/>
                <a:cs typeface="+mn-cs"/>
              </a:rPr>
              <a:t>vanishing gradient problem</a:t>
            </a:r>
            <a:r>
              <a:rPr lang="en-US" sz="1200" kern="1200" dirty="0">
                <a:solidFill>
                  <a:schemeClr val="tx1"/>
                </a:solidFill>
                <a:effectLst/>
                <a:latin typeface="+mn-lt"/>
                <a:ea typeface="+mn-ea"/>
                <a:cs typeface="+mn-cs"/>
              </a:rPr>
              <a:t>. Rectifiers don’t have this problem, since the derivative of </a:t>
            </a:r>
            <a:r>
              <a:rPr lang="en-US" sz="1200" kern="1200" dirty="0" err="1">
                <a:solidFill>
                  <a:schemeClr val="tx1"/>
                </a:solidFill>
                <a:effectLst/>
                <a:latin typeface="+mn-lt"/>
                <a:ea typeface="+mn-ea"/>
                <a:cs typeface="+mn-cs"/>
              </a:rPr>
              <a:t>ReLU</a:t>
            </a:r>
            <a:r>
              <a:rPr lang="en-US" sz="1200" kern="1200" dirty="0">
                <a:solidFill>
                  <a:schemeClr val="tx1"/>
                </a:solidFill>
                <a:effectLst/>
                <a:latin typeface="+mn-lt"/>
                <a:ea typeface="+mn-ea"/>
                <a:cs typeface="+mn-cs"/>
              </a:rPr>
              <a:t> for high values of </a:t>
            </a:r>
            <a:r>
              <a:rPr lang="en-US" sz="1200" i="1" kern="1200" dirty="0">
                <a:solidFill>
                  <a:schemeClr val="tx1"/>
                </a:solidFill>
                <a:effectLst/>
                <a:latin typeface="+mn-lt"/>
                <a:ea typeface="+mn-ea"/>
                <a:cs typeface="+mn-cs"/>
              </a:rPr>
              <a:t>z </a:t>
            </a:r>
            <a:r>
              <a:rPr lang="en-US" sz="1200" kern="1200" dirty="0">
                <a:solidFill>
                  <a:schemeClr val="tx1"/>
                </a:solidFill>
                <a:effectLst/>
                <a:latin typeface="+mn-lt"/>
                <a:ea typeface="+mn-ea"/>
                <a:cs typeface="+mn-cs"/>
              </a:rPr>
              <a:t>is 1 rather than very close to 0. </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p:txBody>
      </p:sp>
      <p:sp>
        <p:nvSpPr>
          <p:cNvPr id="4" name="Slide Number Placeholder 3"/>
          <p:cNvSpPr>
            <a:spLocks noGrp="1"/>
          </p:cNvSpPr>
          <p:nvPr>
            <p:ph type="sldNum" sz="quarter" idx="5"/>
          </p:nvPr>
        </p:nvSpPr>
        <p:spPr/>
        <p:txBody>
          <a:bodyPr/>
          <a:lstStyle/>
          <a:p>
            <a:fld id="{EE707532-839C-41A2-9E71-D5288AEAE66A}" type="slidenum">
              <a:rPr lang="en-US" smtClean="0"/>
              <a:pPr/>
              <a:t>12</a:t>
            </a:fld>
            <a:endParaRPr lang="en-US"/>
          </a:p>
        </p:txBody>
      </p:sp>
    </p:spTree>
    <p:extLst>
      <p:ext uri="{BB962C8B-B14F-4D97-AF65-F5344CB8AC3E}">
        <p14:creationId xmlns:p14="http://schemas.microsoft.com/office/powerpoint/2010/main" val="381309044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720725"/>
            <a:ext cx="6400800" cy="3600450"/>
          </a:xfrm>
        </p:spPr>
      </p:sp>
      <p:sp>
        <p:nvSpPr>
          <p:cNvPr id="3" name="Notes Placeholder 2"/>
          <p:cNvSpPr>
            <a:spLocks noGrp="1"/>
          </p:cNvSpPr>
          <p:nvPr>
            <p:ph type="body" idx="1"/>
          </p:nvPr>
        </p:nvSpPr>
        <p:spPr/>
        <p:txBody>
          <a:bodyPr>
            <a:normAutofit/>
          </a:bodyPr>
          <a:lstStyle/>
          <a:p>
            <a:r>
              <a:rPr lang="en-US" sz="1200" kern="1200" dirty="0">
                <a:solidFill>
                  <a:schemeClr val="tx1"/>
                </a:solidFill>
                <a:effectLst/>
                <a:latin typeface="+mn-lt"/>
                <a:ea typeface="+mn-ea"/>
                <a:cs typeface="+mn-cs"/>
              </a:rPr>
              <a:t>The power of neural networks comes from combining these units into larger networks.  One of the most clever demonstrations of the need for multi-layer networks was the early proof by Minsky and </a:t>
            </a:r>
            <a:r>
              <a:rPr lang="en-US" sz="1200" kern="1200" dirty="0" err="1">
                <a:solidFill>
                  <a:schemeClr val="tx1"/>
                </a:solidFill>
                <a:effectLst/>
                <a:latin typeface="+mn-lt"/>
                <a:ea typeface="+mn-ea"/>
                <a:cs typeface="+mn-cs"/>
              </a:rPr>
              <a:t>Papert</a:t>
            </a:r>
            <a:r>
              <a:rPr lang="en-US" sz="1200" kern="1200" dirty="0">
                <a:solidFill>
                  <a:schemeClr val="tx1"/>
                </a:solidFill>
                <a:effectLst/>
                <a:latin typeface="+mn-lt"/>
                <a:ea typeface="+mn-ea"/>
                <a:cs typeface="+mn-cs"/>
              </a:rPr>
              <a:t> (1969) that a single neural unit cannot compute some very simple functions of its input. </a:t>
            </a:r>
            <a:endParaRPr lang="en-US" dirty="0"/>
          </a:p>
          <a:p>
            <a:endParaRPr lang="en-US" baseline="0"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E707532-839C-41A2-9E71-D5288AEAE66A}" type="slidenum">
              <a:rPr kumimoji="0" lang="en-US" sz="13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3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11699566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Consider the task of computing elementary logical functions of two inputs, like AND, OR, and XOR. As a reminder, here are the truth tables for those functions: </a:t>
            </a:r>
            <a:endParaRPr lang="en-US" dirty="0"/>
          </a:p>
          <a:p>
            <a:endParaRPr lang="en-US" dirty="0"/>
          </a:p>
        </p:txBody>
      </p:sp>
      <p:sp>
        <p:nvSpPr>
          <p:cNvPr id="4" name="Slide Number Placeholder 3"/>
          <p:cNvSpPr>
            <a:spLocks noGrp="1"/>
          </p:cNvSpPr>
          <p:nvPr>
            <p:ph type="sldNum" sz="quarter" idx="5"/>
          </p:nvPr>
        </p:nvSpPr>
        <p:spPr/>
        <p:txBody>
          <a:bodyPr/>
          <a:lstStyle/>
          <a:p>
            <a:fld id="{EE707532-839C-41A2-9E71-D5288AEAE66A}" type="slidenum">
              <a:rPr lang="en-US" smtClean="0"/>
              <a:pPr/>
              <a:t>14</a:t>
            </a:fld>
            <a:endParaRPr lang="en-US"/>
          </a:p>
        </p:txBody>
      </p:sp>
    </p:spTree>
    <p:extLst>
      <p:ext uri="{BB962C8B-B14F-4D97-AF65-F5344CB8AC3E}">
        <p14:creationId xmlns:p14="http://schemas.microsoft.com/office/powerpoint/2010/main" val="255994141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This example was first shown for the </a:t>
            </a:r>
            <a:r>
              <a:rPr lang="en-US" sz="1200" b="0" kern="1200" dirty="0">
                <a:solidFill>
                  <a:schemeClr val="tx1"/>
                </a:solidFill>
                <a:effectLst/>
                <a:latin typeface="+mn-lt"/>
                <a:ea typeface="+mn-ea"/>
                <a:cs typeface="+mn-cs"/>
              </a:rPr>
              <a:t>perceptron</a:t>
            </a:r>
            <a:r>
              <a:rPr lang="en-US" sz="1200" kern="1200" dirty="0">
                <a:solidFill>
                  <a:schemeClr val="tx1"/>
                </a:solidFill>
                <a:effectLst/>
                <a:latin typeface="+mn-lt"/>
                <a:ea typeface="+mn-ea"/>
                <a:cs typeface="+mn-cs"/>
              </a:rPr>
              <a:t>, which is a very simple neural unit that has a binary output and does </a:t>
            </a:r>
            <a:r>
              <a:rPr lang="en-US" sz="1200" b="0" kern="1200" dirty="0">
                <a:solidFill>
                  <a:schemeClr val="tx1"/>
                </a:solidFill>
                <a:effectLst/>
                <a:latin typeface="+mn-lt"/>
                <a:ea typeface="+mn-ea"/>
                <a:cs typeface="+mn-cs"/>
              </a:rPr>
              <a:t>not </a:t>
            </a:r>
            <a:r>
              <a:rPr lang="en-US" sz="1200" kern="1200" dirty="0">
                <a:solidFill>
                  <a:schemeClr val="tx1"/>
                </a:solidFill>
                <a:effectLst/>
                <a:latin typeface="+mn-lt"/>
                <a:ea typeface="+mn-ea"/>
                <a:cs typeface="+mn-cs"/>
              </a:rPr>
              <a:t>have a non-linear activation function.  The output </a:t>
            </a:r>
            <a:r>
              <a:rPr lang="en-US" sz="1200" i="1" kern="1200" dirty="0">
                <a:solidFill>
                  <a:schemeClr val="tx1"/>
                </a:solidFill>
                <a:effectLst/>
                <a:latin typeface="+mn-lt"/>
                <a:ea typeface="+mn-ea"/>
                <a:cs typeface="+mn-cs"/>
              </a:rPr>
              <a:t>y </a:t>
            </a:r>
            <a:r>
              <a:rPr lang="en-US" sz="1200" kern="1200" dirty="0">
                <a:solidFill>
                  <a:schemeClr val="tx1"/>
                </a:solidFill>
                <a:effectLst/>
                <a:latin typeface="+mn-lt"/>
                <a:ea typeface="+mn-ea"/>
                <a:cs typeface="+mn-cs"/>
              </a:rPr>
              <a:t>of a perceptron is 0 or 1, and is computed as follows (using the same weight </a:t>
            </a:r>
            <a:endParaRPr lang="en-US" dirty="0"/>
          </a:p>
          <a:p>
            <a:r>
              <a:rPr lang="en-US" sz="1200" i="1" kern="1200" dirty="0">
                <a:solidFill>
                  <a:schemeClr val="tx1"/>
                </a:solidFill>
                <a:effectLst/>
                <a:latin typeface="+mn-lt"/>
                <a:ea typeface="+mn-ea"/>
                <a:cs typeface="+mn-cs"/>
              </a:rPr>
              <a:t>w</a:t>
            </a:r>
            <a:r>
              <a:rPr lang="en-US" sz="1200" kern="1200" dirty="0">
                <a:solidFill>
                  <a:schemeClr val="tx1"/>
                </a:solidFill>
                <a:effectLst/>
                <a:latin typeface="+mn-lt"/>
                <a:ea typeface="+mn-ea"/>
                <a:cs typeface="+mn-cs"/>
              </a:rPr>
              <a:t>, input </a:t>
            </a:r>
            <a:r>
              <a:rPr lang="en-US" sz="1200" i="1" kern="1200" dirty="0">
                <a:solidFill>
                  <a:schemeClr val="tx1"/>
                </a:solidFill>
                <a:effectLst/>
                <a:latin typeface="+mn-lt"/>
                <a:ea typeface="+mn-ea"/>
                <a:cs typeface="+mn-cs"/>
              </a:rPr>
              <a:t>x</a:t>
            </a:r>
            <a:r>
              <a:rPr lang="en-US" sz="1200" kern="1200" dirty="0">
                <a:solidFill>
                  <a:schemeClr val="tx1"/>
                </a:solidFill>
                <a:effectLst/>
                <a:latin typeface="+mn-lt"/>
                <a:ea typeface="+mn-ea"/>
                <a:cs typeface="+mn-cs"/>
              </a:rPr>
              <a:t>, and bias </a:t>
            </a:r>
            <a:r>
              <a:rPr lang="en-US" sz="1200" i="1" kern="1200" dirty="0">
                <a:solidFill>
                  <a:schemeClr val="tx1"/>
                </a:solidFill>
                <a:effectLst/>
                <a:latin typeface="+mn-lt"/>
                <a:ea typeface="+mn-ea"/>
                <a:cs typeface="+mn-cs"/>
              </a:rPr>
              <a:t>b </a:t>
            </a:r>
            <a:r>
              <a:rPr lang="en-US" sz="1200" i="0" kern="1200" dirty="0">
                <a:solidFill>
                  <a:schemeClr val="tx1"/>
                </a:solidFill>
                <a:effectLst/>
                <a:latin typeface="+mn-lt"/>
                <a:ea typeface="+mn-ea"/>
                <a:cs typeface="+mn-cs"/>
              </a:rPr>
              <a:t>we've seen already</a:t>
            </a:r>
            <a:br>
              <a:rPr lang="en-US" sz="1200" kern="1200" dirty="0">
                <a:solidFill>
                  <a:schemeClr val="tx1"/>
                </a:solidFill>
                <a:effectLst/>
                <a:latin typeface="+mn-lt"/>
                <a:ea typeface="+mn-ea"/>
                <a:cs typeface="+mn-cs"/>
              </a:rPr>
            </a:b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p:txBody>
      </p:sp>
      <p:sp>
        <p:nvSpPr>
          <p:cNvPr id="4" name="Slide Number Placeholder 3"/>
          <p:cNvSpPr>
            <a:spLocks noGrp="1"/>
          </p:cNvSpPr>
          <p:nvPr>
            <p:ph type="sldNum" sz="quarter" idx="5"/>
          </p:nvPr>
        </p:nvSpPr>
        <p:spPr/>
        <p:txBody>
          <a:bodyPr/>
          <a:lstStyle/>
          <a:p>
            <a:fld id="{EE707532-839C-41A2-9E71-D5288AEAE66A}" type="slidenum">
              <a:rPr lang="en-US" smtClean="0"/>
              <a:pPr/>
              <a:t>15</a:t>
            </a:fld>
            <a:endParaRPr lang="en-US"/>
          </a:p>
        </p:txBody>
      </p:sp>
    </p:spTree>
    <p:extLst>
      <p:ext uri="{BB962C8B-B14F-4D97-AF65-F5344CB8AC3E}">
        <p14:creationId xmlns:p14="http://schemas.microsoft.com/office/powerpoint/2010/main" val="245416452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It’s very easy to build a perceptron that can compute the logical AND and OR functions of its binary inputs</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Here's an example of</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logical AND, showing weights </a:t>
            </a:r>
            <a:r>
              <a:rPr lang="en-US" sz="1200" i="1" kern="1200" dirty="0">
                <a:solidFill>
                  <a:schemeClr val="tx1"/>
                </a:solidFill>
                <a:effectLst/>
                <a:latin typeface="+mn-lt"/>
                <a:ea typeface="+mn-ea"/>
                <a:cs typeface="+mn-cs"/>
              </a:rPr>
              <a:t>w</a:t>
            </a:r>
            <a:r>
              <a:rPr lang="en-US" sz="1200" kern="1200" dirty="0">
                <a:solidFill>
                  <a:schemeClr val="tx1"/>
                </a:solidFill>
                <a:effectLst/>
                <a:latin typeface="+mn-lt"/>
                <a:ea typeface="+mn-ea"/>
                <a:cs typeface="+mn-cs"/>
              </a:rPr>
              <a:t>1 = 1 and </a:t>
            </a:r>
            <a:r>
              <a:rPr lang="en-US" sz="1200" i="1" kern="1200" dirty="0">
                <a:solidFill>
                  <a:schemeClr val="tx1"/>
                </a:solidFill>
                <a:effectLst/>
                <a:latin typeface="+mn-lt"/>
                <a:ea typeface="+mn-ea"/>
                <a:cs typeface="+mn-cs"/>
              </a:rPr>
              <a:t>w</a:t>
            </a:r>
            <a:r>
              <a:rPr lang="en-US" sz="1200" kern="1200" dirty="0">
                <a:solidFill>
                  <a:schemeClr val="tx1"/>
                </a:solidFill>
                <a:effectLst/>
                <a:latin typeface="+mn-lt"/>
                <a:ea typeface="+mn-ea"/>
                <a:cs typeface="+mn-cs"/>
              </a:rPr>
              <a:t>2 = 1 and bias weight </a:t>
            </a:r>
            <a:r>
              <a:rPr lang="en-US" sz="1200" i="1" kern="1200" dirty="0">
                <a:solidFill>
                  <a:schemeClr val="tx1"/>
                </a:solidFill>
                <a:effectLst/>
                <a:latin typeface="+mn-lt"/>
                <a:ea typeface="+mn-ea"/>
                <a:cs typeface="+mn-cs"/>
              </a:rPr>
              <a:t>b </a:t>
            </a:r>
            <a:r>
              <a:rPr lang="en-US" sz="1200" kern="1200" dirty="0">
                <a:solidFill>
                  <a:schemeClr val="tx1"/>
                </a:solidFill>
                <a:effectLst/>
                <a:latin typeface="+mn-lt"/>
                <a:ea typeface="+mn-ea"/>
                <a:cs typeface="+mn-cs"/>
              </a:rPr>
              <a:t>= −1 and logical OR, showing weights </a:t>
            </a:r>
            <a:r>
              <a:rPr lang="en-US" sz="1200" i="1" kern="1200" dirty="0">
                <a:solidFill>
                  <a:schemeClr val="tx1"/>
                </a:solidFill>
                <a:effectLst/>
                <a:latin typeface="+mn-lt"/>
                <a:ea typeface="+mn-ea"/>
                <a:cs typeface="+mn-cs"/>
              </a:rPr>
              <a:t>w</a:t>
            </a:r>
            <a:r>
              <a:rPr lang="en-US" sz="1200" kern="1200" dirty="0">
                <a:solidFill>
                  <a:schemeClr val="tx1"/>
                </a:solidFill>
                <a:effectLst/>
                <a:latin typeface="+mn-lt"/>
                <a:ea typeface="+mn-ea"/>
                <a:cs typeface="+mn-cs"/>
              </a:rPr>
              <a:t>1 = 1 and </a:t>
            </a:r>
            <a:r>
              <a:rPr lang="en-US" sz="1200" i="1" kern="1200" dirty="0">
                <a:solidFill>
                  <a:schemeClr val="tx1"/>
                </a:solidFill>
                <a:effectLst/>
                <a:latin typeface="+mn-lt"/>
                <a:ea typeface="+mn-ea"/>
                <a:cs typeface="+mn-cs"/>
              </a:rPr>
              <a:t>w</a:t>
            </a:r>
            <a:r>
              <a:rPr lang="en-US" sz="1200" kern="1200" dirty="0">
                <a:solidFill>
                  <a:schemeClr val="tx1"/>
                </a:solidFill>
                <a:effectLst/>
                <a:latin typeface="+mn-lt"/>
                <a:ea typeface="+mn-ea"/>
                <a:cs typeface="+mn-cs"/>
              </a:rPr>
              <a:t>2 = 1 and bias weight </a:t>
            </a:r>
            <a:r>
              <a:rPr lang="en-US" sz="1200" i="1" kern="1200" dirty="0">
                <a:solidFill>
                  <a:schemeClr val="tx1"/>
                </a:solidFill>
                <a:effectLst/>
                <a:latin typeface="+mn-lt"/>
                <a:ea typeface="+mn-ea"/>
                <a:cs typeface="+mn-cs"/>
              </a:rPr>
              <a:t>b </a:t>
            </a:r>
            <a:r>
              <a:rPr lang="en-US" sz="1200" kern="1200" dirty="0">
                <a:solidFill>
                  <a:schemeClr val="tx1"/>
                </a:solidFill>
                <a:effectLst/>
                <a:latin typeface="+mn-lt"/>
                <a:ea typeface="+mn-ea"/>
                <a:cs typeface="+mn-cs"/>
              </a:rPr>
              <a:t>= 0. These weights/biases are just one from an infinite number of possible sets of weights and biases that would implement the functions. </a:t>
            </a:r>
            <a:endParaRPr lang="en-US" dirty="0"/>
          </a:p>
          <a:p>
            <a:endParaRPr lang="en-US" dirty="0"/>
          </a:p>
        </p:txBody>
      </p:sp>
      <p:sp>
        <p:nvSpPr>
          <p:cNvPr id="4" name="Slide Number Placeholder 3"/>
          <p:cNvSpPr>
            <a:spLocks noGrp="1"/>
          </p:cNvSpPr>
          <p:nvPr>
            <p:ph type="sldNum" sz="quarter" idx="5"/>
          </p:nvPr>
        </p:nvSpPr>
        <p:spPr/>
        <p:txBody>
          <a:bodyPr/>
          <a:lstStyle/>
          <a:p>
            <a:fld id="{EE707532-839C-41A2-9E71-D5288AEAE66A}" type="slidenum">
              <a:rPr lang="en-US" smtClean="0"/>
              <a:pPr/>
              <a:t>16</a:t>
            </a:fld>
            <a:endParaRPr lang="en-US"/>
          </a:p>
        </p:txBody>
      </p:sp>
    </p:spTree>
    <p:extLst>
      <p:ext uri="{BB962C8B-B14F-4D97-AF65-F5344CB8AC3E}">
        <p14:creationId xmlns:p14="http://schemas.microsoft.com/office/powerpoint/2010/main" val="298666233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Why? Crucially, the perceptron is a </a:t>
            </a:r>
            <a:r>
              <a:rPr lang="en-US" sz="1200" b="1" kern="1200" dirty="0">
                <a:solidFill>
                  <a:schemeClr val="tx1"/>
                </a:solidFill>
                <a:effectLst/>
                <a:latin typeface="+mn-lt"/>
                <a:ea typeface="+mn-ea"/>
                <a:cs typeface="+mn-cs"/>
              </a:rPr>
              <a:t>linear</a:t>
            </a:r>
            <a:r>
              <a:rPr lang="en-US" sz="1200" kern="1200" dirty="0">
                <a:solidFill>
                  <a:schemeClr val="tx1"/>
                </a:solidFill>
                <a:effectLst/>
                <a:latin typeface="+mn-lt"/>
                <a:ea typeface="+mn-ea"/>
                <a:cs typeface="+mn-cs"/>
              </a:rPr>
              <a:t> classifier. For a two-dimensional input </a:t>
            </a:r>
            <a:r>
              <a:rPr lang="en-US" sz="1200" i="1" kern="1200" dirty="0">
                <a:solidFill>
                  <a:schemeClr val="tx1"/>
                </a:solidFill>
                <a:effectLst/>
                <a:latin typeface="+mn-lt"/>
                <a:ea typeface="+mn-ea"/>
                <a:cs typeface="+mn-cs"/>
              </a:rPr>
              <a:t>x</a:t>
            </a:r>
            <a:r>
              <a:rPr lang="en-US" sz="1200" kern="1200" dirty="0">
                <a:solidFill>
                  <a:schemeClr val="tx1"/>
                </a:solidFill>
                <a:effectLst/>
                <a:latin typeface="+mn-lt"/>
                <a:ea typeface="+mn-ea"/>
                <a:cs typeface="+mn-cs"/>
              </a:rPr>
              <a:t>1 and </a:t>
            </a:r>
            <a:r>
              <a:rPr lang="en-US" sz="1200" i="1" kern="1200" dirty="0">
                <a:solidFill>
                  <a:schemeClr val="tx1"/>
                </a:solidFill>
                <a:effectLst/>
                <a:latin typeface="+mn-lt"/>
                <a:ea typeface="+mn-ea"/>
                <a:cs typeface="+mn-cs"/>
              </a:rPr>
              <a:t>x</a:t>
            </a:r>
            <a:r>
              <a:rPr lang="en-US" sz="1200" kern="1200" dirty="0">
                <a:solidFill>
                  <a:schemeClr val="tx1"/>
                </a:solidFill>
                <a:effectLst/>
                <a:latin typeface="+mn-lt"/>
                <a:ea typeface="+mn-ea"/>
                <a:cs typeface="+mn-cs"/>
              </a:rPr>
              <a:t>2, the perception equation, </a:t>
            </a:r>
            <a:r>
              <a:rPr lang="en-US" sz="1200" i="1" kern="1200" dirty="0">
                <a:solidFill>
                  <a:schemeClr val="tx1"/>
                </a:solidFill>
                <a:effectLst/>
                <a:latin typeface="+mn-lt"/>
                <a:ea typeface="+mn-ea"/>
                <a:cs typeface="+mn-cs"/>
              </a:rPr>
              <a:t>w</a:t>
            </a:r>
            <a:r>
              <a:rPr lang="en-US" sz="1200" kern="1200" dirty="0">
                <a:solidFill>
                  <a:schemeClr val="tx1"/>
                </a:solidFill>
                <a:effectLst/>
                <a:latin typeface="+mn-lt"/>
                <a:ea typeface="+mn-ea"/>
                <a:cs typeface="+mn-cs"/>
              </a:rPr>
              <a:t>1 </a:t>
            </a:r>
            <a:r>
              <a:rPr lang="en-US" sz="1200" i="1" kern="1200" dirty="0">
                <a:solidFill>
                  <a:schemeClr val="tx1"/>
                </a:solidFill>
                <a:effectLst/>
                <a:latin typeface="+mn-lt"/>
                <a:ea typeface="+mn-ea"/>
                <a:cs typeface="+mn-cs"/>
              </a:rPr>
              <a:t>x</a:t>
            </a:r>
            <a:r>
              <a:rPr lang="en-US" sz="1200" kern="1200" dirty="0">
                <a:solidFill>
                  <a:schemeClr val="tx1"/>
                </a:solidFill>
                <a:effectLst/>
                <a:latin typeface="+mn-lt"/>
                <a:ea typeface="+mn-ea"/>
                <a:cs typeface="+mn-cs"/>
              </a:rPr>
              <a:t>1 + </a:t>
            </a:r>
            <a:r>
              <a:rPr lang="en-US" sz="1200" i="1" kern="1200" dirty="0">
                <a:solidFill>
                  <a:schemeClr val="tx1"/>
                </a:solidFill>
                <a:effectLst/>
                <a:latin typeface="+mn-lt"/>
                <a:ea typeface="+mn-ea"/>
                <a:cs typeface="+mn-cs"/>
              </a:rPr>
              <a:t>w</a:t>
            </a:r>
            <a:r>
              <a:rPr lang="en-US" sz="1200" kern="1200" dirty="0">
                <a:solidFill>
                  <a:schemeClr val="tx1"/>
                </a:solidFill>
                <a:effectLst/>
                <a:latin typeface="+mn-lt"/>
                <a:ea typeface="+mn-ea"/>
                <a:cs typeface="+mn-cs"/>
              </a:rPr>
              <a:t>2 </a:t>
            </a:r>
            <a:r>
              <a:rPr lang="en-US" sz="1200" i="1" kern="1200" dirty="0">
                <a:solidFill>
                  <a:schemeClr val="tx1"/>
                </a:solidFill>
                <a:effectLst/>
                <a:latin typeface="+mn-lt"/>
                <a:ea typeface="+mn-ea"/>
                <a:cs typeface="+mn-cs"/>
              </a:rPr>
              <a:t>x</a:t>
            </a:r>
            <a:r>
              <a:rPr lang="en-US" sz="1200" kern="1200" dirty="0">
                <a:solidFill>
                  <a:schemeClr val="tx1"/>
                </a:solidFill>
                <a:effectLst/>
                <a:latin typeface="+mn-lt"/>
                <a:ea typeface="+mn-ea"/>
                <a:cs typeface="+mn-cs"/>
              </a:rPr>
              <a:t>2 + </a:t>
            </a:r>
            <a:r>
              <a:rPr lang="en-US" sz="1200" i="1" kern="1200" dirty="0">
                <a:solidFill>
                  <a:schemeClr val="tx1"/>
                </a:solidFill>
                <a:effectLst/>
                <a:latin typeface="+mn-lt"/>
                <a:ea typeface="+mn-ea"/>
                <a:cs typeface="+mn-cs"/>
              </a:rPr>
              <a:t>b </a:t>
            </a:r>
            <a:r>
              <a:rPr lang="en-US" sz="1200" kern="1200" dirty="0">
                <a:solidFill>
                  <a:schemeClr val="tx1"/>
                </a:solidFill>
                <a:effectLst/>
                <a:latin typeface="+mn-lt"/>
                <a:ea typeface="+mn-ea"/>
                <a:cs typeface="+mn-cs"/>
              </a:rPr>
              <a:t>= 0 is the equation of a line. (We can see this by putting it in the standard linear format: </a:t>
            </a:r>
            <a:r>
              <a:rPr lang="en-US" sz="1200" i="1" kern="1200" dirty="0">
                <a:solidFill>
                  <a:schemeClr val="tx1"/>
                </a:solidFill>
                <a:effectLst/>
                <a:latin typeface="+mn-lt"/>
                <a:ea typeface="+mn-ea"/>
                <a:cs typeface="+mn-cs"/>
              </a:rPr>
              <a:t>x</a:t>
            </a:r>
            <a:r>
              <a:rPr lang="en-US" sz="1200" kern="1200" dirty="0">
                <a:solidFill>
                  <a:schemeClr val="tx1"/>
                </a:solidFill>
                <a:effectLst/>
                <a:latin typeface="+mn-lt"/>
                <a:ea typeface="+mn-ea"/>
                <a:cs typeface="+mn-cs"/>
              </a:rPr>
              <a:t>2 = (−</a:t>
            </a:r>
            <a:r>
              <a:rPr lang="en-US" sz="1200" i="1" kern="1200" dirty="0">
                <a:solidFill>
                  <a:schemeClr val="tx1"/>
                </a:solidFill>
                <a:effectLst/>
                <a:latin typeface="+mn-lt"/>
                <a:ea typeface="+mn-ea"/>
                <a:cs typeface="+mn-cs"/>
              </a:rPr>
              <a:t>w</a:t>
            </a:r>
            <a:r>
              <a:rPr lang="en-US" sz="1200" kern="1200" dirty="0">
                <a:solidFill>
                  <a:schemeClr val="tx1"/>
                </a:solidFill>
                <a:effectLst/>
                <a:latin typeface="+mn-lt"/>
                <a:ea typeface="+mn-ea"/>
                <a:cs typeface="+mn-cs"/>
              </a:rPr>
              <a:t>1/</a:t>
            </a:r>
            <a:r>
              <a:rPr lang="en-US" sz="1200" i="1" kern="1200" dirty="0">
                <a:solidFill>
                  <a:schemeClr val="tx1"/>
                </a:solidFill>
                <a:effectLst/>
                <a:latin typeface="+mn-lt"/>
                <a:ea typeface="+mn-ea"/>
                <a:cs typeface="+mn-cs"/>
              </a:rPr>
              <a:t>w</a:t>
            </a:r>
            <a:r>
              <a:rPr lang="en-US" sz="1200" kern="1200" dirty="0">
                <a:solidFill>
                  <a:schemeClr val="tx1"/>
                </a:solidFill>
                <a:effectLst/>
                <a:latin typeface="+mn-lt"/>
                <a:ea typeface="+mn-ea"/>
                <a:cs typeface="+mn-cs"/>
              </a:rPr>
              <a:t>2)</a:t>
            </a:r>
            <a:r>
              <a:rPr lang="en-US" sz="1200" i="1" kern="1200" dirty="0">
                <a:solidFill>
                  <a:schemeClr val="tx1"/>
                </a:solidFill>
                <a:effectLst/>
                <a:latin typeface="+mn-lt"/>
                <a:ea typeface="+mn-ea"/>
                <a:cs typeface="+mn-cs"/>
              </a:rPr>
              <a:t>x</a:t>
            </a:r>
            <a:r>
              <a:rPr lang="en-US" sz="1200" kern="1200" dirty="0">
                <a:solidFill>
                  <a:schemeClr val="tx1"/>
                </a:solidFill>
                <a:effectLst/>
                <a:latin typeface="+mn-lt"/>
                <a:ea typeface="+mn-ea"/>
                <a:cs typeface="+mn-cs"/>
              </a:rPr>
              <a:t>1 + (−</a:t>
            </a:r>
            <a:r>
              <a:rPr lang="en-US" sz="1200" i="1" kern="1200" dirty="0">
                <a:solidFill>
                  <a:schemeClr val="tx1"/>
                </a:solidFill>
                <a:effectLst/>
                <a:latin typeface="+mn-lt"/>
                <a:ea typeface="+mn-ea"/>
                <a:cs typeface="+mn-cs"/>
              </a:rPr>
              <a:t>b</a:t>
            </a:r>
            <a:r>
              <a:rPr lang="en-US" sz="1200" kern="1200" dirty="0">
                <a:solidFill>
                  <a:schemeClr val="tx1"/>
                </a:solidFill>
                <a:effectLst/>
                <a:latin typeface="+mn-lt"/>
                <a:ea typeface="+mn-ea"/>
                <a:cs typeface="+mn-cs"/>
              </a:rPr>
              <a:t>/</a:t>
            </a:r>
            <a:r>
              <a:rPr lang="en-US" sz="1200" i="1" kern="1200" dirty="0">
                <a:solidFill>
                  <a:schemeClr val="tx1"/>
                </a:solidFill>
                <a:effectLst/>
                <a:latin typeface="+mn-lt"/>
                <a:ea typeface="+mn-ea"/>
                <a:cs typeface="+mn-cs"/>
              </a:rPr>
              <a:t>w</a:t>
            </a:r>
            <a:r>
              <a:rPr lang="en-US" sz="1200" kern="1200" dirty="0">
                <a:solidFill>
                  <a:schemeClr val="tx1"/>
                </a:solidFill>
                <a:effectLst/>
                <a:latin typeface="+mn-lt"/>
                <a:ea typeface="+mn-ea"/>
                <a:cs typeface="+mn-cs"/>
              </a:rPr>
              <a:t>2).)</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line acts as a decision boundary in two-dimensional space in which the output 0 is assigned to all inputs lying on one side of the line, and the output 1 to all input points lying on the other side of the line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If we had more than 2 inputs, the decision boundary becomes a hyperplane instead of a line, but the idea is the same, separating the space into two categories. </a:t>
            </a:r>
            <a:endParaRPr lang="en-US" dirty="0"/>
          </a:p>
          <a:p>
            <a:endParaRPr lang="en-US" dirty="0"/>
          </a:p>
        </p:txBody>
      </p:sp>
      <p:sp>
        <p:nvSpPr>
          <p:cNvPr id="4" name="Slide Number Placeholder 3"/>
          <p:cNvSpPr>
            <a:spLocks noGrp="1"/>
          </p:cNvSpPr>
          <p:nvPr>
            <p:ph type="sldNum" sz="quarter" idx="5"/>
          </p:nvPr>
        </p:nvSpPr>
        <p:spPr/>
        <p:txBody>
          <a:bodyPr/>
          <a:lstStyle/>
          <a:p>
            <a:fld id="{EE707532-839C-41A2-9E71-D5288AEAE66A}" type="slidenum">
              <a:rPr lang="en-US" smtClean="0"/>
              <a:pPr/>
              <a:t>18</a:t>
            </a:fld>
            <a:endParaRPr lang="en-US"/>
          </a:p>
        </p:txBody>
      </p:sp>
    </p:spTree>
    <p:extLst>
      <p:ext uri="{BB962C8B-B14F-4D97-AF65-F5344CB8AC3E}">
        <p14:creationId xmlns:p14="http://schemas.microsoft.com/office/powerpoint/2010/main" val="386694963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These figures shows the possible logical inputs (00, 01, 10, and 11) and the line drawn by one possible set of parameters for an AND and an OR classifier. Notice that there is simply no way to draw a line that separates the positive cases of XOR (01 and 10) from the negative cases (00 and 11).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CLICK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We say that XOR is not </a:t>
            </a:r>
            <a:r>
              <a:rPr lang="en-US" sz="1200" b="1" kern="1200" dirty="0">
                <a:solidFill>
                  <a:schemeClr val="tx1"/>
                </a:solidFill>
                <a:effectLst/>
                <a:latin typeface="+mn-lt"/>
                <a:ea typeface="+mn-ea"/>
                <a:cs typeface="+mn-cs"/>
              </a:rPr>
              <a:t>a linearly separable</a:t>
            </a:r>
            <a:r>
              <a:rPr lang="en-US" sz="1200" b="0" kern="1200" dirty="0">
                <a:solidFill>
                  <a:schemeClr val="tx1"/>
                </a:solidFill>
                <a:effectLst/>
                <a:latin typeface="+mn-lt"/>
                <a:ea typeface="+mn-ea"/>
                <a:cs typeface="+mn-cs"/>
              </a:rPr>
              <a:t> </a:t>
            </a:r>
            <a:r>
              <a:rPr lang="en-US" sz="1200" kern="1200" dirty="0">
                <a:solidFill>
                  <a:schemeClr val="tx1"/>
                </a:solidFill>
                <a:effectLst/>
                <a:latin typeface="+mn-lt"/>
                <a:ea typeface="+mn-ea"/>
                <a:cs typeface="+mn-cs"/>
              </a:rPr>
              <a:t>function. Of course we could draw a boundary with a curve, or some other function, but not a single line. </a:t>
            </a:r>
            <a:endParaRPr lang="en-US" dirty="0"/>
          </a:p>
          <a:p>
            <a:endParaRPr lang="en-US" dirty="0"/>
          </a:p>
        </p:txBody>
      </p:sp>
      <p:sp>
        <p:nvSpPr>
          <p:cNvPr id="4" name="Slide Number Placeholder 3"/>
          <p:cNvSpPr>
            <a:spLocks noGrp="1"/>
          </p:cNvSpPr>
          <p:nvPr>
            <p:ph type="sldNum" sz="quarter" idx="5"/>
          </p:nvPr>
        </p:nvSpPr>
        <p:spPr/>
        <p:txBody>
          <a:bodyPr/>
          <a:lstStyle/>
          <a:p>
            <a:fld id="{EE707532-839C-41A2-9E71-D5288AEAE66A}" type="slidenum">
              <a:rPr lang="en-US" smtClean="0"/>
              <a:pPr/>
              <a:t>19</a:t>
            </a:fld>
            <a:endParaRPr lang="en-US"/>
          </a:p>
        </p:txBody>
      </p:sp>
    </p:spTree>
    <p:extLst>
      <p:ext uri="{BB962C8B-B14F-4D97-AF65-F5344CB8AC3E}">
        <p14:creationId xmlns:p14="http://schemas.microsoft.com/office/powerpoint/2010/main" val="38795079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Let’s see an example of how to compute XOR using two layers of </a:t>
            </a:r>
            <a:r>
              <a:rPr lang="en-US" sz="1200" kern="1200" dirty="0" err="1">
                <a:solidFill>
                  <a:schemeClr val="tx1"/>
                </a:solidFill>
                <a:effectLst/>
                <a:latin typeface="+mn-lt"/>
                <a:ea typeface="+mn-ea"/>
                <a:cs typeface="+mn-cs"/>
              </a:rPr>
              <a:t>ReLU</a:t>
            </a:r>
            <a:r>
              <a:rPr lang="en-US" sz="1200" kern="1200" dirty="0">
                <a:solidFill>
                  <a:schemeClr val="tx1"/>
                </a:solidFill>
                <a:effectLst/>
                <a:latin typeface="+mn-lt"/>
                <a:ea typeface="+mn-ea"/>
                <a:cs typeface="+mn-cs"/>
              </a:rPr>
              <a:t>-based units.</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 middle layer (called </a:t>
            </a:r>
            <a:r>
              <a:rPr lang="en-US" sz="1200" i="1" kern="1200" dirty="0">
                <a:solidFill>
                  <a:schemeClr val="tx1"/>
                </a:solidFill>
                <a:effectLst/>
                <a:latin typeface="+mn-lt"/>
                <a:ea typeface="+mn-ea"/>
                <a:cs typeface="+mn-cs"/>
              </a:rPr>
              <a:t>h</a:t>
            </a:r>
            <a:r>
              <a:rPr lang="en-US" sz="1200" kern="1200" dirty="0">
                <a:solidFill>
                  <a:schemeClr val="tx1"/>
                </a:solidFill>
                <a:effectLst/>
                <a:latin typeface="+mn-lt"/>
                <a:ea typeface="+mn-ea"/>
                <a:cs typeface="+mn-cs"/>
              </a:rPr>
              <a:t>) has two units, and the output layer (called </a:t>
            </a:r>
            <a:r>
              <a:rPr lang="en-US" sz="1200" i="1" kern="1200" dirty="0">
                <a:solidFill>
                  <a:schemeClr val="tx1"/>
                </a:solidFill>
                <a:effectLst/>
                <a:latin typeface="+mn-lt"/>
                <a:ea typeface="+mn-ea"/>
                <a:cs typeface="+mn-cs"/>
              </a:rPr>
              <a:t>y</a:t>
            </a:r>
            <a:r>
              <a:rPr lang="en-US" sz="1200" kern="1200" dirty="0">
                <a:solidFill>
                  <a:schemeClr val="tx1"/>
                </a:solidFill>
                <a:effectLst/>
                <a:latin typeface="+mn-lt"/>
                <a:ea typeface="+mn-ea"/>
                <a:cs typeface="+mn-cs"/>
              </a:rPr>
              <a:t>) has one unit.  These weights and biases will computes XOR. </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Consider input x = [0, 0] ]. If we multiply each input value by the appropriate weight, sum, and then add the bias </a:t>
            </a:r>
            <a:r>
              <a:rPr lang="en-US" sz="1200" i="1" kern="1200" dirty="0">
                <a:solidFill>
                  <a:schemeClr val="tx1"/>
                </a:solidFill>
                <a:effectLst/>
                <a:latin typeface="+mn-lt"/>
                <a:ea typeface="+mn-ea"/>
                <a:cs typeface="+mn-cs"/>
              </a:rPr>
              <a:t>b</a:t>
            </a:r>
            <a:r>
              <a:rPr lang="en-US" sz="1200" kern="1200" dirty="0">
                <a:solidFill>
                  <a:schemeClr val="tx1"/>
                </a:solidFill>
                <a:effectLst/>
                <a:latin typeface="+mn-lt"/>
                <a:ea typeface="+mn-ea"/>
                <a:cs typeface="+mn-cs"/>
              </a:rPr>
              <a:t>, DO THIS ON SLIDE  we get the vector [0 -1]  apply the </a:t>
            </a:r>
            <a:r>
              <a:rPr lang="en-US" sz="1200" kern="1200" dirty="0" err="1">
                <a:solidFill>
                  <a:schemeClr val="tx1"/>
                </a:solidFill>
                <a:effectLst/>
                <a:latin typeface="+mn-lt"/>
                <a:ea typeface="+mn-ea"/>
                <a:cs typeface="+mn-cs"/>
              </a:rPr>
              <a:t>ReLU</a:t>
            </a:r>
            <a:r>
              <a:rPr lang="en-US" sz="1200" kern="1200" dirty="0">
                <a:solidFill>
                  <a:schemeClr val="tx1"/>
                </a:solidFill>
                <a:effectLst/>
                <a:latin typeface="+mn-lt"/>
                <a:ea typeface="+mn-ea"/>
                <a:cs typeface="+mn-cs"/>
              </a:rPr>
              <a:t> and we get [0 0], and the final value is 0.</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EE707532-839C-41A2-9E71-D5288AEAE66A}" type="slidenum">
              <a:rPr lang="en-US" smtClean="0"/>
              <a:pPr/>
              <a:t>20</a:t>
            </a:fld>
            <a:endParaRPr lang="en-US"/>
          </a:p>
        </p:txBody>
      </p:sp>
    </p:spTree>
    <p:extLst>
      <p:ext uri="{BB962C8B-B14F-4D97-AF65-F5344CB8AC3E}">
        <p14:creationId xmlns:p14="http://schemas.microsoft.com/office/powerpoint/2010/main" val="332494256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It’s also instructive to look at the intermediate results, the outputs of the two hidden nodes </a:t>
            </a:r>
            <a:r>
              <a:rPr lang="en-US" sz="1200" i="1" kern="1200" dirty="0">
                <a:solidFill>
                  <a:schemeClr val="tx1"/>
                </a:solidFill>
                <a:effectLst/>
                <a:latin typeface="+mn-lt"/>
                <a:ea typeface="+mn-ea"/>
                <a:cs typeface="+mn-cs"/>
              </a:rPr>
              <a:t>h</a:t>
            </a:r>
            <a:r>
              <a:rPr lang="en-US" sz="1200" kern="1200" dirty="0">
                <a:solidFill>
                  <a:schemeClr val="tx1"/>
                </a:solidFill>
                <a:effectLst/>
                <a:latin typeface="+mn-lt"/>
                <a:ea typeface="+mn-ea"/>
                <a:cs typeface="+mn-cs"/>
              </a:rPr>
              <a:t>1 and </a:t>
            </a:r>
            <a:r>
              <a:rPr lang="en-US" sz="1200" i="1" kern="1200" dirty="0">
                <a:solidFill>
                  <a:schemeClr val="tx1"/>
                </a:solidFill>
                <a:effectLst/>
                <a:latin typeface="+mn-lt"/>
                <a:ea typeface="+mn-ea"/>
                <a:cs typeface="+mn-cs"/>
              </a:rPr>
              <a:t>h</a:t>
            </a:r>
            <a:r>
              <a:rPr lang="en-US" sz="1200" kern="1200" dirty="0">
                <a:solidFill>
                  <a:schemeClr val="tx1"/>
                </a:solidFill>
                <a:effectLst/>
                <a:latin typeface="+mn-lt"/>
                <a:ea typeface="+mn-ea"/>
                <a:cs typeface="+mn-cs"/>
              </a:rPr>
              <a:t>2.</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Here are the values of the </a:t>
            </a:r>
            <a:r>
              <a:rPr lang="en-US" sz="1200" i="1" kern="1200" dirty="0">
                <a:solidFill>
                  <a:schemeClr val="tx1"/>
                </a:solidFill>
                <a:effectLst/>
                <a:latin typeface="+mn-lt"/>
                <a:ea typeface="+mn-ea"/>
                <a:cs typeface="+mn-cs"/>
              </a:rPr>
              <a:t>h </a:t>
            </a:r>
            <a:r>
              <a:rPr lang="en-US" sz="1200" kern="1200" dirty="0">
                <a:solidFill>
                  <a:schemeClr val="tx1"/>
                </a:solidFill>
                <a:effectLst/>
                <a:latin typeface="+mn-lt"/>
                <a:ea typeface="+mn-ea"/>
                <a:cs typeface="+mn-cs"/>
              </a:rPr>
              <a:t>layer for all 4 inputs. Notice that hidden representations of the two input points </a:t>
            </a:r>
            <a:r>
              <a:rPr lang="en-US" sz="1200" i="1" kern="1200" dirty="0">
                <a:solidFill>
                  <a:schemeClr val="tx1"/>
                </a:solidFill>
                <a:effectLst/>
                <a:latin typeface="+mn-lt"/>
                <a:ea typeface="+mn-ea"/>
                <a:cs typeface="+mn-cs"/>
              </a:rPr>
              <a:t>x </a:t>
            </a:r>
            <a:r>
              <a:rPr lang="en-US" sz="1200" kern="1200" dirty="0">
                <a:solidFill>
                  <a:schemeClr val="tx1"/>
                </a:solidFill>
                <a:effectLst/>
                <a:latin typeface="+mn-lt"/>
                <a:ea typeface="+mn-ea"/>
                <a:cs typeface="+mn-cs"/>
              </a:rPr>
              <a:t>= [0 1] and </a:t>
            </a:r>
            <a:r>
              <a:rPr lang="en-US" sz="1200" i="1" kern="1200" dirty="0">
                <a:solidFill>
                  <a:schemeClr val="tx1"/>
                </a:solidFill>
                <a:effectLst/>
                <a:latin typeface="+mn-lt"/>
                <a:ea typeface="+mn-ea"/>
                <a:cs typeface="+mn-cs"/>
              </a:rPr>
              <a:t>x </a:t>
            </a:r>
            <a:r>
              <a:rPr lang="en-US" sz="1200" kern="1200" dirty="0">
                <a:solidFill>
                  <a:schemeClr val="tx1"/>
                </a:solidFill>
                <a:effectLst/>
                <a:latin typeface="+mn-lt"/>
                <a:ea typeface="+mn-ea"/>
                <a:cs typeface="+mn-cs"/>
              </a:rPr>
              <a:t>= [1 0] (the two cases with XOR output = 1) are merged to the single point </a:t>
            </a:r>
            <a:r>
              <a:rPr lang="en-US" sz="1200" i="1" kern="1200" dirty="0">
                <a:solidFill>
                  <a:schemeClr val="tx1"/>
                </a:solidFill>
                <a:effectLst/>
                <a:latin typeface="+mn-lt"/>
                <a:ea typeface="+mn-ea"/>
                <a:cs typeface="+mn-cs"/>
              </a:rPr>
              <a:t>h </a:t>
            </a:r>
            <a:r>
              <a:rPr lang="en-US" sz="1200" kern="1200" dirty="0">
                <a:solidFill>
                  <a:schemeClr val="tx1"/>
                </a:solidFill>
                <a:effectLst/>
                <a:latin typeface="+mn-lt"/>
                <a:ea typeface="+mn-ea"/>
                <a:cs typeface="+mn-cs"/>
              </a:rPr>
              <a:t>= [1 0]. The merger makes it easy to linearly separate the positive and negative cases of XOR. In other words, we can view the hidden layer of the network </a:t>
            </a:r>
            <a:r>
              <a:rPr lang="en-US" sz="1200" b="1" kern="1200" dirty="0">
                <a:solidFill>
                  <a:schemeClr val="tx1"/>
                </a:solidFill>
                <a:effectLst/>
                <a:latin typeface="+mn-lt"/>
                <a:ea typeface="+mn-ea"/>
                <a:cs typeface="+mn-cs"/>
              </a:rPr>
              <a:t>as forming a useful representation </a:t>
            </a:r>
            <a:r>
              <a:rPr lang="en-US" sz="1200" kern="1200" dirty="0">
                <a:solidFill>
                  <a:schemeClr val="tx1"/>
                </a:solidFill>
                <a:effectLst/>
                <a:latin typeface="+mn-lt"/>
                <a:ea typeface="+mn-ea"/>
                <a:cs typeface="+mn-cs"/>
              </a:rPr>
              <a:t>for the input.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In this example we just stipulated the weights. But for real examples the weights for neural networks are learned automatically using the error backpropagation algorithm we'll turn to. That means the hidden layers will learn to form useful representations. This intuition, that neural networks can automatically learn useful representations of the input, is one of their key advantages, </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p:txBody>
      </p:sp>
      <p:sp>
        <p:nvSpPr>
          <p:cNvPr id="4" name="Slide Number Placeholder 3"/>
          <p:cNvSpPr>
            <a:spLocks noGrp="1"/>
          </p:cNvSpPr>
          <p:nvPr>
            <p:ph type="sldNum" sz="quarter" idx="5"/>
          </p:nvPr>
        </p:nvSpPr>
        <p:spPr/>
        <p:txBody>
          <a:bodyPr/>
          <a:lstStyle/>
          <a:p>
            <a:fld id="{EE707532-839C-41A2-9E71-D5288AEAE66A}" type="slidenum">
              <a:rPr lang="en-US" smtClean="0"/>
              <a:pPr/>
              <a:t>21</a:t>
            </a:fld>
            <a:endParaRPr lang="en-US"/>
          </a:p>
        </p:txBody>
      </p:sp>
    </p:spTree>
    <p:extLst>
      <p:ext uri="{BB962C8B-B14F-4D97-AF65-F5344CB8AC3E}">
        <p14:creationId xmlns:p14="http://schemas.microsoft.com/office/powerpoint/2010/main" val="206853113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720725"/>
            <a:ext cx="6400800" cy="3600450"/>
          </a:xfrm>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Here we introduce the simple feedforward network. While NLP uses many more complex kinds of networks (the RNN, the Transformer, attention), the simple feed-forward network is still an important tool, and underlies these more complex kinds of networks.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endParaRPr lang="en-US" baseline="0"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E707532-839C-41A2-9E71-D5288AEAE66A}" type="slidenum">
              <a:rPr kumimoji="0" lang="en-US" sz="13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sz="13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34042692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A feedforward network is a multilayer network in which the units are connected with no cycles; the outputs from units in each layer are passed to units in the next higher layer, and no outputs are passed back to lower layers.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For historical reasons feed-forward </a:t>
            </a:r>
            <a:r>
              <a:rPr lang="en-US" sz="1200" kern="1200" dirty="0" err="1">
                <a:solidFill>
                  <a:schemeClr val="tx1"/>
                </a:solidFill>
                <a:effectLst/>
                <a:latin typeface="+mn-lt"/>
                <a:ea typeface="+mn-ea"/>
                <a:cs typeface="+mn-cs"/>
              </a:rPr>
              <a:t>netowrks</a:t>
            </a:r>
            <a:r>
              <a:rPr lang="en-US" sz="1200" kern="1200" dirty="0">
                <a:solidFill>
                  <a:schemeClr val="tx1"/>
                </a:solidFill>
                <a:effectLst/>
                <a:latin typeface="+mn-lt"/>
                <a:ea typeface="+mn-ea"/>
                <a:cs typeface="+mn-cs"/>
              </a:rPr>
              <a:t> can also be called multi-layer </a:t>
            </a:r>
            <a:r>
              <a:rPr lang="en-US" sz="1200" kern="1200" dirty="0" err="1">
                <a:solidFill>
                  <a:schemeClr val="tx1"/>
                </a:solidFill>
                <a:effectLst/>
                <a:latin typeface="+mn-lt"/>
                <a:ea typeface="+mn-ea"/>
                <a:cs typeface="+mn-cs"/>
              </a:rPr>
              <a:t>perceptrons</a:t>
            </a:r>
            <a:r>
              <a:rPr lang="en-US" sz="1200" kern="1200" dirty="0">
                <a:solidFill>
                  <a:schemeClr val="tx1"/>
                </a:solidFill>
                <a:effectLst/>
                <a:latin typeface="+mn-lt"/>
                <a:ea typeface="+mn-ea"/>
                <a:cs typeface="+mn-cs"/>
              </a:rPr>
              <a:t> or MLPs (although they aren't technically composed of </a:t>
            </a:r>
            <a:r>
              <a:rPr lang="en-US" sz="1200" kern="1200" dirty="0" err="1">
                <a:solidFill>
                  <a:schemeClr val="tx1"/>
                </a:solidFill>
                <a:effectLst/>
                <a:latin typeface="+mn-lt"/>
                <a:ea typeface="+mn-ea"/>
                <a:cs typeface="+mn-cs"/>
              </a:rPr>
              <a:t>perceptrons</a:t>
            </a:r>
            <a:r>
              <a:rPr lang="en-US" sz="1200" kern="1200" dirty="0">
                <a:solidFill>
                  <a:schemeClr val="tx1"/>
                </a:solidFill>
                <a:effectLst/>
                <a:latin typeface="+mn-lt"/>
                <a:ea typeface="+mn-ea"/>
                <a:cs typeface="+mn-cs"/>
              </a:rPr>
              <a:t> any more).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Simple feedforward networks have three kinds of nodes: input units, hidden units, and output units.</a:t>
            </a:r>
            <a:endParaRPr lang="en-US" dirty="0"/>
          </a:p>
        </p:txBody>
      </p:sp>
      <p:sp>
        <p:nvSpPr>
          <p:cNvPr id="4" name="Slide Number Placeholder 3"/>
          <p:cNvSpPr>
            <a:spLocks noGrp="1"/>
          </p:cNvSpPr>
          <p:nvPr>
            <p:ph type="sldNum" sz="quarter" idx="5"/>
          </p:nvPr>
        </p:nvSpPr>
        <p:spPr/>
        <p:txBody>
          <a:bodyPr/>
          <a:lstStyle/>
          <a:p>
            <a:fld id="{EE707532-839C-41A2-9E71-D5288AEAE66A}" type="slidenum">
              <a:rPr lang="en-US" smtClean="0"/>
              <a:pPr/>
              <a:t>23</a:t>
            </a:fld>
            <a:endParaRPr lang="en-US"/>
          </a:p>
        </p:txBody>
      </p:sp>
    </p:spTree>
    <p:extLst>
      <p:ext uri="{BB962C8B-B14F-4D97-AF65-F5344CB8AC3E}">
        <p14:creationId xmlns:p14="http://schemas.microsoft.com/office/powerpoint/2010/main" val="308656933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Here are the final equations for a feedforward network with a single hidden layer, which takes an input vector </a:t>
            </a:r>
            <a:r>
              <a:rPr lang="en-US" sz="1200" i="1" kern="1200" dirty="0">
                <a:solidFill>
                  <a:schemeClr val="tx1"/>
                </a:solidFill>
                <a:effectLst/>
                <a:latin typeface="+mn-lt"/>
                <a:ea typeface="+mn-ea"/>
                <a:cs typeface="+mn-cs"/>
              </a:rPr>
              <a:t>x</a:t>
            </a:r>
            <a:r>
              <a:rPr lang="en-US" sz="1200" kern="1200" dirty="0">
                <a:solidFill>
                  <a:schemeClr val="tx1"/>
                </a:solidFill>
                <a:effectLst/>
                <a:latin typeface="+mn-lt"/>
                <a:ea typeface="+mn-ea"/>
                <a:cs typeface="+mn-cs"/>
              </a:rPr>
              <a:t>, outputs a probability distribution </a:t>
            </a:r>
            <a:r>
              <a:rPr lang="en-US" sz="1200" i="1" kern="1200" dirty="0">
                <a:solidFill>
                  <a:schemeClr val="tx1"/>
                </a:solidFill>
                <a:effectLst/>
                <a:latin typeface="+mn-lt"/>
                <a:ea typeface="+mn-ea"/>
                <a:cs typeface="+mn-cs"/>
              </a:rPr>
              <a:t>y</a:t>
            </a:r>
            <a:r>
              <a:rPr lang="en-US" sz="1200" kern="1200" dirty="0">
                <a:solidFill>
                  <a:schemeClr val="tx1"/>
                </a:solidFill>
                <a:effectLst/>
                <a:latin typeface="+mn-lt"/>
                <a:ea typeface="+mn-ea"/>
                <a:cs typeface="+mn-cs"/>
              </a:rPr>
              <a:t>, and is parameterized by weight matrices </a:t>
            </a:r>
            <a:r>
              <a:rPr lang="en-US" sz="1200" i="1" kern="1200" dirty="0">
                <a:solidFill>
                  <a:schemeClr val="tx1"/>
                </a:solidFill>
                <a:effectLst/>
                <a:latin typeface="+mn-lt"/>
                <a:ea typeface="+mn-ea"/>
                <a:cs typeface="+mn-cs"/>
              </a:rPr>
              <a:t>W </a:t>
            </a:r>
            <a:r>
              <a:rPr lang="en-US" sz="1200" kern="1200" dirty="0">
                <a:solidFill>
                  <a:schemeClr val="tx1"/>
                </a:solidFill>
                <a:effectLst/>
                <a:latin typeface="+mn-lt"/>
                <a:ea typeface="+mn-ea"/>
                <a:cs typeface="+mn-cs"/>
              </a:rPr>
              <a:t>and </a:t>
            </a:r>
            <a:r>
              <a:rPr lang="en-US" sz="1200" i="1" kern="1200" dirty="0">
                <a:solidFill>
                  <a:schemeClr val="tx1"/>
                </a:solidFill>
                <a:effectLst/>
                <a:latin typeface="+mn-lt"/>
                <a:ea typeface="+mn-ea"/>
                <a:cs typeface="+mn-cs"/>
              </a:rPr>
              <a:t>U </a:t>
            </a:r>
            <a:r>
              <a:rPr lang="en-US" sz="1200" kern="1200" dirty="0">
                <a:solidFill>
                  <a:schemeClr val="tx1"/>
                </a:solidFill>
                <a:effectLst/>
                <a:latin typeface="+mn-lt"/>
                <a:ea typeface="+mn-ea"/>
                <a:cs typeface="+mn-cs"/>
              </a:rPr>
              <a:t>and a bias vector </a:t>
            </a:r>
            <a:r>
              <a:rPr lang="en-US" sz="1200" i="1" kern="1200" dirty="0">
                <a:solidFill>
                  <a:schemeClr val="tx1"/>
                </a:solidFill>
                <a:effectLst/>
                <a:latin typeface="+mn-lt"/>
                <a:ea typeface="+mn-ea"/>
                <a:cs typeface="+mn-cs"/>
              </a:rPr>
              <a:t>b</a:t>
            </a:r>
            <a:r>
              <a:rPr lang="en-US" sz="1200" kern="1200" dirty="0">
                <a:solidFill>
                  <a:schemeClr val="tx1"/>
                </a:solidFill>
                <a:effectLst/>
                <a:latin typeface="+mn-lt"/>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p:txBody>
      </p:sp>
      <p:sp>
        <p:nvSpPr>
          <p:cNvPr id="4" name="Slide Number Placeholder 3"/>
          <p:cNvSpPr>
            <a:spLocks noGrp="1"/>
          </p:cNvSpPr>
          <p:nvPr>
            <p:ph type="sldNum" sz="quarter" idx="5"/>
          </p:nvPr>
        </p:nvSpPr>
        <p:spPr/>
        <p:txBody>
          <a:bodyPr/>
          <a:lstStyle/>
          <a:p>
            <a:fld id="{EE707532-839C-41A2-9E71-D5288AEAE66A}" type="slidenum">
              <a:rPr lang="en-US" smtClean="0"/>
              <a:pPr/>
              <a:t>25</a:t>
            </a:fld>
            <a:endParaRPr lang="en-US"/>
          </a:p>
        </p:txBody>
      </p:sp>
    </p:spTree>
    <p:extLst>
      <p:ext uri="{BB962C8B-B14F-4D97-AF65-F5344CB8AC3E}">
        <p14:creationId xmlns:p14="http://schemas.microsoft.com/office/powerpoint/2010/main" val="283645685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What if you have more than two output classes?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If we are doing multinomial classification, such as assigning a part-of-speech tag,</a:t>
            </a:r>
            <a:r>
              <a:rPr lang="en-US" dirty="0"/>
              <a:t> we just add more output units (one for each class).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So we might have one output node for each potential part-of-speech, whose output value is the probability of that part-of-speech,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 The output layer thus gives a probability distribution across the output nodes.   We use the </a:t>
            </a:r>
            <a:r>
              <a:rPr lang="en-US" sz="1200" kern="1200" dirty="0" err="1">
                <a:solidFill>
                  <a:schemeClr val="tx1"/>
                </a:solidFill>
                <a:effectLst/>
                <a:latin typeface="+mn-lt"/>
                <a:ea typeface="+mn-ea"/>
                <a:cs typeface="+mn-cs"/>
              </a:rPr>
              <a:t>softmax</a:t>
            </a:r>
            <a:r>
              <a:rPr lang="en-US" sz="1200" kern="1200" dirty="0">
                <a:solidFill>
                  <a:schemeClr val="tx1"/>
                </a:solidFill>
                <a:effectLst/>
                <a:latin typeface="+mn-lt"/>
                <a:ea typeface="+mn-ea"/>
                <a:cs typeface="+mn-cs"/>
              </a:rPr>
              <a:t> to compute this distribution,  just as for multinomial logistic regression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That means we can think of a neural network classifier with one hidden layer as building a vector </a:t>
            </a:r>
            <a:r>
              <a:rPr lang="en-US" sz="1200" i="1" kern="1200" dirty="0">
                <a:solidFill>
                  <a:schemeClr val="tx1"/>
                </a:solidFill>
                <a:effectLst/>
                <a:latin typeface="+mn-lt"/>
                <a:ea typeface="+mn-ea"/>
                <a:cs typeface="+mn-cs"/>
              </a:rPr>
              <a:t>h </a:t>
            </a:r>
            <a:r>
              <a:rPr lang="en-US" sz="1200" kern="1200" dirty="0">
                <a:solidFill>
                  <a:schemeClr val="tx1"/>
                </a:solidFill>
                <a:effectLst/>
                <a:latin typeface="+mn-lt"/>
                <a:ea typeface="+mn-ea"/>
                <a:cs typeface="+mn-cs"/>
              </a:rPr>
              <a:t>which is a hidden layer representation of the input, and then running standard logistic regression on the features that the network develops in </a:t>
            </a:r>
            <a:r>
              <a:rPr lang="en-US" sz="1200" i="1" kern="1200" dirty="0">
                <a:solidFill>
                  <a:schemeClr val="tx1"/>
                </a:solidFill>
                <a:effectLst/>
                <a:latin typeface="+mn-lt"/>
                <a:ea typeface="+mn-ea"/>
                <a:cs typeface="+mn-cs"/>
              </a:rPr>
              <a:t>h</a:t>
            </a:r>
            <a:r>
              <a:rPr lang="en-US" sz="1200" kern="1200" dirty="0">
                <a:solidFill>
                  <a:schemeClr val="tx1"/>
                </a:solidFill>
                <a:effectLst/>
                <a:latin typeface="+mn-lt"/>
                <a:ea typeface="+mn-ea"/>
                <a:cs typeface="+mn-cs"/>
              </a:rPr>
              <a:t>. By contrast, in Chapter 5 the features were mainly designed by hand via feature templates. So a neural network is like logistic regression, but (a) with many layers, since a deep neural network is like layer after layer of logistic regression classifiers, and (b) rather than forming the features by feature templates, the prior layers of the network induce the feature representations themselves. </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p:txBody>
      </p:sp>
      <p:sp>
        <p:nvSpPr>
          <p:cNvPr id="4" name="Slide Number Placeholder 3"/>
          <p:cNvSpPr>
            <a:spLocks noGrp="1"/>
          </p:cNvSpPr>
          <p:nvPr>
            <p:ph type="sldNum" sz="quarter" idx="5"/>
          </p:nvPr>
        </p:nvSpPr>
        <p:spPr/>
        <p:txBody>
          <a:bodyPr/>
          <a:lstStyle/>
          <a:p>
            <a:fld id="{EE707532-839C-41A2-9E71-D5288AEAE66A}" type="slidenum">
              <a:rPr lang="en-US" smtClean="0"/>
              <a:pPr/>
              <a:t>26</a:t>
            </a:fld>
            <a:endParaRPr lang="en-US"/>
          </a:p>
        </p:txBody>
      </p:sp>
    </p:spTree>
    <p:extLst>
      <p:ext uri="{BB962C8B-B14F-4D97-AF65-F5344CB8AC3E}">
        <p14:creationId xmlns:p14="http://schemas.microsoft.com/office/powerpoint/2010/main" val="415193885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720725"/>
            <a:ext cx="6400800" cy="3600450"/>
          </a:xfrm>
        </p:spPr>
      </p:sp>
      <p:sp>
        <p:nvSpPr>
          <p:cNvPr id="3" name="Notes Placeholder 2"/>
          <p:cNvSpPr>
            <a:spLocks noGrp="1"/>
          </p:cNvSpPr>
          <p:nvPr>
            <p:ph type="body" idx="1"/>
          </p:nvPr>
        </p:nvSpPr>
        <p:spPr/>
        <p:txBody>
          <a:bodyPr>
            <a:normAutofit/>
          </a:bodyPr>
          <a:lstStyle/>
          <a:p>
            <a:r>
              <a:rPr lang="en-US" baseline="0" dirty="0"/>
              <a:t>How do we train neural networks? Let's start with an overview</a:t>
            </a: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E707532-839C-41A2-9E71-D5288AEAE66A}" type="slidenum">
              <a:rPr kumimoji="0" lang="en-US" sz="13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US" sz="13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57618479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intuition of neural net training is the </a:t>
            </a:r>
            <a:r>
              <a:rPr lang="en-US" b="1" dirty="0"/>
              <a:t>forward</a:t>
            </a:r>
            <a:r>
              <a:rPr lang="en-US" dirty="0"/>
              <a:t> computation of the loss and the </a:t>
            </a:r>
            <a:r>
              <a:rPr lang="en-US" b="1" dirty="0"/>
              <a:t>backward</a:t>
            </a:r>
            <a:r>
              <a:rPr lang="en-US" dirty="0"/>
              <a:t> computation of the weight updates.  Given an input x, </a:t>
            </a:r>
          </a:p>
          <a:p>
            <a:endParaRPr lang="en-US" dirty="0"/>
          </a:p>
          <a:p>
            <a:r>
              <a:rPr lang="en-US" dirty="0"/>
              <a:t>CLICK</a:t>
            </a:r>
          </a:p>
          <a:p>
            <a:r>
              <a:rPr lang="en-US" dirty="0"/>
              <a:t>we run a forward pass through the network, computing the system output y-hat. CLICK</a:t>
            </a:r>
          </a:p>
          <a:p>
            <a:endParaRPr lang="en-US" dirty="0"/>
          </a:p>
          <a:p>
            <a:r>
              <a:rPr lang="en-US" dirty="0"/>
              <a:t>Then we compare y-hat to the true answer y, CLICK to get a loss for this example.  CLICK Then CLICK we do a backward pass through the network, computing the gradients we need to update the weights.</a:t>
            </a:r>
          </a:p>
        </p:txBody>
      </p:sp>
      <p:sp>
        <p:nvSpPr>
          <p:cNvPr id="4" name="Slide Number Placeholder 3"/>
          <p:cNvSpPr>
            <a:spLocks noGrp="1"/>
          </p:cNvSpPr>
          <p:nvPr>
            <p:ph type="sldNum" sz="quarter" idx="5"/>
          </p:nvPr>
        </p:nvSpPr>
        <p:spPr/>
        <p:txBody>
          <a:bodyPr/>
          <a:lstStyle/>
          <a:p>
            <a:fld id="{EE707532-839C-41A2-9E71-D5288AEAE66A}" type="slidenum">
              <a:rPr lang="en-US" smtClean="0"/>
              <a:pPr/>
              <a:t>28</a:t>
            </a:fld>
            <a:endParaRPr lang="en-US"/>
          </a:p>
        </p:txBody>
      </p:sp>
    </p:spTree>
    <p:extLst>
      <p:ext uri="{BB962C8B-B14F-4D97-AF65-F5344CB8AC3E}">
        <p14:creationId xmlns:p14="http://schemas.microsoft.com/office/powerpoint/2010/main" val="22453560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a:t>
            </a:r>
          </a:p>
        </p:txBody>
      </p:sp>
      <p:sp>
        <p:nvSpPr>
          <p:cNvPr id="4" name="Slide Number Placeholder 3"/>
          <p:cNvSpPr>
            <a:spLocks noGrp="1"/>
          </p:cNvSpPr>
          <p:nvPr>
            <p:ph type="sldNum" sz="quarter" idx="5"/>
          </p:nvPr>
        </p:nvSpPr>
        <p:spPr/>
        <p:txBody>
          <a:bodyPr/>
          <a:lstStyle/>
          <a:p>
            <a:fld id="{EE707532-839C-41A2-9E71-D5288AEAE66A}" type="slidenum">
              <a:rPr lang="en-US" smtClean="0"/>
              <a:pPr/>
              <a:t>29</a:t>
            </a:fld>
            <a:endParaRPr lang="en-US"/>
          </a:p>
        </p:txBody>
      </p:sp>
    </p:spTree>
    <p:extLst>
      <p:ext uri="{BB962C8B-B14F-4D97-AF65-F5344CB8AC3E}">
        <p14:creationId xmlns:p14="http://schemas.microsoft.com/office/powerpoint/2010/main" val="25915436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22960" y="119702"/>
            <a:ext cx="7543800" cy="680397"/>
          </a:xfrm>
        </p:spPr>
        <p:txBody>
          <a:bodyPr/>
          <a:lstStyle/>
          <a:p>
            <a:r>
              <a:rPr lang="en-US" dirty="0"/>
              <a:t>Click to edit Master title style</a:t>
            </a:r>
          </a:p>
        </p:txBody>
      </p:sp>
      <p:sp>
        <p:nvSpPr>
          <p:cNvPr id="3" name="Content Placeholder 2"/>
          <p:cNvSpPr>
            <a:spLocks noGrp="1"/>
          </p:cNvSpPr>
          <p:nvPr>
            <p:ph idx="1"/>
          </p:nvPr>
        </p:nvSpPr>
        <p:spPr>
          <a:xfrm>
            <a:off x="822962" y="1200150"/>
            <a:ext cx="7543801" cy="3429000"/>
          </a:xfrm>
        </p:spPr>
        <p:txBody>
          <a:bodyPr/>
          <a:lstStyle>
            <a:lvl1pPr marL="7938" indent="-7938">
              <a:buNone/>
              <a:tabLst/>
              <a:defRPr sz="2800" baseline="0"/>
            </a:lvl1pPr>
            <a:lvl2pPr marL="404793" indent="-253988">
              <a:tabLst/>
              <a:defRPr sz="2400" baseline="0"/>
            </a:lvl2pPr>
            <a:lvl3pPr marL="515912" indent="-228588">
              <a:tabLst/>
              <a:defRPr sz="2000" baseline="0"/>
            </a:lvl3pPr>
            <a:lvl4pPr marL="690529" indent="-265100">
              <a:tabLst/>
              <a:defRPr sz="1600" baseline="0"/>
            </a:lvl4pPr>
            <a:lvl5pPr marL="801648" indent="-239701">
              <a:tabLst/>
              <a:defRPr sz="1400" baseline="0">
                <a:latin typeface="+mj-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240CDC23-E565-C848-9AF6-12BD09C53D91}" type="datetimeFigureOut">
              <a:rPr lang="en-US" smtClean="0"/>
              <a:t>29-Jul-25</a:t>
            </a:fld>
            <a:endParaRPr lang="en-US"/>
          </a:p>
        </p:txBody>
      </p:sp>
      <p:sp>
        <p:nvSpPr>
          <p:cNvPr id="5" name="Footer Placeholder 4"/>
          <p:cNvSpPr>
            <a:spLocks noGrp="1"/>
          </p:cNvSpPr>
          <p:nvPr>
            <p:ph type="ftr" sz="quarter" idx="11"/>
          </p:nvPr>
        </p:nvSpPr>
        <p:spPr>
          <a:xfrm>
            <a:off x="2764640" y="5029203"/>
            <a:ext cx="3617103" cy="89483"/>
          </a:xfrm>
        </p:spPr>
        <p:txBody>
          <a:bodyPr/>
          <a:lstStyle>
            <a:lvl1pPr>
              <a:defRPr sz="600">
                <a:solidFill>
                  <a:schemeClr val="tx1"/>
                </a:solidFill>
              </a:defRPr>
            </a:lvl1pPr>
          </a:lstStyle>
          <a:p>
            <a:r>
              <a:rPr lang="en-US" dirty="0"/>
              <a:t>Slides adapted from Jure </a:t>
            </a:r>
            <a:r>
              <a:rPr lang="en-US" dirty="0" err="1"/>
              <a:t>Leskovec</a:t>
            </a:r>
            <a:endParaRPr lang="en-US" sz="525" dirty="0"/>
          </a:p>
          <a:p>
            <a:endParaRPr lang="en-US" dirty="0"/>
          </a:p>
        </p:txBody>
      </p:sp>
      <p:sp>
        <p:nvSpPr>
          <p:cNvPr id="6" name="Slide Number Placeholder 5"/>
          <p:cNvSpPr>
            <a:spLocks noGrp="1"/>
          </p:cNvSpPr>
          <p:nvPr>
            <p:ph type="sldNum" sz="quarter" idx="12"/>
          </p:nvPr>
        </p:nvSpPr>
        <p:spPr/>
        <p:txBody>
          <a:bodyPr/>
          <a:lstStyle/>
          <a:p>
            <a:fld id="{D07771B2-D7F7-364E-B6F3-F7FE93606BCE}" type="slidenum">
              <a:rPr lang="en-US" smtClean="0"/>
              <a:t>‹#›</a:t>
            </a:fld>
            <a:endParaRPr lang="en-US"/>
          </a:p>
        </p:txBody>
      </p:sp>
    </p:spTree>
    <p:extLst>
      <p:ext uri="{BB962C8B-B14F-4D97-AF65-F5344CB8AC3E}">
        <p14:creationId xmlns:p14="http://schemas.microsoft.com/office/powerpoint/2010/main" val="401202666"/>
      </p:ext>
    </p:extLst>
  </p:cSld>
  <p:clrMapOvr>
    <a:masterClrMapping/>
  </p:clrMapOvr>
  <p:extLst>
    <p:ext uri="{DCECCB84-F9BA-43D5-87BE-67443E8EF086}">
      <p15:sldGuideLst xmlns:p15="http://schemas.microsoft.com/office/powerpoint/2012/main">
        <p15:guide id="1" orient="horz" pos="1620" userDrawn="1">
          <p15:clr>
            <a:srgbClr val="FBAE40"/>
          </p15:clr>
        </p15:guide>
        <p15:guide id="2" pos="216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22960" y="119702"/>
            <a:ext cx="7543800" cy="680397"/>
          </a:xfrm>
        </p:spPr>
        <p:txBody>
          <a:bodyPr/>
          <a:lstStyle/>
          <a:p>
            <a:r>
              <a:rPr lang="en-US" dirty="0"/>
              <a:t>Click to edit Master title style</a:t>
            </a:r>
          </a:p>
        </p:txBody>
      </p:sp>
      <p:sp>
        <p:nvSpPr>
          <p:cNvPr id="3" name="Content Placeholder 2"/>
          <p:cNvSpPr>
            <a:spLocks noGrp="1"/>
          </p:cNvSpPr>
          <p:nvPr>
            <p:ph idx="1"/>
          </p:nvPr>
        </p:nvSpPr>
        <p:spPr>
          <a:xfrm>
            <a:off x="822962" y="1200150"/>
            <a:ext cx="7543801" cy="3429000"/>
          </a:xfrm>
        </p:spPr>
        <p:txBody>
          <a:bodyPr/>
          <a:lstStyle>
            <a:lvl1pPr marL="7938" indent="-7938">
              <a:buNone/>
              <a:tabLst/>
              <a:defRPr sz="2800" baseline="0"/>
            </a:lvl1pPr>
            <a:lvl2pPr marL="404793" indent="-253988">
              <a:tabLst/>
              <a:defRPr sz="2400" baseline="0"/>
            </a:lvl2pPr>
            <a:lvl3pPr marL="515912" indent="-228588">
              <a:tabLst/>
              <a:defRPr sz="2000" baseline="0"/>
            </a:lvl3pPr>
            <a:lvl4pPr marL="690529" indent="-265100">
              <a:tabLst/>
              <a:defRPr sz="1600" baseline="0"/>
            </a:lvl4pPr>
            <a:lvl5pPr marL="801648" indent="-239701">
              <a:tabLst/>
              <a:defRPr sz="1400" baseline="0">
                <a:latin typeface="+mj-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240CDC23-E565-C848-9AF6-12BD09C53D91}" type="datetimeFigureOut">
              <a:rPr lang="en-US" smtClean="0"/>
              <a:t>29-Jul-25</a:t>
            </a:fld>
            <a:endParaRPr lang="en-US"/>
          </a:p>
        </p:txBody>
      </p:sp>
      <p:sp>
        <p:nvSpPr>
          <p:cNvPr id="5" name="Footer Placeholder 4"/>
          <p:cNvSpPr>
            <a:spLocks noGrp="1"/>
          </p:cNvSpPr>
          <p:nvPr>
            <p:ph type="ftr" sz="quarter" idx="11"/>
          </p:nvPr>
        </p:nvSpPr>
        <p:spPr>
          <a:xfrm>
            <a:off x="2764640" y="5029203"/>
            <a:ext cx="3617103" cy="89483"/>
          </a:xfrm>
        </p:spPr>
        <p:txBody>
          <a:bodyPr/>
          <a:lstStyle>
            <a:lvl1pPr>
              <a:defRPr sz="600">
                <a:solidFill>
                  <a:schemeClr val="tx1"/>
                </a:solidFill>
              </a:defRPr>
            </a:lvl1pPr>
          </a:lstStyle>
          <a:p>
            <a:r>
              <a:rPr lang="en-US" dirty="0"/>
              <a:t>Slides adapted from Jure </a:t>
            </a:r>
            <a:r>
              <a:rPr lang="en-US" dirty="0" err="1"/>
              <a:t>Leskovec</a:t>
            </a:r>
            <a:endParaRPr lang="en-US" sz="525" dirty="0"/>
          </a:p>
          <a:p>
            <a:endParaRPr lang="en-US" dirty="0"/>
          </a:p>
        </p:txBody>
      </p:sp>
      <p:sp>
        <p:nvSpPr>
          <p:cNvPr id="6" name="Slide Number Placeholder 5"/>
          <p:cNvSpPr>
            <a:spLocks noGrp="1"/>
          </p:cNvSpPr>
          <p:nvPr>
            <p:ph type="sldNum" sz="quarter" idx="12"/>
          </p:nvPr>
        </p:nvSpPr>
        <p:spPr/>
        <p:txBody>
          <a:bodyPr/>
          <a:lstStyle/>
          <a:p>
            <a:fld id="{D07771B2-D7F7-364E-B6F3-F7FE93606BCE}" type="slidenum">
              <a:rPr lang="en-US" smtClean="0"/>
              <a:t>‹#›</a:t>
            </a:fld>
            <a:endParaRPr lang="en-US"/>
          </a:p>
        </p:txBody>
      </p:sp>
    </p:spTree>
    <p:extLst>
      <p:ext uri="{BB962C8B-B14F-4D97-AF65-F5344CB8AC3E}">
        <p14:creationId xmlns:p14="http://schemas.microsoft.com/office/powerpoint/2010/main" val="3697843168"/>
      </p:ext>
    </p:extLst>
  </p:cSld>
  <p:clrMapOvr>
    <a:masterClrMapping/>
  </p:clrMapOvr>
  <p:extLst>
    <p:ext uri="{DCECCB84-F9BA-43D5-87BE-67443E8EF086}">
      <p15:sldGuideLst xmlns:p15="http://schemas.microsoft.com/office/powerpoint/2012/main">
        <p15:guide id="1" orient="horz" pos="1620" userDrawn="1">
          <p15:clr>
            <a:srgbClr val="FBAE40"/>
          </p15:clr>
        </p15:guide>
        <p15:guide id="2" pos="216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822960" y="214953"/>
            <a:ext cx="7543800" cy="1088068"/>
          </a:xfrm>
        </p:spPr>
        <p:txBody>
          <a:bodyPr/>
          <a:lstStyle/>
          <a:p>
            <a:r>
              <a:rPr lang="en-US"/>
              <a:t>Click to edit Master title style</a:t>
            </a:r>
            <a:endParaRPr lang="en-US" dirty="0"/>
          </a:p>
        </p:txBody>
      </p:sp>
      <p:sp>
        <p:nvSpPr>
          <p:cNvPr id="3" name="Content Placeholder 2"/>
          <p:cNvSpPr>
            <a:spLocks noGrp="1"/>
          </p:cNvSpPr>
          <p:nvPr>
            <p:ph sz="half" idx="1"/>
          </p:nvPr>
        </p:nvSpPr>
        <p:spPr>
          <a:xfrm>
            <a:off x="822960" y="1384301"/>
            <a:ext cx="3703320" cy="3017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63440" y="1384305"/>
            <a:ext cx="3703320" cy="301751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40CDC23-E565-C848-9AF6-12BD09C53D91}" type="datetimeFigureOut">
              <a:rPr lang="en-US" smtClean="0"/>
              <a:t>29-Jul-25</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07771B2-D7F7-364E-B6F3-F7FE93606BCE}" type="slidenum">
              <a:rPr lang="en-US" smtClean="0"/>
              <a:t>‹#›</a:t>
            </a:fld>
            <a:endParaRPr lang="en-US"/>
          </a:p>
        </p:txBody>
      </p:sp>
    </p:spTree>
    <p:extLst>
      <p:ext uri="{BB962C8B-B14F-4D97-AF65-F5344CB8AC3E}">
        <p14:creationId xmlns:p14="http://schemas.microsoft.com/office/powerpoint/2010/main" val="37314115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822960" y="214953"/>
            <a:ext cx="7543800" cy="1088068"/>
          </a:xfrm>
        </p:spPr>
        <p:txBody>
          <a:bodyPr/>
          <a:lstStyle/>
          <a:p>
            <a:r>
              <a:rPr lang="en-US"/>
              <a:t>Click to edit Master title style</a:t>
            </a:r>
            <a:endParaRPr lang="en-US" dirty="0"/>
          </a:p>
        </p:txBody>
      </p:sp>
      <p:sp>
        <p:nvSpPr>
          <p:cNvPr id="3" name="Text Placeholder 2"/>
          <p:cNvSpPr>
            <a:spLocks noGrp="1"/>
          </p:cNvSpPr>
          <p:nvPr>
            <p:ph type="body" idx="1"/>
          </p:nvPr>
        </p:nvSpPr>
        <p:spPr>
          <a:xfrm>
            <a:off x="822960" y="1384540"/>
            <a:ext cx="3703320" cy="552212"/>
          </a:xfrm>
        </p:spPr>
        <p:txBody>
          <a:bodyPr lIns="91440" rIns="91440" anchor="ctr">
            <a:normAutofit/>
          </a:bodyPr>
          <a:lstStyle>
            <a:lvl1pPr marL="0" indent="0">
              <a:buNone/>
              <a:defRPr sz="1500" b="0" cap="all" baseline="0">
                <a:solidFill>
                  <a:schemeClr val="tx2"/>
                </a:solidFill>
              </a:defRPr>
            </a:lvl1pPr>
            <a:lvl2pPr marL="342884" indent="0">
              <a:buNone/>
              <a:defRPr sz="1500" b="1"/>
            </a:lvl2pPr>
            <a:lvl3pPr marL="685766" indent="0">
              <a:buNone/>
              <a:defRPr sz="1350" b="1"/>
            </a:lvl3pPr>
            <a:lvl4pPr marL="1028649" indent="0">
              <a:buNone/>
              <a:defRPr sz="1200" b="1"/>
            </a:lvl4pPr>
            <a:lvl5pPr marL="1371532" indent="0">
              <a:buNone/>
              <a:defRPr sz="1200" b="1"/>
            </a:lvl5pPr>
            <a:lvl6pPr marL="1714415" indent="0">
              <a:buNone/>
              <a:defRPr sz="1200" b="1"/>
            </a:lvl6pPr>
            <a:lvl7pPr marL="2057297" indent="0">
              <a:buNone/>
              <a:defRPr sz="1200" b="1"/>
            </a:lvl7pPr>
            <a:lvl8pPr marL="2400180" indent="0">
              <a:buNone/>
              <a:defRPr sz="1200" b="1"/>
            </a:lvl8pPr>
            <a:lvl9pPr marL="2743064" indent="0">
              <a:buNone/>
              <a:defRPr sz="1200" b="1"/>
            </a:lvl9pPr>
          </a:lstStyle>
          <a:p>
            <a:pPr lvl="0"/>
            <a:r>
              <a:rPr lang="en-US"/>
              <a:t>Click to edit Master text styles</a:t>
            </a:r>
          </a:p>
        </p:txBody>
      </p:sp>
      <p:sp>
        <p:nvSpPr>
          <p:cNvPr id="4" name="Content Placeholder 3"/>
          <p:cNvSpPr>
            <a:spLocks noGrp="1"/>
          </p:cNvSpPr>
          <p:nvPr>
            <p:ph sz="half" idx="2"/>
          </p:nvPr>
        </p:nvSpPr>
        <p:spPr>
          <a:xfrm>
            <a:off x="822960" y="1936751"/>
            <a:ext cx="3703320" cy="24650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63440" y="1384540"/>
            <a:ext cx="3703320" cy="552212"/>
          </a:xfrm>
        </p:spPr>
        <p:txBody>
          <a:bodyPr lIns="91440" rIns="91440" anchor="ctr">
            <a:normAutofit/>
          </a:bodyPr>
          <a:lstStyle>
            <a:lvl1pPr marL="0" indent="0">
              <a:buNone/>
              <a:defRPr sz="1500" b="0" cap="all" baseline="0">
                <a:solidFill>
                  <a:schemeClr val="tx2"/>
                </a:solidFill>
              </a:defRPr>
            </a:lvl1pPr>
            <a:lvl2pPr marL="342884" indent="0">
              <a:buNone/>
              <a:defRPr sz="1500" b="1"/>
            </a:lvl2pPr>
            <a:lvl3pPr marL="685766" indent="0">
              <a:buNone/>
              <a:defRPr sz="1350" b="1"/>
            </a:lvl3pPr>
            <a:lvl4pPr marL="1028649" indent="0">
              <a:buNone/>
              <a:defRPr sz="1200" b="1"/>
            </a:lvl4pPr>
            <a:lvl5pPr marL="1371532" indent="0">
              <a:buNone/>
              <a:defRPr sz="1200" b="1"/>
            </a:lvl5pPr>
            <a:lvl6pPr marL="1714415" indent="0">
              <a:buNone/>
              <a:defRPr sz="1200" b="1"/>
            </a:lvl6pPr>
            <a:lvl7pPr marL="2057297" indent="0">
              <a:buNone/>
              <a:defRPr sz="1200" b="1"/>
            </a:lvl7pPr>
            <a:lvl8pPr marL="2400180" indent="0">
              <a:buNone/>
              <a:defRPr sz="1200" b="1"/>
            </a:lvl8pPr>
            <a:lvl9pPr marL="2743064"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63440" y="1936751"/>
            <a:ext cx="3703320" cy="24650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40CDC23-E565-C848-9AF6-12BD09C53D91}" type="datetimeFigureOut">
              <a:rPr lang="en-US" smtClean="0"/>
              <a:t>29-Jul-25</a:t>
            </a:fld>
            <a:endParaRPr lang="en-US"/>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07771B2-D7F7-364E-B6F3-F7FE93606BCE}" type="slidenum">
              <a:rPr lang="en-US" smtClean="0"/>
              <a:t>‹#›</a:t>
            </a:fld>
            <a:endParaRPr lang="en-US"/>
          </a:p>
        </p:txBody>
      </p:sp>
    </p:spTree>
    <p:extLst>
      <p:ext uri="{BB962C8B-B14F-4D97-AF65-F5344CB8AC3E}">
        <p14:creationId xmlns:p14="http://schemas.microsoft.com/office/powerpoint/2010/main" val="34252538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304800" y="1253728"/>
            <a:ext cx="4040188" cy="479822"/>
          </a:xfrm>
        </p:spPr>
        <p:txBody>
          <a:bodyPr anchor="b"/>
          <a:lstStyle>
            <a:lvl1pPr marL="0" indent="0">
              <a:buNone/>
              <a:defRPr sz="2400" b="1"/>
            </a:lvl1pPr>
            <a:lvl2pPr marL="457178" indent="0">
              <a:buNone/>
              <a:defRPr sz="2000" b="1"/>
            </a:lvl2pPr>
            <a:lvl3pPr marL="914355" indent="0">
              <a:buNone/>
              <a:defRPr sz="1800" b="1"/>
            </a:lvl3pPr>
            <a:lvl4pPr marL="1371532" indent="0">
              <a:buNone/>
              <a:defRPr sz="1600" b="1"/>
            </a:lvl4pPr>
            <a:lvl5pPr marL="1828709" indent="0">
              <a:buNone/>
              <a:defRPr sz="1600" b="1"/>
            </a:lvl5pPr>
            <a:lvl6pPr marL="2285886" indent="0">
              <a:buNone/>
              <a:defRPr sz="1600" b="1"/>
            </a:lvl6pPr>
            <a:lvl7pPr marL="2743064" indent="0">
              <a:buNone/>
              <a:defRPr sz="1600" b="1"/>
            </a:lvl7pPr>
            <a:lvl8pPr marL="3200240" indent="0">
              <a:buNone/>
              <a:defRPr sz="1600" b="1"/>
            </a:lvl8pPr>
            <a:lvl9pPr marL="3657418" indent="0">
              <a:buNone/>
              <a:defRPr sz="1600" b="1"/>
            </a:lvl9pPr>
          </a:lstStyle>
          <a:p>
            <a:pPr lvl="0"/>
            <a:r>
              <a:rPr lang="en-US"/>
              <a:t>Click to edit Master text styles</a:t>
            </a:r>
          </a:p>
        </p:txBody>
      </p:sp>
      <p:sp>
        <p:nvSpPr>
          <p:cNvPr id="4" name="Content Placeholder 3"/>
          <p:cNvSpPr>
            <a:spLocks noGrp="1"/>
          </p:cNvSpPr>
          <p:nvPr>
            <p:ph sz="half" idx="2"/>
          </p:nvPr>
        </p:nvSpPr>
        <p:spPr>
          <a:xfrm>
            <a:off x="304800" y="1733550"/>
            <a:ext cx="4040188" cy="2971800"/>
          </a:xfrm>
        </p:spPr>
        <p:txBody>
          <a:bodyPr/>
          <a:lstStyle>
            <a:lvl1pPr>
              <a:defRPr sz="2400"/>
            </a:lvl1pPr>
            <a:lvl2pPr>
              <a:defRPr sz="2000"/>
            </a:lvl2pPr>
            <a:lvl3pPr>
              <a:defRPr sz="20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492628" y="1253728"/>
            <a:ext cx="4041775" cy="479822"/>
          </a:xfrm>
        </p:spPr>
        <p:txBody>
          <a:bodyPr anchor="b"/>
          <a:lstStyle>
            <a:lvl1pPr marL="0" indent="0">
              <a:buNone/>
              <a:defRPr sz="2400" b="1"/>
            </a:lvl1pPr>
            <a:lvl2pPr marL="457178" indent="0">
              <a:buNone/>
              <a:defRPr sz="2000" b="1"/>
            </a:lvl2pPr>
            <a:lvl3pPr marL="914355" indent="0">
              <a:buNone/>
              <a:defRPr sz="1800" b="1"/>
            </a:lvl3pPr>
            <a:lvl4pPr marL="1371532" indent="0">
              <a:buNone/>
              <a:defRPr sz="1600" b="1"/>
            </a:lvl4pPr>
            <a:lvl5pPr marL="1828709" indent="0">
              <a:buNone/>
              <a:defRPr sz="1600" b="1"/>
            </a:lvl5pPr>
            <a:lvl6pPr marL="2285886" indent="0">
              <a:buNone/>
              <a:defRPr sz="1600" b="1"/>
            </a:lvl6pPr>
            <a:lvl7pPr marL="2743064" indent="0">
              <a:buNone/>
              <a:defRPr sz="1600" b="1"/>
            </a:lvl7pPr>
            <a:lvl8pPr marL="3200240" indent="0">
              <a:buNone/>
              <a:defRPr sz="1600" b="1"/>
            </a:lvl8pPr>
            <a:lvl9pPr marL="3657418"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492628" y="1733550"/>
            <a:ext cx="4041775" cy="2971800"/>
          </a:xfrm>
        </p:spPr>
        <p:txBody>
          <a:bodyPr/>
          <a:lstStyle>
            <a:lvl1pPr>
              <a:defRPr sz="2400"/>
            </a:lvl1pPr>
            <a:lvl2pPr>
              <a:defRPr sz="2000"/>
            </a:lvl2pPr>
            <a:lvl3pPr>
              <a:defRPr sz="20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5"/>
          <p:cNvSpPr>
            <a:spLocks noGrp="1" noChangeArrowheads="1"/>
          </p:cNvSpPr>
          <p:nvPr>
            <p:ph type="dt" sz="half" idx="10"/>
          </p:nvPr>
        </p:nvSpPr>
        <p:spPr>
          <a:xfrm>
            <a:off x="6248400" y="4705350"/>
            <a:ext cx="1981200" cy="342900"/>
          </a:xfrm>
          <a:ln/>
        </p:spPr>
        <p:txBody>
          <a:bodyPr/>
          <a:lstStyle>
            <a:lvl1pPr>
              <a:defRPr/>
            </a:lvl1pPr>
          </a:lstStyle>
          <a:p>
            <a:pPr>
              <a:defRPr/>
            </a:pPr>
            <a:endParaRPr lang="en-US"/>
          </a:p>
        </p:txBody>
      </p:sp>
      <p:sp>
        <p:nvSpPr>
          <p:cNvPr id="8" name="Rectangle 6"/>
          <p:cNvSpPr>
            <a:spLocks noGrp="1" noChangeArrowheads="1"/>
          </p:cNvSpPr>
          <p:nvPr>
            <p:ph type="ftr" sz="quarter" idx="11"/>
          </p:nvPr>
        </p:nvSpPr>
        <p:spPr>
          <a:xfrm>
            <a:off x="2819400" y="4705350"/>
            <a:ext cx="2895600" cy="342900"/>
          </a:xfrm>
          <a:ln/>
        </p:spPr>
        <p:txBody>
          <a:bodyPr/>
          <a:lstStyle>
            <a:lvl1pPr>
              <a:defRPr/>
            </a:lvl1pPr>
          </a:lstStyle>
          <a:p>
            <a:pPr>
              <a:defRPr/>
            </a:pPr>
            <a:endParaRPr lang="en-US"/>
          </a:p>
        </p:txBody>
      </p:sp>
      <p:sp>
        <p:nvSpPr>
          <p:cNvPr id="9" name="Rectangle 7"/>
          <p:cNvSpPr>
            <a:spLocks noGrp="1" noChangeArrowheads="1"/>
          </p:cNvSpPr>
          <p:nvPr>
            <p:ph type="sldNum" sz="quarter" idx="12"/>
          </p:nvPr>
        </p:nvSpPr>
        <p:spPr>
          <a:ln/>
        </p:spPr>
        <p:txBody>
          <a:bodyPr/>
          <a:lstStyle>
            <a:lvl1pPr>
              <a:defRPr/>
            </a:lvl1pPr>
          </a:lstStyle>
          <a:p>
            <a:fld id="{231C68C3-6089-F349-9232-42643877B0CF}" type="slidenum">
              <a:rPr lang="en-US"/>
              <a:pPr/>
              <a:t>‹#›</a:t>
            </a:fld>
            <a:endParaRPr lang="en-US"/>
          </a:p>
        </p:txBody>
      </p:sp>
      <p:sp>
        <p:nvSpPr>
          <p:cNvPr id="10" name="Rectangle 2"/>
          <p:cNvSpPr>
            <a:spLocks noChangeArrowheads="1"/>
          </p:cNvSpPr>
          <p:nvPr userDrawn="1"/>
        </p:nvSpPr>
        <p:spPr bwMode="auto">
          <a:xfrm rot="5400000">
            <a:off x="-2548891" y="2548893"/>
            <a:ext cx="5143501" cy="45719"/>
          </a:xfrm>
          <a:prstGeom prst="rect">
            <a:avLst/>
          </a:prstGeom>
          <a:solidFill>
            <a:srgbClr val="A40508"/>
          </a:solidFill>
          <a:ln w="9525">
            <a:solidFill>
              <a:srgbClr val="A4001D"/>
            </a:solidFill>
            <a:miter lim="800000"/>
            <a:headEnd/>
            <a:tailEnd/>
          </a:ln>
          <a:effectLst/>
        </p:spPr>
        <p:txBody>
          <a:bodyPr wrap="none" anchor="ctr"/>
          <a:lstStyle/>
          <a:p>
            <a:pPr algn="ctr">
              <a:defRPr/>
            </a:pPr>
            <a:endParaRPr lang="en-US" sz="1800">
              <a:solidFill>
                <a:srgbClr val="A50021"/>
              </a:solidFill>
              <a:ea typeface="+mn-ea"/>
              <a:cs typeface="+mn-cs"/>
            </a:endParaRPr>
          </a:p>
        </p:txBody>
      </p:sp>
      <p:sp>
        <p:nvSpPr>
          <p:cNvPr id="11" name="Title 1"/>
          <p:cNvSpPr>
            <a:spLocks noGrp="1"/>
          </p:cNvSpPr>
          <p:nvPr>
            <p:ph type="title"/>
          </p:nvPr>
        </p:nvSpPr>
        <p:spPr>
          <a:xfrm>
            <a:off x="1371600" y="381000"/>
            <a:ext cx="7467600" cy="742950"/>
          </a:xfrm>
        </p:spPr>
        <p:txBody>
          <a:bodyPr/>
          <a:lstStyle/>
          <a:p>
            <a:r>
              <a:rPr lang="en-US"/>
              <a:t>Click to edit Master title style</a:t>
            </a:r>
            <a:endParaRPr lang="en-US" dirty="0"/>
          </a:p>
        </p:txBody>
      </p:sp>
    </p:spTree>
    <p:extLst>
      <p:ext uri="{BB962C8B-B14F-4D97-AF65-F5344CB8AC3E}">
        <p14:creationId xmlns:p14="http://schemas.microsoft.com/office/powerpoint/2010/main" val="6834022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3038093" cy="51435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3030053" y="0"/>
            <a:ext cx="48006" cy="514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342900" y="445769"/>
            <a:ext cx="2400300" cy="1714500"/>
          </a:xfrm>
        </p:spPr>
        <p:txBody>
          <a:bodyPr anchor="b">
            <a:normAutofit/>
          </a:bodyPr>
          <a:lstStyle>
            <a:lvl1pPr>
              <a:defRPr sz="27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460240" y="548640"/>
            <a:ext cx="5009393" cy="3943350"/>
          </a:xfrm>
        </p:spPr>
        <p:txBody>
          <a:bodyPr/>
          <a:lstStyle>
            <a:lvl1pPr>
              <a:defRPr sz="3200" baseline="0">
                <a:solidFill>
                  <a:schemeClr val="accent2"/>
                </a:solidFill>
              </a:defRPr>
            </a:lvl1pPr>
            <a:lvl2pPr>
              <a:defRPr sz="2800" baseline="0">
                <a:solidFill>
                  <a:schemeClr val="accent2"/>
                </a:solidFill>
              </a:defRPr>
            </a:lvl2pPr>
            <a:lvl3pPr>
              <a:defRPr sz="2400" baseline="0">
                <a:solidFill>
                  <a:schemeClr val="accent2"/>
                </a:solidFill>
              </a:defRPr>
            </a:lvl3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342900" y="2194562"/>
            <a:ext cx="2400300" cy="2534343"/>
          </a:xfrm>
        </p:spPr>
        <p:txBody>
          <a:bodyPr lIns="91440" rIns="91440">
            <a:normAutofit/>
          </a:bodyPr>
          <a:lstStyle>
            <a:lvl1pPr marL="0" indent="0">
              <a:buNone/>
              <a:defRPr sz="1125">
                <a:solidFill>
                  <a:srgbClr val="FFFFFF"/>
                </a:solidFill>
              </a:defRPr>
            </a:lvl1pPr>
            <a:lvl2pPr marL="342884" indent="0">
              <a:buNone/>
              <a:defRPr sz="900"/>
            </a:lvl2pPr>
            <a:lvl3pPr marL="685766" indent="0">
              <a:buNone/>
              <a:defRPr sz="750"/>
            </a:lvl3pPr>
            <a:lvl4pPr marL="1028649" indent="0">
              <a:buNone/>
              <a:defRPr sz="675"/>
            </a:lvl4pPr>
            <a:lvl5pPr marL="1371532" indent="0">
              <a:buNone/>
              <a:defRPr sz="675"/>
            </a:lvl5pPr>
            <a:lvl6pPr marL="1714415" indent="0">
              <a:buNone/>
              <a:defRPr sz="675"/>
            </a:lvl6pPr>
            <a:lvl7pPr marL="2057297" indent="0">
              <a:buNone/>
              <a:defRPr sz="675"/>
            </a:lvl7pPr>
            <a:lvl8pPr marL="2400180" indent="0">
              <a:buNone/>
              <a:defRPr sz="675"/>
            </a:lvl8pPr>
            <a:lvl9pPr marL="2743064" indent="0">
              <a:buNone/>
              <a:defRPr sz="675"/>
            </a:lvl9pPr>
          </a:lstStyle>
          <a:p>
            <a:pPr lvl="0"/>
            <a:r>
              <a:rPr lang="en-US"/>
              <a:t>Click to edit Master text styles</a:t>
            </a:r>
          </a:p>
        </p:txBody>
      </p:sp>
      <p:sp>
        <p:nvSpPr>
          <p:cNvPr id="5" name="Date Placeholder 4"/>
          <p:cNvSpPr>
            <a:spLocks noGrp="1"/>
          </p:cNvSpPr>
          <p:nvPr>
            <p:ph type="dt" sz="half" idx="10"/>
          </p:nvPr>
        </p:nvSpPr>
        <p:spPr>
          <a:xfrm>
            <a:off x="349137" y="4844841"/>
            <a:ext cx="1963883" cy="273844"/>
          </a:xfrm>
        </p:spPr>
        <p:txBody>
          <a:bodyPr/>
          <a:lstStyle>
            <a:lvl1pPr algn="l">
              <a:defRPr/>
            </a:lvl1pPr>
          </a:lstStyle>
          <a:p>
            <a:fld id="{240CDC23-E565-C848-9AF6-12BD09C53D91}" type="datetimeFigureOut">
              <a:rPr lang="en-US" smtClean="0"/>
              <a:t>29-Jul-25</a:t>
            </a:fld>
            <a:endParaRPr lang="en-US"/>
          </a:p>
        </p:txBody>
      </p:sp>
      <p:sp>
        <p:nvSpPr>
          <p:cNvPr id="6" name="Footer Placeholder 5"/>
          <p:cNvSpPr>
            <a:spLocks noGrp="1"/>
          </p:cNvSpPr>
          <p:nvPr>
            <p:ph type="ftr" sz="quarter" idx="11"/>
          </p:nvPr>
        </p:nvSpPr>
        <p:spPr>
          <a:xfrm>
            <a:off x="3600450" y="4844841"/>
            <a:ext cx="3486150" cy="273844"/>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D07771B2-D7F7-364E-B6F3-F7FE93606BCE}" type="slidenum">
              <a:rPr lang="en-US" smtClean="0"/>
              <a:t>‹#›</a:t>
            </a:fld>
            <a:endParaRPr lang="en-US"/>
          </a:p>
        </p:txBody>
      </p:sp>
    </p:spTree>
    <p:extLst>
      <p:ext uri="{BB962C8B-B14F-4D97-AF65-F5344CB8AC3E}">
        <p14:creationId xmlns:p14="http://schemas.microsoft.com/office/powerpoint/2010/main" val="45659877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p:cNvSpPr/>
          <p:nvPr/>
        </p:nvSpPr>
        <p:spPr>
          <a:xfrm rot="16200000">
            <a:off x="-2518606" y="2473636"/>
            <a:ext cx="5143502" cy="19622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rot="16200000" flipV="1">
            <a:off x="-2442604" y="2560134"/>
            <a:ext cx="5143502"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822960" y="214953"/>
            <a:ext cx="7543800" cy="1088068"/>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822959" y="1384301"/>
            <a:ext cx="7543801" cy="301752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2964" y="4844841"/>
            <a:ext cx="1854203" cy="273844"/>
          </a:xfrm>
          <a:prstGeom prst="rect">
            <a:avLst/>
          </a:prstGeom>
        </p:spPr>
        <p:txBody>
          <a:bodyPr vert="horz" lIns="91440" tIns="45720" rIns="91440" bIns="45720" rtlCol="0" anchor="ctr"/>
          <a:lstStyle>
            <a:lvl1pPr algn="l">
              <a:defRPr sz="675">
                <a:solidFill>
                  <a:srgbClr val="FFFFFF"/>
                </a:solidFill>
              </a:defRPr>
            </a:lvl1pPr>
          </a:lstStyle>
          <a:p>
            <a:fld id="{240CDC23-E565-C848-9AF6-12BD09C53D91}" type="datetimeFigureOut">
              <a:rPr lang="en-US" smtClean="0"/>
              <a:t>29-Jul-25</a:t>
            </a:fld>
            <a:endParaRPr lang="en-US"/>
          </a:p>
        </p:txBody>
      </p:sp>
      <p:sp>
        <p:nvSpPr>
          <p:cNvPr id="5" name="Footer Placeholder 4"/>
          <p:cNvSpPr>
            <a:spLocks noGrp="1"/>
          </p:cNvSpPr>
          <p:nvPr>
            <p:ph type="ftr" sz="quarter" idx="3"/>
          </p:nvPr>
        </p:nvSpPr>
        <p:spPr>
          <a:xfrm>
            <a:off x="2764640" y="4844841"/>
            <a:ext cx="3617103" cy="273844"/>
          </a:xfrm>
          <a:prstGeom prst="rect">
            <a:avLst/>
          </a:prstGeom>
        </p:spPr>
        <p:txBody>
          <a:bodyPr vert="horz" lIns="91440" tIns="45720" rIns="91440" bIns="45720" rtlCol="0" anchor="ctr"/>
          <a:lstStyle>
            <a:lvl1pPr algn="ctr">
              <a:defRPr sz="675"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7425347" y="4844841"/>
            <a:ext cx="984019" cy="273844"/>
          </a:xfrm>
          <a:prstGeom prst="rect">
            <a:avLst/>
          </a:prstGeom>
        </p:spPr>
        <p:txBody>
          <a:bodyPr vert="horz" lIns="91440" tIns="45720" rIns="91440" bIns="45720" rtlCol="0" anchor="ctr"/>
          <a:lstStyle>
            <a:lvl1pPr algn="r">
              <a:defRPr sz="788">
                <a:solidFill>
                  <a:srgbClr val="FFFFFF"/>
                </a:solidFill>
              </a:defRPr>
            </a:lvl1pPr>
          </a:lstStyle>
          <a:p>
            <a:fld id="{D07771B2-D7F7-364E-B6F3-F7FE93606BCE}" type="slidenum">
              <a:rPr lang="en-US" smtClean="0"/>
              <a:t>‹#›</a:t>
            </a:fld>
            <a:endParaRPr lang="en-US"/>
          </a:p>
        </p:txBody>
      </p:sp>
    </p:spTree>
    <p:extLst>
      <p:ext uri="{BB962C8B-B14F-4D97-AF65-F5344CB8AC3E}">
        <p14:creationId xmlns:p14="http://schemas.microsoft.com/office/powerpoint/2010/main" val="2891552665"/>
      </p:ext>
    </p:extLst>
  </p:cSld>
  <p:clrMap bg1="lt1" tx1="dk1" bg2="lt2" tx2="dk2" accent1="accent1" accent2="accent2" accent3="accent3" accent4="accent4" accent5="accent5" accent6="accent6" hlink="hlink" folHlink="folHlink"/>
  <p:sldLayoutIdLst>
    <p:sldLayoutId id="2147483736" r:id="rId1"/>
    <p:sldLayoutId id="2147483743" r:id="rId2"/>
    <p:sldLayoutId id="2147483738" r:id="rId3"/>
    <p:sldLayoutId id="2147483739" r:id="rId4"/>
    <p:sldLayoutId id="2147483740" r:id="rId5"/>
    <p:sldLayoutId id="2147483737" r:id="rId6"/>
  </p:sldLayoutIdLst>
  <p:txStyles>
    <p:titleStyle>
      <a:lvl1pPr algn="l" defTabSz="685766" rtl="0" eaLnBrk="1" latinLnBrk="0" hangingPunct="1">
        <a:lnSpc>
          <a:spcPct val="85000"/>
        </a:lnSpc>
        <a:spcBef>
          <a:spcPct val="0"/>
        </a:spcBef>
        <a:buNone/>
        <a:defRPr sz="3600" kern="1200" spc="-38" baseline="0">
          <a:solidFill>
            <a:schemeClr val="tx1">
              <a:lumMod val="75000"/>
              <a:lumOff val="25000"/>
            </a:schemeClr>
          </a:solidFill>
          <a:latin typeface="+mj-lt"/>
          <a:ea typeface="+mj-ea"/>
          <a:cs typeface="+mj-cs"/>
        </a:defRPr>
      </a:lvl1pPr>
    </p:titleStyle>
    <p:bodyStyle>
      <a:lvl1pPr marL="68577" indent="-68577" algn="l" defTabSz="685766" rtl="0" eaLnBrk="1" latinLnBrk="0" hangingPunct="1">
        <a:lnSpc>
          <a:spcPct val="90000"/>
        </a:lnSpc>
        <a:spcBef>
          <a:spcPts val="900"/>
        </a:spcBef>
        <a:spcAft>
          <a:spcPts val="150"/>
        </a:spcAft>
        <a:buClr>
          <a:schemeClr val="accent1"/>
        </a:buClr>
        <a:buSzPct val="100000"/>
        <a:buFont typeface="Calibri" panose="020F0502020204030204" pitchFamily="34" charset="0"/>
        <a:buChar char=" "/>
        <a:defRPr sz="1500" kern="1200">
          <a:solidFill>
            <a:schemeClr val="tx1">
              <a:lumMod val="75000"/>
              <a:lumOff val="25000"/>
            </a:schemeClr>
          </a:solidFill>
          <a:latin typeface="+mn-lt"/>
          <a:ea typeface="+mn-ea"/>
          <a:cs typeface="+mn-cs"/>
        </a:defRPr>
      </a:lvl1pPr>
      <a:lvl2pPr marL="288022" indent="-137153" algn="l" defTabSz="685766" rtl="0" eaLnBrk="1" latinLnBrk="0" hangingPunct="1">
        <a:lnSpc>
          <a:spcPct val="90000"/>
        </a:lnSpc>
        <a:spcBef>
          <a:spcPts val="150"/>
        </a:spcBef>
        <a:spcAft>
          <a:spcPts val="300"/>
        </a:spcAft>
        <a:buClr>
          <a:schemeClr val="accent1"/>
        </a:buClr>
        <a:buFont typeface="Calibri" pitchFamily="34" charset="0"/>
        <a:buChar char="◦"/>
        <a:defRPr sz="1350" kern="1200">
          <a:solidFill>
            <a:schemeClr val="tx1">
              <a:lumMod val="75000"/>
              <a:lumOff val="25000"/>
            </a:schemeClr>
          </a:solidFill>
          <a:latin typeface="+mn-lt"/>
          <a:ea typeface="+mn-ea"/>
          <a:cs typeface="+mn-cs"/>
        </a:defRPr>
      </a:lvl2pPr>
      <a:lvl3pPr marL="425175" indent="-137153" algn="l" defTabSz="685766"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3pPr>
      <a:lvl4pPr marL="562328" indent="-137153" algn="l" defTabSz="685766"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4pPr>
      <a:lvl5pPr marL="699482" indent="-137153" algn="l" defTabSz="685766"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5pPr>
      <a:lvl6pPr marL="824960" indent="-171442" algn="l" defTabSz="685766"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6pPr>
      <a:lvl7pPr marL="974952" indent="-171442" algn="l" defTabSz="685766"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7pPr>
      <a:lvl8pPr marL="1124944" indent="-171442" algn="l" defTabSz="685766"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8pPr>
      <a:lvl9pPr marL="1274937" indent="-171442" algn="l" defTabSz="685766"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9pPr>
    </p:bodyStyle>
    <p:otherStyle>
      <a:defPPr>
        <a:defRPr lang="en-US"/>
      </a:defPPr>
      <a:lvl1pPr marL="0" algn="l" defTabSz="685766" rtl="0" eaLnBrk="1" latinLnBrk="0" hangingPunct="1">
        <a:defRPr sz="1350" kern="1200">
          <a:solidFill>
            <a:schemeClr val="tx1"/>
          </a:solidFill>
          <a:latin typeface="+mn-lt"/>
          <a:ea typeface="+mn-ea"/>
          <a:cs typeface="+mn-cs"/>
        </a:defRPr>
      </a:lvl1pPr>
      <a:lvl2pPr marL="342884" algn="l" defTabSz="685766" rtl="0" eaLnBrk="1" latinLnBrk="0" hangingPunct="1">
        <a:defRPr sz="1350" kern="1200">
          <a:solidFill>
            <a:schemeClr val="tx1"/>
          </a:solidFill>
          <a:latin typeface="+mn-lt"/>
          <a:ea typeface="+mn-ea"/>
          <a:cs typeface="+mn-cs"/>
        </a:defRPr>
      </a:lvl2pPr>
      <a:lvl3pPr marL="685766" algn="l" defTabSz="685766" rtl="0" eaLnBrk="1" latinLnBrk="0" hangingPunct="1">
        <a:defRPr sz="1350" kern="1200">
          <a:solidFill>
            <a:schemeClr val="tx1"/>
          </a:solidFill>
          <a:latin typeface="+mn-lt"/>
          <a:ea typeface="+mn-ea"/>
          <a:cs typeface="+mn-cs"/>
        </a:defRPr>
      </a:lvl3pPr>
      <a:lvl4pPr marL="1028649" algn="l" defTabSz="685766" rtl="0" eaLnBrk="1" latinLnBrk="0" hangingPunct="1">
        <a:defRPr sz="1350" kern="1200">
          <a:solidFill>
            <a:schemeClr val="tx1"/>
          </a:solidFill>
          <a:latin typeface="+mn-lt"/>
          <a:ea typeface="+mn-ea"/>
          <a:cs typeface="+mn-cs"/>
        </a:defRPr>
      </a:lvl4pPr>
      <a:lvl5pPr marL="1371532" algn="l" defTabSz="685766" rtl="0" eaLnBrk="1" latinLnBrk="0" hangingPunct="1">
        <a:defRPr sz="1350" kern="1200">
          <a:solidFill>
            <a:schemeClr val="tx1"/>
          </a:solidFill>
          <a:latin typeface="+mn-lt"/>
          <a:ea typeface="+mn-ea"/>
          <a:cs typeface="+mn-cs"/>
        </a:defRPr>
      </a:lvl5pPr>
      <a:lvl6pPr marL="1714415" algn="l" defTabSz="685766" rtl="0" eaLnBrk="1" latinLnBrk="0" hangingPunct="1">
        <a:defRPr sz="1350" kern="1200">
          <a:solidFill>
            <a:schemeClr val="tx1"/>
          </a:solidFill>
          <a:latin typeface="+mn-lt"/>
          <a:ea typeface="+mn-ea"/>
          <a:cs typeface="+mn-cs"/>
        </a:defRPr>
      </a:lvl6pPr>
      <a:lvl7pPr marL="2057297" algn="l" defTabSz="685766" rtl="0" eaLnBrk="1" latinLnBrk="0" hangingPunct="1">
        <a:defRPr sz="1350" kern="1200">
          <a:solidFill>
            <a:schemeClr val="tx1"/>
          </a:solidFill>
          <a:latin typeface="+mn-lt"/>
          <a:ea typeface="+mn-ea"/>
          <a:cs typeface="+mn-cs"/>
        </a:defRPr>
      </a:lvl7pPr>
      <a:lvl8pPr marL="2400180" algn="l" defTabSz="685766" rtl="0" eaLnBrk="1" latinLnBrk="0" hangingPunct="1">
        <a:defRPr sz="1350" kern="1200">
          <a:solidFill>
            <a:schemeClr val="tx1"/>
          </a:solidFill>
          <a:latin typeface="+mn-lt"/>
          <a:ea typeface="+mn-ea"/>
          <a:cs typeface="+mn-cs"/>
        </a:defRPr>
      </a:lvl8pPr>
      <a:lvl9pPr marL="2743064" algn="l" defTabSz="685766"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4.emf"/></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6.emf"/></Relationships>
</file>

<file path=ppt/slides/_rels/slide6.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image" Target="../media/image12.emf"/><Relationship Id="rId1" Type="http://schemas.openxmlformats.org/officeDocument/2006/relationships/slideLayout" Target="../slideLayouts/slideLayout2.xml"/><Relationship Id="rId4" Type="http://schemas.openxmlformats.org/officeDocument/2006/relationships/image" Target="../media/image14.emf"/></Relationships>
</file>

<file path=ppt/slides/_rels/slide11.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image" Target="../media/image15.emf"/><Relationship Id="rId1" Type="http://schemas.openxmlformats.org/officeDocument/2006/relationships/slideLayout" Target="../slideLayouts/slideLayout2.xml"/><Relationship Id="rId6" Type="http://schemas.openxmlformats.org/officeDocument/2006/relationships/image" Target="../media/image19.emf"/><Relationship Id="rId5" Type="http://schemas.openxmlformats.org/officeDocument/2006/relationships/image" Target="../media/image18.emf"/><Relationship Id="rId4" Type="http://schemas.openxmlformats.org/officeDocument/2006/relationships/image" Target="../media/image17.emf"/></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23.emf"/><Relationship Id="rId5" Type="http://schemas.openxmlformats.org/officeDocument/2006/relationships/image" Target="../media/image22.png"/><Relationship Id="rId4" Type="http://schemas.openxmlformats.org/officeDocument/2006/relationships/image" Target="../media/image21.emf"/></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5.emf"/><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6.emf"/><Relationship Id="rId7" Type="http://schemas.openxmlformats.org/officeDocument/2006/relationships/image" Target="../media/image25.emf"/><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29.emf"/><Relationship Id="rId5" Type="http://schemas.openxmlformats.org/officeDocument/2006/relationships/image" Target="../media/image28.emf"/><Relationship Id="rId4" Type="http://schemas.openxmlformats.org/officeDocument/2006/relationships/image" Target="../media/image27.emf"/></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0.emf"/><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1.emf"/><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32.emf"/></Relationships>
</file>

<file path=ppt/slides/_rels/slide21.xml.rels><?xml version="1.0" encoding="UTF-8" standalone="yes"?>
<Relationships xmlns="http://schemas.openxmlformats.org/package/2006/relationships"><Relationship Id="rId3" Type="http://schemas.openxmlformats.org/officeDocument/2006/relationships/image" Target="../media/image33.emf"/><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34.emf"/></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35.emf"/><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7.emf"/><Relationship Id="rId2" Type="http://schemas.openxmlformats.org/officeDocument/2006/relationships/image" Target="../media/image36.emf"/><Relationship Id="rId1" Type="http://schemas.openxmlformats.org/officeDocument/2006/relationships/slideLayout" Target="../slideLayouts/slideLayout2.xml"/><Relationship Id="rId5" Type="http://schemas.openxmlformats.org/officeDocument/2006/relationships/image" Target="../media/image39.emf"/><Relationship Id="rId4" Type="http://schemas.openxmlformats.org/officeDocument/2006/relationships/image" Target="../media/image38.emf"/></Relationships>
</file>

<file path=ppt/slides/_rels/slide2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0.xml"/><Relationship Id="rId1" Type="http://schemas.openxmlformats.org/officeDocument/2006/relationships/slideLayout" Target="../slideLayouts/slideLayout1.xml"/><Relationship Id="rId5" Type="http://schemas.openxmlformats.org/officeDocument/2006/relationships/image" Target="../media/image45.png"/><Relationship Id="rId4" Type="http://schemas.openxmlformats.org/officeDocument/2006/relationships/image" Target="../media/image44.png"/></Relationships>
</file>

<file path=ppt/slides/_rels/slide2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1.xml"/><Relationship Id="rId1" Type="http://schemas.openxmlformats.org/officeDocument/2006/relationships/slideLayout" Target="../slideLayouts/slideLayout1.xml"/><Relationship Id="rId5" Type="http://schemas.openxmlformats.org/officeDocument/2006/relationships/image" Target="../media/image46.png"/><Relationship Id="rId4" Type="http://schemas.openxmlformats.org/officeDocument/2006/relationships/image" Target="../media/image44.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23.xml"/><Relationship Id="rId1" Type="http://schemas.openxmlformats.org/officeDocument/2006/relationships/slideLayout" Target="../slideLayouts/slideLayout1.xml"/><Relationship Id="rId5" Type="http://schemas.openxmlformats.org/officeDocument/2006/relationships/image" Target="../media/image69.png"/><Relationship Id="rId4" Type="http://schemas.openxmlformats.org/officeDocument/2006/relationships/image" Target="../media/image68.png"/></Relationships>
</file>

<file path=ppt/slides/_rels/slide29.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normAutofit/>
          </a:bodyPr>
          <a:lstStyle/>
          <a:p>
            <a:r>
              <a:rPr lang="en-US" sz="3000" dirty="0">
                <a:solidFill>
                  <a:schemeClr val="bg1"/>
                </a:solidFill>
                <a:ea typeface="Franklin Gothic Book" charset="0"/>
                <a:cs typeface="Franklin Gothic Book" charset="0"/>
              </a:rPr>
              <a:t>Neural Networks and Deep Learning</a:t>
            </a:r>
            <a:endParaRPr lang="en-US" sz="3000" dirty="0">
              <a:solidFill>
                <a:schemeClr val="bg1"/>
              </a:solidFill>
            </a:endParaRPr>
          </a:p>
        </p:txBody>
      </p:sp>
      <p:sp>
        <p:nvSpPr>
          <p:cNvPr id="3" name="Subtitle 2"/>
          <p:cNvSpPr>
            <a:spLocks noGrp="1"/>
          </p:cNvSpPr>
          <p:nvPr>
            <p:ph idx="1"/>
          </p:nvPr>
        </p:nvSpPr>
        <p:spPr/>
        <p:txBody>
          <a:bodyPr>
            <a:normAutofit/>
          </a:bodyPr>
          <a:lstStyle/>
          <a:p>
            <a:r>
              <a:rPr lang="en-US" sz="3000" dirty="0">
                <a:solidFill>
                  <a:schemeClr val="tx2"/>
                </a:solidFill>
              </a:rPr>
              <a:t>Units in Neural Networks</a:t>
            </a:r>
          </a:p>
        </p:txBody>
      </p:sp>
      <p:sp>
        <p:nvSpPr>
          <p:cNvPr id="5" name="Text Placeholder 3">
            <a:extLst>
              <a:ext uri="{FF2B5EF4-FFF2-40B4-BE49-F238E27FC236}">
                <a16:creationId xmlns:a16="http://schemas.microsoft.com/office/drawing/2014/main" id="{639FA5E6-69EF-4F28-AC9D-EE5A73B991FA}"/>
              </a:ext>
            </a:extLst>
          </p:cNvPr>
          <p:cNvSpPr>
            <a:spLocks noGrp="1"/>
          </p:cNvSpPr>
          <p:nvPr>
            <p:ph type="body" sz="half" idx="2"/>
          </p:nvPr>
        </p:nvSpPr>
        <p:spPr>
          <a:xfrm>
            <a:off x="342900" y="3867149"/>
            <a:ext cx="2400300" cy="862013"/>
          </a:xfrm>
        </p:spPr>
        <p:txBody>
          <a:bodyPr/>
          <a:lstStyle/>
          <a:p>
            <a:r>
              <a:rPr lang="en-US" dirty="0"/>
              <a:t>Adapted from slides by Dan </a:t>
            </a:r>
            <a:r>
              <a:rPr lang="en-US" dirty="0" err="1"/>
              <a:t>Jurafsky</a:t>
            </a:r>
            <a:r>
              <a:rPr lang="en-US" dirty="0"/>
              <a:t>, Stanford University</a:t>
            </a:r>
          </a:p>
          <a:p>
            <a:endParaRPr lang="en-US" dirty="0"/>
          </a:p>
        </p:txBody>
      </p:sp>
    </p:spTree>
    <p:extLst>
      <p:ext uri="{BB962C8B-B14F-4D97-AF65-F5344CB8AC3E}">
        <p14:creationId xmlns:p14="http://schemas.microsoft.com/office/powerpoint/2010/main" val="2584558954"/>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0" dirty="0"/>
              <a:t>This is in your brain</a:t>
            </a:r>
          </a:p>
        </p:txBody>
      </p:sp>
      <p:sp>
        <p:nvSpPr>
          <p:cNvPr id="6" name="Slide Number Placeholder 5"/>
          <p:cNvSpPr>
            <a:spLocks noGrp="1"/>
          </p:cNvSpPr>
          <p:nvPr>
            <p:ph type="sldNum" sz="quarter" idx="12"/>
          </p:nvPr>
        </p:nvSpPr>
        <p:spPr/>
        <p:txBody>
          <a:bodyPr/>
          <a:lstStyle/>
          <a:p>
            <a:pPr>
              <a:defRPr/>
            </a:pPr>
            <a:fld id="{713DD8BE-556E-3440-9013-11CC5588178D}" type="slidenum">
              <a:rPr lang="en-US" smtClean="0"/>
              <a:pPr>
                <a:defRPr/>
              </a:pPr>
              <a:t>2</a:t>
            </a:fld>
            <a:endParaRPr lang="en-US"/>
          </a:p>
        </p:txBody>
      </p:sp>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1891196" y="1123952"/>
            <a:ext cx="5285411" cy="3408033"/>
          </a:xfrm>
          <a:prstGeom prst="rect">
            <a:avLst/>
          </a:prstGeom>
        </p:spPr>
      </p:pic>
      <p:sp>
        <p:nvSpPr>
          <p:cNvPr id="3" name="Rectangle 2">
            <a:extLst>
              <a:ext uri="{FF2B5EF4-FFF2-40B4-BE49-F238E27FC236}">
                <a16:creationId xmlns:a16="http://schemas.microsoft.com/office/drawing/2014/main" id="{B173117D-0F39-D74C-9F6E-87FC1AAB4A5F}"/>
              </a:ext>
            </a:extLst>
          </p:cNvPr>
          <p:cNvSpPr/>
          <p:nvPr/>
        </p:nvSpPr>
        <p:spPr>
          <a:xfrm>
            <a:off x="4558748" y="4637184"/>
            <a:ext cx="4572000" cy="404085"/>
          </a:xfrm>
          <a:prstGeom prst="rect">
            <a:avLst/>
          </a:prstGeom>
        </p:spPr>
        <p:txBody>
          <a:bodyPr>
            <a:spAutoFit/>
          </a:bodyPr>
          <a:lstStyle/>
          <a:p>
            <a:r>
              <a:rPr lang="en-US" sz="1013" dirty="0"/>
              <a:t>By </a:t>
            </a:r>
            <a:r>
              <a:rPr lang="en-US" sz="1013" dirty="0" err="1"/>
              <a:t>BruceBlaus</a:t>
            </a:r>
            <a:r>
              <a:rPr lang="en-US" sz="1013" dirty="0"/>
              <a:t> - Own work, CC BY 3.0, https://</a:t>
            </a:r>
            <a:r>
              <a:rPr lang="en-US" sz="1013" dirty="0" err="1"/>
              <a:t>commons.wikimedia.org</a:t>
            </a:r>
            <a:r>
              <a:rPr lang="en-US" sz="1013" dirty="0"/>
              <a:t>/w/</a:t>
            </a:r>
            <a:r>
              <a:rPr lang="en-US" sz="1013" dirty="0" err="1"/>
              <a:t>index.php?curid</a:t>
            </a:r>
            <a:r>
              <a:rPr lang="en-US" sz="1013" dirty="0"/>
              <a:t>=28761830</a:t>
            </a:r>
          </a:p>
        </p:txBody>
      </p:sp>
    </p:spTree>
    <p:extLst>
      <p:ext uri="{BB962C8B-B14F-4D97-AF65-F5344CB8AC3E}">
        <p14:creationId xmlns:p14="http://schemas.microsoft.com/office/powerpoint/2010/main" val="20558840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0" dirty="0"/>
              <a:t>Neural Network Unit</a:t>
            </a:r>
            <a:br>
              <a:rPr lang="en-US" b="0" dirty="0"/>
            </a:br>
            <a:r>
              <a:rPr lang="en-US" sz="2000" dirty="0"/>
              <a:t>This is not in your brain</a:t>
            </a:r>
            <a:endParaRPr lang="en-US" sz="2400" dirty="0"/>
          </a:p>
        </p:txBody>
      </p:sp>
      <p:sp>
        <p:nvSpPr>
          <p:cNvPr id="6" name="Slide Number Placeholder 5"/>
          <p:cNvSpPr>
            <a:spLocks noGrp="1"/>
          </p:cNvSpPr>
          <p:nvPr>
            <p:ph type="sldNum" sz="quarter" idx="12"/>
          </p:nvPr>
        </p:nvSpPr>
        <p:spPr/>
        <p:txBody>
          <a:bodyPr/>
          <a:lstStyle/>
          <a:p>
            <a:pPr>
              <a:defRPr/>
            </a:pPr>
            <a:fld id="{713DD8BE-556E-3440-9013-11CC5588178D}" type="slidenum">
              <a:rPr lang="en-US" smtClean="0"/>
              <a:pPr>
                <a:defRPr/>
              </a:pPr>
              <a:t>3</a:t>
            </a:fld>
            <a:endParaRPr lang="en-US"/>
          </a:p>
        </p:txBody>
      </p:sp>
      <p:pic>
        <p:nvPicPr>
          <p:cNvPr id="9" name="Picture 8"/>
          <p:cNvPicPr>
            <a:picLocks noChangeAspect="1"/>
          </p:cNvPicPr>
          <p:nvPr/>
        </p:nvPicPr>
        <p:blipFill>
          <a:blip r:embed="rId3">
            <a:extLst>
              <a:ext uri="{28A0092B-C50C-407E-A947-70E740481C1C}">
                <a14:useLocalDpi xmlns:a14="http://schemas.microsoft.com/office/drawing/2010/main" val="0"/>
              </a:ext>
            </a:extLst>
          </a:blip>
          <a:srcRect/>
          <a:stretch/>
        </p:blipFill>
        <p:spPr>
          <a:xfrm>
            <a:off x="4607284" y="1008612"/>
            <a:ext cx="3592724" cy="3674377"/>
          </a:xfrm>
          <a:prstGeom prst="rect">
            <a:avLst/>
          </a:prstGeom>
        </p:spPr>
      </p:pic>
      <p:cxnSp>
        <p:nvCxnSpPr>
          <p:cNvPr id="19" name="Straight Arrow Connector 18"/>
          <p:cNvCxnSpPr>
            <a:stCxn id="14" idx="3"/>
          </p:cNvCxnSpPr>
          <p:nvPr/>
        </p:nvCxnSpPr>
        <p:spPr bwMode="auto">
          <a:xfrm>
            <a:off x="1427397" y="2592154"/>
            <a:ext cx="249004" cy="2113196"/>
          </a:xfrm>
          <a:prstGeom prst="straightConnector1">
            <a:avLst/>
          </a:prstGeom>
          <a:noFill/>
          <a:ln w="9525" cap="flat" cmpd="sng" algn="ctr">
            <a:noFill/>
            <a:prstDash val="solid"/>
            <a:round/>
            <a:headEnd type="none" w="med" len="med"/>
            <a:tailEnd type="arrow"/>
          </a:ln>
          <a:effectLst/>
        </p:spPr>
      </p:cxnSp>
      <p:sp>
        <p:nvSpPr>
          <p:cNvPr id="51" name="TextBox 50"/>
          <p:cNvSpPr txBox="1"/>
          <p:nvPr/>
        </p:nvSpPr>
        <p:spPr>
          <a:xfrm>
            <a:off x="2819401" y="3671861"/>
            <a:ext cx="1365630" cy="523220"/>
          </a:xfrm>
          <a:prstGeom prst="rect">
            <a:avLst/>
          </a:prstGeom>
          <a:noFill/>
        </p:spPr>
        <p:txBody>
          <a:bodyPr wrap="none" rtlCol="0">
            <a:spAutoFit/>
          </a:bodyPr>
          <a:lstStyle/>
          <a:p>
            <a:r>
              <a:rPr lang="en-US" sz="2800" dirty="0">
                <a:solidFill>
                  <a:srgbClr val="981535"/>
                </a:solidFill>
              </a:rPr>
              <a:t>Weights</a:t>
            </a:r>
          </a:p>
        </p:txBody>
      </p:sp>
      <p:sp>
        <p:nvSpPr>
          <p:cNvPr id="52" name="TextBox 51"/>
          <p:cNvSpPr txBox="1"/>
          <p:nvPr/>
        </p:nvSpPr>
        <p:spPr>
          <a:xfrm>
            <a:off x="2438400" y="4171950"/>
            <a:ext cx="1750992" cy="523220"/>
          </a:xfrm>
          <a:prstGeom prst="rect">
            <a:avLst/>
          </a:prstGeom>
          <a:noFill/>
        </p:spPr>
        <p:txBody>
          <a:bodyPr wrap="none" rtlCol="0">
            <a:spAutoFit/>
          </a:bodyPr>
          <a:lstStyle/>
          <a:p>
            <a:r>
              <a:rPr lang="en-US" sz="2800" dirty="0">
                <a:solidFill>
                  <a:srgbClr val="981535"/>
                </a:solidFill>
              </a:rPr>
              <a:t>Input layer</a:t>
            </a:r>
          </a:p>
        </p:txBody>
      </p:sp>
      <p:sp>
        <p:nvSpPr>
          <p:cNvPr id="53" name="TextBox 52"/>
          <p:cNvSpPr txBox="1"/>
          <p:nvPr/>
        </p:nvSpPr>
        <p:spPr>
          <a:xfrm>
            <a:off x="2514600" y="2928911"/>
            <a:ext cx="2286716" cy="523220"/>
          </a:xfrm>
          <a:prstGeom prst="rect">
            <a:avLst/>
          </a:prstGeom>
          <a:noFill/>
        </p:spPr>
        <p:txBody>
          <a:bodyPr wrap="none" rtlCol="0">
            <a:spAutoFit/>
          </a:bodyPr>
          <a:lstStyle/>
          <a:p>
            <a:r>
              <a:rPr lang="en-US" sz="2800" dirty="0">
                <a:solidFill>
                  <a:srgbClr val="981535"/>
                </a:solidFill>
              </a:rPr>
              <a:t>Weighted sum</a:t>
            </a:r>
          </a:p>
        </p:txBody>
      </p:sp>
      <p:sp>
        <p:nvSpPr>
          <p:cNvPr id="54" name="TextBox 53"/>
          <p:cNvSpPr txBox="1"/>
          <p:nvPr/>
        </p:nvSpPr>
        <p:spPr>
          <a:xfrm>
            <a:off x="1676402" y="1962150"/>
            <a:ext cx="3253776" cy="523220"/>
          </a:xfrm>
          <a:prstGeom prst="rect">
            <a:avLst/>
          </a:prstGeom>
          <a:noFill/>
        </p:spPr>
        <p:txBody>
          <a:bodyPr wrap="none" rtlCol="0">
            <a:spAutoFit/>
          </a:bodyPr>
          <a:lstStyle/>
          <a:p>
            <a:r>
              <a:rPr lang="en-US" sz="2800" dirty="0">
                <a:solidFill>
                  <a:srgbClr val="981535"/>
                </a:solidFill>
              </a:rPr>
              <a:t>Non-linear transform</a:t>
            </a:r>
          </a:p>
        </p:txBody>
      </p:sp>
      <p:sp>
        <p:nvSpPr>
          <p:cNvPr id="55" name="TextBox 54"/>
          <p:cNvSpPr txBox="1"/>
          <p:nvPr/>
        </p:nvSpPr>
        <p:spPr>
          <a:xfrm>
            <a:off x="1828800" y="971550"/>
            <a:ext cx="2088585" cy="523220"/>
          </a:xfrm>
          <a:prstGeom prst="rect">
            <a:avLst/>
          </a:prstGeom>
          <a:noFill/>
        </p:spPr>
        <p:txBody>
          <a:bodyPr wrap="none" rtlCol="0">
            <a:spAutoFit/>
          </a:bodyPr>
          <a:lstStyle/>
          <a:p>
            <a:r>
              <a:rPr lang="en-US" sz="2800" dirty="0">
                <a:solidFill>
                  <a:srgbClr val="981535"/>
                </a:solidFill>
              </a:rPr>
              <a:t>Output value</a:t>
            </a:r>
          </a:p>
        </p:txBody>
      </p:sp>
      <p:sp>
        <p:nvSpPr>
          <p:cNvPr id="11" name="TextBox 10">
            <a:extLst>
              <a:ext uri="{FF2B5EF4-FFF2-40B4-BE49-F238E27FC236}">
                <a16:creationId xmlns:a16="http://schemas.microsoft.com/office/drawing/2014/main" id="{C14E1AD8-9DFD-5648-BE34-5EED9295BE8D}"/>
              </a:ext>
            </a:extLst>
          </p:cNvPr>
          <p:cNvSpPr txBox="1"/>
          <p:nvPr/>
        </p:nvSpPr>
        <p:spPr>
          <a:xfrm>
            <a:off x="7258052" y="3543300"/>
            <a:ext cx="768159" cy="523220"/>
          </a:xfrm>
          <a:prstGeom prst="rect">
            <a:avLst/>
          </a:prstGeom>
          <a:noFill/>
        </p:spPr>
        <p:txBody>
          <a:bodyPr wrap="none" rtlCol="0">
            <a:spAutoFit/>
          </a:bodyPr>
          <a:lstStyle/>
          <a:p>
            <a:r>
              <a:rPr lang="en-US" sz="2800" dirty="0">
                <a:solidFill>
                  <a:srgbClr val="981535"/>
                </a:solidFill>
              </a:rPr>
              <a:t>bias</a:t>
            </a:r>
          </a:p>
        </p:txBody>
      </p:sp>
    </p:spTree>
    <p:extLst>
      <p:ext uri="{BB962C8B-B14F-4D97-AF65-F5344CB8AC3E}">
        <p14:creationId xmlns:p14="http://schemas.microsoft.com/office/powerpoint/2010/main" val="41615047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 grpId="0"/>
      <p:bldP spid="52" grpId="0"/>
      <p:bldP spid="53" grpId="0"/>
      <p:bldP spid="54" grpId="0"/>
      <p:bldP spid="55" grpId="0"/>
      <p:bldP spid="11"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73417F-89FC-E64D-8556-1120F0E3BB93}"/>
              </a:ext>
            </a:extLst>
          </p:cNvPr>
          <p:cNvSpPr>
            <a:spLocks noGrp="1"/>
          </p:cNvSpPr>
          <p:nvPr>
            <p:ph type="title"/>
          </p:nvPr>
        </p:nvSpPr>
        <p:spPr/>
        <p:txBody>
          <a:bodyPr/>
          <a:lstStyle/>
          <a:p>
            <a:r>
              <a:rPr lang="en-US" dirty="0"/>
              <a:t>Neural unit</a:t>
            </a:r>
          </a:p>
        </p:txBody>
      </p:sp>
      <p:sp>
        <p:nvSpPr>
          <p:cNvPr id="3" name="Content Placeholder 2">
            <a:extLst>
              <a:ext uri="{FF2B5EF4-FFF2-40B4-BE49-F238E27FC236}">
                <a16:creationId xmlns:a16="http://schemas.microsoft.com/office/drawing/2014/main" id="{FD85E108-E3AB-B843-B70E-E9644B1593FA}"/>
              </a:ext>
            </a:extLst>
          </p:cNvPr>
          <p:cNvSpPr>
            <a:spLocks noGrp="1"/>
          </p:cNvSpPr>
          <p:nvPr>
            <p:ph idx="1"/>
          </p:nvPr>
        </p:nvSpPr>
        <p:spPr>
          <a:xfrm>
            <a:off x="822962" y="1200150"/>
            <a:ext cx="8206739" cy="3429000"/>
          </a:xfrm>
        </p:spPr>
        <p:txBody>
          <a:bodyPr/>
          <a:lstStyle/>
          <a:p>
            <a:r>
              <a:rPr lang="en-US" dirty="0"/>
              <a:t>Take weighted sum of inputs, plus a bias</a:t>
            </a:r>
          </a:p>
          <a:p>
            <a:endParaRPr lang="en-US" dirty="0"/>
          </a:p>
          <a:p>
            <a:endParaRPr lang="en-US" dirty="0"/>
          </a:p>
          <a:p>
            <a:endParaRPr lang="en-US" dirty="0"/>
          </a:p>
          <a:p>
            <a:r>
              <a:rPr lang="en-US" dirty="0"/>
              <a:t>Instead of just using z, we'll apply a nonlinear activation function f:</a:t>
            </a:r>
          </a:p>
        </p:txBody>
      </p:sp>
      <p:pic>
        <p:nvPicPr>
          <p:cNvPr id="7" name="Picture 6">
            <a:extLst>
              <a:ext uri="{FF2B5EF4-FFF2-40B4-BE49-F238E27FC236}">
                <a16:creationId xmlns:a16="http://schemas.microsoft.com/office/drawing/2014/main" id="{67124BF1-8874-ED41-9E81-EB851B3E9FC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49877" y="2343150"/>
            <a:ext cx="2019300" cy="457200"/>
          </a:xfrm>
          <a:prstGeom prst="rect">
            <a:avLst/>
          </a:prstGeom>
        </p:spPr>
      </p:pic>
      <p:pic>
        <p:nvPicPr>
          <p:cNvPr id="9" name="Picture 8">
            <a:extLst>
              <a:ext uri="{FF2B5EF4-FFF2-40B4-BE49-F238E27FC236}">
                <a16:creationId xmlns:a16="http://schemas.microsoft.com/office/drawing/2014/main" id="{C555481E-B716-0146-B2A4-26E5043E927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156046" y="4057650"/>
            <a:ext cx="2161309" cy="457200"/>
          </a:xfrm>
          <a:prstGeom prst="rect">
            <a:avLst/>
          </a:prstGeom>
        </p:spPr>
      </p:pic>
    </p:spTree>
    <p:extLst>
      <p:ext uri="{BB962C8B-B14F-4D97-AF65-F5344CB8AC3E}">
        <p14:creationId xmlns:p14="http://schemas.microsoft.com/office/powerpoint/2010/main" val="2148681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0" dirty="0"/>
              <a:t>Non-Linear Activation Functions</a:t>
            </a:r>
          </a:p>
        </p:txBody>
      </p:sp>
      <p:sp>
        <p:nvSpPr>
          <p:cNvPr id="6" name="Slide Number Placeholder 5"/>
          <p:cNvSpPr>
            <a:spLocks noGrp="1"/>
          </p:cNvSpPr>
          <p:nvPr>
            <p:ph type="sldNum" sz="quarter" idx="12"/>
          </p:nvPr>
        </p:nvSpPr>
        <p:spPr/>
        <p:txBody>
          <a:bodyPr/>
          <a:lstStyle/>
          <a:p>
            <a:pPr>
              <a:defRPr/>
            </a:pPr>
            <a:fld id="{713DD8BE-556E-3440-9013-11CC5588178D}" type="slidenum">
              <a:rPr lang="en-US" smtClean="0"/>
              <a:pPr>
                <a:defRPr/>
              </a:pPr>
              <a:t>5</a:t>
            </a:fld>
            <a:endParaRPr lang="en-US"/>
          </a:p>
        </p:txBody>
      </p:sp>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2691304" y="1600201"/>
            <a:ext cx="6052646" cy="2724929"/>
          </a:xfrm>
          <a:prstGeom prst="rect">
            <a:avLst/>
          </a:prstGeom>
        </p:spPr>
      </p:pic>
      <p:sp>
        <p:nvSpPr>
          <p:cNvPr id="8" name="TextBox 7"/>
          <p:cNvSpPr txBox="1"/>
          <p:nvPr/>
        </p:nvSpPr>
        <p:spPr>
          <a:xfrm>
            <a:off x="610619" y="2283811"/>
            <a:ext cx="1518364" cy="584775"/>
          </a:xfrm>
          <a:prstGeom prst="rect">
            <a:avLst/>
          </a:prstGeom>
          <a:noFill/>
        </p:spPr>
        <p:txBody>
          <a:bodyPr wrap="none" rtlCol="0">
            <a:spAutoFit/>
          </a:bodyPr>
          <a:lstStyle/>
          <a:p>
            <a:r>
              <a:rPr lang="en-US" sz="3200" dirty="0">
                <a:solidFill>
                  <a:srgbClr val="981535"/>
                </a:solidFill>
              </a:rPr>
              <a:t>Sigmoid</a:t>
            </a:r>
          </a:p>
        </p:txBody>
      </p:sp>
      <p:pic>
        <p:nvPicPr>
          <p:cNvPr id="5" name="Picture 4">
            <a:extLst>
              <a:ext uri="{FF2B5EF4-FFF2-40B4-BE49-F238E27FC236}">
                <a16:creationId xmlns:a16="http://schemas.microsoft.com/office/drawing/2014/main" id="{59866E06-3AFA-D140-A01E-DF0A71E5B0D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0051" y="2845553"/>
            <a:ext cx="2221130" cy="704261"/>
          </a:xfrm>
          <a:prstGeom prst="rect">
            <a:avLst/>
          </a:prstGeom>
        </p:spPr>
      </p:pic>
    </p:spTree>
    <p:extLst>
      <p:ext uri="{BB962C8B-B14F-4D97-AF65-F5344CB8AC3E}">
        <p14:creationId xmlns:p14="http://schemas.microsoft.com/office/powerpoint/2010/main" val="36524558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DFDF17-E66F-5C42-A8B4-28FF8FC36FAB}"/>
              </a:ext>
            </a:extLst>
          </p:cNvPr>
          <p:cNvSpPr>
            <a:spLocks noGrp="1"/>
          </p:cNvSpPr>
          <p:nvPr>
            <p:ph type="title"/>
          </p:nvPr>
        </p:nvSpPr>
        <p:spPr/>
        <p:txBody>
          <a:bodyPr/>
          <a:lstStyle/>
          <a:p>
            <a:r>
              <a:rPr lang="en-US" dirty="0"/>
              <a:t>Final function the unit is computing</a:t>
            </a:r>
          </a:p>
        </p:txBody>
      </p:sp>
      <p:pic>
        <p:nvPicPr>
          <p:cNvPr id="4" name="Content Placeholder 3">
            <a:extLst>
              <a:ext uri="{FF2B5EF4-FFF2-40B4-BE49-F238E27FC236}">
                <a16:creationId xmlns:a16="http://schemas.microsoft.com/office/drawing/2014/main" id="{DE9D6472-ACE9-6744-BE3C-1CBDBD0F0252}"/>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611579" y="2286000"/>
            <a:ext cx="5655733" cy="914400"/>
          </a:xfrm>
          <a:prstGeom prst="rect">
            <a:avLst/>
          </a:prstGeom>
        </p:spPr>
      </p:pic>
    </p:spTree>
    <p:extLst>
      <p:ext uri="{BB962C8B-B14F-4D97-AF65-F5344CB8AC3E}">
        <p14:creationId xmlns:p14="http://schemas.microsoft.com/office/powerpoint/2010/main" val="33875003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0" dirty="0"/>
              <a:t>Final unit again</a:t>
            </a:r>
            <a:endParaRPr lang="en-US" sz="2400" dirty="0"/>
          </a:p>
        </p:txBody>
      </p:sp>
      <p:sp>
        <p:nvSpPr>
          <p:cNvPr id="6" name="Slide Number Placeholder 5"/>
          <p:cNvSpPr>
            <a:spLocks noGrp="1"/>
          </p:cNvSpPr>
          <p:nvPr>
            <p:ph type="sldNum" sz="quarter" idx="12"/>
          </p:nvPr>
        </p:nvSpPr>
        <p:spPr/>
        <p:txBody>
          <a:bodyPr/>
          <a:lstStyle/>
          <a:p>
            <a:pPr>
              <a:defRPr/>
            </a:pPr>
            <a:fld id="{713DD8BE-556E-3440-9013-11CC5588178D}" type="slidenum">
              <a:rPr lang="en-US" smtClean="0"/>
              <a:pPr>
                <a:defRPr/>
              </a:pPr>
              <a:t>7</a:t>
            </a:fld>
            <a:endParaRPr lang="en-US"/>
          </a:p>
        </p:txBody>
      </p:sp>
      <p:pic>
        <p:nvPicPr>
          <p:cNvPr id="9" name="Picture 8"/>
          <p:cNvPicPr>
            <a:picLocks noChangeAspect="1"/>
          </p:cNvPicPr>
          <p:nvPr/>
        </p:nvPicPr>
        <p:blipFill>
          <a:blip r:embed="rId3">
            <a:extLst>
              <a:ext uri="{28A0092B-C50C-407E-A947-70E740481C1C}">
                <a14:useLocalDpi xmlns:a14="http://schemas.microsoft.com/office/drawing/2010/main" val="0"/>
              </a:ext>
            </a:extLst>
          </a:blip>
          <a:srcRect/>
          <a:stretch/>
        </p:blipFill>
        <p:spPr>
          <a:xfrm>
            <a:off x="4607284" y="1008612"/>
            <a:ext cx="3592724" cy="3674377"/>
          </a:xfrm>
          <a:prstGeom prst="rect">
            <a:avLst/>
          </a:prstGeom>
        </p:spPr>
      </p:pic>
      <p:cxnSp>
        <p:nvCxnSpPr>
          <p:cNvPr id="19" name="Straight Arrow Connector 18"/>
          <p:cNvCxnSpPr>
            <a:stCxn id="14" idx="3"/>
          </p:cNvCxnSpPr>
          <p:nvPr/>
        </p:nvCxnSpPr>
        <p:spPr bwMode="auto">
          <a:xfrm>
            <a:off x="1427397" y="2592154"/>
            <a:ext cx="249004" cy="2113196"/>
          </a:xfrm>
          <a:prstGeom prst="straightConnector1">
            <a:avLst/>
          </a:prstGeom>
          <a:noFill/>
          <a:ln w="9525" cap="flat" cmpd="sng" algn="ctr">
            <a:noFill/>
            <a:prstDash val="solid"/>
            <a:round/>
            <a:headEnd type="none" w="med" len="med"/>
            <a:tailEnd type="arrow"/>
          </a:ln>
          <a:effectLst/>
        </p:spPr>
      </p:cxnSp>
      <p:sp>
        <p:nvSpPr>
          <p:cNvPr id="51" name="TextBox 50"/>
          <p:cNvSpPr txBox="1"/>
          <p:nvPr/>
        </p:nvSpPr>
        <p:spPr>
          <a:xfrm>
            <a:off x="2819401" y="3671861"/>
            <a:ext cx="1365630" cy="523220"/>
          </a:xfrm>
          <a:prstGeom prst="rect">
            <a:avLst/>
          </a:prstGeom>
          <a:noFill/>
        </p:spPr>
        <p:txBody>
          <a:bodyPr wrap="none" rtlCol="0">
            <a:spAutoFit/>
          </a:bodyPr>
          <a:lstStyle/>
          <a:p>
            <a:r>
              <a:rPr lang="en-US" sz="2800" dirty="0">
                <a:solidFill>
                  <a:srgbClr val="981535"/>
                </a:solidFill>
              </a:rPr>
              <a:t>Weights</a:t>
            </a:r>
          </a:p>
        </p:txBody>
      </p:sp>
      <p:sp>
        <p:nvSpPr>
          <p:cNvPr id="52" name="TextBox 51"/>
          <p:cNvSpPr txBox="1"/>
          <p:nvPr/>
        </p:nvSpPr>
        <p:spPr>
          <a:xfrm>
            <a:off x="2438400" y="4171950"/>
            <a:ext cx="1750992" cy="523220"/>
          </a:xfrm>
          <a:prstGeom prst="rect">
            <a:avLst/>
          </a:prstGeom>
          <a:noFill/>
        </p:spPr>
        <p:txBody>
          <a:bodyPr wrap="none" rtlCol="0">
            <a:spAutoFit/>
          </a:bodyPr>
          <a:lstStyle/>
          <a:p>
            <a:r>
              <a:rPr lang="en-US" sz="2800" dirty="0">
                <a:solidFill>
                  <a:srgbClr val="981535"/>
                </a:solidFill>
              </a:rPr>
              <a:t>Input layer</a:t>
            </a:r>
          </a:p>
        </p:txBody>
      </p:sp>
      <p:sp>
        <p:nvSpPr>
          <p:cNvPr id="53" name="TextBox 52"/>
          <p:cNvSpPr txBox="1"/>
          <p:nvPr/>
        </p:nvSpPr>
        <p:spPr>
          <a:xfrm>
            <a:off x="2514600" y="2928911"/>
            <a:ext cx="2286716" cy="523220"/>
          </a:xfrm>
          <a:prstGeom prst="rect">
            <a:avLst/>
          </a:prstGeom>
          <a:noFill/>
        </p:spPr>
        <p:txBody>
          <a:bodyPr wrap="none" rtlCol="0">
            <a:spAutoFit/>
          </a:bodyPr>
          <a:lstStyle/>
          <a:p>
            <a:r>
              <a:rPr lang="en-US" sz="2800" dirty="0">
                <a:solidFill>
                  <a:srgbClr val="981535"/>
                </a:solidFill>
              </a:rPr>
              <a:t>Weighted sum</a:t>
            </a:r>
          </a:p>
        </p:txBody>
      </p:sp>
      <p:sp>
        <p:nvSpPr>
          <p:cNvPr id="54" name="TextBox 53"/>
          <p:cNvSpPr txBox="1"/>
          <p:nvPr/>
        </p:nvSpPr>
        <p:spPr>
          <a:xfrm>
            <a:off x="567536" y="2007326"/>
            <a:ext cx="4547463" cy="523220"/>
          </a:xfrm>
          <a:prstGeom prst="rect">
            <a:avLst/>
          </a:prstGeom>
          <a:noFill/>
        </p:spPr>
        <p:txBody>
          <a:bodyPr wrap="none" rtlCol="0">
            <a:spAutoFit/>
          </a:bodyPr>
          <a:lstStyle/>
          <a:p>
            <a:r>
              <a:rPr lang="en-US" sz="2800" dirty="0">
                <a:solidFill>
                  <a:srgbClr val="981535"/>
                </a:solidFill>
              </a:rPr>
              <a:t>Non-linear activation function</a:t>
            </a:r>
          </a:p>
        </p:txBody>
      </p:sp>
      <p:sp>
        <p:nvSpPr>
          <p:cNvPr id="55" name="TextBox 54"/>
          <p:cNvSpPr txBox="1"/>
          <p:nvPr/>
        </p:nvSpPr>
        <p:spPr>
          <a:xfrm>
            <a:off x="1828800" y="971550"/>
            <a:ext cx="2088585" cy="523220"/>
          </a:xfrm>
          <a:prstGeom prst="rect">
            <a:avLst/>
          </a:prstGeom>
          <a:noFill/>
        </p:spPr>
        <p:txBody>
          <a:bodyPr wrap="none" rtlCol="0">
            <a:spAutoFit/>
          </a:bodyPr>
          <a:lstStyle/>
          <a:p>
            <a:r>
              <a:rPr lang="en-US" sz="2800" dirty="0">
                <a:solidFill>
                  <a:srgbClr val="981535"/>
                </a:solidFill>
              </a:rPr>
              <a:t>Output value</a:t>
            </a:r>
          </a:p>
        </p:txBody>
      </p:sp>
      <p:sp>
        <p:nvSpPr>
          <p:cNvPr id="11" name="TextBox 10">
            <a:extLst>
              <a:ext uri="{FF2B5EF4-FFF2-40B4-BE49-F238E27FC236}">
                <a16:creationId xmlns:a16="http://schemas.microsoft.com/office/drawing/2014/main" id="{C14E1AD8-9DFD-5648-BE34-5EED9295BE8D}"/>
              </a:ext>
            </a:extLst>
          </p:cNvPr>
          <p:cNvSpPr txBox="1"/>
          <p:nvPr/>
        </p:nvSpPr>
        <p:spPr>
          <a:xfrm>
            <a:off x="7258052" y="3543300"/>
            <a:ext cx="768159" cy="523220"/>
          </a:xfrm>
          <a:prstGeom prst="rect">
            <a:avLst/>
          </a:prstGeom>
          <a:noFill/>
        </p:spPr>
        <p:txBody>
          <a:bodyPr wrap="none" rtlCol="0">
            <a:spAutoFit/>
          </a:bodyPr>
          <a:lstStyle/>
          <a:p>
            <a:r>
              <a:rPr lang="en-US" sz="2800" dirty="0">
                <a:solidFill>
                  <a:srgbClr val="981535"/>
                </a:solidFill>
              </a:rPr>
              <a:t>bias</a:t>
            </a:r>
          </a:p>
        </p:txBody>
      </p:sp>
    </p:spTree>
    <p:extLst>
      <p:ext uri="{BB962C8B-B14F-4D97-AF65-F5344CB8AC3E}">
        <p14:creationId xmlns:p14="http://schemas.microsoft.com/office/powerpoint/2010/main" val="778828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 grpId="0"/>
      <p:bldP spid="52" grpId="0"/>
      <p:bldP spid="53" grpId="0"/>
      <p:bldP spid="54" grpId="0"/>
      <p:bldP spid="55" grpId="0"/>
      <p:bldP spid="11"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E4EED6-08A8-5941-90CD-A012D56498C7}"/>
              </a:ext>
            </a:extLst>
          </p:cNvPr>
          <p:cNvSpPr>
            <a:spLocks noGrp="1"/>
          </p:cNvSpPr>
          <p:nvPr>
            <p:ph type="title"/>
          </p:nvPr>
        </p:nvSpPr>
        <p:spPr/>
        <p:txBody>
          <a:bodyPr/>
          <a:lstStyle/>
          <a:p>
            <a:r>
              <a:rPr lang="en-US" dirty="0"/>
              <a:t>An example</a:t>
            </a:r>
          </a:p>
        </p:txBody>
      </p:sp>
      <p:sp>
        <p:nvSpPr>
          <p:cNvPr id="3" name="Content Placeholder 2">
            <a:extLst>
              <a:ext uri="{FF2B5EF4-FFF2-40B4-BE49-F238E27FC236}">
                <a16:creationId xmlns:a16="http://schemas.microsoft.com/office/drawing/2014/main" id="{3F5DAD13-5B7E-3F45-8574-1085C14262D1}"/>
              </a:ext>
            </a:extLst>
          </p:cNvPr>
          <p:cNvSpPr>
            <a:spLocks noGrp="1"/>
          </p:cNvSpPr>
          <p:nvPr>
            <p:ph idx="1"/>
          </p:nvPr>
        </p:nvSpPr>
        <p:spPr>
          <a:xfrm>
            <a:off x="914401" y="1004255"/>
            <a:ext cx="7543801" cy="3657600"/>
          </a:xfrm>
        </p:spPr>
        <p:txBody>
          <a:bodyPr/>
          <a:lstStyle/>
          <a:p>
            <a:r>
              <a:rPr lang="en-US" i="1" dirty="0"/>
              <a:t>Suppose a unit has:</a:t>
            </a:r>
          </a:p>
          <a:p>
            <a:r>
              <a:rPr lang="en-US" i="1" dirty="0">
                <a:latin typeface="Courier" pitchFamily="2" charset="0"/>
              </a:rPr>
              <a:t>w </a:t>
            </a:r>
            <a:r>
              <a:rPr lang="en-US" dirty="0">
                <a:latin typeface="Courier" pitchFamily="2" charset="0"/>
              </a:rPr>
              <a:t>= [0.2,0.3,0.9] </a:t>
            </a:r>
          </a:p>
          <a:p>
            <a:r>
              <a:rPr lang="en-US" i="1" dirty="0">
                <a:latin typeface="Courier" pitchFamily="2" charset="0"/>
              </a:rPr>
              <a:t>b </a:t>
            </a:r>
            <a:r>
              <a:rPr lang="en-US" dirty="0">
                <a:latin typeface="Courier" pitchFamily="2" charset="0"/>
              </a:rPr>
              <a:t>= 0.5 </a:t>
            </a:r>
          </a:p>
          <a:p>
            <a:r>
              <a:rPr lang="en-US" dirty="0"/>
              <a:t>What happens with input x:</a:t>
            </a:r>
          </a:p>
          <a:p>
            <a:r>
              <a:rPr lang="en-US" i="1" dirty="0">
                <a:latin typeface="Courier" pitchFamily="2" charset="0"/>
              </a:rPr>
              <a:t>x </a:t>
            </a:r>
            <a:r>
              <a:rPr lang="en-US" dirty="0">
                <a:latin typeface="Courier" pitchFamily="2" charset="0"/>
              </a:rPr>
              <a:t>= [0.5,0.6,0.1] </a:t>
            </a:r>
          </a:p>
          <a:p>
            <a:endParaRPr lang="en-US" dirty="0"/>
          </a:p>
          <a:p>
            <a:endParaRPr lang="en-US" dirty="0"/>
          </a:p>
        </p:txBody>
      </p:sp>
      <p:pic>
        <p:nvPicPr>
          <p:cNvPr id="4" name="Picture 3">
            <a:extLst>
              <a:ext uri="{FF2B5EF4-FFF2-40B4-BE49-F238E27FC236}">
                <a16:creationId xmlns:a16="http://schemas.microsoft.com/office/drawing/2014/main" id="{E2F5FC84-F390-AA44-8F95-F601CF01ED94}"/>
              </a:ext>
            </a:extLst>
          </p:cNvPr>
          <p:cNvPicPr>
            <a:picLocks noChangeAspect="1"/>
          </p:cNvPicPr>
          <p:nvPr/>
        </p:nvPicPr>
        <p:blipFill>
          <a:blip r:embed="rId3"/>
          <a:stretch>
            <a:fillRect/>
          </a:stretch>
        </p:blipFill>
        <p:spPr>
          <a:xfrm>
            <a:off x="389498" y="3444468"/>
            <a:ext cx="2667496" cy="900713"/>
          </a:xfrm>
          <a:prstGeom prst="rect">
            <a:avLst/>
          </a:prstGeom>
        </p:spPr>
      </p:pic>
    </p:spTree>
    <p:extLst>
      <p:ext uri="{BB962C8B-B14F-4D97-AF65-F5344CB8AC3E}">
        <p14:creationId xmlns:p14="http://schemas.microsoft.com/office/powerpoint/2010/main" val="31159925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E4EED6-08A8-5941-90CD-A012D56498C7}"/>
              </a:ext>
            </a:extLst>
          </p:cNvPr>
          <p:cNvSpPr>
            <a:spLocks noGrp="1"/>
          </p:cNvSpPr>
          <p:nvPr>
            <p:ph type="title"/>
          </p:nvPr>
        </p:nvSpPr>
        <p:spPr/>
        <p:txBody>
          <a:bodyPr/>
          <a:lstStyle/>
          <a:p>
            <a:r>
              <a:rPr lang="en-US" dirty="0"/>
              <a:t>An example</a:t>
            </a:r>
          </a:p>
        </p:txBody>
      </p:sp>
      <p:sp>
        <p:nvSpPr>
          <p:cNvPr id="3" name="Content Placeholder 2">
            <a:extLst>
              <a:ext uri="{FF2B5EF4-FFF2-40B4-BE49-F238E27FC236}">
                <a16:creationId xmlns:a16="http://schemas.microsoft.com/office/drawing/2014/main" id="{3F5DAD13-5B7E-3F45-8574-1085C14262D1}"/>
              </a:ext>
            </a:extLst>
          </p:cNvPr>
          <p:cNvSpPr>
            <a:spLocks noGrp="1"/>
          </p:cNvSpPr>
          <p:nvPr>
            <p:ph idx="1"/>
          </p:nvPr>
        </p:nvSpPr>
        <p:spPr>
          <a:xfrm>
            <a:off x="914401" y="798320"/>
            <a:ext cx="7543801" cy="3863535"/>
          </a:xfrm>
        </p:spPr>
        <p:txBody>
          <a:bodyPr/>
          <a:lstStyle/>
          <a:p>
            <a:r>
              <a:rPr lang="en-US" i="1" dirty="0"/>
              <a:t>Suppose a unit has:</a:t>
            </a:r>
          </a:p>
          <a:p>
            <a:pPr marL="728645" indent="0"/>
            <a:r>
              <a:rPr lang="en-US" i="1" dirty="0">
                <a:latin typeface="Courier" pitchFamily="2" charset="0"/>
              </a:rPr>
              <a:t>w </a:t>
            </a:r>
            <a:r>
              <a:rPr lang="en-US" dirty="0">
                <a:latin typeface="Courier" pitchFamily="2" charset="0"/>
              </a:rPr>
              <a:t>= [0.2,0.3,0.9] </a:t>
            </a:r>
          </a:p>
          <a:p>
            <a:pPr marL="728645" indent="0"/>
            <a:r>
              <a:rPr lang="en-US" i="1" dirty="0">
                <a:latin typeface="Courier" pitchFamily="2" charset="0"/>
              </a:rPr>
              <a:t>b </a:t>
            </a:r>
            <a:r>
              <a:rPr lang="en-US" dirty="0">
                <a:latin typeface="Courier" pitchFamily="2" charset="0"/>
              </a:rPr>
              <a:t>= 0.5 </a:t>
            </a:r>
          </a:p>
          <a:p>
            <a:r>
              <a:rPr lang="en-US" dirty="0"/>
              <a:t>What happens with the following input x?</a:t>
            </a:r>
          </a:p>
          <a:p>
            <a:r>
              <a:rPr lang="en-US" i="1" dirty="0">
                <a:latin typeface="Courier" pitchFamily="2" charset="0"/>
              </a:rPr>
              <a:t>		x </a:t>
            </a:r>
            <a:r>
              <a:rPr lang="en-US" dirty="0">
                <a:latin typeface="Courier" pitchFamily="2" charset="0"/>
              </a:rPr>
              <a:t>= [0.5,0.6,0.1] </a:t>
            </a:r>
          </a:p>
          <a:p>
            <a:endParaRPr lang="en-US" dirty="0"/>
          </a:p>
          <a:p>
            <a:endParaRPr lang="en-US" dirty="0"/>
          </a:p>
        </p:txBody>
      </p:sp>
      <p:pic>
        <p:nvPicPr>
          <p:cNvPr id="4" name="Picture 3">
            <a:extLst>
              <a:ext uri="{FF2B5EF4-FFF2-40B4-BE49-F238E27FC236}">
                <a16:creationId xmlns:a16="http://schemas.microsoft.com/office/drawing/2014/main" id="{E2F5FC84-F390-AA44-8F95-F601CF01ED94}"/>
              </a:ext>
            </a:extLst>
          </p:cNvPr>
          <p:cNvPicPr>
            <a:picLocks noChangeAspect="1"/>
          </p:cNvPicPr>
          <p:nvPr/>
        </p:nvPicPr>
        <p:blipFill>
          <a:blip r:embed="rId2"/>
          <a:stretch>
            <a:fillRect/>
          </a:stretch>
        </p:blipFill>
        <p:spPr>
          <a:xfrm>
            <a:off x="389498" y="3444468"/>
            <a:ext cx="2667496" cy="900713"/>
          </a:xfrm>
          <a:prstGeom prst="rect">
            <a:avLst/>
          </a:prstGeom>
        </p:spPr>
      </p:pic>
      <p:pic>
        <p:nvPicPr>
          <p:cNvPr id="6" name="Picture 5">
            <a:extLst>
              <a:ext uri="{FF2B5EF4-FFF2-40B4-BE49-F238E27FC236}">
                <a16:creationId xmlns:a16="http://schemas.microsoft.com/office/drawing/2014/main" id="{F53532CB-F6E1-F643-A2BB-4F2F024E1A75}"/>
              </a:ext>
            </a:extLst>
          </p:cNvPr>
          <p:cNvPicPr>
            <a:picLocks noChangeAspect="1"/>
          </p:cNvPicPr>
          <p:nvPr/>
        </p:nvPicPr>
        <p:blipFill>
          <a:blip r:embed="rId3"/>
          <a:stretch>
            <a:fillRect/>
          </a:stretch>
        </p:blipFill>
        <p:spPr>
          <a:xfrm>
            <a:off x="3204637" y="3479110"/>
            <a:ext cx="2182496" cy="831428"/>
          </a:xfrm>
          <a:prstGeom prst="rect">
            <a:avLst/>
          </a:prstGeom>
        </p:spPr>
      </p:pic>
    </p:spTree>
    <p:extLst>
      <p:ext uri="{BB962C8B-B14F-4D97-AF65-F5344CB8AC3E}">
        <p14:creationId xmlns:p14="http://schemas.microsoft.com/office/powerpoint/2010/main" val="17493419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E4EED6-08A8-5941-90CD-A012D56498C7}"/>
              </a:ext>
            </a:extLst>
          </p:cNvPr>
          <p:cNvSpPr>
            <a:spLocks noGrp="1"/>
          </p:cNvSpPr>
          <p:nvPr>
            <p:ph type="title"/>
          </p:nvPr>
        </p:nvSpPr>
        <p:spPr/>
        <p:txBody>
          <a:bodyPr/>
          <a:lstStyle/>
          <a:p>
            <a:r>
              <a:rPr lang="en-US" dirty="0"/>
              <a:t>An example</a:t>
            </a:r>
          </a:p>
        </p:txBody>
      </p:sp>
      <p:sp>
        <p:nvSpPr>
          <p:cNvPr id="3" name="Content Placeholder 2">
            <a:extLst>
              <a:ext uri="{FF2B5EF4-FFF2-40B4-BE49-F238E27FC236}">
                <a16:creationId xmlns:a16="http://schemas.microsoft.com/office/drawing/2014/main" id="{3F5DAD13-5B7E-3F45-8574-1085C14262D1}"/>
              </a:ext>
            </a:extLst>
          </p:cNvPr>
          <p:cNvSpPr>
            <a:spLocks noGrp="1"/>
          </p:cNvSpPr>
          <p:nvPr>
            <p:ph idx="1"/>
          </p:nvPr>
        </p:nvSpPr>
        <p:spPr>
          <a:xfrm>
            <a:off x="914401" y="971552"/>
            <a:ext cx="7543801" cy="3690305"/>
          </a:xfrm>
        </p:spPr>
        <p:txBody>
          <a:bodyPr/>
          <a:lstStyle/>
          <a:p>
            <a:r>
              <a:rPr lang="en-US" i="1" dirty="0"/>
              <a:t>Suppose a unit has:</a:t>
            </a:r>
          </a:p>
          <a:p>
            <a:pPr marL="7144" indent="681021"/>
            <a:r>
              <a:rPr lang="en-US" i="1" dirty="0">
                <a:latin typeface="Courier" pitchFamily="2" charset="0"/>
              </a:rPr>
              <a:t>w </a:t>
            </a:r>
            <a:r>
              <a:rPr lang="en-US" dirty="0">
                <a:latin typeface="Courier" pitchFamily="2" charset="0"/>
              </a:rPr>
              <a:t>= [0.2,0.3,0.9] </a:t>
            </a:r>
          </a:p>
          <a:p>
            <a:pPr marL="7144" indent="681021"/>
            <a:r>
              <a:rPr lang="en-US" i="1" dirty="0">
                <a:latin typeface="Courier" pitchFamily="2" charset="0"/>
              </a:rPr>
              <a:t>b </a:t>
            </a:r>
            <a:r>
              <a:rPr lang="en-US" dirty="0">
                <a:latin typeface="Courier" pitchFamily="2" charset="0"/>
              </a:rPr>
              <a:t>= 0.5 </a:t>
            </a:r>
          </a:p>
          <a:p>
            <a:r>
              <a:rPr lang="en-US" dirty="0"/>
              <a:t>What happens with input x:</a:t>
            </a:r>
          </a:p>
          <a:p>
            <a:pPr marL="7144" indent="681021"/>
            <a:r>
              <a:rPr lang="en-US" i="1" dirty="0">
                <a:latin typeface="Courier" pitchFamily="2" charset="0"/>
              </a:rPr>
              <a:t>x </a:t>
            </a:r>
            <a:r>
              <a:rPr lang="en-US" dirty="0">
                <a:latin typeface="Courier" pitchFamily="2" charset="0"/>
              </a:rPr>
              <a:t>= [0.5,0.6,0.1] </a:t>
            </a:r>
          </a:p>
          <a:p>
            <a:endParaRPr lang="en-US" dirty="0"/>
          </a:p>
          <a:p>
            <a:endParaRPr lang="en-US" dirty="0"/>
          </a:p>
        </p:txBody>
      </p:sp>
      <p:pic>
        <p:nvPicPr>
          <p:cNvPr id="4" name="Picture 3">
            <a:extLst>
              <a:ext uri="{FF2B5EF4-FFF2-40B4-BE49-F238E27FC236}">
                <a16:creationId xmlns:a16="http://schemas.microsoft.com/office/drawing/2014/main" id="{E2F5FC84-F390-AA44-8F95-F601CF01ED94}"/>
              </a:ext>
            </a:extLst>
          </p:cNvPr>
          <p:cNvPicPr>
            <a:picLocks noChangeAspect="1"/>
          </p:cNvPicPr>
          <p:nvPr/>
        </p:nvPicPr>
        <p:blipFill>
          <a:blip r:embed="rId2"/>
          <a:stretch>
            <a:fillRect/>
          </a:stretch>
        </p:blipFill>
        <p:spPr>
          <a:xfrm>
            <a:off x="389498" y="3444468"/>
            <a:ext cx="2667496" cy="900713"/>
          </a:xfrm>
          <a:prstGeom prst="rect">
            <a:avLst/>
          </a:prstGeom>
        </p:spPr>
      </p:pic>
      <p:pic>
        <p:nvPicPr>
          <p:cNvPr id="6" name="Picture 5">
            <a:extLst>
              <a:ext uri="{FF2B5EF4-FFF2-40B4-BE49-F238E27FC236}">
                <a16:creationId xmlns:a16="http://schemas.microsoft.com/office/drawing/2014/main" id="{F53532CB-F6E1-F643-A2BB-4F2F024E1A75}"/>
              </a:ext>
            </a:extLst>
          </p:cNvPr>
          <p:cNvPicPr>
            <a:picLocks noChangeAspect="1"/>
          </p:cNvPicPr>
          <p:nvPr/>
        </p:nvPicPr>
        <p:blipFill>
          <a:blip r:embed="rId3"/>
          <a:stretch>
            <a:fillRect/>
          </a:stretch>
        </p:blipFill>
        <p:spPr>
          <a:xfrm>
            <a:off x="3204637" y="3479110"/>
            <a:ext cx="2182496" cy="831428"/>
          </a:xfrm>
          <a:prstGeom prst="rect">
            <a:avLst/>
          </a:prstGeom>
        </p:spPr>
      </p:pic>
      <p:pic>
        <p:nvPicPr>
          <p:cNvPr id="7" name="Picture 6">
            <a:extLst>
              <a:ext uri="{FF2B5EF4-FFF2-40B4-BE49-F238E27FC236}">
                <a16:creationId xmlns:a16="http://schemas.microsoft.com/office/drawing/2014/main" id="{88845432-9BC5-E943-B970-D22498DE1296}"/>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1177897" y="4225769"/>
            <a:ext cx="3464280" cy="827748"/>
          </a:xfrm>
          <a:prstGeom prst="rect">
            <a:avLst/>
          </a:prstGeom>
        </p:spPr>
      </p:pic>
    </p:spTree>
    <p:extLst>
      <p:ext uri="{BB962C8B-B14F-4D97-AF65-F5344CB8AC3E}">
        <p14:creationId xmlns:p14="http://schemas.microsoft.com/office/powerpoint/2010/main" val="41616976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E4EED6-08A8-5941-90CD-A012D56498C7}"/>
              </a:ext>
            </a:extLst>
          </p:cNvPr>
          <p:cNvSpPr>
            <a:spLocks noGrp="1"/>
          </p:cNvSpPr>
          <p:nvPr>
            <p:ph type="title"/>
          </p:nvPr>
        </p:nvSpPr>
        <p:spPr/>
        <p:txBody>
          <a:bodyPr/>
          <a:lstStyle/>
          <a:p>
            <a:r>
              <a:rPr lang="en-US" dirty="0"/>
              <a:t>An example</a:t>
            </a:r>
          </a:p>
        </p:txBody>
      </p:sp>
      <p:sp>
        <p:nvSpPr>
          <p:cNvPr id="3" name="Content Placeholder 2">
            <a:extLst>
              <a:ext uri="{FF2B5EF4-FFF2-40B4-BE49-F238E27FC236}">
                <a16:creationId xmlns:a16="http://schemas.microsoft.com/office/drawing/2014/main" id="{3F5DAD13-5B7E-3F45-8574-1085C14262D1}"/>
              </a:ext>
            </a:extLst>
          </p:cNvPr>
          <p:cNvSpPr>
            <a:spLocks noGrp="1"/>
          </p:cNvSpPr>
          <p:nvPr>
            <p:ph idx="1"/>
          </p:nvPr>
        </p:nvSpPr>
        <p:spPr>
          <a:xfrm>
            <a:off x="914401" y="832964"/>
            <a:ext cx="7543801" cy="3828893"/>
          </a:xfrm>
        </p:spPr>
        <p:txBody>
          <a:bodyPr/>
          <a:lstStyle/>
          <a:p>
            <a:r>
              <a:rPr lang="en-US" i="1" dirty="0"/>
              <a:t>Suppose a unit has:</a:t>
            </a:r>
          </a:p>
          <a:p>
            <a:pPr marL="7144" indent="681021"/>
            <a:r>
              <a:rPr lang="en-US" i="1" dirty="0">
                <a:latin typeface="Courier" pitchFamily="2" charset="0"/>
              </a:rPr>
              <a:t>w </a:t>
            </a:r>
            <a:r>
              <a:rPr lang="en-US" dirty="0">
                <a:latin typeface="Courier" pitchFamily="2" charset="0"/>
              </a:rPr>
              <a:t>= [0.2,0.3,0.9] </a:t>
            </a:r>
          </a:p>
          <a:p>
            <a:pPr marL="7144" indent="681021"/>
            <a:r>
              <a:rPr lang="en-US" i="1" dirty="0">
                <a:latin typeface="Courier" pitchFamily="2" charset="0"/>
              </a:rPr>
              <a:t>b </a:t>
            </a:r>
            <a:r>
              <a:rPr lang="en-US" dirty="0">
                <a:latin typeface="Courier" pitchFamily="2" charset="0"/>
              </a:rPr>
              <a:t>= 0.5 </a:t>
            </a:r>
          </a:p>
          <a:p>
            <a:r>
              <a:rPr lang="en-US" dirty="0"/>
              <a:t>What happens with input x:</a:t>
            </a:r>
          </a:p>
          <a:p>
            <a:pPr marL="7144" indent="681021"/>
            <a:r>
              <a:rPr lang="en-US" i="1" dirty="0">
                <a:latin typeface="Courier" pitchFamily="2" charset="0"/>
              </a:rPr>
              <a:t>x </a:t>
            </a:r>
            <a:r>
              <a:rPr lang="en-US" dirty="0">
                <a:latin typeface="Courier" pitchFamily="2" charset="0"/>
              </a:rPr>
              <a:t>= [0.5,0.6,0.1] </a:t>
            </a:r>
          </a:p>
          <a:p>
            <a:endParaRPr lang="en-US" dirty="0"/>
          </a:p>
          <a:p>
            <a:endParaRPr lang="en-US" dirty="0"/>
          </a:p>
        </p:txBody>
      </p:sp>
      <p:pic>
        <p:nvPicPr>
          <p:cNvPr id="4" name="Picture 3">
            <a:extLst>
              <a:ext uri="{FF2B5EF4-FFF2-40B4-BE49-F238E27FC236}">
                <a16:creationId xmlns:a16="http://schemas.microsoft.com/office/drawing/2014/main" id="{E2F5FC84-F390-AA44-8F95-F601CF01ED94}"/>
              </a:ext>
            </a:extLst>
          </p:cNvPr>
          <p:cNvPicPr>
            <a:picLocks noChangeAspect="1"/>
          </p:cNvPicPr>
          <p:nvPr/>
        </p:nvPicPr>
        <p:blipFill>
          <a:blip r:embed="rId2"/>
          <a:stretch>
            <a:fillRect/>
          </a:stretch>
        </p:blipFill>
        <p:spPr>
          <a:xfrm>
            <a:off x="389498" y="3444468"/>
            <a:ext cx="2667496" cy="900713"/>
          </a:xfrm>
          <a:prstGeom prst="rect">
            <a:avLst/>
          </a:prstGeom>
        </p:spPr>
      </p:pic>
      <p:pic>
        <p:nvPicPr>
          <p:cNvPr id="6" name="Picture 5">
            <a:extLst>
              <a:ext uri="{FF2B5EF4-FFF2-40B4-BE49-F238E27FC236}">
                <a16:creationId xmlns:a16="http://schemas.microsoft.com/office/drawing/2014/main" id="{F53532CB-F6E1-F643-A2BB-4F2F024E1A75}"/>
              </a:ext>
            </a:extLst>
          </p:cNvPr>
          <p:cNvPicPr>
            <a:picLocks noChangeAspect="1"/>
          </p:cNvPicPr>
          <p:nvPr/>
        </p:nvPicPr>
        <p:blipFill>
          <a:blip r:embed="rId3"/>
          <a:stretch>
            <a:fillRect/>
          </a:stretch>
        </p:blipFill>
        <p:spPr>
          <a:xfrm>
            <a:off x="3204637" y="3479110"/>
            <a:ext cx="2182496" cy="831428"/>
          </a:xfrm>
          <a:prstGeom prst="rect">
            <a:avLst/>
          </a:prstGeom>
        </p:spPr>
      </p:pic>
      <p:pic>
        <p:nvPicPr>
          <p:cNvPr id="7" name="Picture 6">
            <a:extLst>
              <a:ext uri="{FF2B5EF4-FFF2-40B4-BE49-F238E27FC236}">
                <a16:creationId xmlns:a16="http://schemas.microsoft.com/office/drawing/2014/main" id="{88845432-9BC5-E943-B970-D22498DE1296}"/>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1164870" y="4244627"/>
            <a:ext cx="3464280" cy="827748"/>
          </a:xfrm>
          <a:prstGeom prst="rect">
            <a:avLst/>
          </a:prstGeom>
        </p:spPr>
      </p:pic>
      <p:pic>
        <p:nvPicPr>
          <p:cNvPr id="8" name="Picture 7">
            <a:extLst>
              <a:ext uri="{FF2B5EF4-FFF2-40B4-BE49-F238E27FC236}">
                <a16:creationId xmlns:a16="http://schemas.microsoft.com/office/drawing/2014/main" id="{D409064D-1EE5-F44E-A812-29745FD78011}"/>
              </a:ext>
            </a:extLst>
          </p:cNvPr>
          <p:cNvPicPr>
            <a:picLocks noChangeAspect="1"/>
          </p:cNvPicPr>
          <p:nvPr/>
        </p:nvPicPr>
        <p:blipFill>
          <a:blip r:embed="rId5"/>
          <a:stretch>
            <a:fillRect/>
          </a:stretch>
        </p:blipFill>
        <p:spPr>
          <a:xfrm>
            <a:off x="5201860" y="4138861"/>
            <a:ext cx="1420355" cy="1004641"/>
          </a:xfrm>
          <a:prstGeom prst="rect">
            <a:avLst/>
          </a:prstGeom>
        </p:spPr>
      </p:pic>
      <p:pic>
        <p:nvPicPr>
          <p:cNvPr id="9" name="Picture 8">
            <a:extLst>
              <a:ext uri="{FF2B5EF4-FFF2-40B4-BE49-F238E27FC236}">
                <a16:creationId xmlns:a16="http://schemas.microsoft.com/office/drawing/2014/main" id="{0DDCA64C-6288-DD46-B1EC-3BCD67F2FF8D}"/>
              </a:ext>
            </a:extLst>
          </p:cNvPr>
          <p:cNvPicPr>
            <a:picLocks noChangeAspect="1"/>
          </p:cNvPicPr>
          <p:nvPr/>
        </p:nvPicPr>
        <p:blipFill>
          <a:blip r:embed="rId6"/>
          <a:stretch>
            <a:fillRect/>
          </a:stretch>
        </p:blipFill>
        <p:spPr>
          <a:xfrm>
            <a:off x="6972300" y="4356072"/>
            <a:ext cx="866070" cy="588928"/>
          </a:xfrm>
          <a:prstGeom prst="rect">
            <a:avLst/>
          </a:prstGeom>
        </p:spPr>
      </p:pic>
    </p:spTree>
    <p:extLst>
      <p:ext uri="{BB962C8B-B14F-4D97-AF65-F5344CB8AC3E}">
        <p14:creationId xmlns:p14="http://schemas.microsoft.com/office/powerpoint/2010/main" val="1852634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2960" y="119702"/>
            <a:ext cx="7978140" cy="680397"/>
          </a:xfrm>
        </p:spPr>
        <p:txBody>
          <a:bodyPr>
            <a:normAutofit fontScale="90000"/>
          </a:bodyPr>
          <a:lstStyle/>
          <a:p>
            <a:r>
              <a:rPr lang="en-US" b="0" dirty="0"/>
              <a:t>Non-Linear </a:t>
            </a:r>
            <a:r>
              <a:rPr lang="en-US" dirty="0"/>
              <a:t>Activation </a:t>
            </a:r>
            <a:r>
              <a:rPr lang="en-US" b="0" dirty="0"/>
              <a:t>Functions besides sigmoid</a:t>
            </a:r>
          </a:p>
        </p:txBody>
      </p:sp>
      <p:sp>
        <p:nvSpPr>
          <p:cNvPr id="6" name="Slide Number Placeholder 5"/>
          <p:cNvSpPr>
            <a:spLocks noGrp="1"/>
          </p:cNvSpPr>
          <p:nvPr>
            <p:ph type="sldNum" sz="quarter" idx="12"/>
          </p:nvPr>
        </p:nvSpPr>
        <p:spPr/>
        <p:txBody>
          <a:bodyPr/>
          <a:lstStyle/>
          <a:p>
            <a:pPr>
              <a:defRPr/>
            </a:pPr>
            <a:fld id="{713DD8BE-556E-3440-9013-11CC5588178D}" type="slidenum">
              <a:rPr lang="en-US" smtClean="0"/>
              <a:pPr>
                <a:defRPr/>
              </a:pPr>
              <a:t>12</a:t>
            </a:fld>
            <a:endParaRPr lang="en-US"/>
          </a:p>
        </p:txBody>
      </p:sp>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333965" y="1200151"/>
            <a:ext cx="4355128" cy="2903419"/>
          </a:xfrm>
          <a:prstGeom prst="rect">
            <a:avLst/>
          </a:prstGeom>
        </p:spPr>
      </p:pic>
      <p:sp>
        <p:nvSpPr>
          <p:cNvPr id="8" name="TextBox 7"/>
          <p:cNvSpPr txBox="1"/>
          <p:nvPr/>
        </p:nvSpPr>
        <p:spPr>
          <a:xfrm>
            <a:off x="1905001" y="4248150"/>
            <a:ext cx="931537" cy="577081"/>
          </a:xfrm>
          <a:prstGeom prst="rect">
            <a:avLst/>
          </a:prstGeom>
          <a:noFill/>
        </p:spPr>
        <p:txBody>
          <a:bodyPr wrap="none" rtlCol="0">
            <a:spAutoFit/>
          </a:bodyPr>
          <a:lstStyle/>
          <a:p>
            <a:r>
              <a:rPr lang="en-US" sz="3150" dirty="0">
                <a:solidFill>
                  <a:srgbClr val="981535"/>
                </a:solidFill>
              </a:rPr>
              <a:t>tanh</a:t>
            </a:r>
          </a:p>
        </p:txBody>
      </p:sp>
      <p:sp>
        <p:nvSpPr>
          <p:cNvPr id="9" name="TextBox 8"/>
          <p:cNvSpPr txBox="1"/>
          <p:nvPr/>
        </p:nvSpPr>
        <p:spPr>
          <a:xfrm>
            <a:off x="5245762" y="4114801"/>
            <a:ext cx="3516605" cy="1061829"/>
          </a:xfrm>
          <a:prstGeom prst="rect">
            <a:avLst/>
          </a:prstGeom>
          <a:noFill/>
        </p:spPr>
        <p:txBody>
          <a:bodyPr wrap="none" rtlCol="0">
            <a:spAutoFit/>
          </a:bodyPr>
          <a:lstStyle/>
          <a:p>
            <a:pPr algn="ctr"/>
            <a:r>
              <a:rPr lang="en-US" sz="3150" dirty="0" err="1">
                <a:solidFill>
                  <a:srgbClr val="981535"/>
                </a:solidFill>
              </a:rPr>
              <a:t>ReLU</a:t>
            </a:r>
            <a:endParaRPr lang="en-US" sz="3150" dirty="0">
              <a:solidFill>
                <a:srgbClr val="981535"/>
              </a:solidFill>
            </a:endParaRPr>
          </a:p>
          <a:p>
            <a:pPr algn="ctr"/>
            <a:r>
              <a:rPr lang="en-US" sz="3150" dirty="0">
                <a:solidFill>
                  <a:srgbClr val="981535"/>
                </a:solidFill>
              </a:rPr>
              <a:t>Rectified Linear Unit</a:t>
            </a:r>
          </a:p>
        </p:txBody>
      </p:sp>
      <p:pic>
        <p:nvPicPr>
          <p:cNvPr id="4" name="Picture 3">
            <a:extLst>
              <a:ext uri="{FF2B5EF4-FFF2-40B4-BE49-F238E27FC236}">
                <a16:creationId xmlns:a16="http://schemas.microsoft.com/office/drawing/2014/main" id="{AF02B4F0-9270-E94B-BD68-E392428E79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14400" y="1543050"/>
            <a:ext cx="1629834" cy="800100"/>
          </a:xfrm>
          <a:prstGeom prst="rect">
            <a:avLst/>
          </a:prstGeom>
        </p:spPr>
      </p:pic>
      <p:pic>
        <p:nvPicPr>
          <p:cNvPr id="10" name="Picture 9">
            <a:extLst>
              <a:ext uri="{FF2B5EF4-FFF2-40B4-BE49-F238E27FC236}">
                <a16:creationId xmlns:a16="http://schemas.microsoft.com/office/drawing/2014/main" id="{AD74CA4B-4FB9-6541-86FD-C3420F84E1CA}"/>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p:blipFill>
        <p:spPr>
          <a:xfrm>
            <a:off x="4743450" y="1173626"/>
            <a:ext cx="4457700" cy="2971800"/>
          </a:xfrm>
          <a:prstGeom prst="rect">
            <a:avLst/>
          </a:prstGeom>
        </p:spPr>
      </p:pic>
      <p:pic>
        <p:nvPicPr>
          <p:cNvPr id="12" name="Picture 11">
            <a:extLst>
              <a:ext uri="{FF2B5EF4-FFF2-40B4-BE49-F238E27FC236}">
                <a16:creationId xmlns:a16="http://schemas.microsoft.com/office/drawing/2014/main" id="{3C10449D-77B6-844D-B909-AD3E27CA4571}"/>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5397314" y="1637449"/>
            <a:ext cx="1975037" cy="485096"/>
          </a:xfrm>
          <a:prstGeom prst="rect">
            <a:avLst/>
          </a:prstGeom>
        </p:spPr>
      </p:pic>
      <p:sp>
        <p:nvSpPr>
          <p:cNvPr id="3" name="TextBox 2">
            <a:extLst>
              <a:ext uri="{FF2B5EF4-FFF2-40B4-BE49-F238E27FC236}">
                <a16:creationId xmlns:a16="http://schemas.microsoft.com/office/drawing/2014/main" id="{65B0665F-21A0-3248-8FA5-2C1BFE604327}"/>
              </a:ext>
            </a:extLst>
          </p:cNvPr>
          <p:cNvSpPr txBox="1"/>
          <p:nvPr/>
        </p:nvSpPr>
        <p:spPr>
          <a:xfrm>
            <a:off x="6053971" y="977419"/>
            <a:ext cx="2119234" cy="461665"/>
          </a:xfrm>
          <a:prstGeom prst="rect">
            <a:avLst/>
          </a:prstGeom>
          <a:noFill/>
        </p:spPr>
        <p:txBody>
          <a:bodyPr wrap="none" rtlCol="0">
            <a:spAutoFit/>
          </a:bodyPr>
          <a:lstStyle/>
          <a:p>
            <a:r>
              <a:rPr lang="en-US" sz="2400" dirty="0"/>
              <a:t>Most Common:</a:t>
            </a:r>
          </a:p>
        </p:txBody>
      </p:sp>
    </p:spTree>
    <p:extLst>
      <p:ext uri="{BB962C8B-B14F-4D97-AF65-F5344CB8AC3E}">
        <p14:creationId xmlns:p14="http://schemas.microsoft.com/office/powerpoint/2010/main" val="6696426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normAutofit fontScale="90000"/>
          </a:bodyPr>
          <a:lstStyle/>
          <a:p>
            <a:r>
              <a:rPr lang="en-US" sz="3000" dirty="0">
                <a:solidFill>
                  <a:schemeClr val="bg1"/>
                </a:solidFill>
                <a:ea typeface="Franklin Gothic Book" charset="0"/>
                <a:cs typeface="Franklin Gothic Book" charset="0"/>
              </a:rPr>
              <a:t>Simple Neural Networks and Neural Language Models</a:t>
            </a:r>
            <a:endParaRPr lang="en-US" sz="3000" dirty="0">
              <a:solidFill>
                <a:schemeClr val="bg1"/>
              </a:solidFill>
            </a:endParaRPr>
          </a:p>
        </p:txBody>
      </p:sp>
      <p:sp>
        <p:nvSpPr>
          <p:cNvPr id="3" name="Subtitle 2"/>
          <p:cNvSpPr>
            <a:spLocks noGrp="1"/>
          </p:cNvSpPr>
          <p:nvPr>
            <p:ph idx="1"/>
          </p:nvPr>
        </p:nvSpPr>
        <p:spPr/>
        <p:txBody>
          <a:bodyPr>
            <a:normAutofit/>
          </a:bodyPr>
          <a:lstStyle/>
          <a:p>
            <a:r>
              <a:rPr lang="en-US" sz="3000" dirty="0">
                <a:solidFill>
                  <a:schemeClr val="tx2"/>
                </a:solidFill>
              </a:rPr>
              <a:t>The XOR problem</a:t>
            </a:r>
          </a:p>
        </p:txBody>
      </p:sp>
      <p:sp>
        <p:nvSpPr>
          <p:cNvPr id="4" name="Text Placeholder 3">
            <a:extLst>
              <a:ext uri="{FF2B5EF4-FFF2-40B4-BE49-F238E27FC236}">
                <a16:creationId xmlns:a16="http://schemas.microsoft.com/office/drawing/2014/main" id="{7CDFEBC3-8FF0-D643-8A81-9E0AA29FBABE}"/>
              </a:ext>
            </a:extLst>
          </p:cNvPr>
          <p:cNvSpPr>
            <a:spLocks noGrp="1"/>
          </p:cNvSpPr>
          <p:nvPr>
            <p:ph type="body" sz="half" idx="2"/>
          </p:nvPr>
        </p:nvSpPr>
        <p:spPr/>
        <p:txBody>
          <a:bodyPr/>
          <a:lstStyle/>
          <a:p>
            <a:endParaRPr lang="en-US"/>
          </a:p>
        </p:txBody>
      </p:sp>
    </p:spTree>
    <p:extLst>
      <p:ext uri="{BB962C8B-B14F-4D97-AF65-F5344CB8AC3E}">
        <p14:creationId xmlns:p14="http://schemas.microsoft.com/office/powerpoint/2010/main" val="1503224617"/>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499FB9A-C943-6B4C-8EDF-D519C7F50328}"/>
              </a:ext>
            </a:extLst>
          </p:cNvPr>
          <p:cNvSpPr>
            <a:spLocks noGrp="1"/>
          </p:cNvSpPr>
          <p:nvPr>
            <p:ph type="title"/>
          </p:nvPr>
        </p:nvSpPr>
        <p:spPr/>
        <p:txBody>
          <a:bodyPr/>
          <a:lstStyle/>
          <a:p>
            <a:r>
              <a:rPr lang="en-US" dirty="0"/>
              <a:t>The XOR problem</a:t>
            </a:r>
          </a:p>
        </p:txBody>
      </p:sp>
      <p:sp>
        <p:nvSpPr>
          <p:cNvPr id="6" name="Content Placeholder 5">
            <a:extLst>
              <a:ext uri="{FF2B5EF4-FFF2-40B4-BE49-F238E27FC236}">
                <a16:creationId xmlns:a16="http://schemas.microsoft.com/office/drawing/2014/main" id="{AE3F83D6-52E3-3544-B567-9FD9A4DED1F0}"/>
              </a:ext>
            </a:extLst>
          </p:cNvPr>
          <p:cNvSpPr>
            <a:spLocks noGrp="1"/>
          </p:cNvSpPr>
          <p:nvPr>
            <p:ph idx="1"/>
          </p:nvPr>
        </p:nvSpPr>
        <p:spPr>
          <a:xfrm>
            <a:off x="822962" y="1200150"/>
            <a:ext cx="7920989" cy="3429000"/>
          </a:xfrm>
        </p:spPr>
        <p:txBody>
          <a:bodyPr/>
          <a:lstStyle/>
          <a:p>
            <a:r>
              <a:rPr lang="en-US" dirty="0"/>
              <a:t>Can neural units compute simple functions of input?</a:t>
            </a:r>
          </a:p>
        </p:txBody>
      </p:sp>
      <p:sp>
        <p:nvSpPr>
          <p:cNvPr id="7" name="TextBox 6">
            <a:extLst>
              <a:ext uri="{FF2B5EF4-FFF2-40B4-BE49-F238E27FC236}">
                <a16:creationId xmlns:a16="http://schemas.microsoft.com/office/drawing/2014/main" id="{60F45DBB-45F5-574B-A029-05395742038C}"/>
              </a:ext>
            </a:extLst>
          </p:cNvPr>
          <p:cNvSpPr txBox="1"/>
          <p:nvPr/>
        </p:nvSpPr>
        <p:spPr>
          <a:xfrm>
            <a:off x="4857750" y="723126"/>
            <a:ext cx="1545616" cy="248209"/>
          </a:xfrm>
          <a:prstGeom prst="rect">
            <a:avLst/>
          </a:prstGeom>
          <a:noFill/>
        </p:spPr>
        <p:txBody>
          <a:bodyPr wrap="none" rtlCol="0">
            <a:spAutoFit/>
          </a:bodyPr>
          <a:lstStyle/>
          <a:p>
            <a:r>
              <a:rPr lang="en-US" sz="1013" dirty="0"/>
              <a:t>Minsky and </a:t>
            </a:r>
            <a:r>
              <a:rPr lang="en-US" sz="1013" dirty="0" err="1"/>
              <a:t>Papert</a:t>
            </a:r>
            <a:r>
              <a:rPr lang="en-US" sz="1013" dirty="0"/>
              <a:t> (1969)</a:t>
            </a:r>
          </a:p>
        </p:txBody>
      </p:sp>
      <p:pic>
        <p:nvPicPr>
          <p:cNvPr id="8" name="Picture 7">
            <a:extLst>
              <a:ext uri="{FF2B5EF4-FFF2-40B4-BE49-F238E27FC236}">
                <a16:creationId xmlns:a16="http://schemas.microsoft.com/office/drawing/2014/main" id="{7448890D-DC97-5946-B765-F1FE9D2E3834}"/>
              </a:ext>
            </a:extLst>
          </p:cNvPr>
          <p:cNvPicPr>
            <a:picLocks noChangeAspect="1"/>
          </p:cNvPicPr>
          <p:nvPr/>
        </p:nvPicPr>
        <p:blipFill>
          <a:blip r:embed="rId3"/>
          <a:stretch>
            <a:fillRect/>
          </a:stretch>
        </p:blipFill>
        <p:spPr>
          <a:xfrm>
            <a:off x="1796627" y="2114551"/>
            <a:ext cx="5000038" cy="2062163"/>
          </a:xfrm>
          <a:prstGeom prst="rect">
            <a:avLst/>
          </a:prstGeom>
        </p:spPr>
      </p:pic>
    </p:spTree>
    <p:extLst>
      <p:ext uri="{BB962C8B-B14F-4D97-AF65-F5344CB8AC3E}">
        <p14:creationId xmlns:p14="http://schemas.microsoft.com/office/powerpoint/2010/main" val="18517912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E2BCC0-5CB8-5F42-BA89-9FF55A5A3CD1}"/>
              </a:ext>
            </a:extLst>
          </p:cNvPr>
          <p:cNvSpPr>
            <a:spLocks noGrp="1"/>
          </p:cNvSpPr>
          <p:nvPr>
            <p:ph type="title"/>
          </p:nvPr>
        </p:nvSpPr>
        <p:spPr/>
        <p:txBody>
          <a:bodyPr/>
          <a:lstStyle/>
          <a:p>
            <a:r>
              <a:rPr lang="en-US" dirty="0" err="1"/>
              <a:t>Perceptrons</a:t>
            </a:r>
            <a:endParaRPr lang="en-US" dirty="0"/>
          </a:p>
        </p:txBody>
      </p:sp>
      <p:sp>
        <p:nvSpPr>
          <p:cNvPr id="3" name="Content Placeholder 2">
            <a:extLst>
              <a:ext uri="{FF2B5EF4-FFF2-40B4-BE49-F238E27FC236}">
                <a16:creationId xmlns:a16="http://schemas.microsoft.com/office/drawing/2014/main" id="{4AAFC2AA-2543-294B-9380-8E14A153299C}"/>
              </a:ext>
            </a:extLst>
          </p:cNvPr>
          <p:cNvSpPr>
            <a:spLocks noGrp="1"/>
          </p:cNvSpPr>
          <p:nvPr>
            <p:ph idx="1"/>
          </p:nvPr>
        </p:nvSpPr>
        <p:spPr/>
        <p:txBody>
          <a:bodyPr/>
          <a:lstStyle/>
          <a:p>
            <a:r>
              <a:rPr lang="en-US" dirty="0"/>
              <a:t>A very simple neural unit </a:t>
            </a:r>
          </a:p>
          <a:p>
            <a:pPr marL="428615" indent="-428615">
              <a:buFont typeface="Arial" panose="020B0604020202020204" pitchFamily="34" charset="0"/>
              <a:buChar char="•"/>
            </a:pPr>
            <a:r>
              <a:rPr lang="en-US" dirty="0"/>
              <a:t>Binary output  (0 or 1)</a:t>
            </a:r>
          </a:p>
          <a:p>
            <a:pPr marL="428615" indent="-428615">
              <a:buFont typeface="Arial" panose="020B0604020202020204" pitchFamily="34" charset="0"/>
              <a:buChar char="•"/>
            </a:pPr>
            <a:r>
              <a:rPr lang="en-US" dirty="0"/>
              <a:t>No non-linear activation function</a:t>
            </a:r>
          </a:p>
          <a:p>
            <a:endParaRPr lang="en-US" dirty="0"/>
          </a:p>
        </p:txBody>
      </p:sp>
      <p:pic>
        <p:nvPicPr>
          <p:cNvPr id="5" name="Picture 4">
            <a:extLst>
              <a:ext uri="{FF2B5EF4-FFF2-40B4-BE49-F238E27FC236}">
                <a16:creationId xmlns:a16="http://schemas.microsoft.com/office/drawing/2014/main" id="{E3B9C298-90CC-3244-A7B8-A778ECFF7AA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85901" y="3028951"/>
            <a:ext cx="5199698" cy="1514475"/>
          </a:xfrm>
          <a:prstGeom prst="rect">
            <a:avLst/>
          </a:prstGeom>
        </p:spPr>
      </p:pic>
    </p:spTree>
    <p:extLst>
      <p:ext uri="{BB962C8B-B14F-4D97-AF65-F5344CB8AC3E}">
        <p14:creationId xmlns:p14="http://schemas.microsoft.com/office/powerpoint/2010/main" val="28528352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D99BFA-410D-B24C-BF65-3D24341CABDA}"/>
              </a:ext>
            </a:extLst>
          </p:cNvPr>
          <p:cNvSpPr>
            <a:spLocks noGrp="1"/>
          </p:cNvSpPr>
          <p:nvPr>
            <p:ph type="title"/>
          </p:nvPr>
        </p:nvSpPr>
        <p:spPr>
          <a:xfrm>
            <a:off x="822960" y="119702"/>
            <a:ext cx="7863840" cy="680397"/>
          </a:xfrm>
        </p:spPr>
        <p:txBody>
          <a:bodyPr>
            <a:normAutofit/>
          </a:bodyPr>
          <a:lstStyle/>
          <a:p>
            <a:r>
              <a:rPr lang="en-US" dirty="0"/>
              <a:t>Easy to build AND or OR with </a:t>
            </a:r>
            <a:r>
              <a:rPr lang="en-US" dirty="0" err="1"/>
              <a:t>perceptrons</a:t>
            </a:r>
            <a:endParaRPr lang="en-US" dirty="0"/>
          </a:p>
        </p:txBody>
      </p:sp>
      <p:pic>
        <p:nvPicPr>
          <p:cNvPr id="5" name="Content Placeholder 4">
            <a:extLst>
              <a:ext uri="{FF2B5EF4-FFF2-40B4-BE49-F238E27FC236}">
                <a16:creationId xmlns:a16="http://schemas.microsoft.com/office/drawing/2014/main" id="{45284742-97D2-0140-A1B6-A3491FD6BEBC}"/>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571502" y="1556358"/>
            <a:ext cx="2451497" cy="2265778"/>
          </a:xfrm>
        </p:spPr>
      </p:pic>
      <p:pic>
        <p:nvPicPr>
          <p:cNvPr id="9" name="Picture 8">
            <a:extLst>
              <a:ext uri="{FF2B5EF4-FFF2-40B4-BE49-F238E27FC236}">
                <a16:creationId xmlns:a16="http://schemas.microsoft.com/office/drawing/2014/main" id="{3963DCBD-9171-5046-9717-5984A64D266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143502" y="1588168"/>
            <a:ext cx="2451497" cy="2191490"/>
          </a:xfrm>
          <a:prstGeom prst="rect">
            <a:avLst/>
          </a:prstGeom>
        </p:spPr>
      </p:pic>
      <p:sp>
        <p:nvSpPr>
          <p:cNvPr id="10" name="TextBox 9">
            <a:extLst>
              <a:ext uri="{FF2B5EF4-FFF2-40B4-BE49-F238E27FC236}">
                <a16:creationId xmlns:a16="http://schemas.microsoft.com/office/drawing/2014/main" id="{FEE09ED7-F206-F446-BABA-488DF461C797}"/>
              </a:ext>
            </a:extLst>
          </p:cNvPr>
          <p:cNvSpPr txBox="1"/>
          <p:nvPr/>
        </p:nvSpPr>
        <p:spPr>
          <a:xfrm>
            <a:off x="1267898" y="4259807"/>
            <a:ext cx="998991" cy="623248"/>
          </a:xfrm>
          <a:prstGeom prst="rect">
            <a:avLst/>
          </a:prstGeom>
          <a:noFill/>
        </p:spPr>
        <p:txBody>
          <a:bodyPr wrap="none" rtlCol="0">
            <a:spAutoFit/>
          </a:bodyPr>
          <a:lstStyle/>
          <a:p>
            <a:r>
              <a:rPr lang="en-US" sz="3450" dirty="0">
                <a:solidFill>
                  <a:srgbClr val="FF0000"/>
                </a:solidFill>
              </a:rPr>
              <a:t>AND</a:t>
            </a:r>
          </a:p>
        </p:txBody>
      </p:sp>
      <p:sp>
        <p:nvSpPr>
          <p:cNvPr id="11" name="TextBox 10">
            <a:extLst>
              <a:ext uri="{FF2B5EF4-FFF2-40B4-BE49-F238E27FC236}">
                <a16:creationId xmlns:a16="http://schemas.microsoft.com/office/drawing/2014/main" id="{87805B26-E240-1047-9604-D7E62D9C55ED}"/>
              </a:ext>
            </a:extLst>
          </p:cNvPr>
          <p:cNvSpPr txBox="1"/>
          <p:nvPr/>
        </p:nvSpPr>
        <p:spPr>
          <a:xfrm>
            <a:off x="6033100" y="4259807"/>
            <a:ext cx="718466" cy="623248"/>
          </a:xfrm>
          <a:prstGeom prst="rect">
            <a:avLst/>
          </a:prstGeom>
          <a:noFill/>
        </p:spPr>
        <p:txBody>
          <a:bodyPr wrap="none" rtlCol="0">
            <a:spAutoFit/>
          </a:bodyPr>
          <a:lstStyle/>
          <a:p>
            <a:r>
              <a:rPr lang="en-US" sz="3450" dirty="0">
                <a:solidFill>
                  <a:srgbClr val="FF0000"/>
                </a:solidFill>
              </a:rPr>
              <a:t>OR</a:t>
            </a:r>
          </a:p>
        </p:txBody>
      </p:sp>
      <p:pic>
        <p:nvPicPr>
          <p:cNvPr id="12" name="Picture 11">
            <a:extLst>
              <a:ext uri="{FF2B5EF4-FFF2-40B4-BE49-F238E27FC236}">
                <a16:creationId xmlns:a16="http://schemas.microsoft.com/office/drawing/2014/main" id="{81158073-CB00-CC49-A54D-6C68D64F173D}"/>
              </a:ext>
            </a:extLst>
          </p:cNvPr>
          <p:cNvPicPr>
            <a:picLocks noChangeAspect="1"/>
          </p:cNvPicPr>
          <p:nvPr/>
        </p:nvPicPr>
        <p:blipFill rotWithShape="1">
          <a:blip r:embed="rId5"/>
          <a:srcRect r="72485"/>
          <a:stretch/>
        </p:blipFill>
        <p:spPr>
          <a:xfrm>
            <a:off x="3196232" y="2999096"/>
            <a:ext cx="1375769" cy="2062163"/>
          </a:xfrm>
          <a:prstGeom prst="rect">
            <a:avLst/>
          </a:prstGeom>
        </p:spPr>
      </p:pic>
      <p:pic>
        <p:nvPicPr>
          <p:cNvPr id="13" name="Picture 12">
            <a:extLst>
              <a:ext uri="{FF2B5EF4-FFF2-40B4-BE49-F238E27FC236}">
                <a16:creationId xmlns:a16="http://schemas.microsoft.com/office/drawing/2014/main" id="{0924C8E8-F56C-1E44-8F12-EEED21AA4836}"/>
              </a:ext>
            </a:extLst>
          </p:cNvPr>
          <p:cNvPicPr>
            <a:picLocks noChangeAspect="1"/>
          </p:cNvPicPr>
          <p:nvPr/>
        </p:nvPicPr>
        <p:blipFill rotWithShape="1">
          <a:blip r:embed="rId6"/>
          <a:srcRect l="37719" r="37135"/>
          <a:stretch/>
        </p:blipFill>
        <p:spPr>
          <a:xfrm>
            <a:off x="7596704" y="3109487"/>
            <a:ext cx="1257300" cy="2062163"/>
          </a:xfrm>
          <a:prstGeom prst="rect">
            <a:avLst/>
          </a:prstGeom>
        </p:spPr>
      </p:pic>
      <p:pic>
        <p:nvPicPr>
          <p:cNvPr id="14" name="Picture 13">
            <a:extLst>
              <a:ext uri="{FF2B5EF4-FFF2-40B4-BE49-F238E27FC236}">
                <a16:creationId xmlns:a16="http://schemas.microsoft.com/office/drawing/2014/main" id="{AFF01BBC-BB85-F243-9271-52F35FE98F62}"/>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85750" y="684098"/>
            <a:ext cx="2451498" cy="714029"/>
          </a:xfrm>
          <a:prstGeom prst="rect">
            <a:avLst/>
          </a:prstGeom>
        </p:spPr>
      </p:pic>
    </p:spTree>
    <p:extLst>
      <p:ext uri="{BB962C8B-B14F-4D97-AF65-F5344CB8AC3E}">
        <p14:creationId xmlns:p14="http://schemas.microsoft.com/office/powerpoint/2010/main" val="13275186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DE18C1-E8D6-D742-8CAC-8E4C6FFE29A4}"/>
              </a:ext>
            </a:extLst>
          </p:cNvPr>
          <p:cNvSpPr>
            <a:spLocks noGrp="1"/>
          </p:cNvSpPr>
          <p:nvPr>
            <p:ph type="title"/>
          </p:nvPr>
        </p:nvSpPr>
        <p:spPr>
          <a:xfrm>
            <a:off x="822962" y="1891353"/>
            <a:ext cx="7543800" cy="680397"/>
          </a:xfrm>
        </p:spPr>
        <p:txBody>
          <a:bodyPr>
            <a:normAutofit fontScale="90000"/>
          </a:bodyPr>
          <a:lstStyle/>
          <a:p>
            <a:r>
              <a:rPr lang="en-US" dirty="0"/>
              <a:t>Not possible to capture XOR with </a:t>
            </a:r>
            <a:r>
              <a:rPr lang="en-US" dirty="0" err="1"/>
              <a:t>perceptrons</a:t>
            </a:r>
            <a:endParaRPr lang="en-US" dirty="0"/>
          </a:p>
        </p:txBody>
      </p:sp>
      <p:sp>
        <p:nvSpPr>
          <p:cNvPr id="3" name="Content Placeholder 2">
            <a:extLst>
              <a:ext uri="{FF2B5EF4-FFF2-40B4-BE49-F238E27FC236}">
                <a16:creationId xmlns:a16="http://schemas.microsoft.com/office/drawing/2014/main" id="{2F2C0543-8543-A645-836C-B2CC36C60FAC}"/>
              </a:ext>
            </a:extLst>
          </p:cNvPr>
          <p:cNvSpPr>
            <a:spLocks noGrp="1"/>
          </p:cNvSpPr>
          <p:nvPr>
            <p:ph idx="1"/>
          </p:nvPr>
        </p:nvSpPr>
        <p:spPr/>
        <p:txBody>
          <a:bodyPr/>
          <a:lstStyle/>
          <a:p>
            <a:endParaRPr lang="en-US" dirty="0"/>
          </a:p>
        </p:txBody>
      </p:sp>
    </p:spTree>
    <p:extLst>
      <p:ext uri="{BB962C8B-B14F-4D97-AF65-F5344CB8AC3E}">
        <p14:creationId xmlns:p14="http://schemas.microsoft.com/office/powerpoint/2010/main" val="7323611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C385C3-A172-5041-8212-22414CA6F000}"/>
              </a:ext>
            </a:extLst>
          </p:cNvPr>
          <p:cNvSpPr>
            <a:spLocks noGrp="1"/>
          </p:cNvSpPr>
          <p:nvPr>
            <p:ph type="title"/>
          </p:nvPr>
        </p:nvSpPr>
        <p:spPr/>
        <p:txBody>
          <a:bodyPr/>
          <a:lstStyle/>
          <a:p>
            <a:r>
              <a:rPr lang="en-US" dirty="0"/>
              <a:t>Why? </a:t>
            </a:r>
            <a:r>
              <a:rPr lang="en-US" dirty="0" err="1"/>
              <a:t>Perceptrons</a:t>
            </a:r>
            <a:r>
              <a:rPr lang="en-US" dirty="0"/>
              <a:t> are linear classifiers</a:t>
            </a:r>
          </a:p>
        </p:txBody>
      </p:sp>
      <p:sp>
        <p:nvSpPr>
          <p:cNvPr id="3" name="Content Placeholder 2">
            <a:extLst>
              <a:ext uri="{FF2B5EF4-FFF2-40B4-BE49-F238E27FC236}">
                <a16:creationId xmlns:a16="http://schemas.microsoft.com/office/drawing/2014/main" id="{1AAFDE0E-E1CE-524A-8D11-F5AF079C4B65}"/>
              </a:ext>
            </a:extLst>
          </p:cNvPr>
          <p:cNvSpPr>
            <a:spLocks noGrp="1"/>
          </p:cNvSpPr>
          <p:nvPr>
            <p:ph idx="1"/>
          </p:nvPr>
        </p:nvSpPr>
        <p:spPr>
          <a:xfrm>
            <a:off x="571500" y="1200150"/>
            <a:ext cx="8401050" cy="3429000"/>
          </a:xfrm>
        </p:spPr>
        <p:txBody>
          <a:bodyPr>
            <a:normAutofit fontScale="85000" lnSpcReduction="20000"/>
          </a:bodyPr>
          <a:lstStyle/>
          <a:p>
            <a:r>
              <a:rPr lang="en-US" sz="3150" dirty="0"/>
              <a:t>Perceptron equation given</a:t>
            </a:r>
            <a:r>
              <a:rPr lang="en-US" sz="3150" i="1" dirty="0"/>
              <a:t> x</a:t>
            </a:r>
            <a:r>
              <a:rPr lang="en-US" sz="3150" baseline="-25000" dirty="0"/>
              <a:t>1</a:t>
            </a:r>
            <a:r>
              <a:rPr lang="en-US" sz="3150" dirty="0"/>
              <a:t> and </a:t>
            </a:r>
            <a:r>
              <a:rPr lang="en-US" sz="3150" i="1" dirty="0"/>
              <a:t>x</a:t>
            </a:r>
            <a:r>
              <a:rPr lang="en-US" sz="3150" baseline="-25000" dirty="0"/>
              <a:t>2</a:t>
            </a:r>
            <a:r>
              <a:rPr lang="en-US" sz="3150" dirty="0"/>
              <a:t>, is the equation of a line</a:t>
            </a:r>
          </a:p>
          <a:p>
            <a:endParaRPr lang="en-US" sz="100" i="1" dirty="0">
              <a:latin typeface="Times New Roman" panose="02020603050405020304" pitchFamily="18" charset="0"/>
              <a:cs typeface="Times New Roman" panose="02020603050405020304" pitchFamily="18" charset="0"/>
            </a:endParaRPr>
          </a:p>
          <a:p>
            <a:r>
              <a:rPr lang="en-US" i="1" dirty="0">
                <a:latin typeface="Times New Roman" panose="02020603050405020304" pitchFamily="18" charset="0"/>
                <a:cs typeface="Times New Roman" panose="02020603050405020304" pitchFamily="18" charset="0"/>
              </a:rPr>
              <a:t>w</a:t>
            </a:r>
            <a:r>
              <a:rPr lang="en-US" baseline="-25000" dirty="0">
                <a:latin typeface="Times New Roman" panose="02020603050405020304" pitchFamily="18" charset="0"/>
                <a:cs typeface="Times New Roman" panose="02020603050405020304" pitchFamily="18" charset="0"/>
              </a:rPr>
              <a:t>1</a:t>
            </a:r>
            <a:r>
              <a:rPr lang="en-US" i="1" dirty="0">
                <a:latin typeface="Times New Roman" panose="02020603050405020304" pitchFamily="18" charset="0"/>
                <a:cs typeface="Times New Roman" panose="02020603050405020304" pitchFamily="18" charset="0"/>
              </a:rPr>
              <a:t>x</a:t>
            </a:r>
            <a:r>
              <a:rPr lang="en-US" baseline="-25000" dirty="0">
                <a:latin typeface="Times New Roman" panose="02020603050405020304" pitchFamily="18" charset="0"/>
                <a:cs typeface="Times New Roman" panose="02020603050405020304" pitchFamily="18" charset="0"/>
              </a:rPr>
              <a:t>1</a:t>
            </a:r>
            <a:r>
              <a:rPr lang="en-US" dirty="0">
                <a:latin typeface="Times New Roman" panose="02020603050405020304" pitchFamily="18" charset="0"/>
                <a:cs typeface="Times New Roman" panose="02020603050405020304" pitchFamily="18" charset="0"/>
              </a:rPr>
              <a:t> + </a:t>
            </a:r>
            <a:r>
              <a:rPr lang="en-US" i="1" dirty="0">
                <a:latin typeface="Times New Roman" panose="02020603050405020304" pitchFamily="18" charset="0"/>
                <a:cs typeface="Times New Roman" panose="02020603050405020304" pitchFamily="18" charset="0"/>
              </a:rPr>
              <a:t>w</a:t>
            </a:r>
            <a:r>
              <a:rPr lang="en-US" baseline="-25000" dirty="0">
                <a:latin typeface="Times New Roman" panose="02020603050405020304" pitchFamily="18" charset="0"/>
                <a:cs typeface="Times New Roman" panose="02020603050405020304" pitchFamily="18" charset="0"/>
              </a:rPr>
              <a:t>2</a:t>
            </a:r>
            <a:r>
              <a:rPr lang="en-US" i="1" dirty="0">
                <a:latin typeface="Times New Roman" panose="02020603050405020304" pitchFamily="18" charset="0"/>
                <a:cs typeface="Times New Roman" panose="02020603050405020304" pitchFamily="18" charset="0"/>
              </a:rPr>
              <a:t>x</a:t>
            </a:r>
            <a:r>
              <a:rPr lang="en-US" baseline="-25000" dirty="0">
                <a:latin typeface="Times New Roman" panose="02020603050405020304" pitchFamily="18" charset="0"/>
                <a:cs typeface="Times New Roman" panose="02020603050405020304" pitchFamily="18" charset="0"/>
              </a:rPr>
              <a:t>2</a:t>
            </a:r>
            <a:r>
              <a:rPr lang="en-US" dirty="0">
                <a:latin typeface="Times New Roman" panose="02020603050405020304" pitchFamily="18" charset="0"/>
                <a:cs typeface="Times New Roman" panose="02020603050405020304" pitchFamily="18" charset="0"/>
              </a:rPr>
              <a:t> + </a:t>
            </a:r>
            <a:r>
              <a:rPr lang="en-US" i="1" dirty="0">
                <a:latin typeface="Times New Roman" panose="02020603050405020304" pitchFamily="18" charset="0"/>
                <a:cs typeface="Times New Roman" panose="02020603050405020304" pitchFamily="18" charset="0"/>
              </a:rPr>
              <a:t>b </a:t>
            </a:r>
            <a:r>
              <a:rPr lang="en-US" dirty="0">
                <a:latin typeface="Times New Roman" panose="02020603050405020304" pitchFamily="18" charset="0"/>
                <a:cs typeface="Times New Roman" panose="02020603050405020304" pitchFamily="18" charset="0"/>
              </a:rPr>
              <a:t>= 0</a:t>
            </a:r>
          </a:p>
          <a:p>
            <a:endParaRPr lang="en-US" sz="1425" dirty="0">
              <a:latin typeface="Times New Roman" panose="02020603050405020304" pitchFamily="18" charset="0"/>
              <a:cs typeface="Times New Roman" panose="02020603050405020304" pitchFamily="18" charset="0"/>
            </a:endParaRPr>
          </a:p>
          <a:p>
            <a:r>
              <a:rPr lang="en-US" dirty="0"/>
              <a:t>(in standard linear format:     </a:t>
            </a:r>
            <a:r>
              <a:rPr lang="en-US" i="1" dirty="0">
                <a:latin typeface="Times New Roman" panose="02020603050405020304" pitchFamily="18" charset="0"/>
                <a:cs typeface="Times New Roman" panose="02020603050405020304" pitchFamily="18" charset="0"/>
              </a:rPr>
              <a:t>x</a:t>
            </a:r>
            <a:r>
              <a:rPr lang="en-US" baseline="-25000" dirty="0">
                <a:latin typeface="Times New Roman" panose="02020603050405020304" pitchFamily="18" charset="0"/>
                <a:cs typeface="Times New Roman" panose="02020603050405020304" pitchFamily="18" charset="0"/>
              </a:rPr>
              <a:t>2</a:t>
            </a:r>
            <a:r>
              <a:rPr lang="en-US" dirty="0">
                <a:latin typeface="Times New Roman" panose="02020603050405020304" pitchFamily="18" charset="0"/>
                <a:cs typeface="Times New Roman" panose="02020603050405020304" pitchFamily="18" charset="0"/>
              </a:rPr>
              <a:t> = (−</a:t>
            </a:r>
            <a:r>
              <a:rPr lang="en-US" i="1" dirty="0">
                <a:latin typeface="Times New Roman" panose="02020603050405020304" pitchFamily="18" charset="0"/>
                <a:cs typeface="Times New Roman" panose="02020603050405020304" pitchFamily="18" charset="0"/>
              </a:rPr>
              <a:t>w</a:t>
            </a:r>
            <a:r>
              <a:rPr lang="en-US" baseline="-25000" dirty="0">
                <a:latin typeface="Times New Roman" panose="02020603050405020304" pitchFamily="18" charset="0"/>
                <a:cs typeface="Times New Roman" panose="02020603050405020304" pitchFamily="18" charset="0"/>
              </a:rPr>
              <a:t>1</a:t>
            </a:r>
            <a:r>
              <a:rPr lang="en-US" dirty="0">
                <a:latin typeface="Times New Roman" panose="02020603050405020304" pitchFamily="18" charset="0"/>
                <a:cs typeface="Times New Roman" panose="02020603050405020304" pitchFamily="18" charset="0"/>
              </a:rPr>
              <a:t>/</a:t>
            </a:r>
            <a:r>
              <a:rPr lang="en-US" i="1" dirty="0">
                <a:latin typeface="Times New Roman" panose="02020603050405020304" pitchFamily="18" charset="0"/>
                <a:cs typeface="Times New Roman" panose="02020603050405020304" pitchFamily="18" charset="0"/>
              </a:rPr>
              <a:t>w</a:t>
            </a:r>
            <a:r>
              <a:rPr lang="en-US" baseline="-25000" dirty="0">
                <a:latin typeface="Times New Roman" panose="02020603050405020304" pitchFamily="18" charset="0"/>
                <a:cs typeface="Times New Roman" panose="02020603050405020304" pitchFamily="18" charset="0"/>
              </a:rPr>
              <a:t>2</a:t>
            </a:r>
            <a:r>
              <a:rPr lang="en-US" dirty="0">
                <a:latin typeface="Times New Roman" panose="02020603050405020304" pitchFamily="18" charset="0"/>
                <a:cs typeface="Times New Roman" panose="02020603050405020304" pitchFamily="18" charset="0"/>
              </a:rPr>
              <a:t>)</a:t>
            </a:r>
            <a:r>
              <a:rPr lang="en-US" i="1" dirty="0">
                <a:latin typeface="Times New Roman" panose="02020603050405020304" pitchFamily="18" charset="0"/>
                <a:cs typeface="Times New Roman" panose="02020603050405020304" pitchFamily="18" charset="0"/>
              </a:rPr>
              <a:t>x</a:t>
            </a:r>
            <a:r>
              <a:rPr lang="en-US" baseline="-25000" dirty="0">
                <a:latin typeface="Times New Roman" panose="02020603050405020304" pitchFamily="18" charset="0"/>
                <a:cs typeface="Times New Roman" panose="02020603050405020304" pitchFamily="18" charset="0"/>
              </a:rPr>
              <a:t>1</a:t>
            </a:r>
            <a:r>
              <a:rPr lang="en-US" dirty="0">
                <a:latin typeface="Times New Roman" panose="02020603050405020304" pitchFamily="18" charset="0"/>
                <a:cs typeface="Times New Roman" panose="02020603050405020304" pitchFamily="18" charset="0"/>
              </a:rPr>
              <a:t> + (−</a:t>
            </a:r>
            <a:r>
              <a:rPr lang="en-US" i="1" dirty="0">
                <a:latin typeface="Times New Roman" panose="02020603050405020304" pitchFamily="18" charset="0"/>
                <a:cs typeface="Times New Roman" panose="02020603050405020304" pitchFamily="18" charset="0"/>
              </a:rPr>
              <a:t>b</a:t>
            </a:r>
            <a:r>
              <a:rPr lang="en-US" dirty="0">
                <a:latin typeface="Times New Roman" panose="02020603050405020304" pitchFamily="18" charset="0"/>
                <a:cs typeface="Times New Roman" panose="02020603050405020304" pitchFamily="18" charset="0"/>
              </a:rPr>
              <a:t>/</a:t>
            </a:r>
            <a:r>
              <a:rPr lang="en-US" i="1" dirty="0">
                <a:latin typeface="Times New Roman" panose="02020603050405020304" pitchFamily="18" charset="0"/>
                <a:cs typeface="Times New Roman" panose="02020603050405020304" pitchFamily="18" charset="0"/>
              </a:rPr>
              <a:t>w</a:t>
            </a:r>
            <a:r>
              <a:rPr lang="en-US" baseline="-25000" dirty="0">
                <a:latin typeface="Times New Roman" panose="02020603050405020304" pitchFamily="18" charset="0"/>
                <a:cs typeface="Times New Roman" panose="02020603050405020304" pitchFamily="18" charset="0"/>
              </a:rPr>
              <a:t>2</a:t>
            </a:r>
            <a:r>
              <a:rPr lang="en-US" dirty="0">
                <a:latin typeface="Times New Roman" panose="02020603050405020304" pitchFamily="18" charset="0"/>
                <a:cs typeface="Times New Roman" panose="02020603050405020304" pitchFamily="18" charset="0"/>
              </a:rPr>
              <a:t>)    )</a:t>
            </a:r>
          </a:p>
          <a:p>
            <a:endParaRPr lang="en-US" dirty="0">
              <a:latin typeface="Times New Roman" panose="02020603050405020304" pitchFamily="18" charset="0"/>
              <a:cs typeface="Times New Roman" panose="02020603050405020304" pitchFamily="18" charset="0"/>
            </a:endParaRPr>
          </a:p>
          <a:p>
            <a:r>
              <a:rPr lang="en-US" sz="3450" dirty="0"/>
              <a:t>This line acts as a </a:t>
            </a:r>
            <a:r>
              <a:rPr lang="en-US" sz="3450" b="1" dirty="0"/>
              <a:t>decision boundary </a:t>
            </a:r>
          </a:p>
          <a:p>
            <a:pPr marL="428615" indent="-428615">
              <a:buFont typeface="Arial" panose="020B0604020202020204" pitchFamily="34" charset="0"/>
              <a:buChar char="•"/>
            </a:pPr>
            <a:r>
              <a:rPr lang="en-US" dirty="0"/>
              <a:t>0 if input is on one side of the line</a:t>
            </a:r>
          </a:p>
          <a:p>
            <a:pPr marL="428615" indent="-428615">
              <a:buFont typeface="Arial" panose="020B0604020202020204" pitchFamily="34" charset="0"/>
              <a:buChar char="•"/>
            </a:pPr>
            <a:r>
              <a:rPr lang="en-US" dirty="0"/>
              <a:t>1 if on the other side of the line </a:t>
            </a:r>
          </a:p>
          <a:p>
            <a:endParaRPr lang="en-US" dirty="0"/>
          </a:p>
          <a:p>
            <a:endParaRPr lang="en-US" dirty="0"/>
          </a:p>
        </p:txBody>
      </p:sp>
    </p:spTree>
    <p:extLst>
      <p:ext uri="{BB962C8B-B14F-4D97-AF65-F5344CB8AC3E}">
        <p14:creationId xmlns:p14="http://schemas.microsoft.com/office/powerpoint/2010/main" val="261076446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DFF5F8-0D5F-3245-94FD-1C8CCF866339}"/>
              </a:ext>
            </a:extLst>
          </p:cNvPr>
          <p:cNvSpPr>
            <a:spLocks noGrp="1"/>
          </p:cNvSpPr>
          <p:nvPr>
            <p:ph type="title"/>
          </p:nvPr>
        </p:nvSpPr>
        <p:spPr/>
        <p:txBody>
          <a:bodyPr/>
          <a:lstStyle/>
          <a:p>
            <a:r>
              <a:rPr lang="en-US" dirty="0"/>
              <a:t>Decision boundaries</a:t>
            </a:r>
          </a:p>
        </p:txBody>
      </p:sp>
      <p:pic>
        <p:nvPicPr>
          <p:cNvPr id="5" name="Content Placeholder 4">
            <a:extLst>
              <a:ext uri="{FF2B5EF4-FFF2-40B4-BE49-F238E27FC236}">
                <a16:creationId xmlns:a16="http://schemas.microsoft.com/office/drawing/2014/main" id="{D0AD8B8A-830C-0C44-9E6F-6C293F658D72}"/>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822722" y="1505111"/>
            <a:ext cx="7543800" cy="2819081"/>
          </a:xfrm>
        </p:spPr>
      </p:pic>
      <p:sp>
        <p:nvSpPr>
          <p:cNvPr id="6" name="TextBox 5">
            <a:extLst>
              <a:ext uri="{FF2B5EF4-FFF2-40B4-BE49-F238E27FC236}">
                <a16:creationId xmlns:a16="http://schemas.microsoft.com/office/drawing/2014/main" id="{AC3C8879-6437-8943-9093-17F82EABF9AC}"/>
              </a:ext>
            </a:extLst>
          </p:cNvPr>
          <p:cNvSpPr txBox="1"/>
          <p:nvPr/>
        </p:nvSpPr>
        <p:spPr>
          <a:xfrm>
            <a:off x="1143002" y="4569190"/>
            <a:ext cx="5864491" cy="507831"/>
          </a:xfrm>
          <a:prstGeom prst="rect">
            <a:avLst/>
          </a:prstGeom>
          <a:noFill/>
        </p:spPr>
        <p:txBody>
          <a:bodyPr wrap="none" rtlCol="0">
            <a:spAutoFit/>
          </a:bodyPr>
          <a:lstStyle/>
          <a:p>
            <a:r>
              <a:rPr lang="en-US" sz="2700" dirty="0"/>
              <a:t>XOR is not a </a:t>
            </a:r>
            <a:r>
              <a:rPr lang="en-US" sz="2700" b="1" dirty="0"/>
              <a:t>linearly separable </a:t>
            </a:r>
            <a:r>
              <a:rPr lang="en-US" sz="2700" dirty="0"/>
              <a:t>function!</a:t>
            </a:r>
          </a:p>
        </p:txBody>
      </p:sp>
    </p:spTree>
    <p:extLst>
      <p:ext uri="{BB962C8B-B14F-4D97-AF65-F5344CB8AC3E}">
        <p14:creationId xmlns:p14="http://schemas.microsoft.com/office/powerpoint/2010/main" val="32083231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800CDF-4095-E945-BC36-7F20101FB0C8}"/>
              </a:ext>
            </a:extLst>
          </p:cNvPr>
          <p:cNvSpPr>
            <a:spLocks noGrp="1"/>
          </p:cNvSpPr>
          <p:nvPr>
            <p:ph type="title"/>
          </p:nvPr>
        </p:nvSpPr>
        <p:spPr/>
        <p:txBody>
          <a:bodyPr/>
          <a:lstStyle/>
          <a:p>
            <a:r>
              <a:rPr lang="en-US" dirty="0"/>
              <a:t>Solution to the XOR problem</a:t>
            </a:r>
          </a:p>
        </p:txBody>
      </p:sp>
      <p:sp>
        <p:nvSpPr>
          <p:cNvPr id="3" name="Content Placeholder 2">
            <a:extLst>
              <a:ext uri="{FF2B5EF4-FFF2-40B4-BE49-F238E27FC236}">
                <a16:creationId xmlns:a16="http://schemas.microsoft.com/office/drawing/2014/main" id="{AC2EC889-7681-0C43-9C9E-AC7B0207504E}"/>
              </a:ext>
            </a:extLst>
          </p:cNvPr>
          <p:cNvSpPr>
            <a:spLocks noGrp="1"/>
          </p:cNvSpPr>
          <p:nvPr>
            <p:ph idx="1"/>
          </p:nvPr>
        </p:nvSpPr>
        <p:spPr>
          <a:xfrm>
            <a:off x="822962" y="1200150"/>
            <a:ext cx="8035289" cy="3429000"/>
          </a:xfrm>
        </p:spPr>
        <p:txBody>
          <a:bodyPr/>
          <a:lstStyle/>
          <a:p>
            <a:r>
              <a:rPr lang="en-US" dirty="0"/>
              <a:t>XOR </a:t>
            </a:r>
            <a:r>
              <a:rPr lang="en-US" b="1" dirty="0"/>
              <a:t>can't</a:t>
            </a:r>
            <a:r>
              <a:rPr lang="en-US" dirty="0"/>
              <a:t> be calculated by a single perceptron</a:t>
            </a:r>
          </a:p>
          <a:p>
            <a:r>
              <a:rPr lang="en-US" dirty="0"/>
              <a:t>XOR </a:t>
            </a:r>
            <a:r>
              <a:rPr lang="en-US" b="1" dirty="0"/>
              <a:t>can</a:t>
            </a:r>
            <a:r>
              <a:rPr lang="en-US" dirty="0"/>
              <a:t> be calculated by a layered network of units. </a:t>
            </a:r>
          </a:p>
          <a:p>
            <a:endParaRPr lang="en-US" dirty="0"/>
          </a:p>
        </p:txBody>
      </p:sp>
      <p:pic>
        <p:nvPicPr>
          <p:cNvPr id="5" name="Picture 4">
            <a:extLst>
              <a:ext uri="{FF2B5EF4-FFF2-40B4-BE49-F238E27FC236}">
                <a16:creationId xmlns:a16="http://schemas.microsoft.com/office/drawing/2014/main" id="{D58FDE86-E652-7D44-806E-6D695F2A529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86050" y="2207420"/>
            <a:ext cx="3371850" cy="2447925"/>
          </a:xfrm>
          <a:prstGeom prst="rect">
            <a:avLst/>
          </a:prstGeom>
        </p:spPr>
      </p:pic>
      <p:pic>
        <p:nvPicPr>
          <p:cNvPr id="6" name="Picture 5">
            <a:extLst>
              <a:ext uri="{FF2B5EF4-FFF2-40B4-BE49-F238E27FC236}">
                <a16:creationId xmlns:a16="http://schemas.microsoft.com/office/drawing/2014/main" id="{B95706E5-FEA5-AD4E-8127-71F0BC33486D}"/>
              </a:ext>
            </a:extLst>
          </p:cNvPr>
          <p:cNvPicPr>
            <a:picLocks noChangeAspect="1"/>
          </p:cNvPicPr>
          <p:nvPr/>
        </p:nvPicPr>
        <p:blipFill rotWithShape="1">
          <a:blip r:embed="rId4"/>
          <a:srcRect l="74938"/>
          <a:stretch/>
        </p:blipFill>
        <p:spPr>
          <a:xfrm>
            <a:off x="529968" y="2400301"/>
            <a:ext cx="1253114" cy="2062163"/>
          </a:xfrm>
          <a:prstGeom prst="rect">
            <a:avLst/>
          </a:prstGeom>
        </p:spPr>
      </p:pic>
      <p:sp>
        <p:nvSpPr>
          <p:cNvPr id="4" name="TextBox 3">
            <a:extLst>
              <a:ext uri="{FF2B5EF4-FFF2-40B4-BE49-F238E27FC236}">
                <a16:creationId xmlns:a16="http://schemas.microsoft.com/office/drawing/2014/main" id="{B7BA4D31-AD8C-4B45-8B6E-A4FB0760CED7}"/>
              </a:ext>
            </a:extLst>
          </p:cNvPr>
          <p:cNvSpPr txBox="1"/>
          <p:nvPr/>
        </p:nvSpPr>
        <p:spPr>
          <a:xfrm>
            <a:off x="2286410" y="3154383"/>
            <a:ext cx="661400" cy="369332"/>
          </a:xfrm>
          <a:prstGeom prst="rect">
            <a:avLst/>
          </a:prstGeom>
          <a:noFill/>
        </p:spPr>
        <p:txBody>
          <a:bodyPr wrap="none" rtlCol="0">
            <a:spAutoFit/>
          </a:bodyPr>
          <a:lstStyle/>
          <a:p>
            <a:r>
              <a:rPr lang="en-US" sz="1800" dirty="0" err="1"/>
              <a:t>ReLU</a:t>
            </a:r>
            <a:endParaRPr lang="en-US" sz="1800" dirty="0"/>
          </a:p>
        </p:txBody>
      </p:sp>
      <p:sp>
        <p:nvSpPr>
          <p:cNvPr id="7" name="TextBox 6">
            <a:extLst>
              <a:ext uri="{FF2B5EF4-FFF2-40B4-BE49-F238E27FC236}">
                <a16:creationId xmlns:a16="http://schemas.microsoft.com/office/drawing/2014/main" id="{0B095193-D01D-A94C-907C-707EDCB6CA87}"/>
              </a:ext>
            </a:extLst>
          </p:cNvPr>
          <p:cNvSpPr txBox="1"/>
          <p:nvPr/>
        </p:nvSpPr>
        <p:spPr>
          <a:xfrm>
            <a:off x="2731349" y="2227176"/>
            <a:ext cx="661400" cy="369332"/>
          </a:xfrm>
          <a:prstGeom prst="rect">
            <a:avLst/>
          </a:prstGeom>
          <a:noFill/>
        </p:spPr>
        <p:txBody>
          <a:bodyPr wrap="none" rtlCol="0">
            <a:spAutoFit/>
          </a:bodyPr>
          <a:lstStyle/>
          <a:p>
            <a:r>
              <a:rPr lang="en-US" sz="1800" dirty="0" err="1"/>
              <a:t>ReLU</a:t>
            </a:r>
            <a:endParaRPr lang="en-US" sz="1800" dirty="0"/>
          </a:p>
        </p:txBody>
      </p:sp>
    </p:spTree>
    <p:extLst>
      <p:ext uri="{BB962C8B-B14F-4D97-AF65-F5344CB8AC3E}">
        <p14:creationId xmlns:p14="http://schemas.microsoft.com/office/powerpoint/2010/main" val="4407201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9C815-B25A-DA4D-8DF5-65BE0D9F65F3}"/>
              </a:ext>
            </a:extLst>
          </p:cNvPr>
          <p:cNvSpPr>
            <a:spLocks noGrp="1"/>
          </p:cNvSpPr>
          <p:nvPr>
            <p:ph type="title"/>
          </p:nvPr>
        </p:nvSpPr>
        <p:spPr/>
        <p:txBody>
          <a:bodyPr/>
          <a:lstStyle/>
          <a:p>
            <a:r>
              <a:rPr lang="en-US" dirty="0"/>
              <a:t>The hidden representation h</a:t>
            </a:r>
          </a:p>
        </p:txBody>
      </p:sp>
      <p:pic>
        <p:nvPicPr>
          <p:cNvPr id="5" name="Content Placeholder 4">
            <a:extLst>
              <a:ext uri="{FF2B5EF4-FFF2-40B4-BE49-F238E27FC236}">
                <a16:creationId xmlns:a16="http://schemas.microsoft.com/office/drawing/2014/main" id="{54B94C4C-4588-954C-AC93-FA97E9070027}"/>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314451" y="1200150"/>
            <a:ext cx="7013660" cy="3220828"/>
          </a:xfrm>
        </p:spPr>
      </p:pic>
      <p:pic>
        <p:nvPicPr>
          <p:cNvPr id="6" name="Picture 5">
            <a:extLst>
              <a:ext uri="{FF2B5EF4-FFF2-40B4-BE49-F238E27FC236}">
                <a16:creationId xmlns:a16="http://schemas.microsoft.com/office/drawing/2014/main" id="{36661EAF-414B-D843-9813-1E667240FBC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900" y="177745"/>
            <a:ext cx="1714500" cy="1244708"/>
          </a:xfrm>
          <a:prstGeom prst="rect">
            <a:avLst/>
          </a:prstGeom>
        </p:spPr>
      </p:pic>
      <p:sp>
        <p:nvSpPr>
          <p:cNvPr id="7" name="TextBox 6">
            <a:extLst>
              <a:ext uri="{FF2B5EF4-FFF2-40B4-BE49-F238E27FC236}">
                <a16:creationId xmlns:a16="http://schemas.microsoft.com/office/drawing/2014/main" id="{6E418B94-D5F7-1043-8A08-3BB98D7D3908}"/>
              </a:ext>
            </a:extLst>
          </p:cNvPr>
          <p:cNvSpPr txBox="1"/>
          <p:nvPr/>
        </p:nvSpPr>
        <p:spPr>
          <a:xfrm>
            <a:off x="1028702" y="4635648"/>
            <a:ext cx="7938007" cy="415498"/>
          </a:xfrm>
          <a:prstGeom prst="rect">
            <a:avLst/>
          </a:prstGeom>
          <a:noFill/>
        </p:spPr>
        <p:txBody>
          <a:bodyPr wrap="none" rtlCol="0">
            <a:spAutoFit/>
          </a:bodyPr>
          <a:lstStyle/>
          <a:p>
            <a:r>
              <a:rPr lang="en-US" sz="2100" dirty="0"/>
              <a:t>(With learning:  hidden layers will learn to form useful representations)</a:t>
            </a:r>
          </a:p>
        </p:txBody>
      </p:sp>
    </p:spTree>
    <p:extLst>
      <p:ext uri="{BB962C8B-B14F-4D97-AF65-F5344CB8AC3E}">
        <p14:creationId xmlns:p14="http://schemas.microsoft.com/office/powerpoint/2010/main" val="28367354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normAutofit fontScale="90000"/>
          </a:bodyPr>
          <a:lstStyle/>
          <a:p>
            <a:r>
              <a:rPr lang="en-US" sz="3000" dirty="0">
                <a:solidFill>
                  <a:schemeClr val="bg1"/>
                </a:solidFill>
                <a:ea typeface="Franklin Gothic Book" charset="0"/>
                <a:cs typeface="Franklin Gothic Book" charset="0"/>
              </a:rPr>
              <a:t>Simple Neural Networks and Neural Language Models</a:t>
            </a:r>
            <a:endParaRPr lang="en-US" sz="3000" dirty="0">
              <a:solidFill>
                <a:schemeClr val="bg1"/>
              </a:solidFill>
            </a:endParaRPr>
          </a:p>
        </p:txBody>
      </p:sp>
      <p:sp>
        <p:nvSpPr>
          <p:cNvPr id="3" name="Subtitle 2"/>
          <p:cNvSpPr>
            <a:spLocks noGrp="1"/>
          </p:cNvSpPr>
          <p:nvPr>
            <p:ph idx="1"/>
          </p:nvPr>
        </p:nvSpPr>
        <p:spPr/>
        <p:txBody>
          <a:bodyPr>
            <a:normAutofit/>
          </a:bodyPr>
          <a:lstStyle/>
          <a:p>
            <a:r>
              <a:rPr lang="en-US" sz="3000" dirty="0">
                <a:solidFill>
                  <a:schemeClr val="tx2"/>
                </a:solidFill>
              </a:rPr>
              <a:t>Feedforward Neural Networks</a:t>
            </a:r>
          </a:p>
        </p:txBody>
      </p:sp>
      <p:sp>
        <p:nvSpPr>
          <p:cNvPr id="4" name="Text Placeholder 3">
            <a:extLst>
              <a:ext uri="{FF2B5EF4-FFF2-40B4-BE49-F238E27FC236}">
                <a16:creationId xmlns:a16="http://schemas.microsoft.com/office/drawing/2014/main" id="{7CDFEBC3-8FF0-D643-8A81-9E0AA29FBABE}"/>
              </a:ext>
            </a:extLst>
          </p:cNvPr>
          <p:cNvSpPr>
            <a:spLocks noGrp="1"/>
          </p:cNvSpPr>
          <p:nvPr>
            <p:ph type="body" sz="half" idx="2"/>
          </p:nvPr>
        </p:nvSpPr>
        <p:spPr/>
        <p:txBody>
          <a:bodyPr/>
          <a:lstStyle/>
          <a:p>
            <a:endParaRPr lang="en-US"/>
          </a:p>
        </p:txBody>
      </p:sp>
    </p:spTree>
    <p:extLst>
      <p:ext uri="{BB962C8B-B14F-4D97-AF65-F5344CB8AC3E}">
        <p14:creationId xmlns:p14="http://schemas.microsoft.com/office/powerpoint/2010/main" val="3242777153"/>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9DE413-5D6E-A44F-8A15-CD96FE8D7B7F}"/>
              </a:ext>
            </a:extLst>
          </p:cNvPr>
          <p:cNvSpPr>
            <a:spLocks noGrp="1"/>
          </p:cNvSpPr>
          <p:nvPr>
            <p:ph type="title"/>
          </p:nvPr>
        </p:nvSpPr>
        <p:spPr/>
        <p:txBody>
          <a:bodyPr/>
          <a:lstStyle/>
          <a:p>
            <a:r>
              <a:rPr lang="en-US" dirty="0"/>
              <a:t>Feedforward Neural Networks</a:t>
            </a:r>
          </a:p>
        </p:txBody>
      </p:sp>
      <p:sp>
        <p:nvSpPr>
          <p:cNvPr id="3" name="Content Placeholder 2">
            <a:extLst>
              <a:ext uri="{FF2B5EF4-FFF2-40B4-BE49-F238E27FC236}">
                <a16:creationId xmlns:a16="http://schemas.microsoft.com/office/drawing/2014/main" id="{283C3FB4-7E25-A248-85B0-1F62DBBF916B}"/>
              </a:ext>
            </a:extLst>
          </p:cNvPr>
          <p:cNvSpPr>
            <a:spLocks noGrp="1"/>
          </p:cNvSpPr>
          <p:nvPr>
            <p:ph idx="1"/>
          </p:nvPr>
        </p:nvSpPr>
        <p:spPr/>
        <p:txBody>
          <a:bodyPr/>
          <a:lstStyle/>
          <a:p>
            <a:r>
              <a:rPr lang="en-US" dirty="0"/>
              <a:t>Can also be called </a:t>
            </a:r>
            <a:r>
              <a:rPr lang="en-US" b="1" dirty="0"/>
              <a:t>multi-layer </a:t>
            </a:r>
            <a:r>
              <a:rPr lang="en-US" b="1" dirty="0" err="1"/>
              <a:t>perceptrons</a:t>
            </a:r>
            <a:r>
              <a:rPr lang="en-US" b="1" dirty="0"/>
              <a:t> </a:t>
            </a:r>
            <a:r>
              <a:rPr lang="en-US" dirty="0"/>
              <a:t>(or </a:t>
            </a:r>
            <a:r>
              <a:rPr lang="en-US" b="1" dirty="0"/>
              <a:t>MLPs</a:t>
            </a:r>
            <a:r>
              <a:rPr lang="en-US" dirty="0"/>
              <a:t>)  for historical reasons</a:t>
            </a:r>
          </a:p>
          <a:p>
            <a:endParaRPr lang="en-US" dirty="0"/>
          </a:p>
        </p:txBody>
      </p:sp>
      <p:pic>
        <p:nvPicPr>
          <p:cNvPr id="5" name="Picture 4">
            <a:extLst>
              <a:ext uri="{FF2B5EF4-FFF2-40B4-BE49-F238E27FC236}">
                <a16:creationId xmlns:a16="http://schemas.microsoft.com/office/drawing/2014/main" id="{D3329A66-506E-CA4B-BEB4-2784FA29562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45272" y="2286001"/>
            <a:ext cx="4453459" cy="2652713"/>
          </a:xfrm>
          <a:prstGeom prst="rect">
            <a:avLst/>
          </a:prstGeom>
        </p:spPr>
      </p:pic>
    </p:spTree>
    <p:extLst>
      <p:ext uri="{BB962C8B-B14F-4D97-AF65-F5344CB8AC3E}">
        <p14:creationId xmlns:p14="http://schemas.microsoft.com/office/powerpoint/2010/main" val="123523815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4B6050-9560-0147-958D-269CA32D4084}"/>
              </a:ext>
            </a:extLst>
          </p:cNvPr>
          <p:cNvSpPr>
            <a:spLocks noGrp="1"/>
          </p:cNvSpPr>
          <p:nvPr>
            <p:ph type="title"/>
          </p:nvPr>
        </p:nvSpPr>
        <p:spPr>
          <a:xfrm>
            <a:off x="822960" y="119702"/>
            <a:ext cx="8321040" cy="680397"/>
          </a:xfrm>
        </p:spPr>
        <p:txBody>
          <a:bodyPr>
            <a:normAutofit/>
          </a:bodyPr>
          <a:lstStyle/>
          <a:p>
            <a:r>
              <a:rPr lang="en-US" dirty="0" err="1"/>
              <a:t>softmax</a:t>
            </a:r>
            <a:r>
              <a:rPr lang="en-US" dirty="0"/>
              <a:t>: a generalization of sigmoid</a:t>
            </a:r>
          </a:p>
        </p:txBody>
      </p:sp>
      <p:sp>
        <p:nvSpPr>
          <p:cNvPr id="3" name="Content Placeholder 2">
            <a:extLst>
              <a:ext uri="{FF2B5EF4-FFF2-40B4-BE49-F238E27FC236}">
                <a16:creationId xmlns:a16="http://schemas.microsoft.com/office/drawing/2014/main" id="{DB29A5E3-C1F1-3345-9DD8-0A0D44C179B9}"/>
              </a:ext>
            </a:extLst>
          </p:cNvPr>
          <p:cNvSpPr>
            <a:spLocks noGrp="1"/>
          </p:cNvSpPr>
          <p:nvPr>
            <p:ph idx="1"/>
          </p:nvPr>
        </p:nvSpPr>
        <p:spPr>
          <a:xfrm>
            <a:off x="447634" y="702612"/>
            <a:ext cx="8524917" cy="4321186"/>
          </a:xfrm>
        </p:spPr>
        <p:txBody>
          <a:bodyPr/>
          <a:lstStyle/>
          <a:p>
            <a:endParaRPr lang="en-US" dirty="0"/>
          </a:p>
          <a:p>
            <a:r>
              <a:rPr lang="en-US" dirty="0"/>
              <a:t>For a vector </a:t>
            </a:r>
            <a:r>
              <a:rPr lang="en-US" i="1" dirty="0"/>
              <a:t>z </a:t>
            </a:r>
            <a:r>
              <a:rPr lang="en-US" dirty="0"/>
              <a:t>of dimensionality </a:t>
            </a:r>
            <a:r>
              <a:rPr lang="en-US" i="1" dirty="0"/>
              <a:t>k</a:t>
            </a:r>
            <a:r>
              <a:rPr lang="en-US" dirty="0"/>
              <a:t>, the </a:t>
            </a:r>
            <a:r>
              <a:rPr lang="en-US" dirty="0" err="1"/>
              <a:t>softmax</a:t>
            </a:r>
            <a:r>
              <a:rPr lang="en-US" dirty="0"/>
              <a:t> is:</a:t>
            </a:r>
          </a:p>
          <a:p>
            <a:endParaRPr lang="en-US" dirty="0"/>
          </a:p>
          <a:p>
            <a:endParaRPr lang="en-US" dirty="0"/>
          </a:p>
          <a:p>
            <a:endParaRPr lang="en-US" dirty="0"/>
          </a:p>
          <a:p>
            <a:endParaRPr lang="en-US" dirty="0"/>
          </a:p>
          <a:p>
            <a:r>
              <a:rPr lang="en-US" dirty="0"/>
              <a:t>Example:</a:t>
            </a:r>
          </a:p>
        </p:txBody>
      </p:sp>
      <p:pic>
        <p:nvPicPr>
          <p:cNvPr id="5" name="Picture 4">
            <a:extLst>
              <a:ext uri="{FF2B5EF4-FFF2-40B4-BE49-F238E27FC236}">
                <a16:creationId xmlns:a16="http://schemas.microsoft.com/office/drawing/2014/main" id="{ACD3161B-5C37-3244-8EDB-C75C46FF855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7481" y="2995662"/>
            <a:ext cx="4871538" cy="893596"/>
          </a:xfrm>
          <a:prstGeom prst="rect">
            <a:avLst/>
          </a:prstGeom>
        </p:spPr>
      </p:pic>
      <p:pic>
        <p:nvPicPr>
          <p:cNvPr id="7" name="Picture 6">
            <a:extLst>
              <a:ext uri="{FF2B5EF4-FFF2-40B4-BE49-F238E27FC236}">
                <a16:creationId xmlns:a16="http://schemas.microsoft.com/office/drawing/2014/main" id="{13A5F8A6-C792-DE46-A7B9-0EC179B860E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7084" y="1867379"/>
            <a:ext cx="7581148" cy="1095375"/>
          </a:xfrm>
          <a:prstGeom prst="rect">
            <a:avLst/>
          </a:prstGeom>
        </p:spPr>
      </p:pic>
      <p:pic>
        <p:nvPicPr>
          <p:cNvPr id="9" name="Picture 8">
            <a:extLst>
              <a:ext uri="{FF2B5EF4-FFF2-40B4-BE49-F238E27FC236}">
                <a16:creationId xmlns:a16="http://schemas.microsoft.com/office/drawing/2014/main" id="{5BFB0223-7490-A848-A0A1-03DA94A73D0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583853" y="4190206"/>
            <a:ext cx="3920288" cy="461210"/>
          </a:xfrm>
          <a:prstGeom prst="rect">
            <a:avLst/>
          </a:prstGeom>
        </p:spPr>
      </p:pic>
      <p:pic>
        <p:nvPicPr>
          <p:cNvPr id="11" name="Picture 10">
            <a:extLst>
              <a:ext uri="{FF2B5EF4-FFF2-40B4-BE49-F238E27FC236}">
                <a16:creationId xmlns:a16="http://schemas.microsoft.com/office/drawing/2014/main" id="{38585B58-FA6D-094E-AB85-4FB38152B74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086100" y="4700846"/>
            <a:ext cx="4640932" cy="403559"/>
          </a:xfrm>
          <a:prstGeom prst="rect">
            <a:avLst/>
          </a:prstGeom>
        </p:spPr>
      </p:pic>
      <p:pic>
        <p:nvPicPr>
          <p:cNvPr id="14" name="Picture 13">
            <a:extLst>
              <a:ext uri="{FF2B5EF4-FFF2-40B4-BE49-F238E27FC236}">
                <a16:creationId xmlns:a16="http://schemas.microsoft.com/office/drawing/2014/main" id="{463A41E6-4D68-1C4A-B7C7-CB212F309A59}"/>
              </a:ext>
            </a:extLst>
          </p:cNvPr>
          <p:cNvPicPr>
            <a:picLocks noChangeAspect="1"/>
          </p:cNvPicPr>
          <p:nvPr/>
        </p:nvPicPr>
        <p:blipFill rotWithShape="1">
          <a:blip r:embed="rId3">
            <a:extLst>
              <a:ext uri="{28A0092B-C50C-407E-A947-70E740481C1C}">
                <a14:useLocalDpi xmlns:a14="http://schemas.microsoft.com/office/drawing/2010/main" val="0"/>
              </a:ext>
            </a:extLst>
          </a:blip>
          <a:srcRect r="76021"/>
          <a:stretch/>
        </p:blipFill>
        <p:spPr>
          <a:xfrm>
            <a:off x="1325356" y="4333876"/>
            <a:ext cx="1817895" cy="1095375"/>
          </a:xfrm>
          <a:prstGeom prst="rect">
            <a:avLst/>
          </a:prstGeom>
        </p:spPr>
      </p:pic>
    </p:spTree>
    <p:extLst>
      <p:ext uri="{BB962C8B-B14F-4D97-AF65-F5344CB8AC3E}">
        <p14:creationId xmlns:p14="http://schemas.microsoft.com/office/powerpoint/2010/main" val="27547547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10135"/>
            <a:ext cx="7886700" cy="800100"/>
          </a:xfrm>
        </p:spPr>
        <p:txBody>
          <a:bodyPr/>
          <a:lstStyle/>
          <a:p>
            <a:r>
              <a:rPr lang="en-US" b="0" dirty="0"/>
              <a:t>Two-Layer Network with scalar output</a:t>
            </a:r>
          </a:p>
        </p:txBody>
      </p:sp>
      <p:sp>
        <p:nvSpPr>
          <p:cNvPr id="8" name="Oval 7"/>
          <p:cNvSpPr/>
          <p:nvPr/>
        </p:nvSpPr>
        <p:spPr bwMode="auto">
          <a:xfrm>
            <a:off x="4184450" y="2724152"/>
            <a:ext cx="381000" cy="476071"/>
          </a:xfrm>
          <a:prstGeom prst="ellipse">
            <a:avLst/>
          </a:prstGeom>
          <a:no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defTabSz="914355" fontAlgn="base">
              <a:spcBef>
                <a:spcPct val="0"/>
              </a:spcBef>
              <a:spcAft>
                <a:spcPct val="0"/>
              </a:spcAft>
            </a:pPr>
            <a:endParaRPr lang="en-US" sz="1600">
              <a:solidFill>
                <a:srgbClr val="009900"/>
              </a:solidFill>
              <a:latin typeface="Tahoma" charset="0"/>
            </a:endParaRPr>
          </a:p>
        </p:txBody>
      </p:sp>
      <p:sp>
        <p:nvSpPr>
          <p:cNvPr id="9" name="Oval 8"/>
          <p:cNvSpPr/>
          <p:nvPr/>
        </p:nvSpPr>
        <p:spPr bwMode="auto">
          <a:xfrm>
            <a:off x="3955850" y="2343152"/>
            <a:ext cx="457200" cy="476071"/>
          </a:xfrm>
          <a:prstGeom prst="ellipse">
            <a:avLst/>
          </a:prstGeom>
          <a:solidFill>
            <a:srgbClr val="FF660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defTabSz="914355" fontAlgn="base">
              <a:spcBef>
                <a:spcPct val="0"/>
              </a:spcBef>
              <a:spcAft>
                <a:spcPct val="0"/>
              </a:spcAft>
            </a:pPr>
            <a:endParaRPr lang="en-US" sz="1600" dirty="0">
              <a:solidFill>
                <a:srgbClr val="009900"/>
              </a:solidFill>
              <a:latin typeface="Tahoma" charset="0"/>
            </a:endParaRPr>
          </a:p>
        </p:txBody>
      </p:sp>
      <p:sp>
        <p:nvSpPr>
          <p:cNvPr id="10" name="Oval 9"/>
          <p:cNvSpPr/>
          <p:nvPr/>
        </p:nvSpPr>
        <p:spPr bwMode="auto">
          <a:xfrm>
            <a:off x="4794050" y="895352"/>
            <a:ext cx="457200" cy="476071"/>
          </a:xfrm>
          <a:prstGeom prst="ellipse">
            <a:avLst/>
          </a:prstGeom>
          <a:solidFill>
            <a:srgbClr val="FF660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defTabSz="914355" fontAlgn="base">
              <a:spcBef>
                <a:spcPct val="0"/>
              </a:spcBef>
              <a:spcAft>
                <a:spcPct val="0"/>
              </a:spcAft>
            </a:pPr>
            <a:endParaRPr lang="en-US" sz="1600">
              <a:solidFill>
                <a:srgbClr val="009900"/>
              </a:solidFill>
              <a:latin typeface="Tahoma" charset="0"/>
            </a:endParaRPr>
          </a:p>
        </p:txBody>
      </p:sp>
      <p:sp>
        <p:nvSpPr>
          <p:cNvPr id="12" name="Oval 11"/>
          <p:cNvSpPr/>
          <p:nvPr/>
        </p:nvSpPr>
        <p:spPr bwMode="auto">
          <a:xfrm>
            <a:off x="5632250" y="2343152"/>
            <a:ext cx="457200" cy="476071"/>
          </a:xfrm>
          <a:prstGeom prst="ellipse">
            <a:avLst/>
          </a:prstGeom>
          <a:solidFill>
            <a:srgbClr val="FF660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defTabSz="914355" fontAlgn="base">
              <a:spcBef>
                <a:spcPct val="0"/>
              </a:spcBef>
              <a:spcAft>
                <a:spcPct val="0"/>
              </a:spcAft>
            </a:pPr>
            <a:endParaRPr lang="en-US" sz="1600">
              <a:solidFill>
                <a:srgbClr val="009900"/>
              </a:solidFill>
              <a:latin typeface="Tahoma" charset="0"/>
            </a:endParaRPr>
          </a:p>
        </p:txBody>
      </p:sp>
      <p:sp>
        <p:nvSpPr>
          <p:cNvPr id="13" name="Oval 12"/>
          <p:cNvSpPr/>
          <p:nvPr/>
        </p:nvSpPr>
        <p:spPr bwMode="auto">
          <a:xfrm>
            <a:off x="4794050" y="2343152"/>
            <a:ext cx="457200" cy="476071"/>
          </a:xfrm>
          <a:prstGeom prst="ellipse">
            <a:avLst/>
          </a:prstGeom>
          <a:solidFill>
            <a:srgbClr val="FF660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defTabSz="914355" fontAlgn="base">
              <a:spcBef>
                <a:spcPct val="0"/>
              </a:spcBef>
              <a:spcAft>
                <a:spcPct val="0"/>
              </a:spcAft>
            </a:pPr>
            <a:endParaRPr lang="en-US" sz="1600">
              <a:solidFill>
                <a:srgbClr val="009900"/>
              </a:solidFill>
              <a:latin typeface="Tahoma" charset="0"/>
            </a:endParaRPr>
          </a:p>
        </p:txBody>
      </p:sp>
      <p:cxnSp>
        <p:nvCxnSpPr>
          <p:cNvPr id="14" name="Straight Arrow Connector 13"/>
          <p:cNvCxnSpPr>
            <a:cxnSpLocks/>
            <a:stCxn id="9" idx="0"/>
            <a:endCxn id="10" idx="3"/>
          </p:cNvCxnSpPr>
          <p:nvPr/>
        </p:nvCxnSpPr>
        <p:spPr bwMode="auto">
          <a:xfrm flipV="1">
            <a:off x="4184450" y="1301704"/>
            <a:ext cx="676555" cy="1041448"/>
          </a:xfrm>
          <a:prstGeom prst="straightConnector1">
            <a:avLst/>
          </a:prstGeom>
          <a:noFill/>
          <a:ln w="9525" cap="flat" cmpd="sng" algn="ctr">
            <a:noFill/>
            <a:prstDash val="solid"/>
            <a:round/>
            <a:headEnd type="none" w="med" len="med"/>
            <a:tailEnd type="arrow"/>
          </a:ln>
          <a:effectLst/>
        </p:spPr>
      </p:cxnSp>
      <p:cxnSp>
        <p:nvCxnSpPr>
          <p:cNvPr id="15" name="Straight Arrow Connector 14"/>
          <p:cNvCxnSpPr>
            <a:cxnSpLocks/>
            <a:stCxn id="13" idx="0"/>
            <a:endCxn id="10" idx="4"/>
          </p:cNvCxnSpPr>
          <p:nvPr/>
        </p:nvCxnSpPr>
        <p:spPr bwMode="auto">
          <a:xfrm flipV="1">
            <a:off x="5022650" y="1371423"/>
            <a:ext cx="0" cy="971729"/>
          </a:xfrm>
          <a:prstGeom prst="straightConnector1">
            <a:avLst/>
          </a:prstGeom>
          <a:ln>
            <a:headEnd type="none" w="med" len="med"/>
            <a:tailEnd type="arrow"/>
          </a:ln>
        </p:spPr>
        <p:style>
          <a:lnRef idx="2">
            <a:schemeClr val="accent4"/>
          </a:lnRef>
          <a:fillRef idx="0">
            <a:schemeClr val="accent4"/>
          </a:fillRef>
          <a:effectRef idx="1">
            <a:schemeClr val="accent4"/>
          </a:effectRef>
          <a:fontRef idx="minor">
            <a:schemeClr val="tx1"/>
          </a:fontRef>
        </p:style>
      </p:cxnSp>
      <p:cxnSp>
        <p:nvCxnSpPr>
          <p:cNvPr id="16" name="Straight Arrow Connector 15"/>
          <p:cNvCxnSpPr>
            <a:cxnSpLocks/>
            <a:stCxn id="12" idx="0"/>
            <a:endCxn id="10" idx="4"/>
          </p:cNvCxnSpPr>
          <p:nvPr/>
        </p:nvCxnSpPr>
        <p:spPr bwMode="auto">
          <a:xfrm flipH="1" flipV="1">
            <a:off x="5022650" y="1371423"/>
            <a:ext cx="838200" cy="971729"/>
          </a:xfrm>
          <a:prstGeom prst="straightConnector1">
            <a:avLst/>
          </a:prstGeom>
          <a:ln>
            <a:headEnd type="none" w="med" len="med"/>
            <a:tailEnd type="arrow"/>
          </a:ln>
        </p:spPr>
        <p:style>
          <a:lnRef idx="2">
            <a:schemeClr val="accent4"/>
          </a:lnRef>
          <a:fillRef idx="0">
            <a:schemeClr val="accent4"/>
          </a:fillRef>
          <a:effectRef idx="1">
            <a:schemeClr val="accent4"/>
          </a:effectRef>
          <a:fontRef idx="minor">
            <a:schemeClr val="tx1"/>
          </a:fontRef>
        </p:style>
      </p:cxnSp>
      <p:cxnSp>
        <p:nvCxnSpPr>
          <p:cNvPr id="18" name="Straight Arrow Connector 17"/>
          <p:cNvCxnSpPr>
            <a:cxnSpLocks/>
            <a:stCxn id="9" idx="7"/>
            <a:endCxn id="10" idx="4"/>
          </p:cNvCxnSpPr>
          <p:nvPr/>
        </p:nvCxnSpPr>
        <p:spPr bwMode="auto">
          <a:xfrm flipV="1">
            <a:off x="4346095" y="1371423"/>
            <a:ext cx="676555" cy="1041448"/>
          </a:xfrm>
          <a:prstGeom prst="straightConnector1">
            <a:avLst/>
          </a:prstGeom>
          <a:ln>
            <a:headEnd type="none" w="med" len="med"/>
            <a:tailEnd type="arrow"/>
          </a:ln>
        </p:spPr>
        <p:style>
          <a:lnRef idx="2">
            <a:schemeClr val="accent4"/>
          </a:lnRef>
          <a:fillRef idx="0">
            <a:schemeClr val="accent4"/>
          </a:fillRef>
          <a:effectRef idx="1">
            <a:schemeClr val="accent4"/>
          </a:effectRef>
          <a:fontRef idx="minor">
            <a:schemeClr val="tx1"/>
          </a:fontRef>
        </p:style>
      </p:cxnSp>
      <p:sp>
        <p:nvSpPr>
          <p:cNvPr id="20" name="Oval 19"/>
          <p:cNvSpPr/>
          <p:nvPr/>
        </p:nvSpPr>
        <p:spPr bwMode="auto">
          <a:xfrm>
            <a:off x="4565450" y="4552952"/>
            <a:ext cx="381000" cy="476071"/>
          </a:xfrm>
          <a:prstGeom prst="ellipse">
            <a:avLst/>
          </a:prstGeom>
          <a:no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defTabSz="914355" fontAlgn="base">
              <a:spcBef>
                <a:spcPct val="0"/>
              </a:spcBef>
              <a:spcAft>
                <a:spcPct val="0"/>
              </a:spcAft>
            </a:pPr>
            <a:endParaRPr lang="en-US" sz="1600">
              <a:solidFill>
                <a:srgbClr val="009900"/>
              </a:solidFill>
              <a:latin typeface="Tahoma" charset="0"/>
            </a:endParaRPr>
          </a:p>
        </p:txBody>
      </p:sp>
      <p:sp>
        <p:nvSpPr>
          <p:cNvPr id="21" name="Oval 20"/>
          <p:cNvSpPr/>
          <p:nvPr/>
        </p:nvSpPr>
        <p:spPr bwMode="auto">
          <a:xfrm>
            <a:off x="2584250" y="4171952"/>
            <a:ext cx="457200" cy="476071"/>
          </a:xfrm>
          <a:prstGeom prst="ellipse">
            <a:avLst/>
          </a:prstGeom>
          <a:solidFill>
            <a:srgbClr val="FF660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defTabSz="914355" fontAlgn="base">
              <a:spcBef>
                <a:spcPct val="0"/>
              </a:spcBef>
              <a:spcAft>
                <a:spcPct val="0"/>
              </a:spcAft>
            </a:pPr>
            <a:endParaRPr lang="en-US" sz="1600">
              <a:solidFill>
                <a:srgbClr val="009900"/>
              </a:solidFill>
              <a:latin typeface="Tahoma" charset="0"/>
            </a:endParaRPr>
          </a:p>
        </p:txBody>
      </p:sp>
      <p:sp>
        <p:nvSpPr>
          <p:cNvPr id="23" name="Oval 22"/>
          <p:cNvSpPr/>
          <p:nvPr/>
        </p:nvSpPr>
        <p:spPr bwMode="auto">
          <a:xfrm>
            <a:off x="6394250" y="4171952"/>
            <a:ext cx="457200" cy="476071"/>
          </a:xfrm>
          <a:prstGeom prst="ellipse">
            <a:avLst/>
          </a:prstGeom>
          <a:solidFill>
            <a:srgbClr val="FF660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defTabSz="914355" fontAlgn="base">
              <a:spcBef>
                <a:spcPct val="0"/>
              </a:spcBef>
              <a:spcAft>
                <a:spcPct val="0"/>
              </a:spcAft>
            </a:pPr>
            <a:endParaRPr lang="en-US" sz="1600">
              <a:solidFill>
                <a:srgbClr val="009900"/>
              </a:solidFill>
              <a:latin typeface="Tahoma" charset="0"/>
            </a:endParaRPr>
          </a:p>
        </p:txBody>
      </p:sp>
      <p:sp>
        <p:nvSpPr>
          <p:cNvPr id="24" name="Oval 23"/>
          <p:cNvSpPr/>
          <p:nvPr/>
        </p:nvSpPr>
        <p:spPr bwMode="auto">
          <a:xfrm>
            <a:off x="5098850" y="4171952"/>
            <a:ext cx="457200" cy="476071"/>
          </a:xfrm>
          <a:prstGeom prst="ellipse">
            <a:avLst/>
          </a:prstGeom>
          <a:solidFill>
            <a:srgbClr val="FF660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defTabSz="914355" fontAlgn="base">
              <a:spcBef>
                <a:spcPct val="0"/>
              </a:spcBef>
              <a:spcAft>
                <a:spcPct val="0"/>
              </a:spcAft>
            </a:pPr>
            <a:endParaRPr lang="en-US" sz="1600">
              <a:solidFill>
                <a:srgbClr val="009900"/>
              </a:solidFill>
              <a:latin typeface="Tahoma" charset="0"/>
            </a:endParaRPr>
          </a:p>
        </p:txBody>
      </p:sp>
      <p:sp>
        <p:nvSpPr>
          <p:cNvPr id="25" name="Oval 24"/>
          <p:cNvSpPr/>
          <p:nvPr/>
        </p:nvSpPr>
        <p:spPr bwMode="auto">
          <a:xfrm>
            <a:off x="3727250" y="4171952"/>
            <a:ext cx="457200" cy="476071"/>
          </a:xfrm>
          <a:prstGeom prst="ellipse">
            <a:avLst/>
          </a:prstGeom>
          <a:solidFill>
            <a:srgbClr val="FF660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defTabSz="914355" fontAlgn="base">
              <a:spcBef>
                <a:spcPct val="0"/>
              </a:spcBef>
              <a:spcAft>
                <a:spcPct val="0"/>
              </a:spcAft>
            </a:pPr>
            <a:endParaRPr lang="en-US" sz="1600">
              <a:solidFill>
                <a:srgbClr val="009900"/>
              </a:solidFill>
              <a:latin typeface="Tahoma" charset="0"/>
            </a:endParaRPr>
          </a:p>
        </p:txBody>
      </p:sp>
      <p:cxnSp>
        <p:nvCxnSpPr>
          <p:cNvPr id="26" name="Straight Arrow Connector 25"/>
          <p:cNvCxnSpPr>
            <a:cxnSpLocks/>
            <a:stCxn id="21" idx="0"/>
          </p:cNvCxnSpPr>
          <p:nvPr/>
        </p:nvCxnSpPr>
        <p:spPr bwMode="auto">
          <a:xfrm flipV="1">
            <a:off x="2812850" y="3049356"/>
            <a:ext cx="2494197" cy="1122596"/>
          </a:xfrm>
          <a:prstGeom prst="straightConnector1">
            <a:avLst/>
          </a:prstGeom>
          <a:noFill/>
          <a:ln w="9525" cap="flat" cmpd="sng" algn="ctr">
            <a:noFill/>
            <a:prstDash val="solid"/>
            <a:round/>
            <a:headEnd type="none" w="med" len="med"/>
            <a:tailEnd type="arrow"/>
          </a:ln>
          <a:effectLst/>
        </p:spPr>
      </p:cxnSp>
      <p:cxnSp>
        <p:nvCxnSpPr>
          <p:cNvPr id="27" name="Straight Arrow Connector 26"/>
          <p:cNvCxnSpPr>
            <a:cxnSpLocks/>
            <a:stCxn id="25" idx="0"/>
            <a:endCxn id="9" idx="4"/>
          </p:cNvCxnSpPr>
          <p:nvPr/>
        </p:nvCxnSpPr>
        <p:spPr bwMode="auto">
          <a:xfrm flipV="1">
            <a:off x="3955850" y="2819223"/>
            <a:ext cx="228600" cy="1352729"/>
          </a:xfrm>
          <a:prstGeom prst="straightConnector1">
            <a:avLst/>
          </a:prstGeom>
          <a:ln>
            <a:headEnd type="none" w="med" len="med"/>
            <a:tailEnd type="arrow"/>
          </a:ln>
        </p:spPr>
        <p:style>
          <a:lnRef idx="2">
            <a:schemeClr val="accent4"/>
          </a:lnRef>
          <a:fillRef idx="0">
            <a:schemeClr val="accent4"/>
          </a:fillRef>
          <a:effectRef idx="1">
            <a:schemeClr val="accent4"/>
          </a:effectRef>
          <a:fontRef idx="minor">
            <a:schemeClr val="tx1"/>
          </a:fontRef>
        </p:style>
      </p:cxnSp>
      <p:cxnSp>
        <p:nvCxnSpPr>
          <p:cNvPr id="28" name="Straight Arrow Connector 27"/>
          <p:cNvCxnSpPr>
            <a:cxnSpLocks/>
            <a:stCxn id="24" idx="0"/>
            <a:endCxn id="8" idx="1"/>
          </p:cNvCxnSpPr>
          <p:nvPr/>
        </p:nvCxnSpPr>
        <p:spPr bwMode="auto">
          <a:xfrm flipH="1" flipV="1">
            <a:off x="4240246" y="2793871"/>
            <a:ext cx="1087204" cy="1378081"/>
          </a:xfrm>
          <a:prstGeom prst="straightConnector1">
            <a:avLst/>
          </a:prstGeom>
          <a:ln>
            <a:headEnd type="none" w="med" len="med"/>
            <a:tailEnd type="arrow"/>
          </a:ln>
        </p:spPr>
        <p:style>
          <a:lnRef idx="2">
            <a:schemeClr val="accent4"/>
          </a:lnRef>
          <a:fillRef idx="0">
            <a:schemeClr val="accent4"/>
          </a:fillRef>
          <a:effectRef idx="1">
            <a:schemeClr val="accent4"/>
          </a:effectRef>
          <a:fontRef idx="minor">
            <a:schemeClr val="tx1"/>
          </a:fontRef>
        </p:style>
      </p:cxnSp>
      <p:cxnSp>
        <p:nvCxnSpPr>
          <p:cNvPr id="29" name="Straight Arrow Connector 28"/>
          <p:cNvCxnSpPr>
            <a:cxnSpLocks/>
            <a:stCxn id="23" idx="0"/>
            <a:endCxn id="9" idx="4"/>
          </p:cNvCxnSpPr>
          <p:nvPr/>
        </p:nvCxnSpPr>
        <p:spPr bwMode="auto">
          <a:xfrm flipH="1" flipV="1">
            <a:off x="4184450" y="2819223"/>
            <a:ext cx="2438400" cy="1352729"/>
          </a:xfrm>
          <a:prstGeom prst="straightConnector1">
            <a:avLst/>
          </a:prstGeom>
          <a:ln>
            <a:headEnd type="none" w="med" len="med"/>
            <a:tailEnd type="arrow"/>
          </a:ln>
        </p:spPr>
        <p:style>
          <a:lnRef idx="2">
            <a:schemeClr val="accent4"/>
          </a:lnRef>
          <a:fillRef idx="0">
            <a:schemeClr val="accent4"/>
          </a:fillRef>
          <a:effectRef idx="1">
            <a:schemeClr val="accent4"/>
          </a:effectRef>
          <a:fontRef idx="minor">
            <a:schemeClr val="tx1"/>
          </a:fontRef>
        </p:style>
      </p:cxnSp>
      <p:cxnSp>
        <p:nvCxnSpPr>
          <p:cNvPr id="30" name="Straight Arrow Connector 29"/>
          <p:cNvCxnSpPr>
            <a:cxnSpLocks/>
            <a:stCxn id="21" idx="7"/>
            <a:endCxn id="9" idx="4"/>
          </p:cNvCxnSpPr>
          <p:nvPr/>
        </p:nvCxnSpPr>
        <p:spPr bwMode="auto">
          <a:xfrm flipV="1">
            <a:off x="2974495" y="2819223"/>
            <a:ext cx="1209955" cy="1422448"/>
          </a:xfrm>
          <a:prstGeom prst="straightConnector1">
            <a:avLst/>
          </a:prstGeom>
          <a:ln>
            <a:headEnd type="none" w="med" len="med"/>
            <a:tailEnd type="arrow"/>
          </a:ln>
        </p:spPr>
        <p:style>
          <a:lnRef idx="2">
            <a:schemeClr val="accent4"/>
          </a:lnRef>
          <a:fillRef idx="0">
            <a:schemeClr val="accent4"/>
          </a:fillRef>
          <a:effectRef idx="1">
            <a:schemeClr val="accent4"/>
          </a:effectRef>
          <a:fontRef idx="minor">
            <a:schemeClr val="tx1"/>
          </a:fontRef>
        </p:style>
      </p:cxnSp>
      <p:sp>
        <p:nvSpPr>
          <p:cNvPr id="34" name="Oval 33"/>
          <p:cNvSpPr/>
          <p:nvPr/>
        </p:nvSpPr>
        <p:spPr bwMode="auto">
          <a:xfrm>
            <a:off x="7308650" y="4171952"/>
            <a:ext cx="457200" cy="476071"/>
          </a:xfrm>
          <a:prstGeom prst="ellipse">
            <a:avLst/>
          </a:prstGeom>
          <a:solidFill>
            <a:srgbClr val="FF660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defTabSz="914355" fontAlgn="base">
              <a:spcBef>
                <a:spcPct val="0"/>
              </a:spcBef>
              <a:spcAft>
                <a:spcPct val="0"/>
              </a:spcAft>
            </a:pPr>
            <a:endParaRPr lang="en-US" sz="1600">
              <a:solidFill>
                <a:srgbClr val="009900"/>
              </a:solidFill>
              <a:latin typeface="Tahoma" charset="0"/>
            </a:endParaRPr>
          </a:p>
        </p:txBody>
      </p:sp>
      <p:cxnSp>
        <p:nvCxnSpPr>
          <p:cNvPr id="46" name="Straight Arrow Connector 45"/>
          <p:cNvCxnSpPr>
            <a:cxnSpLocks/>
            <a:stCxn id="34" idx="0"/>
            <a:endCxn id="9" idx="4"/>
          </p:cNvCxnSpPr>
          <p:nvPr/>
        </p:nvCxnSpPr>
        <p:spPr bwMode="auto">
          <a:xfrm flipH="1" flipV="1">
            <a:off x="4184450" y="2819223"/>
            <a:ext cx="3352800" cy="1352729"/>
          </a:xfrm>
          <a:prstGeom prst="straightConnector1">
            <a:avLst/>
          </a:prstGeom>
          <a:ln>
            <a:headEnd type="none" w="med" len="med"/>
            <a:tailEnd type="arrow"/>
          </a:ln>
        </p:spPr>
        <p:style>
          <a:lnRef idx="2">
            <a:schemeClr val="accent4"/>
          </a:lnRef>
          <a:fillRef idx="0">
            <a:schemeClr val="accent4"/>
          </a:fillRef>
          <a:effectRef idx="1">
            <a:schemeClr val="accent4"/>
          </a:effectRef>
          <a:fontRef idx="minor">
            <a:schemeClr val="tx1"/>
          </a:fontRef>
        </p:style>
      </p:cxnSp>
      <p:cxnSp>
        <p:nvCxnSpPr>
          <p:cNvPr id="49" name="Straight Arrow Connector 48"/>
          <p:cNvCxnSpPr>
            <a:cxnSpLocks/>
            <a:stCxn id="21" idx="7"/>
            <a:endCxn id="13" idx="4"/>
          </p:cNvCxnSpPr>
          <p:nvPr/>
        </p:nvCxnSpPr>
        <p:spPr bwMode="auto">
          <a:xfrm flipV="1">
            <a:off x="2974495" y="2819223"/>
            <a:ext cx="2048155" cy="1422448"/>
          </a:xfrm>
          <a:prstGeom prst="straightConnector1">
            <a:avLst/>
          </a:prstGeom>
          <a:ln>
            <a:headEnd type="none" w="med" len="med"/>
            <a:tailEnd type="arrow"/>
          </a:ln>
        </p:spPr>
        <p:style>
          <a:lnRef idx="2">
            <a:schemeClr val="accent4"/>
          </a:lnRef>
          <a:fillRef idx="0">
            <a:schemeClr val="accent4"/>
          </a:fillRef>
          <a:effectRef idx="1">
            <a:schemeClr val="accent4"/>
          </a:effectRef>
          <a:fontRef idx="minor">
            <a:schemeClr val="tx1"/>
          </a:fontRef>
        </p:style>
      </p:cxnSp>
      <p:cxnSp>
        <p:nvCxnSpPr>
          <p:cNvPr id="52" name="Straight Arrow Connector 51"/>
          <p:cNvCxnSpPr>
            <a:cxnSpLocks/>
            <a:endCxn id="12" idx="4"/>
          </p:cNvCxnSpPr>
          <p:nvPr/>
        </p:nvCxnSpPr>
        <p:spPr bwMode="auto">
          <a:xfrm flipV="1">
            <a:off x="2985655" y="2819223"/>
            <a:ext cx="2875195" cy="1408526"/>
          </a:xfrm>
          <a:prstGeom prst="straightConnector1">
            <a:avLst/>
          </a:prstGeom>
          <a:ln>
            <a:headEnd type="none" w="med" len="med"/>
            <a:tailEnd type="arrow"/>
          </a:ln>
        </p:spPr>
        <p:style>
          <a:lnRef idx="2">
            <a:schemeClr val="accent4"/>
          </a:lnRef>
          <a:fillRef idx="0">
            <a:schemeClr val="accent4"/>
          </a:fillRef>
          <a:effectRef idx="1">
            <a:schemeClr val="accent4"/>
          </a:effectRef>
          <a:fontRef idx="minor">
            <a:schemeClr val="tx1"/>
          </a:fontRef>
        </p:style>
      </p:cxnSp>
      <p:cxnSp>
        <p:nvCxnSpPr>
          <p:cNvPr id="54" name="Straight Arrow Connector 53"/>
          <p:cNvCxnSpPr>
            <a:cxnSpLocks/>
            <a:stCxn id="34" idx="0"/>
            <a:endCxn id="12" idx="4"/>
          </p:cNvCxnSpPr>
          <p:nvPr/>
        </p:nvCxnSpPr>
        <p:spPr bwMode="auto">
          <a:xfrm flipH="1" flipV="1">
            <a:off x="5860850" y="2819223"/>
            <a:ext cx="1676400" cy="1352729"/>
          </a:xfrm>
          <a:prstGeom prst="straightConnector1">
            <a:avLst/>
          </a:prstGeom>
          <a:ln>
            <a:headEnd type="none" w="med" len="med"/>
            <a:tailEnd type="arrow"/>
          </a:ln>
        </p:spPr>
        <p:style>
          <a:lnRef idx="2">
            <a:schemeClr val="accent4"/>
          </a:lnRef>
          <a:fillRef idx="0">
            <a:schemeClr val="accent4"/>
          </a:fillRef>
          <a:effectRef idx="1">
            <a:schemeClr val="accent4"/>
          </a:effectRef>
          <a:fontRef idx="minor">
            <a:schemeClr val="tx1"/>
          </a:fontRef>
        </p:style>
      </p:cxnSp>
      <p:cxnSp>
        <p:nvCxnSpPr>
          <p:cNvPr id="56" name="Straight Arrow Connector 55"/>
          <p:cNvCxnSpPr>
            <a:cxnSpLocks/>
            <a:stCxn id="34" idx="0"/>
            <a:endCxn id="13" idx="4"/>
          </p:cNvCxnSpPr>
          <p:nvPr/>
        </p:nvCxnSpPr>
        <p:spPr bwMode="auto">
          <a:xfrm flipH="1" flipV="1">
            <a:off x="5022650" y="2819223"/>
            <a:ext cx="2514600" cy="1352729"/>
          </a:xfrm>
          <a:prstGeom prst="straightConnector1">
            <a:avLst/>
          </a:prstGeom>
          <a:ln>
            <a:headEnd type="none" w="med" len="med"/>
            <a:tailEnd type="arrow"/>
          </a:ln>
        </p:spPr>
        <p:style>
          <a:lnRef idx="2">
            <a:schemeClr val="accent4"/>
          </a:lnRef>
          <a:fillRef idx="0">
            <a:schemeClr val="accent4"/>
          </a:fillRef>
          <a:effectRef idx="1">
            <a:schemeClr val="accent4"/>
          </a:effectRef>
          <a:fontRef idx="minor">
            <a:schemeClr val="tx1"/>
          </a:fontRef>
        </p:style>
      </p:cxnSp>
      <p:cxnSp>
        <p:nvCxnSpPr>
          <p:cNvPr id="60" name="Straight Arrow Connector 59"/>
          <p:cNvCxnSpPr>
            <a:cxnSpLocks/>
            <a:stCxn id="23" idx="0"/>
          </p:cNvCxnSpPr>
          <p:nvPr/>
        </p:nvCxnSpPr>
        <p:spPr bwMode="auto">
          <a:xfrm flipH="1" flipV="1">
            <a:off x="5098850" y="2800352"/>
            <a:ext cx="1524000" cy="1371600"/>
          </a:xfrm>
          <a:prstGeom prst="straightConnector1">
            <a:avLst/>
          </a:prstGeom>
          <a:ln>
            <a:headEnd type="none" w="med" len="med"/>
            <a:tailEnd type="arrow"/>
          </a:ln>
        </p:spPr>
        <p:style>
          <a:lnRef idx="2">
            <a:schemeClr val="accent4"/>
          </a:lnRef>
          <a:fillRef idx="0">
            <a:schemeClr val="accent4"/>
          </a:fillRef>
          <a:effectRef idx="1">
            <a:schemeClr val="accent4"/>
          </a:effectRef>
          <a:fontRef idx="minor">
            <a:schemeClr val="tx1"/>
          </a:fontRef>
        </p:style>
      </p:cxnSp>
      <p:cxnSp>
        <p:nvCxnSpPr>
          <p:cNvPr id="62" name="Straight Arrow Connector 61"/>
          <p:cNvCxnSpPr>
            <a:cxnSpLocks/>
            <a:stCxn id="23" idx="0"/>
            <a:endCxn id="12" idx="4"/>
          </p:cNvCxnSpPr>
          <p:nvPr/>
        </p:nvCxnSpPr>
        <p:spPr bwMode="auto">
          <a:xfrm flipH="1" flipV="1">
            <a:off x="5860850" y="2819223"/>
            <a:ext cx="762000" cy="1352729"/>
          </a:xfrm>
          <a:prstGeom prst="straightConnector1">
            <a:avLst/>
          </a:prstGeom>
          <a:ln>
            <a:headEnd type="none" w="med" len="med"/>
            <a:tailEnd type="arrow"/>
          </a:ln>
        </p:spPr>
        <p:style>
          <a:lnRef idx="2">
            <a:schemeClr val="accent4"/>
          </a:lnRef>
          <a:fillRef idx="0">
            <a:schemeClr val="accent4"/>
          </a:fillRef>
          <a:effectRef idx="1">
            <a:schemeClr val="accent4"/>
          </a:effectRef>
          <a:fontRef idx="minor">
            <a:schemeClr val="tx1"/>
          </a:fontRef>
        </p:style>
      </p:cxnSp>
      <p:cxnSp>
        <p:nvCxnSpPr>
          <p:cNvPr id="66" name="Straight Arrow Connector 65"/>
          <p:cNvCxnSpPr>
            <a:cxnSpLocks/>
            <a:stCxn id="24" idx="0"/>
          </p:cNvCxnSpPr>
          <p:nvPr/>
        </p:nvCxnSpPr>
        <p:spPr bwMode="auto">
          <a:xfrm flipH="1" flipV="1">
            <a:off x="5022650" y="2800352"/>
            <a:ext cx="304800" cy="1371600"/>
          </a:xfrm>
          <a:prstGeom prst="straightConnector1">
            <a:avLst/>
          </a:prstGeom>
          <a:ln>
            <a:headEnd type="none" w="med" len="med"/>
            <a:tailEnd type="arrow"/>
          </a:ln>
        </p:spPr>
        <p:style>
          <a:lnRef idx="2">
            <a:schemeClr val="accent4"/>
          </a:lnRef>
          <a:fillRef idx="0">
            <a:schemeClr val="accent4"/>
          </a:fillRef>
          <a:effectRef idx="1">
            <a:schemeClr val="accent4"/>
          </a:effectRef>
          <a:fontRef idx="minor">
            <a:schemeClr val="tx1"/>
          </a:fontRef>
        </p:style>
      </p:cxnSp>
      <p:cxnSp>
        <p:nvCxnSpPr>
          <p:cNvPr id="69" name="Straight Arrow Connector 68"/>
          <p:cNvCxnSpPr>
            <a:cxnSpLocks/>
            <a:stCxn id="24" idx="0"/>
          </p:cNvCxnSpPr>
          <p:nvPr/>
        </p:nvCxnSpPr>
        <p:spPr bwMode="auto">
          <a:xfrm flipV="1">
            <a:off x="5327450" y="2820756"/>
            <a:ext cx="553805" cy="1351196"/>
          </a:xfrm>
          <a:prstGeom prst="straightConnector1">
            <a:avLst/>
          </a:prstGeom>
          <a:ln>
            <a:headEnd type="none" w="med" len="med"/>
            <a:tailEnd type="arrow"/>
          </a:ln>
        </p:spPr>
        <p:style>
          <a:lnRef idx="2">
            <a:schemeClr val="accent4"/>
          </a:lnRef>
          <a:fillRef idx="0">
            <a:schemeClr val="accent4"/>
          </a:fillRef>
          <a:effectRef idx="1">
            <a:schemeClr val="accent4"/>
          </a:effectRef>
          <a:fontRef idx="minor">
            <a:schemeClr val="tx1"/>
          </a:fontRef>
        </p:style>
      </p:cxnSp>
      <p:cxnSp>
        <p:nvCxnSpPr>
          <p:cNvPr id="71" name="Straight Arrow Connector 70"/>
          <p:cNvCxnSpPr>
            <a:cxnSpLocks/>
            <a:stCxn id="25" idx="0"/>
            <a:endCxn id="13" idx="4"/>
          </p:cNvCxnSpPr>
          <p:nvPr/>
        </p:nvCxnSpPr>
        <p:spPr bwMode="auto">
          <a:xfrm flipV="1">
            <a:off x="3955850" y="2819223"/>
            <a:ext cx="1066800" cy="1352729"/>
          </a:xfrm>
          <a:prstGeom prst="straightConnector1">
            <a:avLst/>
          </a:prstGeom>
          <a:ln>
            <a:headEnd type="none" w="med" len="med"/>
            <a:tailEnd type="arrow"/>
          </a:ln>
        </p:spPr>
        <p:style>
          <a:lnRef idx="2">
            <a:schemeClr val="accent4"/>
          </a:lnRef>
          <a:fillRef idx="0">
            <a:schemeClr val="accent4"/>
          </a:fillRef>
          <a:effectRef idx="1">
            <a:schemeClr val="accent4"/>
          </a:effectRef>
          <a:fontRef idx="minor">
            <a:schemeClr val="tx1"/>
          </a:fontRef>
        </p:style>
      </p:cxnSp>
      <p:cxnSp>
        <p:nvCxnSpPr>
          <p:cNvPr id="74" name="Straight Arrow Connector 73"/>
          <p:cNvCxnSpPr>
            <a:cxnSpLocks/>
            <a:endCxn id="12" idx="4"/>
          </p:cNvCxnSpPr>
          <p:nvPr/>
        </p:nvCxnSpPr>
        <p:spPr bwMode="auto">
          <a:xfrm flipV="1">
            <a:off x="3993950" y="2819223"/>
            <a:ext cx="1866900" cy="1352730"/>
          </a:xfrm>
          <a:prstGeom prst="straightConnector1">
            <a:avLst/>
          </a:prstGeom>
          <a:ln>
            <a:headEnd type="none" w="med" len="med"/>
            <a:tailEnd type="arrow"/>
          </a:ln>
        </p:spPr>
        <p:style>
          <a:lnRef idx="2">
            <a:schemeClr val="accent4"/>
          </a:lnRef>
          <a:fillRef idx="0">
            <a:schemeClr val="accent4"/>
          </a:fillRef>
          <a:effectRef idx="1">
            <a:schemeClr val="accent4"/>
          </a:effectRef>
          <a:fontRef idx="minor">
            <a:schemeClr val="tx1"/>
          </a:fontRef>
        </p:style>
      </p:cxnSp>
      <p:sp>
        <p:nvSpPr>
          <p:cNvPr id="76" name="TextBox 75"/>
          <p:cNvSpPr txBox="1"/>
          <p:nvPr/>
        </p:nvSpPr>
        <p:spPr>
          <a:xfrm>
            <a:off x="3651050" y="1428751"/>
            <a:ext cx="457200" cy="600164"/>
          </a:xfrm>
          <a:prstGeom prst="rect">
            <a:avLst/>
          </a:prstGeom>
          <a:noFill/>
        </p:spPr>
        <p:txBody>
          <a:bodyPr wrap="square" rtlCol="0">
            <a:spAutoFit/>
          </a:bodyPr>
          <a:lstStyle/>
          <a:p>
            <a:r>
              <a:rPr lang="en-US" sz="3300" dirty="0">
                <a:solidFill>
                  <a:srgbClr val="590A0E"/>
                </a:solidFill>
                <a:latin typeface="Times New Roman" panose="02020603050405020304" pitchFamily="18" charset="0"/>
                <a:cs typeface="Times New Roman" panose="02020603050405020304" pitchFamily="18" charset="0"/>
              </a:rPr>
              <a:t>U</a:t>
            </a:r>
          </a:p>
        </p:txBody>
      </p:sp>
      <p:sp>
        <p:nvSpPr>
          <p:cNvPr id="77" name="TextBox 76"/>
          <p:cNvSpPr txBox="1"/>
          <p:nvPr/>
        </p:nvSpPr>
        <p:spPr>
          <a:xfrm>
            <a:off x="2660450" y="3105151"/>
            <a:ext cx="457200" cy="600164"/>
          </a:xfrm>
          <a:prstGeom prst="rect">
            <a:avLst/>
          </a:prstGeom>
          <a:noFill/>
        </p:spPr>
        <p:txBody>
          <a:bodyPr wrap="square" rtlCol="0">
            <a:spAutoFit/>
          </a:bodyPr>
          <a:lstStyle/>
          <a:p>
            <a:r>
              <a:rPr lang="en-US" sz="3300" dirty="0">
                <a:solidFill>
                  <a:srgbClr val="590A0E"/>
                </a:solidFill>
                <a:latin typeface="Times New Roman" panose="02020603050405020304" pitchFamily="18" charset="0"/>
                <a:cs typeface="Times New Roman" panose="02020603050405020304" pitchFamily="18" charset="0"/>
              </a:rPr>
              <a:t>W</a:t>
            </a:r>
          </a:p>
        </p:txBody>
      </p:sp>
      <p:sp>
        <p:nvSpPr>
          <p:cNvPr id="83" name="TextBox 82"/>
          <p:cNvSpPr txBox="1"/>
          <p:nvPr/>
        </p:nvSpPr>
        <p:spPr>
          <a:xfrm>
            <a:off x="6469028" y="4185405"/>
            <a:ext cx="425116" cy="461665"/>
          </a:xfrm>
          <a:prstGeom prst="rect">
            <a:avLst/>
          </a:prstGeom>
          <a:noFill/>
        </p:spPr>
        <p:txBody>
          <a:bodyPr wrap="none" rtlCol="0">
            <a:spAutoFit/>
          </a:bodyPr>
          <a:lstStyle/>
          <a:p>
            <a:r>
              <a:rPr lang="en-US" sz="2400" dirty="0" err="1"/>
              <a:t>x</a:t>
            </a:r>
            <a:r>
              <a:rPr lang="en-US" sz="2400" baseline="-25000" dirty="0" err="1"/>
              <a:t>n</a:t>
            </a:r>
            <a:endParaRPr lang="en-US" sz="2400" baseline="-25000" dirty="0"/>
          </a:p>
        </p:txBody>
      </p:sp>
      <p:sp>
        <p:nvSpPr>
          <p:cNvPr id="84" name="TextBox 83"/>
          <p:cNvSpPr txBox="1"/>
          <p:nvPr/>
        </p:nvSpPr>
        <p:spPr>
          <a:xfrm>
            <a:off x="2654480" y="4185405"/>
            <a:ext cx="457200" cy="461665"/>
          </a:xfrm>
          <a:prstGeom prst="rect">
            <a:avLst/>
          </a:prstGeom>
          <a:noFill/>
        </p:spPr>
        <p:txBody>
          <a:bodyPr wrap="square" rtlCol="0">
            <a:spAutoFit/>
          </a:bodyPr>
          <a:lstStyle/>
          <a:p>
            <a:r>
              <a:rPr lang="en-US" sz="2400" dirty="0"/>
              <a:t>x</a:t>
            </a:r>
            <a:r>
              <a:rPr lang="en-US" sz="2400" baseline="-25000" dirty="0"/>
              <a:t>1</a:t>
            </a:r>
          </a:p>
        </p:txBody>
      </p:sp>
      <p:pic>
        <p:nvPicPr>
          <p:cNvPr id="86" name="Picture 85" descr="hidden.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15506" y="2240699"/>
            <a:ext cx="2899944" cy="706204"/>
          </a:xfrm>
          <a:prstGeom prst="rect">
            <a:avLst/>
          </a:prstGeom>
        </p:spPr>
      </p:pic>
      <p:sp>
        <p:nvSpPr>
          <p:cNvPr id="63" name="TextBox 62">
            <a:extLst>
              <a:ext uri="{FF2B5EF4-FFF2-40B4-BE49-F238E27FC236}">
                <a16:creationId xmlns:a16="http://schemas.microsoft.com/office/drawing/2014/main" id="{47A73503-3270-5047-A324-18EC3AE71939}"/>
              </a:ext>
            </a:extLst>
          </p:cNvPr>
          <p:cNvSpPr txBox="1"/>
          <p:nvPr/>
        </p:nvSpPr>
        <p:spPr>
          <a:xfrm>
            <a:off x="7346749" y="4171951"/>
            <a:ext cx="494046" cy="461665"/>
          </a:xfrm>
          <a:prstGeom prst="rect">
            <a:avLst/>
          </a:prstGeom>
          <a:noFill/>
        </p:spPr>
        <p:txBody>
          <a:bodyPr wrap="none" rtlCol="0">
            <a:spAutoFit/>
          </a:bodyPr>
          <a:lstStyle/>
          <a:p>
            <a:r>
              <a:rPr lang="en-US" sz="2400" dirty="0"/>
              <a:t>+1</a:t>
            </a:r>
          </a:p>
        </p:txBody>
      </p:sp>
      <p:sp>
        <p:nvSpPr>
          <p:cNvPr id="64" name="Rectangle 63">
            <a:extLst>
              <a:ext uri="{FF2B5EF4-FFF2-40B4-BE49-F238E27FC236}">
                <a16:creationId xmlns:a16="http://schemas.microsoft.com/office/drawing/2014/main" id="{082D8F22-BF7C-1B4E-9A2E-5F4EA2BCF327}"/>
              </a:ext>
            </a:extLst>
          </p:cNvPr>
          <p:cNvSpPr/>
          <p:nvPr/>
        </p:nvSpPr>
        <p:spPr>
          <a:xfrm>
            <a:off x="7470192" y="854432"/>
            <a:ext cx="2310652" cy="523220"/>
          </a:xfrm>
          <a:prstGeom prst="rect">
            <a:avLst/>
          </a:prstGeom>
        </p:spPr>
        <p:txBody>
          <a:bodyPr wrap="square">
            <a:spAutoFit/>
          </a:bodyPr>
          <a:lstStyle/>
          <a:p>
            <a:r>
              <a:rPr lang="en-US" sz="2800" dirty="0">
                <a:solidFill>
                  <a:schemeClr val="tx2"/>
                </a:solidFill>
              </a:rPr>
              <a:t>y is a scalar</a:t>
            </a:r>
          </a:p>
        </p:txBody>
      </p:sp>
      <p:sp>
        <p:nvSpPr>
          <p:cNvPr id="65" name="TextBox 64">
            <a:extLst>
              <a:ext uri="{FF2B5EF4-FFF2-40B4-BE49-F238E27FC236}">
                <a16:creationId xmlns:a16="http://schemas.microsoft.com/office/drawing/2014/main" id="{6A740206-0031-F941-9894-7BD986F58450}"/>
              </a:ext>
            </a:extLst>
          </p:cNvPr>
          <p:cNvSpPr txBox="1"/>
          <p:nvPr/>
        </p:nvSpPr>
        <p:spPr>
          <a:xfrm>
            <a:off x="6885569" y="3074649"/>
            <a:ext cx="457200" cy="600164"/>
          </a:xfrm>
          <a:prstGeom prst="rect">
            <a:avLst/>
          </a:prstGeom>
          <a:noFill/>
        </p:spPr>
        <p:txBody>
          <a:bodyPr wrap="square" rtlCol="0">
            <a:spAutoFit/>
          </a:bodyPr>
          <a:lstStyle/>
          <a:p>
            <a:r>
              <a:rPr lang="en-US" sz="3300" dirty="0">
                <a:solidFill>
                  <a:srgbClr val="590A0E"/>
                </a:solidFill>
                <a:latin typeface="Times New Roman" panose="02020603050405020304" pitchFamily="18" charset="0"/>
                <a:cs typeface="Times New Roman" panose="02020603050405020304" pitchFamily="18" charset="0"/>
              </a:rPr>
              <a:t>b</a:t>
            </a:r>
          </a:p>
        </p:txBody>
      </p:sp>
      <p:sp>
        <p:nvSpPr>
          <p:cNvPr id="67" name="Rectangle 66">
            <a:extLst>
              <a:ext uri="{FF2B5EF4-FFF2-40B4-BE49-F238E27FC236}">
                <a16:creationId xmlns:a16="http://schemas.microsoft.com/office/drawing/2014/main" id="{031E7A01-E260-2C41-B25E-63B79CAA2642}"/>
              </a:ext>
            </a:extLst>
          </p:cNvPr>
          <p:cNvSpPr/>
          <p:nvPr/>
        </p:nvSpPr>
        <p:spPr>
          <a:xfrm>
            <a:off x="228600" y="2313739"/>
            <a:ext cx="2310652" cy="1415772"/>
          </a:xfrm>
          <a:prstGeom prst="rect">
            <a:avLst/>
          </a:prstGeom>
        </p:spPr>
        <p:txBody>
          <a:bodyPr wrap="square">
            <a:spAutoFit/>
          </a:bodyPr>
          <a:lstStyle/>
          <a:p>
            <a:r>
              <a:rPr lang="en-US" sz="2800" dirty="0">
                <a:solidFill>
                  <a:schemeClr val="tx2"/>
                </a:solidFill>
              </a:rPr>
              <a:t>hidden units</a:t>
            </a:r>
          </a:p>
          <a:p>
            <a:r>
              <a:rPr lang="en-US" sz="3000" dirty="0">
                <a:solidFill>
                  <a:schemeClr val="tx2"/>
                </a:solidFill>
              </a:rPr>
              <a:t>(</a:t>
            </a:r>
            <a:r>
              <a:rPr lang="en-US" sz="3000" dirty="0" err="1"/>
              <a:t>σ</a:t>
            </a:r>
            <a:r>
              <a:rPr lang="en-US" sz="3000" dirty="0"/>
              <a:t> node)</a:t>
            </a:r>
            <a:endParaRPr lang="en-US" sz="3000" dirty="0">
              <a:solidFill>
                <a:schemeClr val="tx2"/>
              </a:solidFill>
            </a:endParaRPr>
          </a:p>
          <a:p>
            <a:endParaRPr lang="en-US" sz="2800" dirty="0">
              <a:solidFill>
                <a:schemeClr val="tx2"/>
              </a:solidFill>
            </a:endParaRPr>
          </a:p>
        </p:txBody>
      </p:sp>
      <p:sp>
        <p:nvSpPr>
          <p:cNvPr id="68" name="Rectangle 67">
            <a:extLst>
              <a:ext uri="{FF2B5EF4-FFF2-40B4-BE49-F238E27FC236}">
                <a16:creationId xmlns:a16="http://schemas.microsoft.com/office/drawing/2014/main" id="{051FF81C-65CD-2B4F-9F91-12D9F01F2E24}"/>
              </a:ext>
            </a:extLst>
          </p:cNvPr>
          <p:cNvSpPr/>
          <p:nvPr/>
        </p:nvSpPr>
        <p:spPr>
          <a:xfrm>
            <a:off x="229559" y="3871202"/>
            <a:ext cx="2310652" cy="954107"/>
          </a:xfrm>
          <a:prstGeom prst="rect">
            <a:avLst/>
          </a:prstGeom>
        </p:spPr>
        <p:txBody>
          <a:bodyPr wrap="square">
            <a:spAutoFit/>
          </a:bodyPr>
          <a:lstStyle/>
          <a:p>
            <a:r>
              <a:rPr lang="en-US" sz="2800" dirty="0">
                <a:solidFill>
                  <a:schemeClr val="tx2"/>
                </a:solidFill>
              </a:rPr>
              <a:t>Input layer</a:t>
            </a:r>
          </a:p>
          <a:p>
            <a:r>
              <a:rPr lang="en-US" sz="2800" dirty="0">
                <a:solidFill>
                  <a:schemeClr val="tx2"/>
                </a:solidFill>
              </a:rPr>
              <a:t>(vector)</a:t>
            </a:r>
          </a:p>
        </p:txBody>
      </p:sp>
      <p:sp>
        <p:nvSpPr>
          <p:cNvPr id="70" name="TextBox 69">
            <a:extLst>
              <a:ext uri="{FF2B5EF4-FFF2-40B4-BE49-F238E27FC236}">
                <a16:creationId xmlns:a16="http://schemas.microsoft.com/office/drawing/2014/main" id="{F8E38296-91BA-464D-AF54-680F455128CB}"/>
              </a:ext>
            </a:extLst>
          </p:cNvPr>
          <p:cNvSpPr txBox="1"/>
          <p:nvPr/>
        </p:nvSpPr>
        <p:spPr>
          <a:xfrm>
            <a:off x="359163" y="977138"/>
            <a:ext cx="2071739" cy="953466"/>
          </a:xfrm>
          <a:prstGeom prst="rect">
            <a:avLst/>
          </a:prstGeom>
          <a:noFill/>
        </p:spPr>
        <p:txBody>
          <a:bodyPr wrap="square" rtlCol="0">
            <a:spAutoFit/>
          </a:bodyPr>
          <a:lstStyle/>
          <a:p>
            <a:r>
              <a:rPr lang="en-US" sz="2798" dirty="0">
                <a:solidFill>
                  <a:schemeClr val="tx2"/>
                </a:solidFill>
              </a:rPr>
              <a:t>Output layer</a:t>
            </a:r>
          </a:p>
          <a:p>
            <a:r>
              <a:rPr lang="en-US" sz="2798" dirty="0">
                <a:solidFill>
                  <a:schemeClr val="tx2"/>
                </a:solidFill>
              </a:rPr>
              <a:t>(</a:t>
            </a:r>
            <a:r>
              <a:rPr lang="en-US" sz="2798" dirty="0" err="1"/>
              <a:t>σ</a:t>
            </a:r>
            <a:r>
              <a:rPr lang="en-US" sz="2798" dirty="0"/>
              <a:t> node)</a:t>
            </a:r>
            <a:endParaRPr lang="en-US" sz="2798" dirty="0">
              <a:solidFill>
                <a:schemeClr val="tx2"/>
              </a:solidFill>
            </a:endParaRPr>
          </a:p>
        </p:txBody>
      </p:sp>
      <p:sp>
        <p:nvSpPr>
          <p:cNvPr id="45" name="TextBox 44">
            <a:extLst>
              <a:ext uri="{FF2B5EF4-FFF2-40B4-BE49-F238E27FC236}">
                <a16:creationId xmlns:a16="http://schemas.microsoft.com/office/drawing/2014/main" id="{63A85ED4-29F5-D149-A092-A3FF69EDF5CE}"/>
              </a:ext>
            </a:extLst>
          </p:cNvPr>
          <p:cNvSpPr txBox="1"/>
          <p:nvPr/>
        </p:nvSpPr>
        <p:spPr>
          <a:xfrm>
            <a:off x="7842051" y="2946903"/>
            <a:ext cx="954107" cy="404085"/>
          </a:xfrm>
          <a:prstGeom prst="rect">
            <a:avLst/>
          </a:prstGeom>
          <a:noFill/>
        </p:spPr>
        <p:txBody>
          <a:bodyPr wrap="none" rtlCol="0">
            <a:spAutoFit/>
          </a:bodyPr>
          <a:lstStyle/>
          <a:p>
            <a:r>
              <a:rPr lang="en-US" sz="1013" dirty="0"/>
              <a:t>Could be </a:t>
            </a:r>
            <a:r>
              <a:rPr lang="en-US" sz="1013" dirty="0" err="1"/>
              <a:t>ReLU</a:t>
            </a:r>
            <a:endParaRPr lang="en-US" sz="1013" dirty="0"/>
          </a:p>
          <a:p>
            <a:r>
              <a:rPr lang="en-US" sz="1013" dirty="0"/>
              <a:t>Or tanh</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A0D1777B-5A7F-3243-B4A3-B85E235379FD}"/>
                  </a:ext>
                </a:extLst>
              </p:cNvPr>
              <p:cNvSpPr txBox="1"/>
              <p:nvPr/>
            </p:nvSpPr>
            <p:spPr>
              <a:xfrm>
                <a:off x="5913850" y="1313851"/>
                <a:ext cx="1246303" cy="46166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sz="3000">
                          <a:latin typeface="Cambria Math" panose="02040503050406030204" pitchFamily="18" charset="0"/>
                        </a:rPr>
                        <m:t>z</m:t>
                      </m:r>
                      <m:r>
                        <a:rPr lang="en-US" sz="3000" i="1">
                          <a:latin typeface="Cambria Math" panose="02040503050406030204" pitchFamily="18" charset="0"/>
                        </a:rPr>
                        <m:t>=</m:t>
                      </m:r>
                      <m:r>
                        <a:rPr lang="en-US" sz="3000" i="1">
                          <a:latin typeface="Cambria Math" panose="02040503050406030204" pitchFamily="18" charset="0"/>
                        </a:rPr>
                        <m:t>𝑈</m:t>
                      </m:r>
                      <m:r>
                        <a:rPr lang="en-US" sz="3000" i="1">
                          <a:latin typeface="Cambria Math" panose="02040503050406030204" pitchFamily="18" charset="0"/>
                        </a:rPr>
                        <m:t>h</m:t>
                      </m:r>
                    </m:oMath>
                  </m:oMathPara>
                </a14:m>
                <a:endParaRPr lang="en-US" sz="3000" dirty="0"/>
              </a:p>
            </p:txBody>
          </p:sp>
        </mc:Choice>
        <mc:Fallback xmlns="">
          <p:sp>
            <p:nvSpPr>
              <p:cNvPr id="4" name="TextBox 3">
                <a:extLst>
                  <a:ext uri="{FF2B5EF4-FFF2-40B4-BE49-F238E27FC236}">
                    <a16:creationId xmlns:a16="http://schemas.microsoft.com/office/drawing/2014/main" id="{A0D1777B-5A7F-3243-B4A3-B85E235379FD}"/>
                  </a:ext>
                </a:extLst>
              </p:cNvPr>
              <p:cNvSpPr txBox="1">
                <a:spLocks noRot="1" noChangeAspect="1" noMove="1" noResize="1" noEditPoints="1" noAdjustHandles="1" noChangeArrowheads="1" noChangeShapeType="1" noTextEdit="1"/>
              </p:cNvSpPr>
              <p:nvPr/>
            </p:nvSpPr>
            <p:spPr>
              <a:xfrm>
                <a:off x="5913850" y="1313851"/>
                <a:ext cx="1246303" cy="461665"/>
              </a:xfrm>
              <a:prstGeom prst="rect">
                <a:avLst/>
              </a:prstGeom>
              <a:blipFill>
                <a:blip r:embed="rId4"/>
                <a:stretch>
                  <a:fillRect l="-3030" r="-7071" b="-810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A1809887-372D-A64D-9F2C-D6BA56E98C55}"/>
                  </a:ext>
                </a:extLst>
              </p:cNvPr>
              <p:cNvSpPr txBox="1"/>
              <p:nvPr/>
            </p:nvSpPr>
            <p:spPr>
              <a:xfrm>
                <a:off x="5906755" y="885680"/>
                <a:ext cx="1555619" cy="46166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3000" i="1">
                          <a:latin typeface="Cambria Math" panose="02040503050406030204" pitchFamily="18" charset="0"/>
                        </a:rPr>
                        <m:t>𝑦</m:t>
                      </m:r>
                      <m:r>
                        <a:rPr lang="en-US" sz="3000" i="1">
                          <a:latin typeface="Cambria Math" panose="02040503050406030204" pitchFamily="18" charset="0"/>
                        </a:rPr>
                        <m:t>=</m:t>
                      </m:r>
                      <m:r>
                        <a:rPr lang="en-US" sz="3000" i="1">
                          <a:latin typeface="Cambria Math" panose="02040503050406030204" pitchFamily="18" charset="0"/>
                          <a:ea typeface="Cambria Math" panose="02040503050406030204" pitchFamily="18" charset="0"/>
                        </a:rPr>
                        <m:t>𝜎</m:t>
                      </m:r>
                      <m:r>
                        <a:rPr lang="en-US" sz="3000" i="1">
                          <a:latin typeface="Cambria Math" panose="02040503050406030204" pitchFamily="18" charset="0"/>
                          <a:ea typeface="Cambria Math" panose="02040503050406030204" pitchFamily="18" charset="0"/>
                        </a:rPr>
                        <m:t>(</m:t>
                      </m:r>
                      <m:r>
                        <a:rPr lang="en-US" sz="3000" i="1">
                          <a:latin typeface="Cambria Math" panose="02040503050406030204" pitchFamily="18" charset="0"/>
                          <a:ea typeface="Cambria Math" panose="02040503050406030204" pitchFamily="18" charset="0"/>
                        </a:rPr>
                        <m:t>𝑧</m:t>
                      </m:r>
                      <m:r>
                        <a:rPr lang="en-US" sz="3000" i="1">
                          <a:latin typeface="Cambria Math" panose="02040503050406030204" pitchFamily="18" charset="0"/>
                          <a:ea typeface="Cambria Math" panose="02040503050406030204" pitchFamily="18" charset="0"/>
                        </a:rPr>
                        <m:t>)</m:t>
                      </m:r>
                    </m:oMath>
                  </m:oMathPara>
                </a14:m>
                <a:endParaRPr lang="en-US" sz="3000" dirty="0"/>
              </a:p>
            </p:txBody>
          </p:sp>
        </mc:Choice>
        <mc:Fallback xmlns="">
          <p:sp>
            <p:nvSpPr>
              <p:cNvPr id="50" name="TextBox 49">
                <a:extLst>
                  <a:ext uri="{FF2B5EF4-FFF2-40B4-BE49-F238E27FC236}">
                    <a16:creationId xmlns:a16="http://schemas.microsoft.com/office/drawing/2014/main" id="{A1809887-372D-A64D-9F2C-D6BA56E98C55}"/>
                  </a:ext>
                </a:extLst>
              </p:cNvPr>
              <p:cNvSpPr txBox="1">
                <a:spLocks noRot="1" noChangeAspect="1" noMove="1" noResize="1" noEditPoints="1" noAdjustHandles="1" noChangeArrowheads="1" noChangeShapeType="1" noTextEdit="1"/>
              </p:cNvSpPr>
              <p:nvPr/>
            </p:nvSpPr>
            <p:spPr>
              <a:xfrm>
                <a:off x="5906755" y="885680"/>
                <a:ext cx="1555619" cy="461665"/>
              </a:xfrm>
              <a:prstGeom prst="rect">
                <a:avLst/>
              </a:prstGeom>
              <a:blipFill>
                <a:blip r:embed="rId5"/>
                <a:stretch>
                  <a:fillRect l="-5691" r="-8130" b="-34211"/>
                </a:stretch>
              </a:blipFill>
            </p:spPr>
            <p:txBody>
              <a:bodyPr/>
              <a:lstStyle/>
              <a:p>
                <a:r>
                  <a:rPr lang="en-US">
                    <a:noFill/>
                  </a:rPr>
                  <a:t> </a:t>
                </a:r>
              </a:p>
            </p:txBody>
          </p:sp>
        </mc:Fallback>
      </mc:AlternateContent>
    </p:spTree>
    <p:extLst>
      <p:ext uri="{BB962C8B-B14F-4D97-AF65-F5344CB8AC3E}">
        <p14:creationId xmlns:p14="http://schemas.microsoft.com/office/powerpoint/2010/main" val="112896182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10135"/>
            <a:ext cx="7886700" cy="800100"/>
          </a:xfrm>
        </p:spPr>
        <p:txBody>
          <a:bodyPr/>
          <a:lstStyle/>
          <a:p>
            <a:r>
              <a:rPr lang="en-US" b="0" dirty="0"/>
              <a:t>Two-Layer Network with </a:t>
            </a:r>
            <a:r>
              <a:rPr lang="en-US" b="0" dirty="0" err="1"/>
              <a:t>softmax</a:t>
            </a:r>
            <a:r>
              <a:rPr lang="en-US" b="0" dirty="0"/>
              <a:t> output</a:t>
            </a:r>
          </a:p>
        </p:txBody>
      </p:sp>
      <p:sp>
        <p:nvSpPr>
          <p:cNvPr id="8" name="Oval 7"/>
          <p:cNvSpPr/>
          <p:nvPr/>
        </p:nvSpPr>
        <p:spPr bwMode="auto">
          <a:xfrm>
            <a:off x="4184450" y="2724152"/>
            <a:ext cx="381000" cy="476071"/>
          </a:xfrm>
          <a:prstGeom prst="ellipse">
            <a:avLst/>
          </a:prstGeom>
          <a:no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defTabSz="914355" fontAlgn="base">
              <a:spcBef>
                <a:spcPct val="0"/>
              </a:spcBef>
              <a:spcAft>
                <a:spcPct val="0"/>
              </a:spcAft>
            </a:pPr>
            <a:endParaRPr lang="en-US" sz="1600">
              <a:solidFill>
                <a:srgbClr val="009900"/>
              </a:solidFill>
              <a:latin typeface="Tahoma" charset="0"/>
            </a:endParaRPr>
          </a:p>
        </p:txBody>
      </p:sp>
      <p:sp>
        <p:nvSpPr>
          <p:cNvPr id="9" name="Oval 8"/>
          <p:cNvSpPr/>
          <p:nvPr/>
        </p:nvSpPr>
        <p:spPr bwMode="auto">
          <a:xfrm>
            <a:off x="3955850" y="2343152"/>
            <a:ext cx="457200" cy="476071"/>
          </a:xfrm>
          <a:prstGeom prst="ellipse">
            <a:avLst/>
          </a:prstGeom>
          <a:solidFill>
            <a:srgbClr val="FF660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defTabSz="914355" fontAlgn="base">
              <a:spcBef>
                <a:spcPct val="0"/>
              </a:spcBef>
              <a:spcAft>
                <a:spcPct val="0"/>
              </a:spcAft>
            </a:pPr>
            <a:endParaRPr lang="en-US" sz="1600" dirty="0">
              <a:solidFill>
                <a:srgbClr val="009900"/>
              </a:solidFill>
              <a:latin typeface="Tahoma" charset="0"/>
            </a:endParaRPr>
          </a:p>
        </p:txBody>
      </p:sp>
      <p:sp>
        <p:nvSpPr>
          <p:cNvPr id="10" name="Oval 9"/>
          <p:cNvSpPr/>
          <p:nvPr/>
        </p:nvSpPr>
        <p:spPr bwMode="auto">
          <a:xfrm>
            <a:off x="4305574" y="906304"/>
            <a:ext cx="457200" cy="476071"/>
          </a:xfrm>
          <a:prstGeom prst="ellipse">
            <a:avLst/>
          </a:prstGeom>
          <a:solidFill>
            <a:srgbClr val="FF660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defTabSz="914355" fontAlgn="base">
              <a:spcBef>
                <a:spcPct val="0"/>
              </a:spcBef>
              <a:spcAft>
                <a:spcPct val="0"/>
              </a:spcAft>
            </a:pPr>
            <a:endParaRPr lang="en-US" sz="1600">
              <a:solidFill>
                <a:srgbClr val="009900"/>
              </a:solidFill>
              <a:latin typeface="Tahoma" charset="0"/>
            </a:endParaRPr>
          </a:p>
        </p:txBody>
      </p:sp>
      <p:sp>
        <p:nvSpPr>
          <p:cNvPr id="12" name="Oval 11"/>
          <p:cNvSpPr/>
          <p:nvPr/>
        </p:nvSpPr>
        <p:spPr bwMode="auto">
          <a:xfrm>
            <a:off x="5632250" y="2343152"/>
            <a:ext cx="457200" cy="476071"/>
          </a:xfrm>
          <a:prstGeom prst="ellipse">
            <a:avLst/>
          </a:prstGeom>
          <a:solidFill>
            <a:srgbClr val="FF660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defTabSz="914355" fontAlgn="base">
              <a:spcBef>
                <a:spcPct val="0"/>
              </a:spcBef>
              <a:spcAft>
                <a:spcPct val="0"/>
              </a:spcAft>
            </a:pPr>
            <a:endParaRPr lang="en-US" sz="1600">
              <a:solidFill>
                <a:srgbClr val="009900"/>
              </a:solidFill>
              <a:latin typeface="Tahoma" charset="0"/>
            </a:endParaRPr>
          </a:p>
        </p:txBody>
      </p:sp>
      <p:sp>
        <p:nvSpPr>
          <p:cNvPr id="13" name="Oval 12"/>
          <p:cNvSpPr/>
          <p:nvPr/>
        </p:nvSpPr>
        <p:spPr bwMode="auto">
          <a:xfrm>
            <a:off x="4794050" y="2343152"/>
            <a:ext cx="457200" cy="476071"/>
          </a:xfrm>
          <a:prstGeom prst="ellipse">
            <a:avLst/>
          </a:prstGeom>
          <a:solidFill>
            <a:srgbClr val="FF660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defTabSz="914355" fontAlgn="base">
              <a:spcBef>
                <a:spcPct val="0"/>
              </a:spcBef>
              <a:spcAft>
                <a:spcPct val="0"/>
              </a:spcAft>
            </a:pPr>
            <a:endParaRPr lang="en-US" sz="1600">
              <a:solidFill>
                <a:srgbClr val="009900"/>
              </a:solidFill>
              <a:latin typeface="Tahoma" charset="0"/>
            </a:endParaRPr>
          </a:p>
        </p:txBody>
      </p:sp>
      <p:cxnSp>
        <p:nvCxnSpPr>
          <p:cNvPr id="14" name="Straight Arrow Connector 13"/>
          <p:cNvCxnSpPr>
            <a:cxnSpLocks/>
            <a:stCxn id="9" idx="0"/>
            <a:endCxn id="10" idx="3"/>
          </p:cNvCxnSpPr>
          <p:nvPr/>
        </p:nvCxnSpPr>
        <p:spPr bwMode="auto">
          <a:xfrm flipV="1">
            <a:off x="4184450" y="1312656"/>
            <a:ext cx="188079" cy="1030496"/>
          </a:xfrm>
          <a:prstGeom prst="straightConnector1">
            <a:avLst/>
          </a:prstGeom>
          <a:noFill/>
          <a:ln w="9525" cap="flat" cmpd="sng" algn="ctr">
            <a:noFill/>
            <a:prstDash val="solid"/>
            <a:round/>
            <a:headEnd type="none" w="med" len="med"/>
            <a:tailEnd type="arrow"/>
          </a:ln>
          <a:effectLst/>
        </p:spPr>
      </p:cxnSp>
      <p:cxnSp>
        <p:nvCxnSpPr>
          <p:cNvPr id="15" name="Straight Arrow Connector 14"/>
          <p:cNvCxnSpPr>
            <a:cxnSpLocks/>
            <a:stCxn id="13" idx="0"/>
            <a:endCxn id="10" idx="4"/>
          </p:cNvCxnSpPr>
          <p:nvPr/>
        </p:nvCxnSpPr>
        <p:spPr bwMode="auto">
          <a:xfrm flipH="1" flipV="1">
            <a:off x="4534174" y="1382375"/>
            <a:ext cx="488476" cy="960777"/>
          </a:xfrm>
          <a:prstGeom prst="straightConnector1">
            <a:avLst/>
          </a:prstGeom>
          <a:ln>
            <a:headEnd type="none" w="med" len="med"/>
            <a:tailEnd type="arrow"/>
          </a:ln>
        </p:spPr>
        <p:style>
          <a:lnRef idx="2">
            <a:schemeClr val="accent4"/>
          </a:lnRef>
          <a:fillRef idx="0">
            <a:schemeClr val="accent4"/>
          </a:fillRef>
          <a:effectRef idx="1">
            <a:schemeClr val="accent4"/>
          </a:effectRef>
          <a:fontRef idx="minor">
            <a:schemeClr val="tx1"/>
          </a:fontRef>
        </p:style>
      </p:cxnSp>
      <p:cxnSp>
        <p:nvCxnSpPr>
          <p:cNvPr id="16" name="Straight Arrow Connector 15"/>
          <p:cNvCxnSpPr>
            <a:cxnSpLocks/>
            <a:stCxn id="12" idx="0"/>
            <a:endCxn id="10" idx="4"/>
          </p:cNvCxnSpPr>
          <p:nvPr/>
        </p:nvCxnSpPr>
        <p:spPr bwMode="auto">
          <a:xfrm flipH="1" flipV="1">
            <a:off x="4534174" y="1382375"/>
            <a:ext cx="1326676" cy="960777"/>
          </a:xfrm>
          <a:prstGeom prst="straightConnector1">
            <a:avLst/>
          </a:prstGeom>
          <a:ln>
            <a:headEnd type="none" w="med" len="med"/>
            <a:tailEnd type="arrow"/>
          </a:ln>
        </p:spPr>
        <p:style>
          <a:lnRef idx="2">
            <a:schemeClr val="accent4"/>
          </a:lnRef>
          <a:fillRef idx="0">
            <a:schemeClr val="accent4"/>
          </a:fillRef>
          <a:effectRef idx="1">
            <a:schemeClr val="accent4"/>
          </a:effectRef>
          <a:fontRef idx="minor">
            <a:schemeClr val="tx1"/>
          </a:fontRef>
        </p:style>
      </p:cxnSp>
      <p:cxnSp>
        <p:nvCxnSpPr>
          <p:cNvPr id="18" name="Straight Arrow Connector 17"/>
          <p:cNvCxnSpPr>
            <a:cxnSpLocks/>
            <a:stCxn id="9" idx="7"/>
            <a:endCxn id="10" idx="4"/>
          </p:cNvCxnSpPr>
          <p:nvPr/>
        </p:nvCxnSpPr>
        <p:spPr bwMode="auto">
          <a:xfrm flipV="1">
            <a:off x="4346095" y="1382375"/>
            <a:ext cx="188079" cy="1030496"/>
          </a:xfrm>
          <a:prstGeom prst="straightConnector1">
            <a:avLst/>
          </a:prstGeom>
          <a:ln>
            <a:headEnd type="none" w="med" len="med"/>
            <a:tailEnd type="arrow"/>
          </a:ln>
        </p:spPr>
        <p:style>
          <a:lnRef idx="2">
            <a:schemeClr val="accent4"/>
          </a:lnRef>
          <a:fillRef idx="0">
            <a:schemeClr val="accent4"/>
          </a:fillRef>
          <a:effectRef idx="1">
            <a:schemeClr val="accent4"/>
          </a:effectRef>
          <a:fontRef idx="minor">
            <a:schemeClr val="tx1"/>
          </a:fontRef>
        </p:style>
      </p:cxnSp>
      <p:sp>
        <p:nvSpPr>
          <p:cNvPr id="20" name="Oval 19"/>
          <p:cNvSpPr/>
          <p:nvPr/>
        </p:nvSpPr>
        <p:spPr bwMode="auto">
          <a:xfrm>
            <a:off x="4565450" y="4552952"/>
            <a:ext cx="381000" cy="476071"/>
          </a:xfrm>
          <a:prstGeom prst="ellipse">
            <a:avLst/>
          </a:prstGeom>
          <a:no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defTabSz="914355" fontAlgn="base">
              <a:spcBef>
                <a:spcPct val="0"/>
              </a:spcBef>
              <a:spcAft>
                <a:spcPct val="0"/>
              </a:spcAft>
            </a:pPr>
            <a:endParaRPr lang="en-US" sz="1600">
              <a:solidFill>
                <a:srgbClr val="009900"/>
              </a:solidFill>
              <a:latin typeface="Tahoma" charset="0"/>
            </a:endParaRPr>
          </a:p>
        </p:txBody>
      </p:sp>
      <p:sp>
        <p:nvSpPr>
          <p:cNvPr id="21" name="Oval 20"/>
          <p:cNvSpPr/>
          <p:nvPr/>
        </p:nvSpPr>
        <p:spPr bwMode="auto">
          <a:xfrm>
            <a:off x="2584250" y="4171952"/>
            <a:ext cx="457200" cy="476071"/>
          </a:xfrm>
          <a:prstGeom prst="ellipse">
            <a:avLst/>
          </a:prstGeom>
          <a:solidFill>
            <a:srgbClr val="FF660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defTabSz="914355" fontAlgn="base">
              <a:spcBef>
                <a:spcPct val="0"/>
              </a:spcBef>
              <a:spcAft>
                <a:spcPct val="0"/>
              </a:spcAft>
            </a:pPr>
            <a:endParaRPr lang="en-US" sz="1600">
              <a:solidFill>
                <a:srgbClr val="009900"/>
              </a:solidFill>
              <a:latin typeface="Tahoma" charset="0"/>
            </a:endParaRPr>
          </a:p>
        </p:txBody>
      </p:sp>
      <p:sp>
        <p:nvSpPr>
          <p:cNvPr id="23" name="Oval 22"/>
          <p:cNvSpPr/>
          <p:nvPr/>
        </p:nvSpPr>
        <p:spPr bwMode="auto">
          <a:xfrm>
            <a:off x="6394250" y="4171952"/>
            <a:ext cx="457200" cy="476071"/>
          </a:xfrm>
          <a:prstGeom prst="ellipse">
            <a:avLst/>
          </a:prstGeom>
          <a:solidFill>
            <a:srgbClr val="FF660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defTabSz="914355" fontAlgn="base">
              <a:spcBef>
                <a:spcPct val="0"/>
              </a:spcBef>
              <a:spcAft>
                <a:spcPct val="0"/>
              </a:spcAft>
            </a:pPr>
            <a:endParaRPr lang="en-US" sz="1600">
              <a:solidFill>
                <a:srgbClr val="009900"/>
              </a:solidFill>
              <a:latin typeface="Tahoma" charset="0"/>
            </a:endParaRPr>
          </a:p>
        </p:txBody>
      </p:sp>
      <p:sp>
        <p:nvSpPr>
          <p:cNvPr id="24" name="Oval 23"/>
          <p:cNvSpPr/>
          <p:nvPr/>
        </p:nvSpPr>
        <p:spPr bwMode="auto">
          <a:xfrm>
            <a:off x="5098850" y="4171952"/>
            <a:ext cx="457200" cy="476071"/>
          </a:xfrm>
          <a:prstGeom prst="ellipse">
            <a:avLst/>
          </a:prstGeom>
          <a:solidFill>
            <a:srgbClr val="FF660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defTabSz="914355" fontAlgn="base">
              <a:spcBef>
                <a:spcPct val="0"/>
              </a:spcBef>
              <a:spcAft>
                <a:spcPct val="0"/>
              </a:spcAft>
            </a:pPr>
            <a:endParaRPr lang="en-US" sz="1600">
              <a:solidFill>
                <a:srgbClr val="009900"/>
              </a:solidFill>
              <a:latin typeface="Tahoma" charset="0"/>
            </a:endParaRPr>
          </a:p>
        </p:txBody>
      </p:sp>
      <p:sp>
        <p:nvSpPr>
          <p:cNvPr id="25" name="Oval 24"/>
          <p:cNvSpPr/>
          <p:nvPr/>
        </p:nvSpPr>
        <p:spPr bwMode="auto">
          <a:xfrm>
            <a:off x="3727250" y="4171952"/>
            <a:ext cx="457200" cy="476071"/>
          </a:xfrm>
          <a:prstGeom prst="ellipse">
            <a:avLst/>
          </a:prstGeom>
          <a:solidFill>
            <a:srgbClr val="FF660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defTabSz="914355" fontAlgn="base">
              <a:spcBef>
                <a:spcPct val="0"/>
              </a:spcBef>
              <a:spcAft>
                <a:spcPct val="0"/>
              </a:spcAft>
            </a:pPr>
            <a:endParaRPr lang="en-US" sz="1600">
              <a:solidFill>
                <a:srgbClr val="009900"/>
              </a:solidFill>
              <a:latin typeface="Tahoma" charset="0"/>
            </a:endParaRPr>
          </a:p>
        </p:txBody>
      </p:sp>
      <p:cxnSp>
        <p:nvCxnSpPr>
          <p:cNvPr id="26" name="Straight Arrow Connector 25"/>
          <p:cNvCxnSpPr>
            <a:cxnSpLocks/>
            <a:stCxn id="21" idx="0"/>
          </p:cNvCxnSpPr>
          <p:nvPr/>
        </p:nvCxnSpPr>
        <p:spPr bwMode="auto">
          <a:xfrm flipV="1">
            <a:off x="2812850" y="3049356"/>
            <a:ext cx="2494197" cy="1122596"/>
          </a:xfrm>
          <a:prstGeom prst="straightConnector1">
            <a:avLst/>
          </a:prstGeom>
          <a:noFill/>
          <a:ln w="9525" cap="flat" cmpd="sng" algn="ctr">
            <a:noFill/>
            <a:prstDash val="solid"/>
            <a:round/>
            <a:headEnd type="none" w="med" len="med"/>
            <a:tailEnd type="arrow"/>
          </a:ln>
          <a:effectLst/>
        </p:spPr>
      </p:cxnSp>
      <p:cxnSp>
        <p:nvCxnSpPr>
          <p:cNvPr id="27" name="Straight Arrow Connector 26"/>
          <p:cNvCxnSpPr>
            <a:cxnSpLocks/>
            <a:stCxn id="25" idx="0"/>
            <a:endCxn id="9" idx="4"/>
          </p:cNvCxnSpPr>
          <p:nvPr/>
        </p:nvCxnSpPr>
        <p:spPr bwMode="auto">
          <a:xfrm flipV="1">
            <a:off x="3955850" y="2819223"/>
            <a:ext cx="228600" cy="1352729"/>
          </a:xfrm>
          <a:prstGeom prst="straightConnector1">
            <a:avLst/>
          </a:prstGeom>
          <a:ln>
            <a:headEnd type="none" w="med" len="med"/>
            <a:tailEnd type="arrow"/>
          </a:ln>
        </p:spPr>
        <p:style>
          <a:lnRef idx="2">
            <a:schemeClr val="accent4"/>
          </a:lnRef>
          <a:fillRef idx="0">
            <a:schemeClr val="accent4"/>
          </a:fillRef>
          <a:effectRef idx="1">
            <a:schemeClr val="accent4"/>
          </a:effectRef>
          <a:fontRef idx="minor">
            <a:schemeClr val="tx1"/>
          </a:fontRef>
        </p:style>
      </p:cxnSp>
      <p:cxnSp>
        <p:nvCxnSpPr>
          <p:cNvPr id="28" name="Straight Arrow Connector 27"/>
          <p:cNvCxnSpPr>
            <a:cxnSpLocks/>
            <a:stCxn id="24" idx="0"/>
            <a:endCxn id="8" idx="1"/>
          </p:cNvCxnSpPr>
          <p:nvPr/>
        </p:nvCxnSpPr>
        <p:spPr bwMode="auto">
          <a:xfrm flipH="1" flipV="1">
            <a:off x="4240246" y="2793871"/>
            <a:ext cx="1087204" cy="1378081"/>
          </a:xfrm>
          <a:prstGeom prst="straightConnector1">
            <a:avLst/>
          </a:prstGeom>
          <a:ln>
            <a:headEnd type="none" w="med" len="med"/>
            <a:tailEnd type="arrow"/>
          </a:ln>
        </p:spPr>
        <p:style>
          <a:lnRef idx="2">
            <a:schemeClr val="accent4"/>
          </a:lnRef>
          <a:fillRef idx="0">
            <a:schemeClr val="accent4"/>
          </a:fillRef>
          <a:effectRef idx="1">
            <a:schemeClr val="accent4"/>
          </a:effectRef>
          <a:fontRef idx="minor">
            <a:schemeClr val="tx1"/>
          </a:fontRef>
        </p:style>
      </p:cxnSp>
      <p:cxnSp>
        <p:nvCxnSpPr>
          <p:cNvPr id="29" name="Straight Arrow Connector 28"/>
          <p:cNvCxnSpPr>
            <a:cxnSpLocks/>
            <a:stCxn id="23" idx="0"/>
            <a:endCxn id="9" idx="4"/>
          </p:cNvCxnSpPr>
          <p:nvPr/>
        </p:nvCxnSpPr>
        <p:spPr bwMode="auto">
          <a:xfrm flipH="1" flipV="1">
            <a:off x="4184450" y="2819223"/>
            <a:ext cx="2438400" cy="1352729"/>
          </a:xfrm>
          <a:prstGeom prst="straightConnector1">
            <a:avLst/>
          </a:prstGeom>
          <a:ln>
            <a:headEnd type="none" w="med" len="med"/>
            <a:tailEnd type="arrow"/>
          </a:ln>
        </p:spPr>
        <p:style>
          <a:lnRef idx="2">
            <a:schemeClr val="accent4"/>
          </a:lnRef>
          <a:fillRef idx="0">
            <a:schemeClr val="accent4"/>
          </a:fillRef>
          <a:effectRef idx="1">
            <a:schemeClr val="accent4"/>
          </a:effectRef>
          <a:fontRef idx="minor">
            <a:schemeClr val="tx1"/>
          </a:fontRef>
        </p:style>
      </p:cxnSp>
      <p:cxnSp>
        <p:nvCxnSpPr>
          <p:cNvPr id="30" name="Straight Arrow Connector 29"/>
          <p:cNvCxnSpPr>
            <a:cxnSpLocks/>
            <a:stCxn id="21" idx="7"/>
            <a:endCxn id="9" idx="4"/>
          </p:cNvCxnSpPr>
          <p:nvPr/>
        </p:nvCxnSpPr>
        <p:spPr bwMode="auto">
          <a:xfrm flipV="1">
            <a:off x="2974495" y="2819223"/>
            <a:ext cx="1209955" cy="1422448"/>
          </a:xfrm>
          <a:prstGeom prst="straightConnector1">
            <a:avLst/>
          </a:prstGeom>
          <a:ln>
            <a:headEnd type="none" w="med" len="med"/>
            <a:tailEnd type="arrow"/>
          </a:ln>
        </p:spPr>
        <p:style>
          <a:lnRef idx="2">
            <a:schemeClr val="accent4"/>
          </a:lnRef>
          <a:fillRef idx="0">
            <a:schemeClr val="accent4"/>
          </a:fillRef>
          <a:effectRef idx="1">
            <a:schemeClr val="accent4"/>
          </a:effectRef>
          <a:fontRef idx="minor">
            <a:schemeClr val="tx1"/>
          </a:fontRef>
        </p:style>
      </p:cxnSp>
      <p:sp>
        <p:nvSpPr>
          <p:cNvPr id="34" name="Oval 33"/>
          <p:cNvSpPr/>
          <p:nvPr/>
        </p:nvSpPr>
        <p:spPr bwMode="auto">
          <a:xfrm>
            <a:off x="7308650" y="4171952"/>
            <a:ext cx="457200" cy="476071"/>
          </a:xfrm>
          <a:prstGeom prst="ellipse">
            <a:avLst/>
          </a:prstGeom>
          <a:solidFill>
            <a:srgbClr val="FF660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defTabSz="914355" fontAlgn="base">
              <a:spcBef>
                <a:spcPct val="0"/>
              </a:spcBef>
              <a:spcAft>
                <a:spcPct val="0"/>
              </a:spcAft>
            </a:pPr>
            <a:endParaRPr lang="en-US" sz="1600">
              <a:solidFill>
                <a:srgbClr val="009900"/>
              </a:solidFill>
              <a:latin typeface="Tahoma" charset="0"/>
            </a:endParaRPr>
          </a:p>
        </p:txBody>
      </p:sp>
      <p:cxnSp>
        <p:nvCxnSpPr>
          <p:cNvPr id="46" name="Straight Arrow Connector 45"/>
          <p:cNvCxnSpPr>
            <a:cxnSpLocks/>
            <a:stCxn id="34" idx="0"/>
            <a:endCxn id="9" idx="4"/>
          </p:cNvCxnSpPr>
          <p:nvPr/>
        </p:nvCxnSpPr>
        <p:spPr bwMode="auto">
          <a:xfrm flipH="1" flipV="1">
            <a:off x="4184450" y="2819223"/>
            <a:ext cx="3352800" cy="1352729"/>
          </a:xfrm>
          <a:prstGeom prst="straightConnector1">
            <a:avLst/>
          </a:prstGeom>
          <a:ln>
            <a:headEnd type="none" w="med" len="med"/>
            <a:tailEnd type="arrow"/>
          </a:ln>
        </p:spPr>
        <p:style>
          <a:lnRef idx="2">
            <a:schemeClr val="accent4"/>
          </a:lnRef>
          <a:fillRef idx="0">
            <a:schemeClr val="accent4"/>
          </a:fillRef>
          <a:effectRef idx="1">
            <a:schemeClr val="accent4"/>
          </a:effectRef>
          <a:fontRef idx="minor">
            <a:schemeClr val="tx1"/>
          </a:fontRef>
        </p:style>
      </p:cxnSp>
      <p:cxnSp>
        <p:nvCxnSpPr>
          <p:cNvPr id="49" name="Straight Arrow Connector 48"/>
          <p:cNvCxnSpPr>
            <a:cxnSpLocks/>
            <a:stCxn id="21" idx="7"/>
            <a:endCxn id="13" idx="4"/>
          </p:cNvCxnSpPr>
          <p:nvPr/>
        </p:nvCxnSpPr>
        <p:spPr bwMode="auto">
          <a:xfrm flipV="1">
            <a:off x="2974495" y="2819223"/>
            <a:ext cx="2048155" cy="1422448"/>
          </a:xfrm>
          <a:prstGeom prst="straightConnector1">
            <a:avLst/>
          </a:prstGeom>
          <a:ln>
            <a:headEnd type="none" w="med" len="med"/>
            <a:tailEnd type="arrow"/>
          </a:ln>
        </p:spPr>
        <p:style>
          <a:lnRef idx="2">
            <a:schemeClr val="accent4"/>
          </a:lnRef>
          <a:fillRef idx="0">
            <a:schemeClr val="accent4"/>
          </a:fillRef>
          <a:effectRef idx="1">
            <a:schemeClr val="accent4"/>
          </a:effectRef>
          <a:fontRef idx="minor">
            <a:schemeClr val="tx1"/>
          </a:fontRef>
        </p:style>
      </p:cxnSp>
      <p:cxnSp>
        <p:nvCxnSpPr>
          <p:cNvPr id="52" name="Straight Arrow Connector 51"/>
          <p:cNvCxnSpPr>
            <a:cxnSpLocks/>
            <a:endCxn id="12" idx="4"/>
          </p:cNvCxnSpPr>
          <p:nvPr/>
        </p:nvCxnSpPr>
        <p:spPr bwMode="auto">
          <a:xfrm flipV="1">
            <a:off x="2985655" y="2819223"/>
            <a:ext cx="2875195" cy="1408526"/>
          </a:xfrm>
          <a:prstGeom prst="straightConnector1">
            <a:avLst/>
          </a:prstGeom>
          <a:ln>
            <a:headEnd type="none" w="med" len="med"/>
            <a:tailEnd type="arrow"/>
          </a:ln>
        </p:spPr>
        <p:style>
          <a:lnRef idx="2">
            <a:schemeClr val="accent4"/>
          </a:lnRef>
          <a:fillRef idx="0">
            <a:schemeClr val="accent4"/>
          </a:fillRef>
          <a:effectRef idx="1">
            <a:schemeClr val="accent4"/>
          </a:effectRef>
          <a:fontRef idx="minor">
            <a:schemeClr val="tx1"/>
          </a:fontRef>
        </p:style>
      </p:cxnSp>
      <p:cxnSp>
        <p:nvCxnSpPr>
          <p:cNvPr id="54" name="Straight Arrow Connector 53"/>
          <p:cNvCxnSpPr>
            <a:cxnSpLocks/>
            <a:stCxn id="34" idx="0"/>
            <a:endCxn id="12" idx="4"/>
          </p:cNvCxnSpPr>
          <p:nvPr/>
        </p:nvCxnSpPr>
        <p:spPr bwMode="auto">
          <a:xfrm flipH="1" flipV="1">
            <a:off x="5860850" y="2819223"/>
            <a:ext cx="1676400" cy="1352729"/>
          </a:xfrm>
          <a:prstGeom prst="straightConnector1">
            <a:avLst/>
          </a:prstGeom>
          <a:ln>
            <a:headEnd type="none" w="med" len="med"/>
            <a:tailEnd type="arrow"/>
          </a:ln>
        </p:spPr>
        <p:style>
          <a:lnRef idx="2">
            <a:schemeClr val="accent4"/>
          </a:lnRef>
          <a:fillRef idx="0">
            <a:schemeClr val="accent4"/>
          </a:fillRef>
          <a:effectRef idx="1">
            <a:schemeClr val="accent4"/>
          </a:effectRef>
          <a:fontRef idx="minor">
            <a:schemeClr val="tx1"/>
          </a:fontRef>
        </p:style>
      </p:cxnSp>
      <p:cxnSp>
        <p:nvCxnSpPr>
          <p:cNvPr id="56" name="Straight Arrow Connector 55"/>
          <p:cNvCxnSpPr>
            <a:cxnSpLocks/>
            <a:stCxn id="34" idx="0"/>
            <a:endCxn id="13" idx="4"/>
          </p:cNvCxnSpPr>
          <p:nvPr/>
        </p:nvCxnSpPr>
        <p:spPr bwMode="auto">
          <a:xfrm flipH="1" flipV="1">
            <a:off x="5022650" y="2819223"/>
            <a:ext cx="2514600" cy="1352729"/>
          </a:xfrm>
          <a:prstGeom prst="straightConnector1">
            <a:avLst/>
          </a:prstGeom>
          <a:ln>
            <a:headEnd type="none" w="med" len="med"/>
            <a:tailEnd type="arrow"/>
          </a:ln>
        </p:spPr>
        <p:style>
          <a:lnRef idx="2">
            <a:schemeClr val="accent4"/>
          </a:lnRef>
          <a:fillRef idx="0">
            <a:schemeClr val="accent4"/>
          </a:fillRef>
          <a:effectRef idx="1">
            <a:schemeClr val="accent4"/>
          </a:effectRef>
          <a:fontRef idx="minor">
            <a:schemeClr val="tx1"/>
          </a:fontRef>
        </p:style>
      </p:cxnSp>
      <p:cxnSp>
        <p:nvCxnSpPr>
          <p:cNvPr id="60" name="Straight Arrow Connector 59"/>
          <p:cNvCxnSpPr>
            <a:cxnSpLocks/>
            <a:stCxn id="23" idx="0"/>
          </p:cNvCxnSpPr>
          <p:nvPr/>
        </p:nvCxnSpPr>
        <p:spPr bwMode="auto">
          <a:xfrm flipH="1" flipV="1">
            <a:off x="5098850" y="2800352"/>
            <a:ext cx="1524000" cy="1371600"/>
          </a:xfrm>
          <a:prstGeom prst="straightConnector1">
            <a:avLst/>
          </a:prstGeom>
          <a:ln>
            <a:headEnd type="none" w="med" len="med"/>
            <a:tailEnd type="arrow"/>
          </a:ln>
        </p:spPr>
        <p:style>
          <a:lnRef idx="2">
            <a:schemeClr val="accent4"/>
          </a:lnRef>
          <a:fillRef idx="0">
            <a:schemeClr val="accent4"/>
          </a:fillRef>
          <a:effectRef idx="1">
            <a:schemeClr val="accent4"/>
          </a:effectRef>
          <a:fontRef idx="minor">
            <a:schemeClr val="tx1"/>
          </a:fontRef>
        </p:style>
      </p:cxnSp>
      <p:cxnSp>
        <p:nvCxnSpPr>
          <p:cNvPr id="62" name="Straight Arrow Connector 61"/>
          <p:cNvCxnSpPr>
            <a:cxnSpLocks/>
            <a:stCxn id="23" idx="0"/>
            <a:endCxn id="12" idx="4"/>
          </p:cNvCxnSpPr>
          <p:nvPr/>
        </p:nvCxnSpPr>
        <p:spPr bwMode="auto">
          <a:xfrm flipH="1" flipV="1">
            <a:off x="5860850" y="2819223"/>
            <a:ext cx="762000" cy="1352729"/>
          </a:xfrm>
          <a:prstGeom prst="straightConnector1">
            <a:avLst/>
          </a:prstGeom>
          <a:ln>
            <a:headEnd type="none" w="med" len="med"/>
            <a:tailEnd type="arrow"/>
          </a:ln>
        </p:spPr>
        <p:style>
          <a:lnRef idx="2">
            <a:schemeClr val="accent4"/>
          </a:lnRef>
          <a:fillRef idx="0">
            <a:schemeClr val="accent4"/>
          </a:fillRef>
          <a:effectRef idx="1">
            <a:schemeClr val="accent4"/>
          </a:effectRef>
          <a:fontRef idx="minor">
            <a:schemeClr val="tx1"/>
          </a:fontRef>
        </p:style>
      </p:cxnSp>
      <p:cxnSp>
        <p:nvCxnSpPr>
          <p:cNvPr id="66" name="Straight Arrow Connector 65"/>
          <p:cNvCxnSpPr>
            <a:cxnSpLocks/>
            <a:stCxn id="24" idx="0"/>
          </p:cNvCxnSpPr>
          <p:nvPr/>
        </p:nvCxnSpPr>
        <p:spPr bwMode="auto">
          <a:xfrm flipH="1" flipV="1">
            <a:off x="5022650" y="2800352"/>
            <a:ext cx="304800" cy="1371600"/>
          </a:xfrm>
          <a:prstGeom prst="straightConnector1">
            <a:avLst/>
          </a:prstGeom>
          <a:ln>
            <a:headEnd type="none" w="med" len="med"/>
            <a:tailEnd type="arrow"/>
          </a:ln>
        </p:spPr>
        <p:style>
          <a:lnRef idx="2">
            <a:schemeClr val="accent4"/>
          </a:lnRef>
          <a:fillRef idx="0">
            <a:schemeClr val="accent4"/>
          </a:fillRef>
          <a:effectRef idx="1">
            <a:schemeClr val="accent4"/>
          </a:effectRef>
          <a:fontRef idx="minor">
            <a:schemeClr val="tx1"/>
          </a:fontRef>
        </p:style>
      </p:cxnSp>
      <p:cxnSp>
        <p:nvCxnSpPr>
          <p:cNvPr id="69" name="Straight Arrow Connector 68"/>
          <p:cNvCxnSpPr>
            <a:cxnSpLocks/>
            <a:stCxn id="24" idx="0"/>
          </p:cNvCxnSpPr>
          <p:nvPr/>
        </p:nvCxnSpPr>
        <p:spPr bwMode="auto">
          <a:xfrm flipV="1">
            <a:off x="5327450" y="2820756"/>
            <a:ext cx="553805" cy="1351196"/>
          </a:xfrm>
          <a:prstGeom prst="straightConnector1">
            <a:avLst/>
          </a:prstGeom>
          <a:ln>
            <a:headEnd type="none" w="med" len="med"/>
            <a:tailEnd type="arrow"/>
          </a:ln>
        </p:spPr>
        <p:style>
          <a:lnRef idx="2">
            <a:schemeClr val="accent4"/>
          </a:lnRef>
          <a:fillRef idx="0">
            <a:schemeClr val="accent4"/>
          </a:fillRef>
          <a:effectRef idx="1">
            <a:schemeClr val="accent4"/>
          </a:effectRef>
          <a:fontRef idx="minor">
            <a:schemeClr val="tx1"/>
          </a:fontRef>
        </p:style>
      </p:cxnSp>
      <p:cxnSp>
        <p:nvCxnSpPr>
          <p:cNvPr id="71" name="Straight Arrow Connector 70"/>
          <p:cNvCxnSpPr>
            <a:cxnSpLocks/>
            <a:stCxn id="25" idx="0"/>
            <a:endCxn id="13" idx="4"/>
          </p:cNvCxnSpPr>
          <p:nvPr/>
        </p:nvCxnSpPr>
        <p:spPr bwMode="auto">
          <a:xfrm flipV="1">
            <a:off x="3955850" y="2819223"/>
            <a:ext cx="1066800" cy="1352729"/>
          </a:xfrm>
          <a:prstGeom prst="straightConnector1">
            <a:avLst/>
          </a:prstGeom>
          <a:ln>
            <a:headEnd type="none" w="med" len="med"/>
            <a:tailEnd type="arrow"/>
          </a:ln>
        </p:spPr>
        <p:style>
          <a:lnRef idx="2">
            <a:schemeClr val="accent4"/>
          </a:lnRef>
          <a:fillRef idx="0">
            <a:schemeClr val="accent4"/>
          </a:fillRef>
          <a:effectRef idx="1">
            <a:schemeClr val="accent4"/>
          </a:effectRef>
          <a:fontRef idx="minor">
            <a:schemeClr val="tx1"/>
          </a:fontRef>
        </p:style>
      </p:cxnSp>
      <p:cxnSp>
        <p:nvCxnSpPr>
          <p:cNvPr id="74" name="Straight Arrow Connector 73"/>
          <p:cNvCxnSpPr>
            <a:cxnSpLocks/>
            <a:endCxn id="12" idx="4"/>
          </p:cNvCxnSpPr>
          <p:nvPr/>
        </p:nvCxnSpPr>
        <p:spPr bwMode="auto">
          <a:xfrm flipV="1">
            <a:off x="3993950" y="2819223"/>
            <a:ext cx="1866900" cy="1352730"/>
          </a:xfrm>
          <a:prstGeom prst="straightConnector1">
            <a:avLst/>
          </a:prstGeom>
          <a:ln>
            <a:headEnd type="none" w="med" len="med"/>
            <a:tailEnd type="arrow"/>
          </a:ln>
        </p:spPr>
        <p:style>
          <a:lnRef idx="2">
            <a:schemeClr val="accent4"/>
          </a:lnRef>
          <a:fillRef idx="0">
            <a:schemeClr val="accent4"/>
          </a:fillRef>
          <a:effectRef idx="1">
            <a:schemeClr val="accent4"/>
          </a:effectRef>
          <a:fontRef idx="minor">
            <a:schemeClr val="tx1"/>
          </a:fontRef>
        </p:style>
      </p:cxnSp>
      <p:sp>
        <p:nvSpPr>
          <p:cNvPr id="76" name="TextBox 75"/>
          <p:cNvSpPr txBox="1"/>
          <p:nvPr/>
        </p:nvSpPr>
        <p:spPr>
          <a:xfrm>
            <a:off x="3651050" y="1428751"/>
            <a:ext cx="457200" cy="600164"/>
          </a:xfrm>
          <a:prstGeom prst="rect">
            <a:avLst/>
          </a:prstGeom>
          <a:noFill/>
        </p:spPr>
        <p:txBody>
          <a:bodyPr wrap="square" rtlCol="0">
            <a:spAutoFit/>
          </a:bodyPr>
          <a:lstStyle/>
          <a:p>
            <a:r>
              <a:rPr lang="en-US" sz="3300" dirty="0">
                <a:solidFill>
                  <a:srgbClr val="590A0E"/>
                </a:solidFill>
                <a:latin typeface="Times New Roman" panose="02020603050405020304" pitchFamily="18" charset="0"/>
                <a:cs typeface="Times New Roman" panose="02020603050405020304" pitchFamily="18" charset="0"/>
              </a:rPr>
              <a:t>U</a:t>
            </a:r>
          </a:p>
        </p:txBody>
      </p:sp>
      <p:sp>
        <p:nvSpPr>
          <p:cNvPr id="77" name="TextBox 76"/>
          <p:cNvSpPr txBox="1"/>
          <p:nvPr/>
        </p:nvSpPr>
        <p:spPr>
          <a:xfrm>
            <a:off x="2660450" y="3105151"/>
            <a:ext cx="457200" cy="600164"/>
          </a:xfrm>
          <a:prstGeom prst="rect">
            <a:avLst/>
          </a:prstGeom>
          <a:noFill/>
        </p:spPr>
        <p:txBody>
          <a:bodyPr wrap="square" rtlCol="0">
            <a:spAutoFit/>
          </a:bodyPr>
          <a:lstStyle/>
          <a:p>
            <a:r>
              <a:rPr lang="en-US" sz="3300" dirty="0">
                <a:solidFill>
                  <a:srgbClr val="590A0E"/>
                </a:solidFill>
                <a:latin typeface="Times New Roman" panose="02020603050405020304" pitchFamily="18" charset="0"/>
                <a:cs typeface="Times New Roman" panose="02020603050405020304" pitchFamily="18" charset="0"/>
              </a:rPr>
              <a:t>W</a:t>
            </a:r>
          </a:p>
        </p:txBody>
      </p:sp>
      <p:sp>
        <p:nvSpPr>
          <p:cNvPr id="83" name="TextBox 82"/>
          <p:cNvSpPr txBox="1"/>
          <p:nvPr/>
        </p:nvSpPr>
        <p:spPr>
          <a:xfrm>
            <a:off x="6469028" y="4185405"/>
            <a:ext cx="425116" cy="461665"/>
          </a:xfrm>
          <a:prstGeom prst="rect">
            <a:avLst/>
          </a:prstGeom>
          <a:noFill/>
        </p:spPr>
        <p:txBody>
          <a:bodyPr wrap="none" rtlCol="0">
            <a:spAutoFit/>
          </a:bodyPr>
          <a:lstStyle/>
          <a:p>
            <a:r>
              <a:rPr lang="en-US" sz="2400" dirty="0" err="1"/>
              <a:t>x</a:t>
            </a:r>
            <a:r>
              <a:rPr lang="en-US" sz="2400" baseline="-25000" dirty="0" err="1"/>
              <a:t>n</a:t>
            </a:r>
            <a:endParaRPr lang="en-US" sz="2400" baseline="-25000" dirty="0"/>
          </a:p>
        </p:txBody>
      </p:sp>
      <p:sp>
        <p:nvSpPr>
          <p:cNvPr id="84" name="TextBox 83"/>
          <p:cNvSpPr txBox="1"/>
          <p:nvPr/>
        </p:nvSpPr>
        <p:spPr>
          <a:xfrm>
            <a:off x="2654480" y="4185405"/>
            <a:ext cx="457200" cy="461665"/>
          </a:xfrm>
          <a:prstGeom prst="rect">
            <a:avLst/>
          </a:prstGeom>
          <a:noFill/>
        </p:spPr>
        <p:txBody>
          <a:bodyPr wrap="square" rtlCol="0">
            <a:spAutoFit/>
          </a:bodyPr>
          <a:lstStyle/>
          <a:p>
            <a:r>
              <a:rPr lang="en-US" sz="2400" dirty="0"/>
              <a:t>x</a:t>
            </a:r>
            <a:r>
              <a:rPr lang="en-US" sz="2400" baseline="-25000" dirty="0"/>
              <a:t>1</a:t>
            </a:r>
          </a:p>
        </p:txBody>
      </p:sp>
      <p:pic>
        <p:nvPicPr>
          <p:cNvPr id="86" name="Picture 85" descr="hidden.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15506" y="2240699"/>
            <a:ext cx="2899944" cy="706204"/>
          </a:xfrm>
          <a:prstGeom prst="rect">
            <a:avLst/>
          </a:prstGeom>
        </p:spPr>
      </p:pic>
      <p:sp>
        <p:nvSpPr>
          <p:cNvPr id="63" name="TextBox 62">
            <a:extLst>
              <a:ext uri="{FF2B5EF4-FFF2-40B4-BE49-F238E27FC236}">
                <a16:creationId xmlns:a16="http://schemas.microsoft.com/office/drawing/2014/main" id="{47A73503-3270-5047-A324-18EC3AE71939}"/>
              </a:ext>
            </a:extLst>
          </p:cNvPr>
          <p:cNvSpPr txBox="1"/>
          <p:nvPr/>
        </p:nvSpPr>
        <p:spPr>
          <a:xfrm>
            <a:off x="7346749" y="4171951"/>
            <a:ext cx="494046" cy="461665"/>
          </a:xfrm>
          <a:prstGeom prst="rect">
            <a:avLst/>
          </a:prstGeom>
          <a:noFill/>
        </p:spPr>
        <p:txBody>
          <a:bodyPr wrap="none" rtlCol="0">
            <a:spAutoFit/>
          </a:bodyPr>
          <a:lstStyle/>
          <a:p>
            <a:r>
              <a:rPr lang="en-US" sz="2400" dirty="0"/>
              <a:t>+1</a:t>
            </a:r>
          </a:p>
        </p:txBody>
      </p:sp>
      <p:sp>
        <p:nvSpPr>
          <p:cNvPr id="65" name="TextBox 64">
            <a:extLst>
              <a:ext uri="{FF2B5EF4-FFF2-40B4-BE49-F238E27FC236}">
                <a16:creationId xmlns:a16="http://schemas.microsoft.com/office/drawing/2014/main" id="{6A740206-0031-F941-9894-7BD986F58450}"/>
              </a:ext>
            </a:extLst>
          </p:cNvPr>
          <p:cNvSpPr txBox="1"/>
          <p:nvPr/>
        </p:nvSpPr>
        <p:spPr>
          <a:xfrm>
            <a:off x="6885569" y="3074649"/>
            <a:ext cx="457200" cy="600164"/>
          </a:xfrm>
          <a:prstGeom prst="rect">
            <a:avLst/>
          </a:prstGeom>
          <a:noFill/>
        </p:spPr>
        <p:txBody>
          <a:bodyPr wrap="square" rtlCol="0">
            <a:spAutoFit/>
          </a:bodyPr>
          <a:lstStyle/>
          <a:p>
            <a:r>
              <a:rPr lang="en-US" sz="3300" dirty="0">
                <a:solidFill>
                  <a:srgbClr val="590A0E"/>
                </a:solidFill>
                <a:latin typeface="Times New Roman" panose="02020603050405020304" pitchFamily="18" charset="0"/>
                <a:cs typeface="Times New Roman" panose="02020603050405020304" pitchFamily="18" charset="0"/>
              </a:rPr>
              <a:t>b</a:t>
            </a:r>
          </a:p>
        </p:txBody>
      </p:sp>
      <p:sp>
        <p:nvSpPr>
          <p:cNvPr id="67" name="Rectangle 66">
            <a:extLst>
              <a:ext uri="{FF2B5EF4-FFF2-40B4-BE49-F238E27FC236}">
                <a16:creationId xmlns:a16="http://schemas.microsoft.com/office/drawing/2014/main" id="{031E7A01-E260-2C41-B25E-63B79CAA2642}"/>
              </a:ext>
            </a:extLst>
          </p:cNvPr>
          <p:cNvSpPr/>
          <p:nvPr/>
        </p:nvSpPr>
        <p:spPr>
          <a:xfrm>
            <a:off x="228600" y="2313739"/>
            <a:ext cx="2310652" cy="1415772"/>
          </a:xfrm>
          <a:prstGeom prst="rect">
            <a:avLst/>
          </a:prstGeom>
        </p:spPr>
        <p:txBody>
          <a:bodyPr wrap="square">
            <a:spAutoFit/>
          </a:bodyPr>
          <a:lstStyle/>
          <a:p>
            <a:r>
              <a:rPr lang="en-US" sz="2800" dirty="0">
                <a:solidFill>
                  <a:schemeClr val="tx2"/>
                </a:solidFill>
              </a:rPr>
              <a:t>hidden units</a:t>
            </a:r>
          </a:p>
          <a:p>
            <a:r>
              <a:rPr lang="en-US" sz="3000" dirty="0">
                <a:solidFill>
                  <a:schemeClr val="tx2"/>
                </a:solidFill>
              </a:rPr>
              <a:t>(</a:t>
            </a:r>
            <a:r>
              <a:rPr lang="en-US" sz="3000" dirty="0" err="1"/>
              <a:t>σ</a:t>
            </a:r>
            <a:r>
              <a:rPr lang="en-US" sz="3000" dirty="0"/>
              <a:t> node)</a:t>
            </a:r>
            <a:endParaRPr lang="en-US" sz="3000" dirty="0">
              <a:solidFill>
                <a:schemeClr val="tx2"/>
              </a:solidFill>
            </a:endParaRPr>
          </a:p>
          <a:p>
            <a:endParaRPr lang="en-US" sz="2800" dirty="0">
              <a:solidFill>
                <a:schemeClr val="tx2"/>
              </a:solidFill>
            </a:endParaRPr>
          </a:p>
        </p:txBody>
      </p:sp>
      <p:sp>
        <p:nvSpPr>
          <p:cNvPr id="68" name="Rectangle 67">
            <a:extLst>
              <a:ext uri="{FF2B5EF4-FFF2-40B4-BE49-F238E27FC236}">
                <a16:creationId xmlns:a16="http://schemas.microsoft.com/office/drawing/2014/main" id="{051FF81C-65CD-2B4F-9F91-12D9F01F2E24}"/>
              </a:ext>
            </a:extLst>
          </p:cNvPr>
          <p:cNvSpPr/>
          <p:nvPr/>
        </p:nvSpPr>
        <p:spPr>
          <a:xfrm>
            <a:off x="229559" y="3871202"/>
            <a:ext cx="2310652" cy="954107"/>
          </a:xfrm>
          <a:prstGeom prst="rect">
            <a:avLst/>
          </a:prstGeom>
        </p:spPr>
        <p:txBody>
          <a:bodyPr wrap="square">
            <a:spAutoFit/>
          </a:bodyPr>
          <a:lstStyle/>
          <a:p>
            <a:r>
              <a:rPr lang="en-US" sz="2800" dirty="0">
                <a:solidFill>
                  <a:schemeClr val="tx2"/>
                </a:solidFill>
              </a:rPr>
              <a:t>Input layer</a:t>
            </a:r>
          </a:p>
          <a:p>
            <a:r>
              <a:rPr lang="en-US" sz="2800" dirty="0">
                <a:solidFill>
                  <a:schemeClr val="tx2"/>
                </a:solidFill>
              </a:rPr>
              <a:t>(vector)</a:t>
            </a:r>
          </a:p>
        </p:txBody>
      </p:sp>
      <p:sp>
        <p:nvSpPr>
          <p:cNvPr id="70" name="TextBox 69">
            <a:extLst>
              <a:ext uri="{FF2B5EF4-FFF2-40B4-BE49-F238E27FC236}">
                <a16:creationId xmlns:a16="http://schemas.microsoft.com/office/drawing/2014/main" id="{F8E38296-91BA-464D-AF54-680F455128CB}"/>
              </a:ext>
            </a:extLst>
          </p:cNvPr>
          <p:cNvSpPr txBox="1"/>
          <p:nvPr/>
        </p:nvSpPr>
        <p:spPr>
          <a:xfrm>
            <a:off x="359163" y="977138"/>
            <a:ext cx="2071739" cy="953466"/>
          </a:xfrm>
          <a:prstGeom prst="rect">
            <a:avLst/>
          </a:prstGeom>
          <a:noFill/>
        </p:spPr>
        <p:txBody>
          <a:bodyPr wrap="square" rtlCol="0">
            <a:spAutoFit/>
          </a:bodyPr>
          <a:lstStyle/>
          <a:p>
            <a:r>
              <a:rPr lang="en-US" sz="2798" dirty="0">
                <a:solidFill>
                  <a:schemeClr val="tx2"/>
                </a:solidFill>
              </a:rPr>
              <a:t>Output layer</a:t>
            </a:r>
          </a:p>
          <a:p>
            <a:r>
              <a:rPr lang="en-US" sz="2798" dirty="0">
                <a:solidFill>
                  <a:schemeClr val="tx2"/>
                </a:solidFill>
              </a:rPr>
              <a:t>(</a:t>
            </a:r>
            <a:r>
              <a:rPr lang="en-US" sz="2798" dirty="0" err="1"/>
              <a:t>σ</a:t>
            </a:r>
            <a:r>
              <a:rPr lang="en-US" sz="2798" dirty="0"/>
              <a:t> node)</a:t>
            </a:r>
            <a:endParaRPr lang="en-US" sz="2798" dirty="0">
              <a:solidFill>
                <a:schemeClr val="tx2"/>
              </a:solidFill>
            </a:endParaRPr>
          </a:p>
        </p:txBody>
      </p:sp>
      <p:sp>
        <p:nvSpPr>
          <p:cNvPr id="45" name="TextBox 44">
            <a:extLst>
              <a:ext uri="{FF2B5EF4-FFF2-40B4-BE49-F238E27FC236}">
                <a16:creationId xmlns:a16="http://schemas.microsoft.com/office/drawing/2014/main" id="{63A85ED4-29F5-D149-A092-A3FF69EDF5CE}"/>
              </a:ext>
            </a:extLst>
          </p:cNvPr>
          <p:cNvSpPr txBox="1"/>
          <p:nvPr/>
        </p:nvSpPr>
        <p:spPr>
          <a:xfrm>
            <a:off x="7842051" y="2946903"/>
            <a:ext cx="954107" cy="404085"/>
          </a:xfrm>
          <a:prstGeom prst="rect">
            <a:avLst/>
          </a:prstGeom>
          <a:noFill/>
        </p:spPr>
        <p:txBody>
          <a:bodyPr wrap="none" rtlCol="0">
            <a:spAutoFit/>
          </a:bodyPr>
          <a:lstStyle/>
          <a:p>
            <a:r>
              <a:rPr lang="en-US" sz="1013" dirty="0"/>
              <a:t>Could be </a:t>
            </a:r>
            <a:r>
              <a:rPr lang="en-US" sz="1013" dirty="0" err="1"/>
              <a:t>ReLU</a:t>
            </a:r>
            <a:endParaRPr lang="en-US" sz="1013" dirty="0"/>
          </a:p>
          <a:p>
            <a:r>
              <a:rPr lang="en-US" sz="1013" dirty="0"/>
              <a:t>Or tanh</a:t>
            </a:r>
          </a:p>
        </p:txBody>
      </p:sp>
      <p:sp>
        <p:nvSpPr>
          <p:cNvPr id="47" name="Rectangle 46">
            <a:extLst>
              <a:ext uri="{FF2B5EF4-FFF2-40B4-BE49-F238E27FC236}">
                <a16:creationId xmlns:a16="http://schemas.microsoft.com/office/drawing/2014/main" id="{19180CD7-C0F1-7349-92BB-29F1391BCFD2}"/>
              </a:ext>
            </a:extLst>
          </p:cNvPr>
          <p:cNvSpPr/>
          <p:nvPr/>
        </p:nvSpPr>
        <p:spPr>
          <a:xfrm>
            <a:off x="7384023" y="1487908"/>
            <a:ext cx="2310652" cy="523220"/>
          </a:xfrm>
          <a:prstGeom prst="rect">
            <a:avLst/>
          </a:prstGeom>
        </p:spPr>
        <p:txBody>
          <a:bodyPr wrap="square">
            <a:spAutoFit/>
          </a:bodyPr>
          <a:lstStyle/>
          <a:p>
            <a:r>
              <a:rPr lang="en-US" sz="2800" dirty="0">
                <a:solidFill>
                  <a:schemeClr val="tx2"/>
                </a:solidFill>
              </a:rPr>
              <a:t>y is a vector</a:t>
            </a:r>
          </a:p>
        </p:txBody>
      </p:sp>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B15D61C3-8105-DE47-94D9-A3650463975A}"/>
                  </a:ext>
                </a:extLst>
              </p:cNvPr>
              <p:cNvSpPr txBox="1"/>
              <p:nvPr/>
            </p:nvSpPr>
            <p:spPr>
              <a:xfrm>
                <a:off x="5913850" y="1313851"/>
                <a:ext cx="1246303" cy="46166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sz="3000">
                          <a:latin typeface="Cambria Math" panose="02040503050406030204" pitchFamily="18" charset="0"/>
                        </a:rPr>
                        <m:t>z</m:t>
                      </m:r>
                      <m:r>
                        <a:rPr lang="en-US" sz="3000" i="1">
                          <a:latin typeface="Cambria Math" panose="02040503050406030204" pitchFamily="18" charset="0"/>
                        </a:rPr>
                        <m:t>=</m:t>
                      </m:r>
                      <m:r>
                        <a:rPr lang="en-US" sz="3000" i="1">
                          <a:latin typeface="Cambria Math" panose="02040503050406030204" pitchFamily="18" charset="0"/>
                        </a:rPr>
                        <m:t>𝑈h</m:t>
                      </m:r>
                    </m:oMath>
                  </m:oMathPara>
                </a14:m>
                <a:endParaRPr lang="en-US" sz="3000" dirty="0"/>
              </a:p>
            </p:txBody>
          </p:sp>
        </mc:Choice>
        <mc:Fallback xmlns="">
          <p:sp>
            <p:nvSpPr>
              <p:cNvPr id="48" name="TextBox 47">
                <a:extLst>
                  <a:ext uri="{FF2B5EF4-FFF2-40B4-BE49-F238E27FC236}">
                    <a16:creationId xmlns:a16="http://schemas.microsoft.com/office/drawing/2014/main" id="{B15D61C3-8105-DE47-94D9-A3650463975A}"/>
                  </a:ext>
                </a:extLst>
              </p:cNvPr>
              <p:cNvSpPr txBox="1">
                <a:spLocks noRot="1" noChangeAspect="1" noMove="1" noResize="1" noEditPoints="1" noAdjustHandles="1" noChangeArrowheads="1" noChangeShapeType="1" noTextEdit="1"/>
              </p:cNvSpPr>
              <p:nvPr/>
            </p:nvSpPr>
            <p:spPr>
              <a:xfrm>
                <a:off x="5913850" y="1313851"/>
                <a:ext cx="1246303" cy="461665"/>
              </a:xfrm>
              <a:prstGeom prst="rect">
                <a:avLst/>
              </a:prstGeom>
              <a:blipFill>
                <a:blip r:embed="rId4"/>
                <a:stretch>
                  <a:fillRect l="-3030" r="-7071" b="-810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65BE0589-CBC0-6947-B195-A9C9927017D7}"/>
                  </a:ext>
                </a:extLst>
              </p:cNvPr>
              <p:cNvSpPr txBox="1"/>
              <p:nvPr/>
            </p:nvSpPr>
            <p:spPr>
              <a:xfrm>
                <a:off x="5906753" y="885680"/>
                <a:ext cx="2631490" cy="46166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3000" i="1">
                          <a:latin typeface="Cambria Math" panose="02040503050406030204" pitchFamily="18" charset="0"/>
                        </a:rPr>
                        <m:t>𝑦</m:t>
                      </m:r>
                      <m:r>
                        <a:rPr lang="en-US" sz="3000" i="1">
                          <a:latin typeface="Cambria Math" panose="02040503050406030204" pitchFamily="18" charset="0"/>
                        </a:rPr>
                        <m:t>=</m:t>
                      </m:r>
                      <m:r>
                        <m:rPr>
                          <m:nor/>
                        </m:rPr>
                        <a:rPr lang="en-US" sz="3000">
                          <a:latin typeface="Cambria Math" panose="02040503050406030204" pitchFamily="18" charset="0"/>
                        </a:rPr>
                        <m:t>softmax</m:t>
                      </m:r>
                      <m:r>
                        <a:rPr lang="en-US" sz="3000" i="1">
                          <a:latin typeface="Cambria Math" panose="02040503050406030204" pitchFamily="18" charset="0"/>
                          <a:ea typeface="Cambria Math" panose="02040503050406030204" pitchFamily="18" charset="0"/>
                        </a:rPr>
                        <m:t>(</m:t>
                      </m:r>
                      <m:r>
                        <a:rPr lang="en-US" sz="3000" i="1">
                          <a:latin typeface="Cambria Math" panose="02040503050406030204" pitchFamily="18" charset="0"/>
                          <a:ea typeface="Cambria Math" panose="02040503050406030204" pitchFamily="18" charset="0"/>
                        </a:rPr>
                        <m:t>𝑧</m:t>
                      </m:r>
                      <m:r>
                        <a:rPr lang="en-US" sz="3000" i="1">
                          <a:latin typeface="Cambria Math" panose="02040503050406030204" pitchFamily="18" charset="0"/>
                          <a:ea typeface="Cambria Math" panose="02040503050406030204" pitchFamily="18" charset="0"/>
                        </a:rPr>
                        <m:t>)</m:t>
                      </m:r>
                    </m:oMath>
                  </m:oMathPara>
                </a14:m>
                <a:endParaRPr lang="en-US" sz="3000" dirty="0"/>
              </a:p>
            </p:txBody>
          </p:sp>
        </mc:Choice>
        <mc:Fallback xmlns="">
          <p:sp>
            <p:nvSpPr>
              <p:cNvPr id="50" name="TextBox 49">
                <a:extLst>
                  <a:ext uri="{FF2B5EF4-FFF2-40B4-BE49-F238E27FC236}">
                    <a16:creationId xmlns:a16="http://schemas.microsoft.com/office/drawing/2014/main" id="{65BE0589-CBC0-6947-B195-A9C9927017D7}"/>
                  </a:ext>
                </a:extLst>
              </p:cNvPr>
              <p:cNvSpPr txBox="1">
                <a:spLocks noRot="1" noChangeAspect="1" noMove="1" noResize="1" noEditPoints="1" noAdjustHandles="1" noChangeArrowheads="1" noChangeShapeType="1" noTextEdit="1"/>
              </p:cNvSpPr>
              <p:nvPr/>
            </p:nvSpPr>
            <p:spPr>
              <a:xfrm>
                <a:off x="5906753" y="885680"/>
                <a:ext cx="2631490" cy="461665"/>
              </a:xfrm>
              <a:prstGeom prst="rect">
                <a:avLst/>
              </a:prstGeom>
              <a:blipFill>
                <a:blip r:embed="rId5"/>
                <a:stretch>
                  <a:fillRect l="-2885" r="-4808" b="-34211"/>
                </a:stretch>
              </a:blipFill>
            </p:spPr>
            <p:txBody>
              <a:bodyPr/>
              <a:lstStyle/>
              <a:p>
                <a:r>
                  <a:rPr lang="en-US">
                    <a:noFill/>
                  </a:rPr>
                  <a:t> </a:t>
                </a:r>
              </a:p>
            </p:txBody>
          </p:sp>
        </mc:Fallback>
      </mc:AlternateContent>
      <p:sp>
        <p:nvSpPr>
          <p:cNvPr id="53" name="Oval 52">
            <a:extLst>
              <a:ext uri="{FF2B5EF4-FFF2-40B4-BE49-F238E27FC236}">
                <a16:creationId xmlns:a16="http://schemas.microsoft.com/office/drawing/2014/main" id="{69A50801-8A84-B84D-8138-8211CCA5D932}"/>
              </a:ext>
            </a:extLst>
          </p:cNvPr>
          <p:cNvSpPr/>
          <p:nvPr/>
        </p:nvSpPr>
        <p:spPr bwMode="auto">
          <a:xfrm>
            <a:off x="5184294" y="931598"/>
            <a:ext cx="457200" cy="476071"/>
          </a:xfrm>
          <a:prstGeom prst="ellipse">
            <a:avLst/>
          </a:prstGeom>
          <a:solidFill>
            <a:srgbClr val="FF660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defTabSz="914355" fontAlgn="base">
              <a:spcBef>
                <a:spcPct val="0"/>
              </a:spcBef>
              <a:spcAft>
                <a:spcPct val="0"/>
              </a:spcAft>
            </a:pPr>
            <a:endParaRPr lang="en-US" sz="1600">
              <a:solidFill>
                <a:srgbClr val="009900"/>
              </a:solidFill>
              <a:latin typeface="Tahoma" charset="0"/>
            </a:endParaRPr>
          </a:p>
        </p:txBody>
      </p:sp>
      <p:cxnSp>
        <p:nvCxnSpPr>
          <p:cNvPr id="57" name="Straight Arrow Connector 56">
            <a:extLst>
              <a:ext uri="{FF2B5EF4-FFF2-40B4-BE49-F238E27FC236}">
                <a16:creationId xmlns:a16="http://schemas.microsoft.com/office/drawing/2014/main" id="{B677DE17-FD57-FF4A-99BC-C42B0AD8BFAB}"/>
              </a:ext>
            </a:extLst>
          </p:cNvPr>
          <p:cNvCxnSpPr>
            <a:cxnSpLocks/>
            <a:stCxn id="13" idx="0"/>
            <a:endCxn id="53" idx="4"/>
          </p:cNvCxnSpPr>
          <p:nvPr/>
        </p:nvCxnSpPr>
        <p:spPr bwMode="auto">
          <a:xfrm flipV="1">
            <a:off x="5022650" y="1407669"/>
            <a:ext cx="390244" cy="935483"/>
          </a:xfrm>
          <a:prstGeom prst="straightConnector1">
            <a:avLst/>
          </a:prstGeom>
          <a:ln>
            <a:headEnd type="none" w="med" len="med"/>
            <a:tailEnd type="arrow"/>
          </a:ln>
        </p:spPr>
        <p:style>
          <a:lnRef idx="2">
            <a:schemeClr val="accent4"/>
          </a:lnRef>
          <a:fillRef idx="0">
            <a:schemeClr val="accent4"/>
          </a:fillRef>
          <a:effectRef idx="1">
            <a:schemeClr val="accent4"/>
          </a:effectRef>
          <a:fontRef idx="minor">
            <a:schemeClr val="tx1"/>
          </a:fontRef>
        </p:style>
      </p:cxnSp>
      <p:cxnSp>
        <p:nvCxnSpPr>
          <p:cNvPr id="58" name="Straight Arrow Connector 57">
            <a:extLst>
              <a:ext uri="{FF2B5EF4-FFF2-40B4-BE49-F238E27FC236}">
                <a16:creationId xmlns:a16="http://schemas.microsoft.com/office/drawing/2014/main" id="{95F516B0-3EF1-6641-A411-457052DD87E6}"/>
              </a:ext>
            </a:extLst>
          </p:cNvPr>
          <p:cNvCxnSpPr>
            <a:cxnSpLocks/>
            <a:stCxn id="12" idx="0"/>
            <a:endCxn id="53" idx="4"/>
          </p:cNvCxnSpPr>
          <p:nvPr/>
        </p:nvCxnSpPr>
        <p:spPr bwMode="auto">
          <a:xfrm flipH="1" flipV="1">
            <a:off x="5412894" y="1407669"/>
            <a:ext cx="447956" cy="935483"/>
          </a:xfrm>
          <a:prstGeom prst="straightConnector1">
            <a:avLst/>
          </a:prstGeom>
          <a:ln>
            <a:headEnd type="none" w="med" len="med"/>
            <a:tailEnd type="arrow"/>
          </a:ln>
        </p:spPr>
        <p:style>
          <a:lnRef idx="2">
            <a:schemeClr val="accent4"/>
          </a:lnRef>
          <a:fillRef idx="0">
            <a:schemeClr val="accent4"/>
          </a:fillRef>
          <a:effectRef idx="1">
            <a:schemeClr val="accent4"/>
          </a:effectRef>
          <a:fontRef idx="minor">
            <a:schemeClr val="tx1"/>
          </a:fontRef>
        </p:style>
      </p:cxnSp>
      <p:cxnSp>
        <p:nvCxnSpPr>
          <p:cNvPr id="59" name="Straight Arrow Connector 58">
            <a:extLst>
              <a:ext uri="{FF2B5EF4-FFF2-40B4-BE49-F238E27FC236}">
                <a16:creationId xmlns:a16="http://schemas.microsoft.com/office/drawing/2014/main" id="{87057FCD-2BE5-0B40-AFE1-5103DDFC4C0B}"/>
              </a:ext>
            </a:extLst>
          </p:cNvPr>
          <p:cNvCxnSpPr>
            <a:cxnSpLocks/>
            <a:stCxn id="9" idx="7"/>
            <a:endCxn id="53" idx="4"/>
          </p:cNvCxnSpPr>
          <p:nvPr/>
        </p:nvCxnSpPr>
        <p:spPr bwMode="auto">
          <a:xfrm flipV="1">
            <a:off x="4346095" y="1407669"/>
            <a:ext cx="1066799" cy="1005202"/>
          </a:xfrm>
          <a:prstGeom prst="straightConnector1">
            <a:avLst/>
          </a:prstGeom>
          <a:ln>
            <a:headEnd type="none" w="med" len="med"/>
            <a:tailEnd type="arrow"/>
          </a:ln>
        </p:spPr>
        <p:style>
          <a:lnRef idx="2">
            <a:schemeClr val="accent4"/>
          </a:lnRef>
          <a:fillRef idx="0">
            <a:schemeClr val="accent4"/>
          </a:fillRef>
          <a:effectRef idx="1">
            <a:schemeClr val="accent4"/>
          </a:effectRef>
          <a:fontRef idx="minor">
            <a:schemeClr val="tx1"/>
          </a:fontRef>
        </p:style>
      </p:cxnSp>
    </p:spTree>
    <p:extLst>
      <p:ext uri="{BB962C8B-B14F-4D97-AF65-F5344CB8AC3E}">
        <p14:creationId xmlns:p14="http://schemas.microsoft.com/office/powerpoint/2010/main" val="143578052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normAutofit fontScale="90000"/>
          </a:bodyPr>
          <a:lstStyle/>
          <a:p>
            <a:r>
              <a:rPr lang="en-US" sz="3000" dirty="0">
                <a:solidFill>
                  <a:schemeClr val="bg1"/>
                </a:solidFill>
                <a:ea typeface="Franklin Gothic Book" charset="0"/>
                <a:cs typeface="Franklin Gothic Book" charset="0"/>
              </a:rPr>
              <a:t>Simple Neural Networks and Neural Language Models</a:t>
            </a:r>
            <a:endParaRPr lang="en-US" sz="3000" dirty="0">
              <a:solidFill>
                <a:schemeClr val="bg1"/>
              </a:solidFill>
            </a:endParaRPr>
          </a:p>
        </p:txBody>
      </p:sp>
      <p:sp>
        <p:nvSpPr>
          <p:cNvPr id="3" name="Subtitle 2"/>
          <p:cNvSpPr>
            <a:spLocks noGrp="1"/>
          </p:cNvSpPr>
          <p:nvPr>
            <p:ph idx="1"/>
          </p:nvPr>
        </p:nvSpPr>
        <p:spPr/>
        <p:txBody>
          <a:bodyPr>
            <a:normAutofit/>
          </a:bodyPr>
          <a:lstStyle/>
          <a:p>
            <a:r>
              <a:rPr lang="en-US" sz="3000" dirty="0">
                <a:solidFill>
                  <a:schemeClr val="tx2"/>
                </a:solidFill>
              </a:rPr>
              <a:t>Training Neural Nets: Overview</a:t>
            </a:r>
          </a:p>
        </p:txBody>
      </p:sp>
      <p:sp>
        <p:nvSpPr>
          <p:cNvPr id="4" name="Text Placeholder 3">
            <a:extLst>
              <a:ext uri="{FF2B5EF4-FFF2-40B4-BE49-F238E27FC236}">
                <a16:creationId xmlns:a16="http://schemas.microsoft.com/office/drawing/2014/main" id="{7CDFEBC3-8FF0-D643-8A81-9E0AA29FBABE}"/>
              </a:ext>
            </a:extLst>
          </p:cNvPr>
          <p:cNvSpPr>
            <a:spLocks noGrp="1"/>
          </p:cNvSpPr>
          <p:nvPr>
            <p:ph type="body" sz="half" idx="2"/>
          </p:nvPr>
        </p:nvSpPr>
        <p:spPr/>
        <p:txBody>
          <a:bodyPr/>
          <a:lstStyle/>
          <a:p>
            <a:endParaRPr lang="en-US"/>
          </a:p>
        </p:txBody>
      </p:sp>
    </p:spTree>
    <p:extLst>
      <p:ext uri="{BB962C8B-B14F-4D97-AF65-F5344CB8AC3E}">
        <p14:creationId xmlns:p14="http://schemas.microsoft.com/office/powerpoint/2010/main" val="1563678484"/>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2" y="0"/>
            <a:ext cx="8153399" cy="800100"/>
          </a:xfrm>
        </p:spPr>
        <p:txBody>
          <a:bodyPr/>
          <a:lstStyle/>
          <a:p>
            <a:r>
              <a:rPr lang="en-US" b="0" dirty="0"/>
              <a:t>Intuition: training a 2-layer Network</a:t>
            </a:r>
          </a:p>
        </p:txBody>
      </p:sp>
      <p:sp>
        <p:nvSpPr>
          <p:cNvPr id="6" name="Slide Number Placeholder 5"/>
          <p:cNvSpPr>
            <a:spLocks noGrp="1"/>
          </p:cNvSpPr>
          <p:nvPr>
            <p:ph type="sldNum" sz="quarter" idx="12"/>
          </p:nvPr>
        </p:nvSpPr>
        <p:spPr/>
        <p:txBody>
          <a:bodyPr/>
          <a:lstStyle/>
          <a:p>
            <a:pPr>
              <a:defRPr/>
            </a:pPr>
            <a:fld id="{713DD8BE-556E-3440-9013-11CC5588178D}" type="slidenum">
              <a:rPr lang="en-US" smtClean="0"/>
              <a:pPr>
                <a:defRPr/>
              </a:pPr>
              <a:t>28</a:t>
            </a:fld>
            <a:endParaRPr lang="en-US"/>
          </a:p>
        </p:txBody>
      </p:sp>
      <p:sp>
        <p:nvSpPr>
          <p:cNvPr id="8" name="Oval 7"/>
          <p:cNvSpPr/>
          <p:nvPr/>
        </p:nvSpPr>
        <p:spPr bwMode="auto">
          <a:xfrm>
            <a:off x="3908121" y="3158156"/>
            <a:ext cx="274441" cy="476071"/>
          </a:xfrm>
          <a:prstGeom prst="ellipse">
            <a:avLst/>
          </a:prstGeom>
          <a:no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defTabSz="914355" fontAlgn="base">
              <a:spcBef>
                <a:spcPct val="0"/>
              </a:spcBef>
              <a:spcAft>
                <a:spcPct val="0"/>
              </a:spcAft>
            </a:pPr>
            <a:endParaRPr lang="en-US" sz="1600">
              <a:solidFill>
                <a:srgbClr val="009900"/>
              </a:solidFill>
              <a:latin typeface="Tahoma" charset="0"/>
            </a:endParaRPr>
          </a:p>
        </p:txBody>
      </p:sp>
      <p:sp>
        <p:nvSpPr>
          <p:cNvPr id="9" name="Oval 8"/>
          <p:cNvSpPr/>
          <p:nvPr/>
        </p:nvSpPr>
        <p:spPr bwMode="auto">
          <a:xfrm>
            <a:off x="3578789" y="2877239"/>
            <a:ext cx="493995" cy="476071"/>
          </a:xfrm>
          <a:prstGeom prst="ellipse">
            <a:avLst/>
          </a:prstGeom>
          <a:solidFill>
            <a:srgbClr val="FF660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defTabSz="914355" fontAlgn="base">
              <a:spcBef>
                <a:spcPct val="0"/>
              </a:spcBef>
              <a:spcAft>
                <a:spcPct val="0"/>
              </a:spcAft>
            </a:pPr>
            <a:endParaRPr lang="en-US" sz="1600">
              <a:solidFill>
                <a:srgbClr val="009900"/>
              </a:solidFill>
              <a:latin typeface="Tahoma" charset="0"/>
            </a:endParaRPr>
          </a:p>
        </p:txBody>
      </p:sp>
      <p:sp>
        <p:nvSpPr>
          <p:cNvPr id="10" name="Oval 9"/>
          <p:cNvSpPr/>
          <p:nvPr/>
        </p:nvSpPr>
        <p:spPr bwMode="auto">
          <a:xfrm>
            <a:off x="3908120" y="1809752"/>
            <a:ext cx="493995" cy="476071"/>
          </a:xfrm>
          <a:prstGeom prst="ellipse">
            <a:avLst/>
          </a:prstGeom>
          <a:solidFill>
            <a:srgbClr val="FF660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defTabSz="914355" fontAlgn="base">
              <a:spcBef>
                <a:spcPct val="0"/>
              </a:spcBef>
              <a:spcAft>
                <a:spcPct val="0"/>
              </a:spcAft>
            </a:pPr>
            <a:endParaRPr lang="en-US" sz="1600">
              <a:solidFill>
                <a:srgbClr val="009900"/>
              </a:solidFill>
              <a:latin typeface="Tahoma" charset="0"/>
            </a:endParaRPr>
          </a:p>
        </p:txBody>
      </p:sp>
      <p:sp>
        <p:nvSpPr>
          <p:cNvPr id="12" name="Oval 11"/>
          <p:cNvSpPr/>
          <p:nvPr/>
        </p:nvSpPr>
        <p:spPr bwMode="auto">
          <a:xfrm>
            <a:off x="4786331" y="2877239"/>
            <a:ext cx="493995" cy="476071"/>
          </a:xfrm>
          <a:prstGeom prst="ellipse">
            <a:avLst/>
          </a:prstGeom>
          <a:solidFill>
            <a:srgbClr val="FF660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defTabSz="914355" fontAlgn="base">
              <a:spcBef>
                <a:spcPct val="0"/>
              </a:spcBef>
              <a:spcAft>
                <a:spcPct val="0"/>
              </a:spcAft>
            </a:pPr>
            <a:endParaRPr lang="en-US" sz="1600">
              <a:solidFill>
                <a:srgbClr val="009900"/>
              </a:solidFill>
              <a:latin typeface="Tahoma" charset="0"/>
            </a:endParaRPr>
          </a:p>
        </p:txBody>
      </p:sp>
      <p:sp>
        <p:nvSpPr>
          <p:cNvPr id="13" name="Oval 12"/>
          <p:cNvSpPr/>
          <p:nvPr/>
        </p:nvSpPr>
        <p:spPr bwMode="auto">
          <a:xfrm>
            <a:off x="4182560" y="2877239"/>
            <a:ext cx="493995" cy="476071"/>
          </a:xfrm>
          <a:prstGeom prst="ellipse">
            <a:avLst/>
          </a:prstGeom>
          <a:solidFill>
            <a:srgbClr val="FF660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defTabSz="914355" fontAlgn="base">
              <a:spcBef>
                <a:spcPct val="0"/>
              </a:spcBef>
              <a:spcAft>
                <a:spcPct val="0"/>
              </a:spcAft>
            </a:pPr>
            <a:endParaRPr lang="en-US" sz="1600">
              <a:solidFill>
                <a:srgbClr val="009900"/>
              </a:solidFill>
              <a:latin typeface="Tahoma" charset="0"/>
            </a:endParaRPr>
          </a:p>
        </p:txBody>
      </p:sp>
      <p:cxnSp>
        <p:nvCxnSpPr>
          <p:cNvPr id="14" name="Straight Arrow Connector 13"/>
          <p:cNvCxnSpPr>
            <a:cxnSpLocks/>
            <a:stCxn id="9" idx="0"/>
            <a:endCxn id="10" idx="3"/>
          </p:cNvCxnSpPr>
          <p:nvPr/>
        </p:nvCxnSpPr>
        <p:spPr bwMode="auto">
          <a:xfrm flipV="1">
            <a:off x="3825787" y="2216104"/>
            <a:ext cx="154677" cy="661135"/>
          </a:xfrm>
          <a:prstGeom prst="straightConnector1">
            <a:avLst/>
          </a:prstGeom>
          <a:noFill/>
          <a:ln w="9525" cap="flat" cmpd="sng" algn="ctr">
            <a:noFill/>
            <a:prstDash val="solid"/>
            <a:round/>
            <a:headEnd type="none" w="med" len="med"/>
            <a:tailEnd type="arrow"/>
          </a:ln>
          <a:effectLst/>
        </p:spPr>
      </p:cxnSp>
      <p:cxnSp>
        <p:nvCxnSpPr>
          <p:cNvPr id="15" name="Straight Arrow Connector 14"/>
          <p:cNvCxnSpPr>
            <a:cxnSpLocks/>
            <a:stCxn id="13" idx="0"/>
            <a:endCxn id="10" idx="4"/>
          </p:cNvCxnSpPr>
          <p:nvPr/>
        </p:nvCxnSpPr>
        <p:spPr bwMode="auto">
          <a:xfrm flipH="1" flipV="1">
            <a:off x="4155118" y="2285823"/>
            <a:ext cx="274440" cy="591416"/>
          </a:xfrm>
          <a:prstGeom prst="straightConnector1">
            <a:avLst/>
          </a:prstGeom>
          <a:noFill/>
          <a:ln w="9525" cap="flat" cmpd="sng" algn="ctr">
            <a:solidFill>
              <a:schemeClr val="tx1"/>
            </a:solidFill>
            <a:prstDash val="solid"/>
            <a:round/>
            <a:headEnd type="none" w="med" len="med"/>
            <a:tailEnd type="arrow"/>
          </a:ln>
          <a:effectLst/>
        </p:spPr>
      </p:cxnSp>
      <p:cxnSp>
        <p:nvCxnSpPr>
          <p:cNvPr id="16" name="Straight Arrow Connector 15"/>
          <p:cNvCxnSpPr>
            <a:cxnSpLocks/>
            <a:stCxn id="12" idx="0"/>
            <a:endCxn id="10" idx="4"/>
          </p:cNvCxnSpPr>
          <p:nvPr/>
        </p:nvCxnSpPr>
        <p:spPr bwMode="auto">
          <a:xfrm flipH="1" flipV="1">
            <a:off x="4155118" y="2285823"/>
            <a:ext cx="878211" cy="591416"/>
          </a:xfrm>
          <a:prstGeom prst="straightConnector1">
            <a:avLst/>
          </a:prstGeom>
          <a:noFill/>
          <a:ln w="9525" cap="flat" cmpd="sng" algn="ctr">
            <a:solidFill>
              <a:schemeClr val="tx1"/>
            </a:solidFill>
            <a:prstDash val="solid"/>
            <a:round/>
            <a:headEnd type="none" w="med" len="med"/>
            <a:tailEnd type="arrow"/>
          </a:ln>
          <a:effectLst/>
        </p:spPr>
      </p:cxnSp>
      <p:cxnSp>
        <p:nvCxnSpPr>
          <p:cNvPr id="18" name="Straight Arrow Connector 17"/>
          <p:cNvCxnSpPr>
            <a:cxnSpLocks/>
            <a:stCxn id="9" idx="7"/>
            <a:endCxn id="10" idx="4"/>
          </p:cNvCxnSpPr>
          <p:nvPr/>
        </p:nvCxnSpPr>
        <p:spPr bwMode="auto">
          <a:xfrm flipV="1">
            <a:off x="4000440" y="2285823"/>
            <a:ext cx="154678" cy="661135"/>
          </a:xfrm>
          <a:prstGeom prst="straightConnector1">
            <a:avLst/>
          </a:prstGeom>
          <a:noFill/>
          <a:ln w="9525" cap="flat" cmpd="sng" algn="ctr">
            <a:solidFill>
              <a:schemeClr val="tx1"/>
            </a:solidFill>
            <a:prstDash val="solid"/>
            <a:round/>
            <a:headEnd type="none" w="med" len="med"/>
            <a:tailEnd type="arrow"/>
          </a:ln>
          <a:effectLst/>
        </p:spPr>
      </p:cxnSp>
      <p:sp>
        <p:nvSpPr>
          <p:cNvPr id="20" name="Oval 19"/>
          <p:cNvSpPr/>
          <p:nvPr/>
        </p:nvSpPr>
        <p:spPr bwMode="auto">
          <a:xfrm>
            <a:off x="4182562" y="4506561"/>
            <a:ext cx="274441" cy="476071"/>
          </a:xfrm>
          <a:prstGeom prst="ellipse">
            <a:avLst/>
          </a:prstGeom>
          <a:no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defTabSz="914355" fontAlgn="base">
              <a:spcBef>
                <a:spcPct val="0"/>
              </a:spcBef>
              <a:spcAft>
                <a:spcPct val="0"/>
              </a:spcAft>
            </a:pPr>
            <a:endParaRPr lang="en-US" sz="1600">
              <a:solidFill>
                <a:srgbClr val="009900"/>
              </a:solidFill>
              <a:latin typeface="Tahoma" charset="0"/>
            </a:endParaRPr>
          </a:p>
        </p:txBody>
      </p:sp>
      <p:sp>
        <p:nvSpPr>
          <p:cNvPr id="21" name="Oval 20"/>
          <p:cNvSpPr/>
          <p:nvPr/>
        </p:nvSpPr>
        <p:spPr bwMode="auto">
          <a:xfrm>
            <a:off x="2590801" y="4225643"/>
            <a:ext cx="493995" cy="476071"/>
          </a:xfrm>
          <a:prstGeom prst="ellipse">
            <a:avLst/>
          </a:prstGeom>
          <a:solidFill>
            <a:srgbClr val="FF660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defTabSz="914355" fontAlgn="base">
              <a:spcBef>
                <a:spcPct val="0"/>
              </a:spcBef>
              <a:spcAft>
                <a:spcPct val="0"/>
              </a:spcAft>
            </a:pPr>
            <a:endParaRPr lang="en-US" sz="1600">
              <a:solidFill>
                <a:srgbClr val="009900"/>
              </a:solidFill>
              <a:latin typeface="Tahoma" charset="0"/>
            </a:endParaRPr>
          </a:p>
        </p:txBody>
      </p:sp>
      <p:sp>
        <p:nvSpPr>
          <p:cNvPr id="23" name="Oval 22"/>
          <p:cNvSpPr/>
          <p:nvPr/>
        </p:nvSpPr>
        <p:spPr bwMode="auto">
          <a:xfrm>
            <a:off x="5335214" y="4225643"/>
            <a:ext cx="493995" cy="476071"/>
          </a:xfrm>
          <a:prstGeom prst="ellipse">
            <a:avLst/>
          </a:prstGeom>
          <a:solidFill>
            <a:srgbClr val="FF660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defTabSz="914355" fontAlgn="base">
              <a:spcBef>
                <a:spcPct val="0"/>
              </a:spcBef>
              <a:spcAft>
                <a:spcPct val="0"/>
              </a:spcAft>
            </a:pPr>
            <a:endParaRPr lang="en-US" sz="1600">
              <a:solidFill>
                <a:srgbClr val="009900"/>
              </a:solidFill>
              <a:latin typeface="Tahoma" charset="0"/>
            </a:endParaRPr>
          </a:p>
        </p:txBody>
      </p:sp>
      <p:sp>
        <p:nvSpPr>
          <p:cNvPr id="24" name="Oval 23"/>
          <p:cNvSpPr/>
          <p:nvPr/>
        </p:nvSpPr>
        <p:spPr bwMode="auto">
          <a:xfrm>
            <a:off x="4402114" y="4225643"/>
            <a:ext cx="493995" cy="476071"/>
          </a:xfrm>
          <a:prstGeom prst="ellipse">
            <a:avLst/>
          </a:prstGeom>
          <a:solidFill>
            <a:srgbClr val="FF660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defTabSz="914355" fontAlgn="base">
              <a:spcBef>
                <a:spcPct val="0"/>
              </a:spcBef>
              <a:spcAft>
                <a:spcPct val="0"/>
              </a:spcAft>
            </a:pPr>
            <a:endParaRPr lang="en-US" sz="1600">
              <a:solidFill>
                <a:srgbClr val="009900"/>
              </a:solidFill>
              <a:latin typeface="Tahoma" charset="0"/>
            </a:endParaRPr>
          </a:p>
        </p:txBody>
      </p:sp>
      <p:sp>
        <p:nvSpPr>
          <p:cNvPr id="25" name="Oval 24"/>
          <p:cNvSpPr/>
          <p:nvPr/>
        </p:nvSpPr>
        <p:spPr bwMode="auto">
          <a:xfrm>
            <a:off x="3414125" y="4225643"/>
            <a:ext cx="493995" cy="476071"/>
          </a:xfrm>
          <a:prstGeom prst="ellipse">
            <a:avLst/>
          </a:prstGeom>
          <a:solidFill>
            <a:srgbClr val="FF660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defTabSz="914355" fontAlgn="base">
              <a:spcBef>
                <a:spcPct val="0"/>
              </a:spcBef>
              <a:spcAft>
                <a:spcPct val="0"/>
              </a:spcAft>
            </a:pPr>
            <a:endParaRPr lang="en-US" sz="1600">
              <a:solidFill>
                <a:srgbClr val="009900"/>
              </a:solidFill>
              <a:latin typeface="Tahoma" charset="0"/>
            </a:endParaRPr>
          </a:p>
        </p:txBody>
      </p:sp>
      <p:cxnSp>
        <p:nvCxnSpPr>
          <p:cNvPr id="26" name="Straight Arrow Connector 25"/>
          <p:cNvCxnSpPr>
            <a:cxnSpLocks/>
            <a:stCxn id="21" idx="0"/>
          </p:cNvCxnSpPr>
          <p:nvPr/>
        </p:nvCxnSpPr>
        <p:spPr bwMode="auto">
          <a:xfrm flipV="1">
            <a:off x="2837799" y="3397937"/>
            <a:ext cx="1878949" cy="827706"/>
          </a:xfrm>
          <a:prstGeom prst="straightConnector1">
            <a:avLst/>
          </a:prstGeom>
          <a:noFill/>
          <a:ln w="9525" cap="flat" cmpd="sng" algn="ctr">
            <a:noFill/>
            <a:prstDash val="solid"/>
            <a:round/>
            <a:headEnd type="none" w="med" len="med"/>
            <a:tailEnd type="arrow"/>
          </a:ln>
          <a:effectLst/>
        </p:spPr>
      </p:cxnSp>
      <p:cxnSp>
        <p:nvCxnSpPr>
          <p:cNvPr id="27" name="Straight Arrow Connector 26"/>
          <p:cNvCxnSpPr>
            <a:cxnSpLocks/>
            <a:stCxn id="25" idx="0"/>
            <a:endCxn id="9" idx="4"/>
          </p:cNvCxnSpPr>
          <p:nvPr/>
        </p:nvCxnSpPr>
        <p:spPr bwMode="auto">
          <a:xfrm flipV="1">
            <a:off x="3661123" y="3353310"/>
            <a:ext cx="164664" cy="872333"/>
          </a:xfrm>
          <a:prstGeom prst="straightConnector1">
            <a:avLst/>
          </a:prstGeom>
          <a:noFill/>
          <a:ln w="9525" cap="flat" cmpd="sng" algn="ctr">
            <a:solidFill>
              <a:schemeClr val="tx1"/>
            </a:solidFill>
            <a:prstDash val="solid"/>
            <a:round/>
            <a:headEnd type="none" w="med" len="med"/>
            <a:tailEnd type="arrow"/>
          </a:ln>
          <a:effectLst/>
        </p:spPr>
      </p:cxnSp>
      <p:cxnSp>
        <p:nvCxnSpPr>
          <p:cNvPr id="28" name="Straight Arrow Connector 27"/>
          <p:cNvCxnSpPr>
            <a:cxnSpLocks/>
            <a:stCxn id="24" idx="0"/>
            <a:endCxn id="9" idx="4"/>
          </p:cNvCxnSpPr>
          <p:nvPr/>
        </p:nvCxnSpPr>
        <p:spPr bwMode="auto">
          <a:xfrm flipH="1" flipV="1">
            <a:off x="3825787" y="3353310"/>
            <a:ext cx="823325" cy="872333"/>
          </a:xfrm>
          <a:prstGeom prst="straightConnector1">
            <a:avLst/>
          </a:prstGeom>
          <a:noFill/>
          <a:ln w="9525" cap="flat" cmpd="sng" algn="ctr">
            <a:solidFill>
              <a:schemeClr val="tx1"/>
            </a:solidFill>
            <a:prstDash val="solid"/>
            <a:round/>
            <a:headEnd type="none" w="med" len="med"/>
            <a:tailEnd type="arrow"/>
          </a:ln>
          <a:effectLst/>
        </p:spPr>
      </p:cxnSp>
      <p:cxnSp>
        <p:nvCxnSpPr>
          <p:cNvPr id="29" name="Straight Arrow Connector 28"/>
          <p:cNvCxnSpPr>
            <a:cxnSpLocks/>
            <a:stCxn id="23" idx="0"/>
            <a:endCxn id="9" idx="4"/>
          </p:cNvCxnSpPr>
          <p:nvPr/>
        </p:nvCxnSpPr>
        <p:spPr bwMode="auto">
          <a:xfrm flipH="1" flipV="1">
            <a:off x="3825787" y="3353310"/>
            <a:ext cx="1756425" cy="872333"/>
          </a:xfrm>
          <a:prstGeom prst="straightConnector1">
            <a:avLst/>
          </a:prstGeom>
          <a:noFill/>
          <a:ln w="9525" cap="flat" cmpd="sng" algn="ctr">
            <a:solidFill>
              <a:schemeClr val="tx1"/>
            </a:solidFill>
            <a:prstDash val="solid"/>
            <a:round/>
            <a:headEnd type="none" w="med" len="med"/>
            <a:tailEnd type="arrow"/>
          </a:ln>
          <a:effectLst/>
        </p:spPr>
      </p:cxnSp>
      <p:cxnSp>
        <p:nvCxnSpPr>
          <p:cNvPr id="30" name="Straight Arrow Connector 29"/>
          <p:cNvCxnSpPr>
            <a:cxnSpLocks/>
            <a:stCxn id="21" idx="7"/>
            <a:endCxn id="9" idx="4"/>
          </p:cNvCxnSpPr>
          <p:nvPr/>
        </p:nvCxnSpPr>
        <p:spPr bwMode="auto">
          <a:xfrm flipV="1">
            <a:off x="3012452" y="3353310"/>
            <a:ext cx="813335" cy="942052"/>
          </a:xfrm>
          <a:prstGeom prst="straightConnector1">
            <a:avLst/>
          </a:prstGeom>
          <a:noFill/>
          <a:ln w="9525" cap="flat" cmpd="sng" algn="ctr">
            <a:solidFill>
              <a:schemeClr val="tx1"/>
            </a:solidFill>
            <a:prstDash val="solid"/>
            <a:round/>
            <a:headEnd type="none" w="med" len="med"/>
            <a:tailEnd type="arrow"/>
          </a:ln>
          <a:effectLst/>
        </p:spPr>
      </p:cxnSp>
      <p:sp>
        <p:nvSpPr>
          <p:cNvPr id="34" name="Oval 33"/>
          <p:cNvSpPr/>
          <p:nvPr/>
        </p:nvSpPr>
        <p:spPr bwMode="auto">
          <a:xfrm>
            <a:off x="5993873" y="4225643"/>
            <a:ext cx="493995" cy="476071"/>
          </a:xfrm>
          <a:prstGeom prst="ellipse">
            <a:avLst/>
          </a:prstGeom>
          <a:solidFill>
            <a:srgbClr val="FF660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defTabSz="914355" fontAlgn="base">
              <a:spcBef>
                <a:spcPct val="0"/>
              </a:spcBef>
              <a:spcAft>
                <a:spcPct val="0"/>
              </a:spcAft>
            </a:pPr>
            <a:endParaRPr lang="en-US" sz="1600">
              <a:solidFill>
                <a:srgbClr val="009900"/>
              </a:solidFill>
              <a:latin typeface="Tahoma" charset="0"/>
            </a:endParaRPr>
          </a:p>
        </p:txBody>
      </p:sp>
      <p:cxnSp>
        <p:nvCxnSpPr>
          <p:cNvPr id="46" name="Straight Arrow Connector 45"/>
          <p:cNvCxnSpPr>
            <a:cxnSpLocks/>
            <a:stCxn id="34" idx="0"/>
            <a:endCxn id="9" idx="4"/>
          </p:cNvCxnSpPr>
          <p:nvPr/>
        </p:nvCxnSpPr>
        <p:spPr bwMode="auto">
          <a:xfrm flipH="1" flipV="1">
            <a:off x="3825787" y="3353310"/>
            <a:ext cx="2415084" cy="872333"/>
          </a:xfrm>
          <a:prstGeom prst="straightConnector1">
            <a:avLst/>
          </a:prstGeom>
          <a:noFill/>
          <a:ln w="9525" cap="flat" cmpd="sng" algn="ctr">
            <a:solidFill>
              <a:schemeClr val="tx1"/>
            </a:solidFill>
            <a:prstDash val="solid"/>
            <a:round/>
            <a:headEnd type="none" w="med" len="med"/>
            <a:tailEnd type="arrow"/>
          </a:ln>
          <a:effectLst/>
        </p:spPr>
      </p:cxnSp>
      <p:cxnSp>
        <p:nvCxnSpPr>
          <p:cNvPr id="49" name="Straight Arrow Connector 48"/>
          <p:cNvCxnSpPr>
            <a:cxnSpLocks/>
            <a:stCxn id="21" idx="7"/>
            <a:endCxn id="13" idx="4"/>
          </p:cNvCxnSpPr>
          <p:nvPr/>
        </p:nvCxnSpPr>
        <p:spPr bwMode="auto">
          <a:xfrm flipV="1">
            <a:off x="3012452" y="3353310"/>
            <a:ext cx="1417106" cy="942052"/>
          </a:xfrm>
          <a:prstGeom prst="straightConnector1">
            <a:avLst/>
          </a:prstGeom>
          <a:noFill/>
          <a:ln w="9525" cap="flat" cmpd="sng" algn="ctr">
            <a:solidFill>
              <a:schemeClr val="tx1"/>
            </a:solidFill>
            <a:prstDash val="solid"/>
            <a:round/>
            <a:headEnd type="none" w="med" len="med"/>
            <a:tailEnd type="arrow"/>
          </a:ln>
          <a:effectLst/>
        </p:spPr>
      </p:cxnSp>
      <p:cxnSp>
        <p:nvCxnSpPr>
          <p:cNvPr id="52" name="Straight Arrow Connector 51"/>
          <p:cNvCxnSpPr>
            <a:cxnSpLocks/>
            <a:endCxn id="12" idx="4"/>
          </p:cNvCxnSpPr>
          <p:nvPr/>
        </p:nvCxnSpPr>
        <p:spPr bwMode="auto">
          <a:xfrm flipV="1">
            <a:off x="3044605" y="3353310"/>
            <a:ext cx="1988724" cy="913472"/>
          </a:xfrm>
          <a:prstGeom prst="straightConnector1">
            <a:avLst/>
          </a:prstGeom>
          <a:noFill/>
          <a:ln w="9525" cap="flat" cmpd="sng" algn="ctr">
            <a:solidFill>
              <a:schemeClr val="tx1"/>
            </a:solidFill>
            <a:prstDash val="solid"/>
            <a:round/>
            <a:headEnd type="none" w="med" len="med"/>
            <a:tailEnd type="arrow"/>
          </a:ln>
          <a:effectLst/>
        </p:spPr>
      </p:cxnSp>
      <p:cxnSp>
        <p:nvCxnSpPr>
          <p:cNvPr id="54" name="Straight Arrow Connector 53"/>
          <p:cNvCxnSpPr>
            <a:cxnSpLocks/>
            <a:stCxn id="34" idx="0"/>
            <a:endCxn id="12" idx="4"/>
          </p:cNvCxnSpPr>
          <p:nvPr/>
        </p:nvCxnSpPr>
        <p:spPr bwMode="auto">
          <a:xfrm flipH="1" flipV="1">
            <a:off x="5033329" y="3353310"/>
            <a:ext cx="1207542" cy="872333"/>
          </a:xfrm>
          <a:prstGeom prst="straightConnector1">
            <a:avLst/>
          </a:prstGeom>
          <a:noFill/>
          <a:ln w="9525" cap="flat" cmpd="sng" algn="ctr">
            <a:solidFill>
              <a:schemeClr val="tx1"/>
            </a:solidFill>
            <a:prstDash val="solid"/>
            <a:round/>
            <a:headEnd type="none" w="med" len="med"/>
            <a:tailEnd type="arrow"/>
          </a:ln>
          <a:effectLst/>
        </p:spPr>
      </p:cxnSp>
      <p:cxnSp>
        <p:nvCxnSpPr>
          <p:cNvPr id="56" name="Straight Arrow Connector 55"/>
          <p:cNvCxnSpPr>
            <a:cxnSpLocks/>
            <a:stCxn id="34" idx="0"/>
            <a:endCxn id="13" idx="4"/>
          </p:cNvCxnSpPr>
          <p:nvPr/>
        </p:nvCxnSpPr>
        <p:spPr bwMode="auto">
          <a:xfrm flipH="1" flipV="1">
            <a:off x="4429558" y="3353310"/>
            <a:ext cx="1811313" cy="872333"/>
          </a:xfrm>
          <a:prstGeom prst="straightConnector1">
            <a:avLst/>
          </a:prstGeom>
          <a:noFill/>
          <a:ln w="9525" cap="flat" cmpd="sng" algn="ctr">
            <a:solidFill>
              <a:schemeClr val="tx1"/>
            </a:solidFill>
            <a:prstDash val="solid"/>
            <a:round/>
            <a:headEnd type="none" w="med" len="med"/>
            <a:tailEnd type="arrow"/>
          </a:ln>
          <a:effectLst/>
        </p:spPr>
      </p:cxnSp>
      <p:cxnSp>
        <p:nvCxnSpPr>
          <p:cNvPr id="60" name="Straight Arrow Connector 59"/>
          <p:cNvCxnSpPr>
            <a:cxnSpLocks/>
          </p:cNvCxnSpPr>
          <p:nvPr/>
        </p:nvCxnSpPr>
        <p:spPr bwMode="auto">
          <a:xfrm flipH="1" flipV="1">
            <a:off x="4388393" y="3375370"/>
            <a:ext cx="1015433" cy="1011302"/>
          </a:xfrm>
          <a:prstGeom prst="straightConnector1">
            <a:avLst/>
          </a:prstGeom>
          <a:noFill/>
          <a:ln w="9525" cap="flat" cmpd="sng" algn="ctr">
            <a:solidFill>
              <a:schemeClr val="tx1"/>
            </a:solidFill>
            <a:prstDash val="solid"/>
            <a:round/>
            <a:headEnd type="none" w="med" len="med"/>
            <a:tailEnd type="arrow"/>
          </a:ln>
          <a:effectLst/>
        </p:spPr>
      </p:cxnSp>
      <p:cxnSp>
        <p:nvCxnSpPr>
          <p:cNvPr id="62" name="Straight Arrow Connector 61"/>
          <p:cNvCxnSpPr>
            <a:cxnSpLocks/>
            <a:stCxn id="23" idx="0"/>
            <a:endCxn id="12" idx="4"/>
          </p:cNvCxnSpPr>
          <p:nvPr/>
        </p:nvCxnSpPr>
        <p:spPr bwMode="auto">
          <a:xfrm flipH="1" flipV="1">
            <a:off x="5033329" y="3353310"/>
            <a:ext cx="548883" cy="872333"/>
          </a:xfrm>
          <a:prstGeom prst="straightConnector1">
            <a:avLst/>
          </a:prstGeom>
          <a:noFill/>
          <a:ln w="9525" cap="flat" cmpd="sng" algn="ctr">
            <a:solidFill>
              <a:schemeClr val="tx1"/>
            </a:solidFill>
            <a:prstDash val="solid"/>
            <a:round/>
            <a:headEnd type="none" w="med" len="med"/>
            <a:tailEnd type="arrow"/>
          </a:ln>
          <a:effectLst/>
        </p:spPr>
      </p:cxnSp>
      <p:cxnSp>
        <p:nvCxnSpPr>
          <p:cNvPr id="66" name="Straight Arrow Connector 65"/>
          <p:cNvCxnSpPr>
            <a:cxnSpLocks/>
            <a:stCxn id="24" idx="0"/>
            <a:endCxn id="13" idx="4"/>
          </p:cNvCxnSpPr>
          <p:nvPr/>
        </p:nvCxnSpPr>
        <p:spPr bwMode="auto">
          <a:xfrm flipH="1" flipV="1">
            <a:off x="4429558" y="3353310"/>
            <a:ext cx="219554" cy="872333"/>
          </a:xfrm>
          <a:prstGeom prst="straightConnector1">
            <a:avLst/>
          </a:prstGeom>
          <a:noFill/>
          <a:ln w="9525" cap="flat" cmpd="sng" algn="ctr">
            <a:solidFill>
              <a:schemeClr val="tx1"/>
            </a:solidFill>
            <a:prstDash val="solid"/>
            <a:round/>
            <a:headEnd type="none" w="med" len="med"/>
            <a:tailEnd type="arrow"/>
          </a:ln>
          <a:effectLst/>
        </p:spPr>
      </p:cxnSp>
      <p:cxnSp>
        <p:nvCxnSpPr>
          <p:cNvPr id="69" name="Straight Arrow Connector 68"/>
          <p:cNvCxnSpPr>
            <a:cxnSpLocks/>
            <a:stCxn id="24" idx="0"/>
            <a:endCxn id="12" idx="4"/>
          </p:cNvCxnSpPr>
          <p:nvPr/>
        </p:nvCxnSpPr>
        <p:spPr bwMode="auto">
          <a:xfrm flipV="1">
            <a:off x="4649112" y="3353310"/>
            <a:ext cx="384217" cy="872333"/>
          </a:xfrm>
          <a:prstGeom prst="straightConnector1">
            <a:avLst/>
          </a:prstGeom>
          <a:noFill/>
          <a:ln w="9525" cap="flat" cmpd="sng" algn="ctr">
            <a:solidFill>
              <a:schemeClr val="tx1"/>
            </a:solidFill>
            <a:prstDash val="solid"/>
            <a:round/>
            <a:headEnd type="none" w="med" len="med"/>
            <a:tailEnd type="arrow"/>
          </a:ln>
          <a:effectLst/>
        </p:spPr>
      </p:cxnSp>
      <p:cxnSp>
        <p:nvCxnSpPr>
          <p:cNvPr id="71" name="Straight Arrow Connector 70"/>
          <p:cNvCxnSpPr>
            <a:cxnSpLocks/>
            <a:stCxn id="25" idx="0"/>
            <a:endCxn id="13" idx="4"/>
          </p:cNvCxnSpPr>
          <p:nvPr/>
        </p:nvCxnSpPr>
        <p:spPr bwMode="auto">
          <a:xfrm flipV="1">
            <a:off x="3661123" y="3353310"/>
            <a:ext cx="768435" cy="872333"/>
          </a:xfrm>
          <a:prstGeom prst="straightConnector1">
            <a:avLst/>
          </a:prstGeom>
          <a:noFill/>
          <a:ln w="9525" cap="flat" cmpd="sng" algn="ctr">
            <a:solidFill>
              <a:schemeClr val="tx1"/>
            </a:solidFill>
            <a:prstDash val="solid"/>
            <a:round/>
            <a:headEnd type="none" w="med" len="med"/>
            <a:tailEnd type="arrow"/>
          </a:ln>
          <a:effectLst/>
        </p:spPr>
      </p:cxnSp>
      <p:cxnSp>
        <p:nvCxnSpPr>
          <p:cNvPr id="74" name="Straight Arrow Connector 73"/>
          <p:cNvCxnSpPr>
            <a:cxnSpLocks/>
            <a:endCxn id="12" idx="4"/>
          </p:cNvCxnSpPr>
          <p:nvPr/>
        </p:nvCxnSpPr>
        <p:spPr bwMode="auto">
          <a:xfrm flipV="1">
            <a:off x="3770899" y="3353310"/>
            <a:ext cx="1262430" cy="872336"/>
          </a:xfrm>
          <a:prstGeom prst="straightConnector1">
            <a:avLst/>
          </a:prstGeom>
          <a:noFill/>
          <a:ln w="9525" cap="flat" cmpd="sng" algn="ctr">
            <a:solidFill>
              <a:schemeClr val="tx1"/>
            </a:solidFill>
            <a:prstDash val="solid"/>
            <a:round/>
            <a:headEnd type="none" w="med" len="med"/>
            <a:tailEnd type="arrow"/>
          </a:ln>
          <a:effectLst/>
        </p:spPr>
      </p:cxnSp>
      <p:sp>
        <p:nvSpPr>
          <p:cNvPr id="76" name="TextBox 75"/>
          <p:cNvSpPr txBox="1"/>
          <p:nvPr/>
        </p:nvSpPr>
        <p:spPr>
          <a:xfrm>
            <a:off x="3523903" y="2203035"/>
            <a:ext cx="329330" cy="523220"/>
          </a:xfrm>
          <a:prstGeom prst="rect">
            <a:avLst/>
          </a:prstGeom>
          <a:noFill/>
        </p:spPr>
        <p:txBody>
          <a:bodyPr wrap="square" rtlCol="0">
            <a:spAutoFit/>
          </a:bodyPr>
          <a:lstStyle/>
          <a:p>
            <a:r>
              <a:rPr lang="en-US" sz="2800" dirty="0">
                <a:solidFill>
                  <a:srgbClr val="590A0E"/>
                </a:solidFill>
              </a:rPr>
              <a:t>U</a:t>
            </a:r>
          </a:p>
        </p:txBody>
      </p:sp>
      <p:sp>
        <p:nvSpPr>
          <p:cNvPr id="77" name="TextBox 76"/>
          <p:cNvSpPr txBox="1"/>
          <p:nvPr/>
        </p:nvSpPr>
        <p:spPr>
          <a:xfrm>
            <a:off x="2810353" y="3439072"/>
            <a:ext cx="329330" cy="523220"/>
          </a:xfrm>
          <a:prstGeom prst="rect">
            <a:avLst/>
          </a:prstGeom>
          <a:noFill/>
        </p:spPr>
        <p:txBody>
          <a:bodyPr wrap="square" rtlCol="0">
            <a:spAutoFit/>
          </a:bodyPr>
          <a:lstStyle/>
          <a:p>
            <a:r>
              <a:rPr lang="en-US" sz="2800" dirty="0">
                <a:solidFill>
                  <a:srgbClr val="590A0E"/>
                </a:solidFill>
              </a:rPr>
              <a:t>W</a:t>
            </a:r>
          </a:p>
        </p:txBody>
      </p:sp>
      <p:sp>
        <p:nvSpPr>
          <p:cNvPr id="83" name="TextBox 82"/>
          <p:cNvSpPr txBox="1"/>
          <p:nvPr/>
        </p:nvSpPr>
        <p:spPr>
          <a:xfrm>
            <a:off x="6104891" y="4171558"/>
            <a:ext cx="457176" cy="507831"/>
          </a:xfrm>
          <a:prstGeom prst="rect">
            <a:avLst/>
          </a:prstGeom>
          <a:noFill/>
        </p:spPr>
        <p:txBody>
          <a:bodyPr wrap="none" rtlCol="0">
            <a:spAutoFit/>
          </a:bodyPr>
          <a:lstStyle/>
          <a:p>
            <a:r>
              <a:rPr lang="en-US" sz="2700" dirty="0" err="1"/>
              <a:t>x</a:t>
            </a:r>
            <a:r>
              <a:rPr lang="en-US" sz="2700" baseline="-25000" dirty="0" err="1"/>
              <a:t>n</a:t>
            </a:r>
            <a:endParaRPr lang="en-US" sz="2700" baseline="-25000" dirty="0"/>
          </a:p>
        </p:txBody>
      </p:sp>
      <p:sp>
        <p:nvSpPr>
          <p:cNvPr id="84" name="TextBox 83"/>
          <p:cNvSpPr txBox="1"/>
          <p:nvPr/>
        </p:nvSpPr>
        <p:spPr>
          <a:xfrm>
            <a:off x="2686673" y="4201553"/>
            <a:ext cx="548883" cy="507831"/>
          </a:xfrm>
          <a:prstGeom prst="rect">
            <a:avLst/>
          </a:prstGeom>
          <a:noFill/>
        </p:spPr>
        <p:txBody>
          <a:bodyPr wrap="square" rtlCol="0">
            <a:spAutoFit/>
          </a:bodyPr>
          <a:lstStyle/>
          <a:p>
            <a:r>
              <a:rPr lang="en-US" sz="2700" dirty="0"/>
              <a:t>x</a:t>
            </a:r>
            <a:r>
              <a:rPr lang="en-US" sz="2700" baseline="-25000" dirty="0"/>
              <a:t>1</a:t>
            </a:r>
          </a:p>
        </p:txBody>
      </p:sp>
      <p:sp>
        <p:nvSpPr>
          <p:cNvPr id="45" name="Oval 44"/>
          <p:cNvSpPr/>
          <p:nvPr/>
        </p:nvSpPr>
        <p:spPr bwMode="auto">
          <a:xfrm>
            <a:off x="4457003" y="1809752"/>
            <a:ext cx="493995" cy="476071"/>
          </a:xfrm>
          <a:prstGeom prst="ellipse">
            <a:avLst/>
          </a:prstGeom>
          <a:solidFill>
            <a:srgbClr val="FF660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defTabSz="914355" fontAlgn="base">
              <a:spcBef>
                <a:spcPct val="0"/>
              </a:spcBef>
              <a:spcAft>
                <a:spcPct val="0"/>
              </a:spcAft>
            </a:pPr>
            <a:endParaRPr lang="en-US" sz="1600">
              <a:solidFill>
                <a:srgbClr val="009900"/>
              </a:solidFill>
              <a:latin typeface="Tahoma" charset="0"/>
            </a:endParaRPr>
          </a:p>
        </p:txBody>
      </p:sp>
      <p:cxnSp>
        <p:nvCxnSpPr>
          <p:cNvPr id="55" name="Straight Arrow Connector 54"/>
          <p:cNvCxnSpPr>
            <a:cxnSpLocks/>
            <a:stCxn id="12" idx="0"/>
            <a:endCxn id="45" idx="4"/>
          </p:cNvCxnSpPr>
          <p:nvPr/>
        </p:nvCxnSpPr>
        <p:spPr bwMode="auto">
          <a:xfrm flipH="1" flipV="1">
            <a:off x="4704001" y="2285823"/>
            <a:ext cx="329328" cy="591416"/>
          </a:xfrm>
          <a:prstGeom prst="straightConnector1">
            <a:avLst/>
          </a:prstGeom>
          <a:noFill/>
          <a:ln w="9525" cap="flat" cmpd="sng" algn="ctr">
            <a:solidFill>
              <a:schemeClr val="tx1"/>
            </a:solidFill>
            <a:prstDash val="solid"/>
            <a:round/>
            <a:headEnd type="none" w="med" len="med"/>
            <a:tailEnd type="arrow"/>
          </a:ln>
          <a:effectLst/>
        </p:spPr>
      </p:cxnSp>
      <p:cxnSp>
        <p:nvCxnSpPr>
          <p:cNvPr id="57" name="Straight Arrow Connector 56"/>
          <p:cNvCxnSpPr>
            <a:cxnSpLocks/>
            <a:stCxn id="13" idx="0"/>
            <a:endCxn id="45" idx="4"/>
          </p:cNvCxnSpPr>
          <p:nvPr/>
        </p:nvCxnSpPr>
        <p:spPr bwMode="auto">
          <a:xfrm flipV="1">
            <a:off x="4429558" y="2285823"/>
            <a:ext cx="274443" cy="591416"/>
          </a:xfrm>
          <a:prstGeom prst="straightConnector1">
            <a:avLst/>
          </a:prstGeom>
          <a:noFill/>
          <a:ln w="9525" cap="flat" cmpd="sng" algn="ctr">
            <a:solidFill>
              <a:schemeClr val="tx1"/>
            </a:solidFill>
            <a:prstDash val="solid"/>
            <a:round/>
            <a:headEnd type="none" w="med" len="med"/>
            <a:tailEnd type="arrow"/>
          </a:ln>
          <a:effectLst/>
        </p:spPr>
      </p:cxnSp>
      <p:cxnSp>
        <p:nvCxnSpPr>
          <p:cNvPr id="63" name="Straight Arrow Connector 62"/>
          <p:cNvCxnSpPr>
            <a:cxnSpLocks/>
            <a:stCxn id="9" idx="7"/>
            <a:endCxn id="45" idx="4"/>
          </p:cNvCxnSpPr>
          <p:nvPr/>
        </p:nvCxnSpPr>
        <p:spPr bwMode="auto">
          <a:xfrm flipV="1">
            <a:off x="4000440" y="2285823"/>
            <a:ext cx="703561" cy="661135"/>
          </a:xfrm>
          <a:prstGeom prst="straightConnector1">
            <a:avLst/>
          </a:prstGeom>
          <a:noFill/>
          <a:ln w="9525" cap="flat" cmpd="sng" algn="ctr">
            <a:solidFill>
              <a:schemeClr val="tx1"/>
            </a:solidFill>
            <a:prstDash val="solid"/>
            <a:round/>
            <a:headEnd type="none" w="med" len="med"/>
            <a:tailEnd type="arrow"/>
          </a:ln>
          <a:effectLst/>
        </p:spPr>
      </p:cxnSp>
      <p:sp>
        <p:nvSpPr>
          <p:cNvPr id="50" name="Oval 49"/>
          <p:cNvSpPr/>
          <p:nvPr/>
        </p:nvSpPr>
        <p:spPr bwMode="auto">
          <a:xfrm>
            <a:off x="4428647" y="1200152"/>
            <a:ext cx="493995" cy="476071"/>
          </a:xfrm>
          <a:prstGeom prst="ellipse">
            <a:avLst/>
          </a:prstGeom>
          <a:solidFill>
            <a:schemeClr val="bg2">
              <a:lumMod val="5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defTabSz="914355" fontAlgn="base">
              <a:spcBef>
                <a:spcPct val="0"/>
              </a:spcBef>
              <a:spcAft>
                <a:spcPct val="0"/>
              </a:spcAft>
            </a:pPr>
            <a:endParaRPr lang="en-US" sz="1600">
              <a:solidFill>
                <a:srgbClr val="009900"/>
              </a:solidFill>
              <a:latin typeface="Tahoma" charset="0"/>
            </a:endParaRPr>
          </a:p>
        </p:txBody>
      </p:sp>
      <p:sp>
        <p:nvSpPr>
          <p:cNvPr id="51" name="Oval 50"/>
          <p:cNvSpPr/>
          <p:nvPr/>
        </p:nvSpPr>
        <p:spPr bwMode="auto">
          <a:xfrm>
            <a:off x="3895247" y="1200152"/>
            <a:ext cx="493995" cy="476071"/>
          </a:xfrm>
          <a:prstGeom prst="ellipse">
            <a:avLst/>
          </a:prstGeom>
          <a:solidFill>
            <a:schemeClr val="bg2">
              <a:lumMod val="5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defTabSz="914355" fontAlgn="base">
              <a:spcBef>
                <a:spcPct val="0"/>
              </a:spcBef>
              <a:spcAft>
                <a:spcPct val="0"/>
              </a:spcAft>
            </a:pPr>
            <a:endParaRPr lang="en-US" sz="1600">
              <a:solidFill>
                <a:srgbClr val="009900"/>
              </a:solidFill>
              <a:latin typeface="Tahoma" charset="0"/>
            </a:endParaRPr>
          </a:p>
        </p:txBody>
      </p:sp>
      <mc:AlternateContent xmlns:mc="http://schemas.openxmlformats.org/markup-compatibility/2006" xmlns:a14="http://schemas.microsoft.com/office/drawing/2010/main">
        <mc:Choice Requires="a14">
          <p:sp>
            <p:nvSpPr>
              <p:cNvPr id="11" name="TextBox 10"/>
              <p:cNvSpPr txBox="1"/>
              <p:nvPr/>
            </p:nvSpPr>
            <p:spPr>
              <a:xfrm>
                <a:off x="1600200" y="1809752"/>
                <a:ext cx="2310056" cy="461665"/>
              </a:xfrm>
              <a:prstGeom prst="rect">
                <a:avLst/>
              </a:prstGeom>
              <a:noFill/>
            </p:spPr>
            <p:txBody>
              <a:bodyPr wrap="none" rtlCol="0">
                <a:spAutoFit/>
              </a:bodyPr>
              <a:lstStyle/>
              <a:p>
                <a:r>
                  <a:rPr lang="en-US" sz="2400" dirty="0"/>
                  <a:t>System output </a:t>
                </a:r>
                <a14:m>
                  <m:oMath xmlns:m="http://schemas.openxmlformats.org/officeDocument/2006/math">
                    <m:acc>
                      <m:accPr>
                        <m:chr m:val="̂"/>
                        <m:ctrlPr>
                          <a:rPr lang="en-US" sz="2400" i="1" dirty="0">
                            <a:latin typeface="Cambria Math" panose="02040503050406030204" pitchFamily="18" charset="0"/>
                          </a:rPr>
                        </m:ctrlPr>
                      </m:accPr>
                      <m:e>
                        <m:r>
                          <a:rPr lang="en-US" sz="2400" i="1" dirty="0">
                            <a:latin typeface="Cambria Math" panose="02040503050406030204" pitchFamily="18" charset="0"/>
                          </a:rPr>
                          <m:t>𝑦</m:t>
                        </m:r>
                      </m:e>
                    </m:acc>
                  </m:oMath>
                </a14:m>
                <a:r>
                  <a:rPr lang="en-US" sz="2400" dirty="0"/>
                  <a:t> </a:t>
                </a:r>
              </a:p>
            </p:txBody>
          </p:sp>
        </mc:Choice>
        <mc:Fallback xmlns="">
          <p:sp>
            <p:nvSpPr>
              <p:cNvPr id="11" name="TextBox 10"/>
              <p:cNvSpPr txBox="1">
                <a:spLocks noRot="1" noChangeAspect="1" noMove="1" noResize="1" noEditPoints="1" noAdjustHandles="1" noChangeArrowheads="1" noChangeShapeType="1" noTextEdit="1"/>
              </p:cNvSpPr>
              <p:nvPr/>
            </p:nvSpPr>
            <p:spPr>
              <a:xfrm>
                <a:off x="1600200" y="1809752"/>
                <a:ext cx="2310056" cy="461665"/>
              </a:xfrm>
              <a:prstGeom prst="rect">
                <a:avLst/>
              </a:prstGeom>
              <a:blipFill>
                <a:blip r:embed="rId3"/>
                <a:stretch>
                  <a:fillRect l="-4396" t="-7895" b="-2631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3" name="TextBox 52"/>
              <p:cNvSpPr txBox="1"/>
              <p:nvPr/>
            </p:nvSpPr>
            <p:spPr>
              <a:xfrm>
                <a:off x="1643876" y="1200152"/>
                <a:ext cx="2195922" cy="461665"/>
              </a:xfrm>
              <a:prstGeom prst="rect">
                <a:avLst/>
              </a:prstGeom>
              <a:noFill/>
            </p:spPr>
            <p:txBody>
              <a:bodyPr wrap="none" rtlCol="0">
                <a:spAutoFit/>
              </a:bodyPr>
              <a:lstStyle/>
              <a:p>
                <a:r>
                  <a:rPr lang="en-US" sz="2400" dirty="0"/>
                  <a:t>Actual answer </a:t>
                </a:r>
                <a14:m>
                  <m:oMath xmlns:m="http://schemas.openxmlformats.org/officeDocument/2006/math">
                    <m:r>
                      <a:rPr lang="en-US" sz="2400" i="1" dirty="0">
                        <a:latin typeface="Cambria Math" panose="02040503050406030204" pitchFamily="18" charset="0"/>
                      </a:rPr>
                      <m:t>𝑦</m:t>
                    </m:r>
                  </m:oMath>
                </a14:m>
                <a:endParaRPr lang="en-US" sz="2400" dirty="0"/>
              </a:p>
            </p:txBody>
          </p:sp>
        </mc:Choice>
        <mc:Fallback xmlns="">
          <p:sp>
            <p:nvSpPr>
              <p:cNvPr id="53" name="TextBox 52"/>
              <p:cNvSpPr txBox="1">
                <a:spLocks noRot="1" noChangeAspect="1" noMove="1" noResize="1" noEditPoints="1" noAdjustHandles="1" noChangeArrowheads="1" noChangeShapeType="1" noTextEdit="1"/>
              </p:cNvSpPr>
              <p:nvPr/>
            </p:nvSpPr>
            <p:spPr>
              <a:xfrm>
                <a:off x="1643876" y="1200152"/>
                <a:ext cx="2195922" cy="461665"/>
              </a:xfrm>
              <a:prstGeom prst="rect">
                <a:avLst/>
              </a:prstGeom>
              <a:blipFill>
                <a:blip r:embed="rId4"/>
                <a:stretch>
                  <a:fillRect l="-4598" t="-7895" b="-26316"/>
                </a:stretch>
              </a:blipFill>
            </p:spPr>
            <p:txBody>
              <a:bodyPr/>
              <a:lstStyle/>
              <a:p>
                <a:r>
                  <a:rPr lang="en-US">
                    <a:noFill/>
                  </a:rPr>
                  <a:t> </a:t>
                </a:r>
              </a:p>
            </p:txBody>
          </p:sp>
        </mc:Fallback>
      </mc:AlternateContent>
      <p:sp>
        <p:nvSpPr>
          <p:cNvPr id="58" name="TextBox 57"/>
          <p:cNvSpPr txBox="1"/>
          <p:nvPr/>
        </p:nvSpPr>
        <p:spPr>
          <a:xfrm>
            <a:off x="457200" y="4286250"/>
            <a:ext cx="2022092" cy="415498"/>
          </a:xfrm>
          <a:prstGeom prst="rect">
            <a:avLst/>
          </a:prstGeom>
          <a:noFill/>
        </p:spPr>
        <p:txBody>
          <a:bodyPr wrap="none" rtlCol="0">
            <a:spAutoFit/>
          </a:bodyPr>
          <a:lstStyle/>
          <a:p>
            <a:r>
              <a:rPr lang="en-US" sz="2100" dirty="0"/>
              <a:t>Training instance</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AC0A7158-09ED-C944-A16C-7073E2AF0BAA}"/>
                  </a:ext>
                </a:extLst>
              </p:cNvPr>
              <p:cNvSpPr txBox="1"/>
              <p:nvPr/>
            </p:nvSpPr>
            <p:spPr>
              <a:xfrm>
                <a:off x="5843447" y="1487848"/>
                <a:ext cx="2683042" cy="461665"/>
              </a:xfrm>
              <a:prstGeom prst="rect">
                <a:avLst/>
              </a:prstGeom>
              <a:noFill/>
            </p:spPr>
            <p:txBody>
              <a:bodyPr wrap="none" rtlCol="0">
                <a:spAutoFit/>
              </a:bodyPr>
              <a:lstStyle/>
              <a:p>
                <a:r>
                  <a:rPr lang="en-US" sz="2400" dirty="0"/>
                  <a:t>Loss function L(</a:t>
                </a:r>
                <a14:m>
                  <m:oMath xmlns:m="http://schemas.openxmlformats.org/officeDocument/2006/math">
                    <m:acc>
                      <m:accPr>
                        <m:chr m:val="̂"/>
                        <m:ctrlPr>
                          <a:rPr lang="en-US" sz="2400" i="1" dirty="0">
                            <a:latin typeface="Cambria Math" panose="02040503050406030204" pitchFamily="18" charset="0"/>
                          </a:rPr>
                        </m:ctrlPr>
                      </m:accPr>
                      <m:e>
                        <m:r>
                          <a:rPr lang="en-US" sz="2400" i="1" dirty="0">
                            <a:latin typeface="Cambria Math" panose="02040503050406030204" pitchFamily="18" charset="0"/>
                          </a:rPr>
                          <m:t>𝑦</m:t>
                        </m:r>
                      </m:e>
                    </m:acc>
                    <m:r>
                      <a:rPr lang="en-US" sz="2400" i="1" dirty="0">
                        <a:latin typeface="Cambria Math" panose="02040503050406030204" pitchFamily="18" charset="0"/>
                      </a:rPr>
                      <m:t>,</m:t>
                    </m:r>
                    <m:r>
                      <a:rPr lang="en-US" sz="2400" i="1" dirty="0">
                        <a:latin typeface="Cambria Math" panose="02040503050406030204" pitchFamily="18" charset="0"/>
                      </a:rPr>
                      <m:t>𝑦</m:t>
                    </m:r>
                  </m:oMath>
                </a14:m>
                <a:r>
                  <a:rPr lang="en-US" sz="2400" dirty="0"/>
                  <a:t>)</a:t>
                </a:r>
              </a:p>
            </p:txBody>
          </p:sp>
        </mc:Choice>
        <mc:Fallback xmlns="">
          <p:sp>
            <p:nvSpPr>
              <p:cNvPr id="7" name="TextBox 6">
                <a:extLst>
                  <a:ext uri="{FF2B5EF4-FFF2-40B4-BE49-F238E27FC236}">
                    <a16:creationId xmlns:a16="http://schemas.microsoft.com/office/drawing/2014/main" id="{AC0A7158-09ED-C944-A16C-7073E2AF0BAA}"/>
                  </a:ext>
                </a:extLst>
              </p:cNvPr>
              <p:cNvSpPr txBox="1">
                <a:spLocks noRot="1" noChangeAspect="1" noMove="1" noResize="1" noEditPoints="1" noAdjustHandles="1" noChangeArrowheads="1" noChangeShapeType="1" noTextEdit="1"/>
              </p:cNvSpPr>
              <p:nvPr/>
            </p:nvSpPr>
            <p:spPr>
              <a:xfrm>
                <a:off x="5843447" y="1487848"/>
                <a:ext cx="2683042" cy="461665"/>
              </a:xfrm>
              <a:prstGeom prst="rect">
                <a:avLst/>
              </a:prstGeom>
              <a:blipFill>
                <a:blip r:embed="rId5"/>
                <a:stretch>
                  <a:fillRect l="-3774" t="-8108" r="-2358" b="-29730"/>
                </a:stretch>
              </a:blipFill>
            </p:spPr>
            <p:txBody>
              <a:bodyPr/>
              <a:lstStyle/>
              <a:p>
                <a:r>
                  <a:rPr lang="en-US">
                    <a:noFill/>
                  </a:rPr>
                  <a:t> </a:t>
                </a:r>
              </a:p>
            </p:txBody>
          </p:sp>
        </mc:Fallback>
      </mc:AlternateContent>
      <p:sp>
        <p:nvSpPr>
          <p:cNvPr id="78" name="Right Brace 77">
            <a:extLst>
              <a:ext uri="{FF2B5EF4-FFF2-40B4-BE49-F238E27FC236}">
                <a16:creationId xmlns:a16="http://schemas.microsoft.com/office/drawing/2014/main" id="{2069ECC1-05FA-9243-99A3-C0E64EECAE2A}"/>
              </a:ext>
            </a:extLst>
          </p:cNvPr>
          <p:cNvSpPr/>
          <p:nvPr/>
        </p:nvSpPr>
        <p:spPr bwMode="auto">
          <a:xfrm>
            <a:off x="5134735" y="1363892"/>
            <a:ext cx="411663" cy="354925"/>
          </a:xfrm>
          <a:prstGeom prst="rightBrace">
            <a:avLst/>
          </a:prstGeom>
          <a:noFill/>
          <a:ln w="34925" cap="flat" cmpd="sng" algn="ctr">
            <a:solidFill>
              <a:schemeClr val="accent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defTabSz="914355" fontAlgn="base">
              <a:spcBef>
                <a:spcPct val="0"/>
              </a:spcBef>
              <a:spcAft>
                <a:spcPct val="0"/>
              </a:spcAft>
            </a:pPr>
            <a:endParaRPr lang="en-US" sz="1600">
              <a:solidFill>
                <a:srgbClr val="009900"/>
              </a:solidFill>
              <a:latin typeface="Tahoma" charset="0"/>
            </a:endParaRPr>
          </a:p>
        </p:txBody>
      </p:sp>
      <p:grpSp>
        <p:nvGrpSpPr>
          <p:cNvPr id="4" name="Group 3">
            <a:extLst>
              <a:ext uri="{FF2B5EF4-FFF2-40B4-BE49-F238E27FC236}">
                <a16:creationId xmlns:a16="http://schemas.microsoft.com/office/drawing/2014/main" id="{CA8FE939-2AE5-844F-A7E1-4C0D80B054FE}"/>
              </a:ext>
            </a:extLst>
          </p:cNvPr>
          <p:cNvGrpSpPr/>
          <p:nvPr/>
        </p:nvGrpSpPr>
        <p:grpSpPr>
          <a:xfrm>
            <a:off x="1106407" y="2763030"/>
            <a:ext cx="1118319" cy="871197"/>
            <a:chOff x="457200" y="2038350"/>
            <a:chExt cx="1118319" cy="871197"/>
          </a:xfrm>
        </p:grpSpPr>
        <p:sp>
          <p:nvSpPr>
            <p:cNvPr id="17" name="Up Arrow 16"/>
            <p:cNvSpPr/>
            <p:nvPr/>
          </p:nvSpPr>
          <p:spPr bwMode="auto">
            <a:xfrm>
              <a:off x="800100" y="2038350"/>
              <a:ext cx="457200" cy="449878"/>
            </a:xfrm>
            <a:prstGeom prst="upArrow">
              <a:avLst/>
            </a:prstGeom>
            <a:solidFill>
              <a:schemeClr val="accent1"/>
            </a:solidFill>
            <a:ln w="9525" cap="flat" cmpd="sng" algn="ctr">
              <a:solidFill>
                <a:schemeClr val="accent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defTabSz="914355" fontAlgn="base">
                <a:spcBef>
                  <a:spcPct val="0"/>
                </a:spcBef>
                <a:spcAft>
                  <a:spcPct val="0"/>
                </a:spcAft>
              </a:pPr>
              <a:endParaRPr lang="en-US" sz="1600" dirty="0">
                <a:solidFill>
                  <a:srgbClr val="009900"/>
                </a:solidFill>
                <a:latin typeface="Tahoma" charset="0"/>
              </a:endParaRPr>
            </a:p>
          </p:txBody>
        </p:sp>
        <p:sp>
          <p:nvSpPr>
            <p:cNvPr id="3" name="TextBox 2">
              <a:extLst>
                <a:ext uri="{FF2B5EF4-FFF2-40B4-BE49-F238E27FC236}">
                  <a16:creationId xmlns:a16="http://schemas.microsoft.com/office/drawing/2014/main" id="{8519709E-1179-C447-AB13-38B4DAF2B4B3}"/>
                </a:ext>
              </a:extLst>
            </p:cNvPr>
            <p:cNvSpPr txBox="1"/>
            <p:nvPr/>
          </p:nvSpPr>
          <p:spPr>
            <a:xfrm>
              <a:off x="457200" y="2609465"/>
              <a:ext cx="1118319" cy="300082"/>
            </a:xfrm>
            <a:prstGeom prst="rect">
              <a:avLst/>
            </a:prstGeom>
            <a:noFill/>
          </p:spPr>
          <p:txBody>
            <a:bodyPr wrap="none" rtlCol="0">
              <a:spAutoFit/>
            </a:bodyPr>
            <a:lstStyle/>
            <a:p>
              <a:r>
                <a:rPr lang="en-US" dirty="0">
                  <a:solidFill>
                    <a:srgbClr val="C00000"/>
                  </a:solidFill>
                </a:rPr>
                <a:t>Forward pass</a:t>
              </a:r>
            </a:p>
          </p:txBody>
        </p:sp>
      </p:grpSp>
      <p:grpSp>
        <p:nvGrpSpPr>
          <p:cNvPr id="19" name="Group 18">
            <a:extLst>
              <a:ext uri="{FF2B5EF4-FFF2-40B4-BE49-F238E27FC236}">
                <a16:creationId xmlns:a16="http://schemas.microsoft.com/office/drawing/2014/main" id="{8830E49B-A849-1F4B-8B5A-957CEEBF8C1B}"/>
              </a:ext>
            </a:extLst>
          </p:cNvPr>
          <p:cNvGrpSpPr/>
          <p:nvPr/>
        </p:nvGrpSpPr>
        <p:grpSpPr>
          <a:xfrm>
            <a:off x="7085936" y="2546994"/>
            <a:ext cx="1217513" cy="799927"/>
            <a:chOff x="7086600" y="2153265"/>
            <a:chExt cx="1217513" cy="799927"/>
          </a:xfrm>
        </p:grpSpPr>
        <p:sp>
          <p:nvSpPr>
            <p:cNvPr id="59" name="Up Arrow 58">
              <a:extLst>
                <a:ext uri="{FF2B5EF4-FFF2-40B4-BE49-F238E27FC236}">
                  <a16:creationId xmlns:a16="http://schemas.microsoft.com/office/drawing/2014/main" id="{3F01E2D6-6B90-EC4F-82ED-5F4BC68C7BF7}"/>
                </a:ext>
              </a:extLst>
            </p:cNvPr>
            <p:cNvSpPr/>
            <p:nvPr/>
          </p:nvSpPr>
          <p:spPr bwMode="auto">
            <a:xfrm rot="10800000">
              <a:off x="7489410" y="2503314"/>
              <a:ext cx="457200" cy="449878"/>
            </a:xfrm>
            <a:prstGeom prst="upArrow">
              <a:avLst/>
            </a:prstGeom>
            <a:solidFill>
              <a:schemeClr val="accent1"/>
            </a:solidFill>
            <a:ln w="9525" cap="flat" cmpd="sng" algn="ctr">
              <a:solidFill>
                <a:schemeClr val="accent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defTabSz="914355" fontAlgn="base">
                <a:spcBef>
                  <a:spcPct val="0"/>
                </a:spcBef>
                <a:spcAft>
                  <a:spcPct val="0"/>
                </a:spcAft>
              </a:pPr>
              <a:endParaRPr lang="en-US" sz="1600">
                <a:solidFill>
                  <a:srgbClr val="009900"/>
                </a:solidFill>
                <a:latin typeface="Tahoma" charset="0"/>
              </a:endParaRPr>
            </a:p>
          </p:txBody>
        </p:sp>
        <p:sp>
          <p:nvSpPr>
            <p:cNvPr id="5" name="TextBox 4">
              <a:extLst>
                <a:ext uri="{FF2B5EF4-FFF2-40B4-BE49-F238E27FC236}">
                  <a16:creationId xmlns:a16="http://schemas.microsoft.com/office/drawing/2014/main" id="{BC807923-7BE6-1845-9130-078B274112A4}"/>
                </a:ext>
              </a:extLst>
            </p:cNvPr>
            <p:cNvSpPr txBox="1"/>
            <p:nvPr/>
          </p:nvSpPr>
          <p:spPr>
            <a:xfrm>
              <a:off x="7086600" y="2153265"/>
              <a:ext cx="1217513" cy="300082"/>
            </a:xfrm>
            <a:prstGeom prst="rect">
              <a:avLst/>
            </a:prstGeom>
            <a:noFill/>
          </p:spPr>
          <p:txBody>
            <a:bodyPr wrap="none" rtlCol="0">
              <a:spAutoFit/>
            </a:bodyPr>
            <a:lstStyle/>
            <a:p>
              <a:r>
                <a:rPr lang="en-US" dirty="0">
                  <a:solidFill>
                    <a:srgbClr val="C00000"/>
                  </a:solidFill>
                </a:rPr>
                <a:t>Backward pass</a:t>
              </a:r>
            </a:p>
          </p:txBody>
        </p:sp>
      </p:grpSp>
    </p:spTree>
    <p:extLst>
      <p:ext uri="{BB962C8B-B14F-4D97-AF65-F5344CB8AC3E}">
        <p14:creationId xmlns:p14="http://schemas.microsoft.com/office/powerpoint/2010/main" val="26728856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7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animBg="1"/>
      <p:bldP spid="51" grpId="0" animBg="1"/>
      <p:bldP spid="11" grpId="0"/>
      <p:bldP spid="53" grpId="0"/>
      <p:bldP spid="7" grpId="0"/>
      <p:bldP spid="78"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0" dirty="0"/>
              <a:t>Intuition: Training a 2-layer network</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97763" y="1143000"/>
                <a:ext cx="8229600" cy="4000500"/>
              </a:xfrm>
            </p:spPr>
            <p:txBody>
              <a:bodyPr>
                <a:normAutofit lnSpcReduction="10000"/>
              </a:bodyPr>
              <a:lstStyle/>
              <a:p>
                <a:r>
                  <a:rPr lang="en-US" dirty="0"/>
                  <a:t>For every training tuple </a:t>
                </a:r>
                <a14:m>
                  <m:oMath xmlns:m="http://schemas.openxmlformats.org/officeDocument/2006/math">
                    <m:r>
                      <a:rPr lang="en-US" b="0" i="1" dirty="0" smtClean="0">
                        <a:solidFill>
                          <a:srgbClr val="0000FF"/>
                        </a:solidFill>
                        <a:latin typeface="Cambria Math" panose="02040503050406030204" pitchFamily="18" charset="0"/>
                      </a:rPr>
                      <m:t>(</m:t>
                    </m:r>
                    <m:r>
                      <a:rPr lang="en-US" b="0" i="1" dirty="0" smtClean="0">
                        <a:solidFill>
                          <a:srgbClr val="0000FF"/>
                        </a:solidFill>
                        <a:latin typeface="Cambria Math" panose="02040503050406030204" pitchFamily="18" charset="0"/>
                      </a:rPr>
                      <m:t>𝑥</m:t>
                    </m:r>
                    <m:r>
                      <a:rPr lang="en-US" b="0" i="1" dirty="0" smtClean="0">
                        <a:solidFill>
                          <a:srgbClr val="0000FF"/>
                        </a:solidFill>
                        <a:latin typeface="Cambria Math" panose="02040503050406030204" pitchFamily="18" charset="0"/>
                      </a:rPr>
                      <m:t>,</m:t>
                    </m:r>
                    <m:r>
                      <a:rPr lang="en-US" b="0" i="1" dirty="0" smtClean="0">
                        <a:solidFill>
                          <a:srgbClr val="0000FF"/>
                        </a:solidFill>
                        <a:latin typeface="Cambria Math" panose="02040503050406030204" pitchFamily="18" charset="0"/>
                      </a:rPr>
                      <m:t>𝑦</m:t>
                    </m:r>
                    <m:r>
                      <a:rPr lang="en-US" b="0" i="1" dirty="0" smtClean="0">
                        <a:solidFill>
                          <a:srgbClr val="0000FF"/>
                        </a:solidFill>
                        <a:latin typeface="Cambria Math" panose="02040503050406030204" pitchFamily="18" charset="0"/>
                      </a:rPr>
                      <m:t>)</m:t>
                    </m:r>
                  </m:oMath>
                </a14:m>
                <a:endParaRPr lang="en-US" dirty="0">
                  <a:solidFill>
                    <a:srgbClr val="0000FF"/>
                  </a:solidFill>
                </a:endParaRPr>
              </a:p>
              <a:p>
                <a:pPr lvl="1"/>
                <a:r>
                  <a:rPr lang="en-US" sz="2700" dirty="0"/>
                  <a:t>Run </a:t>
                </a:r>
                <a:r>
                  <a:rPr lang="en-US" sz="2700" i="1" dirty="0">
                    <a:solidFill>
                      <a:schemeClr val="accent1"/>
                    </a:solidFill>
                  </a:rPr>
                  <a:t>forward</a:t>
                </a:r>
                <a:r>
                  <a:rPr lang="en-US" sz="2700" dirty="0"/>
                  <a:t> computation to find our estimate </a:t>
                </a:r>
                <a14:m>
                  <m:oMath xmlns:m="http://schemas.openxmlformats.org/officeDocument/2006/math">
                    <m:acc>
                      <m:accPr>
                        <m:chr m:val="̂"/>
                        <m:ctrlPr>
                          <a:rPr lang="en-US" sz="2700" i="1" dirty="0">
                            <a:solidFill>
                              <a:srgbClr val="0000FF"/>
                            </a:solidFill>
                            <a:latin typeface="Cambria Math" panose="02040503050406030204" pitchFamily="18" charset="0"/>
                          </a:rPr>
                        </m:ctrlPr>
                      </m:accPr>
                      <m:e>
                        <m:r>
                          <a:rPr lang="en-US" sz="2700" i="1" dirty="0">
                            <a:solidFill>
                              <a:srgbClr val="0000FF"/>
                            </a:solidFill>
                            <a:latin typeface="Cambria Math" panose="02040503050406030204" pitchFamily="18" charset="0"/>
                          </a:rPr>
                          <m:t>𝑦</m:t>
                        </m:r>
                      </m:e>
                    </m:acc>
                  </m:oMath>
                </a14:m>
                <a:endParaRPr lang="en-US" sz="2700" dirty="0"/>
              </a:p>
              <a:p>
                <a:pPr lvl="1"/>
                <a:r>
                  <a:rPr lang="en-US" sz="2700" dirty="0"/>
                  <a:t>Run </a:t>
                </a:r>
                <a:r>
                  <a:rPr lang="en-US" sz="2700" i="1" dirty="0">
                    <a:solidFill>
                      <a:schemeClr val="accent1"/>
                    </a:solidFill>
                  </a:rPr>
                  <a:t>backward</a:t>
                </a:r>
                <a:r>
                  <a:rPr lang="en-US" sz="2700" dirty="0"/>
                  <a:t> computation to update weights: </a:t>
                </a:r>
              </a:p>
              <a:p>
                <a:pPr lvl="2"/>
                <a:r>
                  <a:rPr lang="en-US" sz="2300" dirty="0"/>
                  <a:t>For every output node</a:t>
                </a:r>
              </a:p>
              <a:p>
                <a:pPr marL="954457" lvl="3" indent="-263123"/>
                <a:r>
                  <a:rPr lang="en-US" sz="2000" dirty="0"/>
                  <a:t>Compute loss </a:t>
                </a:r>
                <a14:m>
                  <m:oMath xmlns:m="http://schemas.openxmlformats.org/officeDocument/2006/math">
                    <m:r>
                      <a:rPr lang="en-US" sz="2000" i="1" dirty="0">
                        <a:solidFill>
                          <a:srgbClr val="0000FF"/>
                        </a:solidFill>
                        <a:latin typeface="Cambria Math" panose="02040503050406030204" pitchFamily="18" charset="0"/>
                        <a:ea typeface="Cambria Math" panose="02040503050406030204" pitchFamily="18" charset="0"/>
                      </a:rPr>
                      <m:t>𝐿</m:t>
                    </m:r>
                    <m:r>
                      <a:rPr lang="en-US" sz="2000" i="1" dirty="0">
                        <a:solidFill>
                          <a:srgbClr val="0000FF"/>
                        </a:solidFill>
                        <a:latin typeface="Cambria Math" panose="02040503050406030204" pitchFamily="18" charset="0"/>
                        <a:ea typeface="Cambria Math" panose="02040503050406030204" pitchFamily="18" charset="0"/>
                      </a:rPr>
                      <m:t> </m:t>
                    </m:r>
                  </m:oMath>
                </a14:m>
                <a:r>
                  <a:rPr lang="en-US" sz="2000" dirty="0"/>
                  <a:t>between true </a:t>
                </a:r>
                <a14:m>
                  <m:oMath xmlns:m="http://schemas.openxmlformats.org/officeDocument/2006/math">
                    <m:r>
                      <a:rPr lang="en-US" sz="2000" i="1" dirty="0">
                        <a:solidFill>
                          <a:srgbClr val="0000FF"/>
                        </a:solidFill>
                        <a:latin typeface="Cambria Math" panose="02040503050406030204" pitchFamily="18" charset="0"/>
                      </a:rPr>
                      <m:t>𝑦</m:t>
                    </m:r>
                  </m:oMath>
                </a14:m>
                <a:r>
                  <a:rPr lang="en-US" sz="2000" dirty="0">
                    <a:solidFill>
                      <a:srgbClr val="0000FF"/>
                    </a:solidFill>
                  </a:rPr>
                  <a:t> </a:t>
                </a:r>
                <a:r>
                  <a:rPr lang="en-US" sz="2000" dirty="0"/>
                  <a:t>and the estimated </a:t>
                </a:r>
                <a14:m>
                  <m:oMath xmlns:m="http://schemas.openxmlformats.org/officeDocument/2006/math">
                    <m:acc>
                      <m:accPr>
                        <m:chr m:val="̂"/>
                        <m:ctrlPr>
                          <a:rPr lang="en-US" sz="2000" i="1" dirty="0">
                            <a:solidFill>
                              <a:srgbClr val="0000FF"/>
                            </a:solidFill>
                            <a:latin typeface="Cambria Math" panose="02040503050406030204" pitchFamily="18" charset="0"/>
                          </a:rPr>
                        </m:ctrlPr>
                      </m:accPr>
                      <m:e>
                        <m:r>
                          <a:rPr lang="en-US" sz="2000" i="1" dirty="0">
                            <a:solidFill>
                              <a:srgbClr val="0000FF"/>
                            </a:solidFill>
                            <a:latin typeface="Cambria Math" panose="02040503050406030204" pitchFamily="18" charset="0"/>
                          </a:rPr>
                          <m:t>𝑦</m:t>
                        </m:r>
                      </m:e>
                    </m:acc>
                  </m:oMath>
                </a14:m>
                <a:endParaRPr lang="en-US" sz="2000" dirty="0"/>
              </a:p>
              <a:p>
                <a:pPr marL="954457" lvl="3" indent="-263123"/>
                <a:r>
                  <a:rPr lang="en-US" sz="2000" dirty="0"/>
                  <a:t>For every weight </a:t>
                </a:r>
                <a14:m>
                  <m:oMath xmlns:m="http://schemas.openxmlformats.org/officeDocument/2006/math">
                    <m:r>
                      <a:rPr lang="en-US" sz="2000" i="1" dirty="0">
                        <a:solidFill>
                          <a:srgbClr val="0000FF"/>
                        </a:solidFill>
                        <a:latin typeface="Cambria Math" panose="02040503050406030204" pitchFamily="18" charset="0"/>
                      </a:rPr>
                      <m:t>𝑤</m:t>
                    </m:r>
                    <m:r>
                      <a:rPr lang="en-US" sz="2000" i="1" dirty="0">
                        <a:solidFill>
                          <a:srgbClr val="0000FF"/>
                        </a:solidFill>
                        <a:latin typeface="Cambria Math" panose="02040503050406030204" pitchFamily="18" charset="0"/>
                      </a:rPr>
                      <m:t> </m:t>
                    </m:r>
                  </m:oMath>
                </a14:m>
                <a:r>
                  <a:rPr lang="en-US" sz="2000" dirty="0"/>
                  <a:t>from hidden layer to the output layer</a:t>
                </a:r>
              </a:p>
              <a:p>
                <a:pPr marL="1144556" lvl="4" indent="-304793"/>
                <a:r>
                  <a:rPr lang="en-US" sz="1900" dirty="0"/>
                  <a:t>Update the weight</a:t>
                </a:r>
              </a:p>
              <a:p>
                <a:pPr lvl="2"/>
                <a:r>
                  <a:rPr lang="en-US" sz="2300" dirty="0"/>
                  <a:t>For every hidden node</a:t>
                </a:r>
              </a:p>
              <a:p>
                <a:pPr marL="954457" lvl="3" indent="-263123"/>
                <a:r>
                  <a:rPr lang="en-US" sz="2000" dirty="0"/>
                  <a:t>Assess how much blame it deserves for the current answer</a:t>
                </a:r>
              </a:p>
              <a:p>
                <a:pPr marL="954457" lvl="3" indent="-263123"/>
                <a:r>
                  <a:rPr lang="en-US" sz="2000" dirty="0"/>
                  <a:t>For every weight </a:t>
                </a:r>
                <a14:m>
                  <m:oMath xmlns:m="http://schemas.openxmlformats.org/officeDocument/2006/math">
                    <m:r>
                      <a:rPr lang="en-US" sz="2000" i="1" dirty="0">
                        <a:solidFill>
                          <a:srgbClr val="0000FF"/>
                        </a:solidFill>
                        <a:latin typeface="Cambria Math" panose="02040503050406030204" pitchFamily="18" charset="0"/>
                      </a:rPr>
                      <m:t>𝑤</m:t>
                    </m:r>
                    <m:r>
                      <a:rPr lang="en-US" sz="2000" i="1" dirty="0">
                        <a:solidFill>
                          <a:srgbClr val="0000FF"/>
                        </a:solidFill>
                        <a:latin typeface="Cambria Math" panose="02040503050406030204" pitchFamily="18" charset="0"/>
                      </a:rPr>
                      <m:t> </m:t>
                    </m:r>
                  </m:oMath>
                </a14:m>
                <a:r>
                  <a:rPr lang="en-US" sz="2000" dirty="0"/>
                  <a:t>from input layer to the hidden layer</a:t>
                </a:r>
              </a:p>
              <a:p>
                <a:pPr marL="1144556" lvl="4" indent="-345272"/>
                <a:r>
                  <a:rPr lang="en-US" sz="1900" dirty="0"/>
                  <a:t>Update the weight</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97763" y="1143000"/>
                <a:ext cx="8229600" cy="4000500"/>
              </a:xfrm>
              <a:blipFill>
                <a:blip r:embed="rId3"/>
                <a:stretch>
                  <a:fillRect l="-2619" t="-3797"/>
                </a:stretch>
              </a:blipFill>
            </p:spPr>
            <p:txBody>
              <a:bodyPr/>
              <a:lstStyle/>
              <a:p>
                <a:r>
                  <a:rPr lang="en-US">
                    <a:noFill/>
                  </a:rPr>
                  <a:t> </a:t>
                </a:r>
              </a:p>
            </p:txBody>
          </p:sp>
        </mc:Fallback>
      </mc:AlternateContent>
      <p:sp>
        <p:nvSpPr>
          <p:cNvPr id="6" name="Slide Number Placeholder 5"/>
          <p:cNvSpPr>
            <a:spLocks noGrp="1"/>
          </p:cNvSpPr>
          <p:nvPr>
            <p:ph type="sldNum" sz="quarter" idx="12"/>
          </p:nvPr>
        </p:nvSpPr>
        <p:spPr/>
        <p:txBody>
          <a:bodyPr/>
          <a:lstStyle/>
          <a:p>
            <a:pPr>
              <a:defRPr/>
            </a:pPr>
            <a:fld id="{713DD8BE-556E-3440-9013-11CC5588178D}" type="slidenum">
              <a:rPr lang="en-US" smtClean="0"/>
              <a:pPr>
                <a:defRPr/>
              </a:pPr>
              <a:t>29</a:t>
            </a:fld>
            <a:endParaRPr lang="en-US"/>
          </a:p>
        </p:txBody>
      </p:sp>
    </p:spTree>
    <p:extLst>
      <p:ext uri="{BB962C8B-B14F-4D97-AF65-F5344CB8AC3E}">
        <p14:creationId xmlns:p14="http://schemas.microsoft.com/office/powerpoint/2010/main" val="787067595"/>
      </p:ext>
    </p:extLst>
  </p:cSld>
  <p:clrMapOvr>
    <a:masterClrMapping/>
  </p:clrMapOvr>
</p:sld>
</file>

<file path=ppt/theme/theme1.xml><?xml version="1.0" encoding="utf-8"?>
<a:theme xmlns:a="http://schemas.openxmlformats.org/drawingml/2006/main" name="1_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46116</TotalTime>
  <Words>2614</Words>
  <Application>Microsoft Office PowerPoint</Application>
  <PresentationFormat>On-screen Show (16:9)</PresentationFormat>
  <Paragraphs>293</Paragraphs>
  <Slides>29</Slides>
  <Notes>24</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29</vt:i4>
      </vt:variant>
    </vt:vector>
  </HeadingPairs>
  <TitlesOfParts>
    <vt:vector size="38" baseType="lpstr">
      <vt:lpstr>Arial</vt:lpstr>
      <vt:lpstr>Calibri</vt:lpstr>
      <vt:lpstr>Calibri Light</vt:lpstr>
      <vt:lpstr>Cambria Math</vt:lpstr>
      <vt:lpstr>Courier</vt:lpstr>
      <vt:lpstr>Franklin Gothic Book</vt:lpstr>
      <vt:lpstr>Tahoma</vt:lpstr>
      <vt:lpstr>Times New Roman</vt:lpstr>
      <vt:lpstr>1_Retrospect</vt:lpstr>
      <vt:lpstr>Neural Networks and Deep Learning</vt:lpstr>
      <vt:lpstr>This is in your brain</vt:lpstr>
      <vt:lpstr>Neural Network Unit This is not in your brain</vt:lpstr>
      <vt:lpstr>Neural unit</vt:lpstr>
      <vt:lpstr>Non-Linear Activation Functions</vt:lpstr>
      <vt:lpstr>Final function the unit is computing</vt:lpstr>
      <vt:lpstr>Final unit again</vt:lpstr>
      <vt:lpstr>An example</vt:lpstr>
      <vt:lpstr>An example</vt:lpstr>
      <vt:lpstr>An example</vt:lpstr>
      <vt:lpstr>An example</vt:lpstr>
      <vt:lpstr>Non-Linear Activation Functions besides sigmoid</vt:lpstr>
      <vt:lpstr>Simple Neural Networks and Neural Language Models</vt:lpstr>
      <vt:lpstr>The XOR problem</vt:lpstr>
      <vt:lpstr>Perceptrons</vt:lpstr>
      <vt:lpstr>Easy to build AND or OR with perceptrons</vt:lpstr>
      <vt:lpstr>Not possible to capture XOR with perceptrons</vt:lpstr>
      <vt:lpstr>Why? Perceptrons are linear classifiers</vt:lpstr>
      <vt:lpstr>Decision boundaries</vt:lpstr>
      <vt:lpstr>Solution to the XOR problem</vt:lpstr>
      <vt:lpstr>The hidden representation h</vt:lpstr>
      <vt:lpstr>Simple Neural Networks and Neural Language Models</vt:lpstr>
      <vt:lpstr>Feedforward Neural Networks</vt:lpstr>
      <vt:lpstr>softmax: a generalization of sigmoid</vt:lpstr>
      <vt:lpstr>Two-Layer Network with scalar output</vt:lpstr>
      <vt:lpstr>Two-Layer Network with softmax output</vt:lpstr>
      <vt:lpstr>Simple Neural Networks and Neural Language Models</vt:lpstr>
      <vt:lpstr>Intuition: training a 2-layer Network</vt:lpstr>
      <vt:lpstr>Intuition: Training a 2-layer network</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Simple Neural Networks and Neural Language Models</dc:title>
  <dc:subject>Speech and Language Processing</dc:subject>
  <dc:creator>Dan Jurafsky</dc:creator>
  <cp:keywords/>
  <dc:description/>
  <cp:lastModifiedBy>Ahmedul Kabir</cp:lastModifiedBy>
  <cp:revision>1999</cp:revision>
  <cp:lastPrinted>2021-04-28T21:12:31Z</cp:lastPrinted>
  <dcterms:created xsi:type="dcterms:W3CDTF">2009-06-12T17:14:38Z</dcterms:created>
  <dcterms:modified xsi:type="dcterms:W3CDTF">2025-07-29T17:38:50Z</dcterms:modified>
  <cp:category/>
</cp:coreProperties>
</file>