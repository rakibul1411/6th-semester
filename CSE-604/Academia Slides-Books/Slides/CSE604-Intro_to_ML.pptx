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309" r:id="rId37"/>
    <p:sldId id="310" r:id="rId38"/>
    <p:sldId id="311" r:id="rId39"/>
    <p:sldId id="312" r:id="rId40"/>
    <p:sldId id="313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48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02054" y="90170"/>
            <a:ext cx="5739891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040" y="90170"/>
            <a:ext cx="850391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25220"/>
            <a:ext cx="7994650" cy="4630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0415" y="6429364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24.jpeg"/><Relationship Id="rId7" Type="http://schemas.openxmlformats.org/officeDocument/2006/relationships/image" Target="../media/image23.jpeg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jpeg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5.jpeg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69.png"/><Relationship Id="rId16" Type="http://schemas.openxmlformats.org/officeDocument/2006/relationships/image" Target="../media/image68.png"/><Relationship Id="rId15" Type="http://schemas.openxmlformats.org/officeDocument/2006/relationships/image" Target="../media/image67.png"/><Relationship Id="rId14" Type="http://schemas.openxmlformats.org/officeDocument/2006/relationships/image" Target="../media/image66.png"/><Relationship Id="rId13" Type="http://schemas.openxmlformats.org/officeDocument/2006/relationships/image" Target="../media/image65.png"/><Relationship Id="rId12" Type="http://schemas.openxmlformats.org/officeDocument/2006/relationships/image" Target="../media/image64.png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75.png"/><Relationship Id="rId17" Type="http://schemas.openxmlformats.org/officeDocument/2006/relationships/image" Target="../media/image74.png"/><Relationship Id="rId16" Type="http://schemas.openxmlformats.org/officeDocument/2006/relationships/image" Target="../media/image68.png"/><Relationship Id="rId15" Type="http://schemas.openxmlformats.org/officeDocument/2006/relationships/image" Target="../media/image73.png"/><Relationship Id="rId14" Type="http://schemas.openxmlformats.org/officeDocument/2006/relationships/image" Target="../media/image66.png"/><Relationship Id="rId13" Type="http://schemas.openxmlformats.org/officeDocument/2006/relationships/image" Target="../media/image72.png"/><Relationship Id="rId12" Type="http://schemas.openxmlformats.org/officeDocument/2006/relationships/image" Target="../media/image71.png"/><Relationship Id="rId11" Type="http://schemas.openxmlformats.org/officeDocument/2006/relationships/image" Target="../media/image70.png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55.png"/><Relationship Id="rId4" Type="http://schemas.openxmlformats.org/officeDocument/2006/relationships/image" Target="../media/image64.png"/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85.png"/><Relationship Id="rId16" Type="http://schemas.openxmlformats.org/officeDocument/2006/relationships/image" Target="../media/image68.png"/><Relationship Id="rId15" Type="http://schemas.openxmlformats.org/officeDocument/2006/relationships/image" Target="../media/image84.png"/><Relationship Id="rId14" Type="http://schemas.openxmlformats.org/officeDocument/2006/relationships/image" Target="../media/image66.png"/><Relationship Id="rId13" Type="http://schemas.openxmlformats.org/officeDocument/2006/relationships/image" Target="../media/image83.png"/><Relationship Id="rId12" Type="http://schemas.openxmlformats.org/officeDocument/2006/relationships/image" Target="../media/image61.png"/><Relationship Id="rId11" Type="http://schemas.openxmlformats.org/officeDocument/2006/relationships/image" Target="../media/image82.png"/><Relationship Id="rId10" Type="http://schemas.openxmlformats.org/officeDocument/2006/relationships/image" Target="../media/image81.png"/><Relationship Id="rId1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93.png"/><Relationship Id="rId7" Type="http://schemas.openxmlformats.org/officeDocument/2006/relationships/image" Target="../media/image92.png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01.png"/><Relationship Id="rId17" Type="http://schemas.openxmlformats.org/officeDocument/2006/relationships/image" Target="../media/image100.png"/><Relationship Id="rId16" Type="http://schemas.openxmlformats.org/officeDocument/2006/relationships/image" Target="../media/image99.png"/><Relationship Id="rId15" Type="http://schemas.openxmlformats.org/officeDocument/2006/relationships/image" Target="../media/image98.png"/><Relationship Id="rId14" Type="http://schemas.openxmlformats.org/officeDocument/2006/relationships/image" Target="../media/image97.png"/><Relationship Id="rId13" Type="http://schemas.openxmlformats.org/officeDocument/2006/relationships/image" Target="../media/image96.png"/><Relationship Id="rId12" Type="http://schemas.openxmlformats.org/officeDocument/2006/relationships/image" Target="../media/image78.png"/><Relationship Id="rId11" Type="http://schemas.openxmlformats.org/officeDocument/2006/relationships/image" Target="../media/image54.png"/><Relationship Id="rId10" Type="http://schemas.openxmlformats.org/officeDocument/2006/relationships/image" Target="../media/image95.png"/><Relationship Id="rId1" Type="http://schemas.openxmlformats.org/officeDocument/2006/relationships/image" Target="../media/image86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jpeg"/><Relationship Id="rId2" Type="http://schemas.openxmlformats.org/officeDocument/2006/relationships/image" Target="../media/image106.jpe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8.png"/><Relationship Id="rId13" Type="http://schemas.openxmlformats.org/officeDocument/2006/relationships/image" Target="../media/image117.png"/><Relationship Id="rId12" Type="http://schemas.openxmlformats.org/officeDocument/2006/relationships/image" Target="../media/image116.png"/><Relationship Id="rId11" Type="http://schemas.openxmlformats.org/officeDocument/2006/relationships/image" Target="../media/image115.png"/><Relationship Id="rId10" Type="http://schemas.openxmlformats.org/officeDocument/2006/relationships/image" Target="../media/image114.png"/><Relationship Id="rId1" Type="http://schemas.openxmlformats.org/officeDocument/2006/relationships/image" Target="../media/image105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youtube.com/watch?v=4cgWya-wjgY" TargetMode="External"/><Relationship Id="rId1" Type="http://schemas.openxmlformats.org/officeDocument/2006/relationships/image" Target="../media/image121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VCdxqn0fcnE" TargetMode="External"/><Relationship Id="rId3" Type="http://schemas.openxmlformats.org/officeDocument/2006/relationships/hyperlink" Target="http://heli.stanford.edu/" TargetMode="External"/><Relationship Id="rId2" Type="http://schemas.openxmlformats.org/officeDocument/2006/relationships/image" Target="../media/image123.png"/><Relationship Id="rId1" Type="http://schemas.openxmlformats.org/officeDocument/2006/relationships/image" Target="../media/image1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0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1" Type="http://schemas.openxmlformats.org/officeDocument/2006/relationships/image" Target="../media/image13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 anchor="ctr">
            <a:normAutofit fontScale="90000"/>
          </a:bodyPr>
          <a:lstStyle/>
          <a:p>
            <a:pPr algn="ctr" eaLnBrk="1" hangingPunct="1"/>
            <a:br>
              <a:rPr lang="en-US" altLang="en-US" sz="4000" dirty="0"/>
            </a:br>
            <a:r>
              <a:rPr lang="en-US" altLang="en-US" sz="4000" b="0" dirty="0">
                <a:latin typeface="Garamond" panose="02020404030301010803" pitchFamily="18" charset="0"/>
              </a:rPr>
              <a:t>   </a:t>
            </a:r>
            <a:r>
              <a:rPr lang="en-US" altLang="en-US" sz="2800" b="0" dirty="0">
                <a:latin typeface="Garamond" panose="02020404030301010803" pitchFamily="18" charset="0"/>
              </a:rPr>
              <a:t>CSE 604</a:t>
            </a:r>
            <a:r>
              <a:rPr lang="en-US" altLang="en-US" sz="4000" b="0" dirty="0">
                <a:latin typeface="Garamond" panose="02020404030301010803" pitchFamily="18" charset="0"/>
              </a:rPr>
              <a:t>	</a:t>
            </a:r>
            <a:br>
              <a:rPr lang="en-US" altLang="en-US" sz="4000" b="0" dirty="0">
                <a:latin typeface="Garamond" panose="02020404030301010803" pitchFamily="18" charset="0"/>
              </a:rPr>
            </a:br>
            <a:r>
              <a:rPr lang="en-US" altLang="en-US" sz="4000" b="0" dirty="0">
                <a:latin typeface="Garamond" panose="02020404030301010803" pitchFamily="18" charset="0"/>
              </a:rPr>
              <a:t>Artificial Intelligence</a:t>
            </a:r>
            <a:endParaRPr lang="en-US" altLang="en-US" sz="4000" b="0" dirty="0">
              <a:latin typeface="Garamond" panose="02020404030301010803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2018292"/>
            <a:ext cx="7772399" cy="3772907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endParaRPr lang="en-US" altLang="en-US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algn="ctr" eaLnBrk="1" hangingPunct="1"/>
            <a:r>
              <a:rPr lang="en-US" altLang="en-US" sz="3200" dirty="0">
                <a:latin typeface="Garamond" panose="02020404030301010803" pitchFamily="18" charset="0"/>
              </a:rPr>
              <a:t>Introduction to Machine Learning</a:t>
            </a:r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algn="ctr" eaLnBrk="1" hangingPunct="1"/>
            <a:r>
              <a:rPr lang="en-US" altLang="en-US" sz="1800" dirty="0">
                <a:latin typeface="Garamond" panose="02020404030301010803" pitchFamily="18" charset="0"/>
              </a:rPr>
              <a:t>Dr. </a:t>
            </a:r>
            <a:r>
              <a:rPr lang="en-US" altLang="en-US" sz="1800" dirty="0" err="1">
                <a:latin typeface="Garamond" panose="02020404030301010803" pitchFamily="18" charset="0"/>
              </a:rPr>
              <a:t>Ahmedul</a:t>
            </a:r>
            <a:r>
              <a:rPr lang="en-US" altLang="en-US" sz="1800" dirty="0">
                <a:latin typeface="Garamond" panose="02020404030301010803" pitchFamily="18" charset="0"/>
              </a:rPr>
              <a:t> Kabir</a:t>
            </a:r>
            <a:endParaRPr lang="en-US" altLang="en-US" sz="1800" dirty="0">
              <a:latin typeface="Garamond" panose="020204040303010108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0514" y="3904745"/>
            <a:ext cx="5682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 dirty="0">
                <a:latin typeface="Garamond" panose="02020404030301010803" pitchFamily="18" charset="0"/>
              </a:rPr>
              <a:t>Adapted from slides by Prof. Eric Eaton (</a:t>
            </a:r>
            <a:r>
              <a:rPr lang="en-US" sz="1600" b="0" dirty="0" err="1">
                <a:latin typeface="Garamond" panose="02020404030301010803" pitchFamily="18" charset="0"/>
              </a:rPr>
              <a:t>Universiy</a:t>
            </a:r>
            <a:r>
              <a:rPr lang="en-US" sz="1600" b="0" dirty="0">
                <a:latin typeface="Garamond" panose="02020404030301010803" pitchFamily="18" charset="0"/>
              </a:rPr>
              <a:t> of Pennsylvania) </a:t>
            </a:r>
            <a:endParaRPr lang="en-US" sz="1600" b="0" dirty="0"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082" y="5867400"/>
            <a:ext cx="1325831" cy="7225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094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What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Learning?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37920"/>
            <a:ext cx="8139430" cy="5247005"/>
          </a:xfrm>
          <a:prstGeom prst="rect">
            <a:avLst/>
          </a:prstGeom>
        </p:spPr>
        <p:txBody>
          <a:bodyPr vert="horz" wrap="square" lIns="0" tIns="58419" rIns="0" bIns="0" rtlCol="0">
            <a:noAutofit/>
          </a:bodyPr>
          <a:lstStyle/>
          <a:p>
            <a:pPr marL="180975" marR="5080" indent="-168275">
              <a:lnSpc>
                <a:spcPts val="3300"/>
              </a:lnSpc>
              <a:spcBef>
                <a:spcPts val="460"/>
              </a:spcBef>
            </a:pPr>
            <a:r>
              <a:rPr sz="2800" dirty="0">
                <a:latin typeface="Calibri"/>
                <a:cs typeface="Calibri"/>
              </a:rPr>
              <a:t>“Learning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improves </a:t>
            </a:r>
            <a:r>
              <a:rPr sz="2800" dirty="0">
                <a:latin typeface="Calibri"/>
                <a:cs typeface="Calibri"/>
              </a:rPr>
              <a:t>performance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experience.”</a:t>
            </a:r>
            <a:endParaRPr sz="2800">
              <a:latin typeface="Calibri"/>
              <a:cs typeface="Calibri"/>
            </a:endParaRPr>
          </a:p>
          <a:p>
            <a:pPr marL="2755265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latin typeface="Calibri"/>
                <a:cs typeface="Calibri"/>
              </a:rPr>
              <a:t>-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Herbert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Simon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Definition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80" dirty="0">
                <a:latin typeface="Calibri"/>
                <a:cs typeface="Calibri"/>
              </a:rPr>
              <a:t>Tom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Mitchell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(1998):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</a:t>
            </a:r>
            <a:endParaRPr sz="2800">
              <a:latin typeface="Calibri"/>
              <a:cs typeface="Calibri"/>
            </a:endParaRPr>
          </a:p>
          <a:p>
            <a:pPr marL="840740" indent="-37274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840740" algn="l"/>
              </a:tabLst>
            </a:pPr>
            <a:r>
              <a:rPr sz="2800" spc="-10" dirty="0">
                <a:latin typeface="Calibri"/>
                <a:cs typeface="Calibri"/>
              </a:rPr>
              <a:t>improve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i="1" spc="40" dirty="0">
                <a:latin typeface="Georgia" panose="02040502050405090303"/>
                <a:cs typeface="Georgia" panose="02040502050405090303"/>
              </a:rPr>
              <a:t>P</a:t>
            </a:r>
            <a:endParaRPr sz="2800">
              <a:latin typeface="Georgia" panose="02040502050405090303"/>
              <a:cs typeface="Georgia" panose="02040502050405090303"/>
            </a:endParaRPr>
          </a:p>
          <a:p>
            <a:pPr marL="840740" indent="-37274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840740" algn="l"/>
              </a:tabLst>
            </a:pPr>
            <a:r>
              <a:rPr sz="2800" dirty="0">
                <a:latin typeface="Calibri"/>
                <a:cs typeface="Calibri"/>
              </a:rPr>
              <a:t>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Georgia" panose="02040502050405090303"/>
                <a:cs typeface="Georgia" panose="02040502050405090303"/>
              </a:rPr>
              <a:t>T</a:t>
            </a:r>
            <a:endParaRPr sz="2800">
              <a:latin typeface="Georgia" panose="02040502050405090303"/>
              <a:cs typeface="Georgia" panose="02040502050405090303"/>
            </a:endParaRPr>
          </a:p>
          <a:p>
            <a:pPr marL="840740" indent="-37274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840740" algn="l"/>
              </a:tabLst>
            </a:pP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experience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i="1" spc="85" dirty="0">
                <a:latin typeface="Georgia" panose="02040502050405090303"/>
                <a:cs typeface="Georgia" panose="02040502050405090303"/>
              </a:rPr>
              <a:t>E</a:t>
            </a:r>
            <a:r>
              <a:rPr sz="2800" spc="8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467995">
              <a:lnSpc>
                <a:spcPct val="100000"/>
              </a:lnSpc>
              <a:spcBef>
                <a:spcPts val="40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well-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i="1" dirty="0">
                <a:latin typeface="Georgia" panose="02040502050405090303"/>
                <a:cs typeface="Georgia" panose="02040502050405090303"/>
              </a:rPr>
              <a:t>P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Georgia" panose="02040502050405090303"/>
                <a:cs typeface="Georgia" panose="02040502050405090303"/>
              </a:rPr>
              <a:t>T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i="1" spc="40" dirty="0">
                <a:latin typeface="Georgia" panose="02040502050405090303"/>
                <a:cs typeface="Georgia" panose="02040502050405090303"/>
              </a:rPr>
              <a:t>E</a:t>
            </a:r>
            <a:r>
              <a:rPr sz="2800" spc="40" dirty="0">
                <a:latin typeface="Calibri"/>
                <a:cs typeface="Calibri"/>
              </a:rPr>
              <a:t>&gt;.</a:t>
            </a:r>
            <a:endParaRPr sz="2800">
              <a:latin typeface="Calibri"/>
              <a:cs typeface="Calibri"/>
            </a:endParaRPr>
          </a:p>
          <a:p>
            <a:pPr marR="73025" algn="r">
              <a:lnSpc>
                <a:spcPct val="100000"/>
              </a:lnSpc>
              <a:spcBef>
                <a:spcPts val="301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40330" y="776668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sz="1600"/>
          </a:p>
        </p:txBody>
      </p:sp>
      <p:sp>
        <p:nvSpPr>
          <p:cNvPr id="5" name="Text Box 4"/>
          <p:cNvSpPr txBox="1"/>
          <p:nvPr/>
        </p:nvSpPr>
        <p:spPr>
          <a:xfrm>
            <a:off x="1958975" y="79711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090" y="617220"/>
            <a:ext cx="42030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C0504D"/>
                </a:solidFill>
              </a:rPr>
              <a:t>Traditional</a:t>
            </a:r>
            <a:r>
              <a:rPr sz="3200" spc="-110" dirty="0">
                <a:solidFill>
                  <a:srgbClr val="C0504D"/>
                </a:solidFill>
              </a:rPr>
              <a:t> </a:t>
            </a:r>
            <a:r>
              <a:rPr sz="3200" spc="-10" dirty="0">
                <a:solidFill>
                  <a:srgbClr val="C0504D"/>
                </a:solidFill>
              </a:rPr>
              <a:t>Programming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20090" y="3538220"/>
            <a:ext cx="303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C0504D"/>
                </a:solidFill>
                <a:latin typeface="Calibri"/>
                <a:cs typeface="Calibri"/>
              </a:rPr>
              <a:t>Machine</a:t>
            </a:r>
            <a:r>
              <a:rPr sz="3200" b="1" spc="-7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504D"/>
                </a:solidFill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1600200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Times New Roman" panose="02020503050405090304"/>
              <a:cs typeface="Times New Roman" panose="02020503050405090304"/>
            </a:endParaRPr>
          </a:p>
          <a:p>
            <a:pPr marL="502285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19939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38400" y="26797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19800" y="2222501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4540" y="1517650"/>
            <a:ext cx="1464310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69925">
              <a:lnSpc>
                <a:spcPct val="137000"/>
              </a:lnSpc>
              <a:spcBef>
                <a:spcPts val="95"/>
              </a:spcBef>
            </a:pPr>
            <a:r>
              <a:rPr sz="3200" spc="-3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0540" y="1988820"/>
            <a:ext cx="1212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9000" y="4419600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Times New Roman" panose="02020503050405090304"/>
              <a:cs typeface="Times New Roman" panose="02020503050405090304"/>
            </a:endParaRPr>
          </a:p>
          <a:p>
            <a:pPr marL="502285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14600" y="48133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14600" y="54991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6999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96000" y="5041901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45539" y="4260850"/>
            <a:ext cx="1212215" cy="151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5125">
              <a:lnSpc>
                <a:spcPct val="153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36740" y="4808220"/>
            <a:ext cx="14293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569510"/>
            <a:ext cx="2106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03602" y="64220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latin typeface="Calibri"/>
                <a:cs typeface="Calibri"/>
              </a:rPr>
              <a:t>When</a:t>
            </a:r>
            <a:r>
              <a:rPr sz="4000" b="0" spc="-8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Do</a:t>
            </a:r>
            <a:r>
              <a:rPr sz="4000" b="0" spc="-7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We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Use</a:t>
            </a:r>
            <a:r>
              <a:rPr sz="4000" b="0" spc="-8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Machine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Learning?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36743"/>
            <a:ext cx="7489825" cy="21183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800" dirty="0">
                <a:latin typeface="Calibri"/>
                <a:cs typeface="Calibri"/>
              </a:rPr>
              <a:t>ML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when: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expertise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(navigating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Mars)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Humans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expertise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(speech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customized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(personalized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medicine)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(genomics)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456343"/>
            <a:ext cx="6567170" cy="13531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isn’t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always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useful:</a:t>
            </a:r>
            <a:endParaRPr sz="2800">
              <a:latin typeface="Calibri"/>
              <a:cs typeface="Calibri"/>
            </a:endParaRPr>
          </a:p>
          <a:p>
            <a:pPr marL="8121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“learn”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payroll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Alpaydin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7200" y="3291621"/>
            <a:ext cx="2082477" cy="16676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2200" y="3291621"/>
            <a:ext cx="2001169" cy="16676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5892" y="3287919"/>
            <a:ext cx="1973474" cy="16713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1889" y="3291621"/>
            <a:ext cx="1830026" cy="16676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03602" y="64220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293" y="209232"/>
            <a:ext cx="842264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9725" marR="5080" indent="-1597660">
              <a:lnSpc>
                <a:spcPct val="113000"/>
              </a:lnSpc>
              <a:spcBef>
                <a:spcPts val="100"/>
              </a:spcBef>
            </a:pP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classic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example</a:t>
            </a:r>
            <a:r>
              <a:rPr sz="2800" b="0" spc="-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of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task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that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requires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machine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learning: </a:t>
            </a:r>
            <a:r>
              <a:rPr sz="2800" b="0" dirty="0">
                <a:latin typeface="Calibri"/>
                <a:cs typeface="Calibri"/>
              </a:rPr>
              <a:t>It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is</a:t>
            </a:r>
            <a:r>
              <a:rPr sz="2800" b="0" spc="-4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very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hard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say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what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makes</a:t>
            </a:r>
            <a:r>
              <a:rPr sz="2800" b="0" spc="-4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2637" y="1561048"/>
            <a:ext cx="7327900" cy="4999355"/>
            <a:chOff x="782637" y="1561048"/>
            <a:chExt cx="7327900" cy="499935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05784" y="1561048"/>
              <a:ext cx="7104366" cy="49991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2162" y="2565400"/>
              <a:ext cx="5219700" cy="827405"/>
            </a:xfrm>
            <a:custGeom>
              <a:avLst/>
              <a:gdLst/>
              <a:ahLst/>
              <a:cxnLst/>
              <a:rect l="l" t="t" r="r" b="b"/>
              <a:pathLst>
                <a:path w="5219700" h="827404">
                  <a:moveTo>
                    <a:pt x="0" y="0"/>
                  </a:moveTo>
                  <a:lnTo>
                    <a:pt x="5219700" y="0"/>
                  </a:lnTo>
                  <a:lnTo>
                    <a:pt x="5219700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31000" y="2565400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39975" y="4762500"/>
              <a:ext cx="1368425" cy="827405"/>
            </a:xfrm>
            <a:custGeom>
              <a:avLst/>
              <a:gdLst/>
              <a:ahLst/>
              <a:cxnLst/>
              <a:rect l="l" t="t" r="r" b="b"/>
              <a:pathLst>
                <a:path w="1368425" h="827404">
                  <a:moveTo>
                    <a:pt x="0" y="0"/>
                  </a:moveTo>
                  <a:lnTo>
                    <a:pt x="1368425" y="0"/>
                  </a:lnTo>
                  <a:lnTo>
                    <a:pt x="1368425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7087" y="3681412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7"/>
                  </a:lnTo>
                  <a:lnTo>
                    <a:pt x="0" y="82708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6</a:t>
            </a:r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78739" y="6579051"/>
            <a:ext cx="20777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Geoffrey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Hinton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7</a:t>
            </a:r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6579051"/>
            <a:ext cx="20777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Geoffrey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Hinton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476" y="109220"/>
            <a:ext cx="711327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85470" marR="5080" indent="-573405">
              <a:lnSpc>
                <a:spcPts val="3800"/>
              </a:lnSpc>
              <a:spcBef>
                <a:spcPts val="240"/>
              </a:spcBef>
            </a:pPr>
            <a:r>
              <a:rPr sz="3200" b="0" dirty="0">
                <a:latin typeface="Calibri"/>
                <a:cs typeface="Calibri"/>
              </a:rPr>
              <a:t>Some</a:t>
            </a:r>
            <a:r>
              <a:rPr sz="3200" b="0" spc="-8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more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examples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of</a:t>
            </a:r>
            <a:r>
              <a:rPr sz="3200" b="0" spc="-7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tasks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that</a:t>
            </a:r>
            <a:r>
              <a:rPr sz="3200" b="0" spc="-7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are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spc="-20" dirty="0">
                <a:latin typeface="Calibri"/>
                <a:cs typeface="Calibri"/>
              </a:rPr>
              <a:t>best </a:t>
            </a:r>
            <a:r>
              <a:rPr sz="3200" b="0" dirty="0">
                <a:latin typeface="Calibri"/>
                <a:cs typeface="Calibri"/>
              </a:rPr>
              <a:t>solved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by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using</a:t>
            </a:r>
            <a:r>
              <a:rPr sz="3200" b="0" spc="-5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a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learning</a:t>
            </a:r>
            <a:r>
              <a:rPr sz="3200" b="0" spc="-50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92343"/>
            <a:ext cx="8286750" cy="47345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Recognizing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identities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expressions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Handwritten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6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spoken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words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Medical</a:t>
            </a:r>
            <a:r>
              <a:rPr sz="2400" spc="-10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Generating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Generating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4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motion</a:t>
            </a:r>
            <a:r>
              <a:rPr sz="2400" spc="-4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sequences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Recognizing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anomalies: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credit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card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transactions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patterns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sensor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readings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nuclear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power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plant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Prediction: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Future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stock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prices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currency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exchange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rates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8</a:t>
            </a:r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2106295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992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-50" dirty="0"/>
              <a:t> </a:t>
            </a:r>
            <a:r>
              <a:rPr spc="-10" dirty="0"/>
              <a:t>Applications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49020"/>
            <a:ext cx="3644900" cy="430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Web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Computational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biology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Finance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30" dirty="0">
                <a:latin typeface="Calibri"/>
                <a:cs typeface="Calibri"/>
              </a:rPr>
              <a:t>E-</a:t>
            </a:r>
            <a:r>
              <a:rPr sz="2800" spc="-10" dirty="0">
                <a:latin typeface="Calibri"/>
                <a:cs typeface="Calibri"/>
              </a:rPr>
              <a:t>commerce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exploration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Robotics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extraction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Debugging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software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[Your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favorite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area]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Calibri"/>
                <a:cs typeface="Calibri"/>
              </a:rPr>
              <a:t>Samuel’s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45" dirty="0">
                <a:latin typeface="Calibri"/>
                <a:cs typeface="Calibri"/>
              </a:rPr>
              <a:t>Checkers-</a:t>
            </a:r>
            <a:r>
              <a:rPr b="0" spc="-10" dirty="0">
                <a:latin typeface="Calibri"/>
                <a:cs typeface="Calibri"/>
              </a:rPr>
              <a:t>Player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8014970" cy="1490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85"/>
              </a:spcBef>
              <a:tabLst>
                <a:tab pos="4319905" algn="l"/>
              </a:tabLst>
            </a:pPr>
            <a:r>
              <a:rPr sz="3200" dirty="0">
                <a:latin typeface="Calibri"/>
                <a:cs typeface="Calibri"/>
              </a:rPr>
              <a:t>“Machine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Learning: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Field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study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gives computers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ability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without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being </a:t>
            </a:r>
            <a:r>
              <a:rPr sz="3200" dirty="0">
                <a:latin typeface="Calibri"/>
                <a:cs typeface="Calibri"/>
              </a:rPr>
              <a:t>explicitly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programmed.”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-</a:t>
            </a:r>
            <a:r>
              <a:rPr sz="3200" dirty="0">
                <a:latin typeface="Calibri"/>
                <a:cs typeface="Calibri"/>
              </a:rPr>
              <a:t>Arthur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Samuel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(1959)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22311" y="3149600"/>
            <a:ext cx="5899377" cy="3314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03602" y="64220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63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Defining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Task</a:t>
            </a:r>
            <a:endParaRPr b="0" spc="-2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3150" y="1047115"/>
            <a:ext cx="6676390" cy="528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 marR="5080" indent="904240">
              <a:lnSpc>
                <a:spcPct val="113000"/>
              </a:lnSpc>
              <a:spcBef>
                <a:spcPts val="100"/>
              </a:spcBef>
            </a:pP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Improve</a:t>
            </a:r>
            <a:r>
              <a:rPr sz="2800" spc="-10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task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45" dirty="0">
                <a:solidFill>
                  <a:srgbClr val="FF3300"/>
                </a:solidFill>
                <a:latin typeface="Calibri"/>
                <a:cs typeface="Calibri"/>
              </a:rPr>
              <a:t>T,</a:t>
            </a:r>
            <a:r>
              <a:rPr sz="2800" spc="-1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with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respect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00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performance</a:t>
            </a:r>
            <a:r>
              <a:rPr sz="2800" spc="-13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metric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95" dirty="0">
                <a:solidFill>
                  <a:srgbClr val="FF3300"/>
                </a:solidFill>
                <a:latin typeface="Calibri"/>
                <a:cs typeface="Calibri"/>
              </a:rPr>
              <a:t>P,</a:t>
            </a:r>
            <a:r>
              <a:rPr sz="2800" spc="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based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sz="2800" spc="-6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experience</a:t>
            </a:r>
            <a:r>
              <a:rPr sz="2800" spc="-6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2435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Playing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checkers</a:t>
            </a:r>
            <a:endParaRPr sz="1800">
              <a:latin typeface="Calibri"/>
              <a:cs typeface="Calibri"/>
            </a:endParaRPr>
          </a:p>
          <a:p>
            <a:pPr marL="12700" marR="1220470">
              <a:lnSpc>
                <a:spcPts val="1900"/>
              </a:lnSpc>
              <a:spcBef>
                <a:spcPts val="200"/>
              </a:spcBef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arbitrary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opponent </a:t>
            </a:r>
            <a:r>
              <a:rPr sz="1800" dirty="0">
                <a:latin typeface="Calibri"/>
                <a:cs typeface="Calibri"/>
              </a:rPr>
              <a:t>E: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practice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games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against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itself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1720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Recognizing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hand-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</a:pPr>
            <a:r>
              <a:rPr sz="1800" dirty="0">
                <a:latin typeface="Calibri"/>
                <a:cs typeface="Calibri"/>
              </a:rPr>
              <a:t>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labeled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handwritten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  <a:spcBef>
                <a:spcPts val="1740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four-</a:t>
            </a:r>
            <a:r>
              <a:rPr sz="1800" dirty="0">
                <a:latin typeface="Calibri"/>
                <a:cs typeface="Calibri"/>
              </a:rPr>
              <a:t>lane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highways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sensors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distance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traveled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before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judged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</a:t>
            </a:r>
            <a:endParaRPr sz="1800">
              <a:latin typeface="Calibri"/>
              <a:cs typeface="Calibri"/>
            </a:endParaRPr>
          </a:p>
          <a:p>
            <a:pPr marL="274320" marR="681990" indent="-262255">
              <a:lnSpc>
                <a:spcPts val="1900"/>
              </a:lnSpc>
              <a:spcBef>
                <a:spcPts val="200"/>
              </a:spcBef>
            </a:pPr>
            <a:r>
              <a:rPr sz="1800" dirty="0">
                <a:latin typeface="Calibri"/>
                <a:cs typeface="Calibri"/>
              </a:rPr>
              <a:t>E: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commands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while </a:t>
            </a:r>
            <a:r>
              <a:rPr sz="1800" dirty="0">
                <a:latin typeface="Calibri"/>
                <a:cs typeface="Calibri"/>
              </a:rPr>
              <a:t>observing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driver.</a:t>
            </a:r>
            <a:endParaRPr sz="1800">
              <a:latin typeface="Calibri"/>
              <a:cs typeface="Calibri"/>
            </a:endParaRPr>
          </a:p>
          <a:p>
            <a:pPr marL="12700" marR="1724025" algn="just">
              <a:lnSpc>
                <a:spcPct val="90000"/>
              </a:lnSpc>
              <a:spcBef>
                <a:spcPts val="1930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Categorize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legitimate. </a:t>
            </a: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classified. </a:t>
            </a:r>
            <a:r>
              <a:rPr sz="1800" dirty="0">
                <a:latin typeface="Calibri"/>
                <a:cs typeface="Calibri"/>
              </a:rPr>
              <a:t>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labels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1818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879" y="2144077"/>
            <a:ext cx="7005320" cy="13690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471930" marR="5080" indent="-1459865">
              <a:lnSpc>
                <a:spcPct val="100000"/>
              </a:lnSpc>
              <a:spcBef>
                <a:spcPts val="75"/>
              </a:spcBef>
            </a:pPr>
            <a:r>
              <a:rPr b="0" dirty="0">
                <a:latin typeface="Calibri"/>
                <a:cs typeface="Calibri"/>
              </a:rPr>
              <a:t>State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Art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Applications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of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920" y="185420"/>
            <a:ext cx="40633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Autonomous</a:t>
            </a:r>
            <a:r>
              <a:rPr b="0" spc="-22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Cars</a:t>
            </a:r>
            <a:endParaRPr b="0" spc="-2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949917" y="1111138"/>
            <a:ext cx="3535679" cy="2597785"/>
            <a:chOff x="4949917" y="1111138"/>
            <a:chExt cx="3535679" cy="259778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949917" y="1111138"/>
              <a:ext cx="3535657" cy="25974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34494" y="1990021"/>
              <a:ext cx="1447800" cy="1295400"/>
            </a:xfrm>
            <a:custGeom>
              <a:avLst/>
              <a:gdLst/>
              <a:ahLst/>
              <a:cxnLst/>
              <a:rect l="l" t="t" r="r" b="b"/>
              <a:pathLst>
                <a:path w="1447800" h="1295400">
                  <a:moveTo>
                    <a:pt x="0" y="0"/>
                  </a:moveTo>
                  <a:lnTo>
                    <a:pt x="1447800" y="0"/>
                  </a:lnTo>
                  <a:lnTo>
                    <a:pt x="14478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649" y="1100951"/>
            <a:ext cx="3827150" cy="25089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9352" y="4142841"/>
            <a:ext cx="4520565" cy="2201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755015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Nevada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made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legal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for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cars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drive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on </a:t>
            </a:r>
            <a:r>
              <a:rPr sz="2300" dirty="0">
                <a:latin typeface="Calibri"/>
                <a:cs typeface="Calibri"/>
              </a:rPr>
              <a:t>roads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June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2011</a:t>
            </a:r>
            <a:endParaRPr sz="2300" dirty="0">
              <a:latin typeface="Calibri"/>
              <a:cs typeface="Calibri"/>
            </a:endParaRPr>
          </a:p>
          <a:p>
            <a:pPr marL="355600" marR="386080" indent="-342900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20</a:t>
            </a:r>
            <a:r>
              <a:rPr lang="en-US" sz="2300" dirty="0">
                <a:latin typeface="Calibri"/>
                <a:cs typeface="Calibri"/>
              </a:rPr>
              <a:t>25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lang="en-US" sz="2300" dirty="0">
                <a:latin typeface="Calibri"/>
                <a:cs typeface="Calibri"/>
              </a:rPr>
              <a:t>Most US states + many other countries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legalized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12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cars</a:t>
            </a:r>
            <a:endParaRPr sz="23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28558" y="3831664"/>
            <a:ext cx="3191510" cy="2824480"/>
            <a:chOff x="5128558" y="3831664"/>
            <a:chExt cx="3191510" cy="28244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1258" y="3844365"/>
              <a:ext cx="3166033" cy="279883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34908" y="3838014"/>
              <a:ext cx="3178810" cy="2811780"/>
            </a:xfrm>
            <a:custGeom>
              <a:avLst/>
              <a:gdLst/>
              <a:ahLst/>
              <a:cxnLst/>
              <a:rect l="l" t="t" r="r" b="b"/>
              <a:pathLst>
                <a:path w="3178809" h="2811779">
                  <a:moveTo>
                    <a:pt x="0" y="0"/>
                  </a:moveTo>
                  <a:lnTo>
                    <a:pt x="3178734" y="0"/>
                  </a:lnTo>
                  <a:lnTo>
                    <a:pt x="3178734" y="2811539"/>
                  </a:lnTo>
                  <a:lnTo>
                    <a:pt x="0" y="281153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845" y="299720"/>
            <a:ext cx="65424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Autonomous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Car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Technology</a:t>
            </a:r>
            <a:endParaRPr b="0" spc="-1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400" y="1371600"/>
            <a:ext cx="5791200" cy="2228850"/>
            <a:chOff x="152400" y="1371600"/>
            <a:chExt cx="5791200" cy="2228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2400" y="1371600"/>
              <a:ext cx="5791200" cy="2209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10118" y="2016124"/>
              <a:ext cx="3275329" cy="1562735"/>
            </a:xfrm>
            <a:custGeom>
              <a:avLst/>
              <a:gdLst/>
              <a:ahLst/>
              <a:cxnLst/>
              <a:rect l="l" t="t" r="r" b="b"/>
              <a:pathLst>
                <a:path w="3275329" h="1562735">
                  <a:moveTo>
                    <a:pt x="2672880" y="523697"/>
                  </a:moveTo>
                  <a:lnTo>
                    <a:pt x="2671762" y="524179"/>
                  </a:lnTo>
                  <a:lnTo>
                    <a:pt x="2672651" y="523976"/>
                  </a:lnTo>
                  <a:lnTo>
                    <a:pt x="2672880" y="523697"/>
                  </a:lnTo>
                  <a:close/>
                </a:path>
                <a:path w="3275329" h="1562735">
                  <a:moveTo>
                    <a:pt x="2760408" y="481723"/>
                  </a:moveTo>
                  <a:lnTo>
                    <a:pt x="2752572" y="461899"/>
                  </a:lnTo>
                  <a:lnTo>
                    <a:pt x="2738247" y="444296"/>
                  </a:lnTo>
                  <a:lnTo>
                    <a:pt x="2732608" y="437362"/>
                  </a:lnTo>
                  <a:lnTo>
                    <a:pt x="2705824" y="414032"/>
                  </a:lnTo>
                  <a:lnTo>
                    <a:pt x="2677553" y="397840"/>
                  </a:lnTo>
                  <a:lnTo>
                    <a:pt x="2646959" y="391858"/>
                  </a:lnTo>
                  <a:lnTo>
                    <a:pt x="2611590" y="392518"/>
                  </a:lnTo>
                  <a:lnTo>
                    <a:pt x="2574328" y="395846"/>
                  </a:lnTo>
                  <a:lnTo>
                    <a:pt x="2538006" y="397840"/>
                  </a:lnTo>
                  <a:lnTo>
                    <a:pt x="2501481" y="396392"/>
                  </a:lnTo>
                  <a:lnTo>
                    <a:pt x="2463876" y="393979"/>
                  </a:lnTo>
                  <a:lnTo>
                    <a:pt x="2428443" y="393496"/>
                  </a:lnTo>
                  <a:lnTo>
                    <a:pt x="2370188" y="410248"/>
                  </a:lnTo>
                  <a:lnTo>
                    <a:pt x="2328862" y="444296"/>
                  </a:lnTo>
                  <a:lnTo>
                    <a:pt x="2326716" y="446722"/>
                  </a:lnTo>
                  <a:lnTo>
                    <a:pt x="2328684" y="459778"/>
                  </a:lnTo>
                  <a:lnTo>
                    <a:pt x="2348700" y="460260"/>
                  </a:lnTo>
                  <a:lnTo>
                    <a:pt x="2429052" y="446722"/>
                  </a:lnTo>
                  <a:lnTo>
                    <a:pt x="2471140" y="444296"/>
                  </a:lnTo>
                  <a:lnTo>
                    <a:pt x="2514015" y="448995"/>
                  </a:lnTo>
                  <a:lnTo>
                    <a:pt x="2561259" y="457682"/>
                  </a:lnTo>
                  <a:lnTo>
                    <a:pt x="2605240" y="468071"/>
                  </a:lnTo>
                  <a:lnTo>
                    <a:pt x="2656840" y="487705"/>
                  </a:lnTo>
                  <a:lnTo>
                    <a:pt x="2669375" y="508876"/>
                  </a:lnTo>
                  <a:lnTo>
                    <a:pt x="2673197" y="516559"/>
                  </a:lnTo>
                  <a:lnTo>
                    <a:pt x="2674899" y="521360"/>
                  </a:lnTo>
                  <a:lnTo>
                    <a:pt x="2672880" y="523697"/>
                  </a:lnTo>
                  <a:lnTo>
                    <a:pt x="2677553" y="521716"/>
                  </a:lnTo>
                  <a:lnTo>
                    <a:pt x="2696629" y="516191"/>
                  </a:lnTo>
                  <a:lnTo>
                    <a:pt x="2724429" y="507530"/>
                  </a:lnTo>
                  <a:lnTo>
                    <a:pt x="2749512" y="495947"/>
                  </a:lnTo>
                  <a:lnTo>
                    <a:pt x="2760408" y="481723"/>
                  </a:lnTo>
                  <a:close/>
                </a:path>
                <a:path w="3275329" h="1562735">
                  <a:moveTo>
                    <a:pt x="3274987" y="897191"/>
                  </a:moveTo>
                  <a:lnTo>
                    <a:pt x="3239554" y="842632"/>
                  </a:lnTo>
                  <a:lnTo>
                    <a:pt x="3197517" y="817816"/>
                  </a:lnTo>
                  <a:lnTo>
                    <a:pt x="3139808" y="798639"/>
                  </a:lnTo>
                  <a:lnTo>
                    <a:pt x="3070961" y="791819"/>
                  </a:lnTo>
                  <a:lnTo>
                    <a:pt x="3017939" y="788949"/>
                  </a:lnTo>
                  <a:lnTo>
                    <a:pt x="2839516" y="781545"/>
                  </a:lnTo>
                  <a:lnTo>
                    <a:pt x="2788856" y="779233"/>
                  </a:lnTo>
                  <a:lnTo>
                    <a:pt x="2750235" y="776884"/>
                  </a:lnTo>
                  <a:lnTo>
                    <a:pt x="2722219" y="771753"/>
                  </a:lnTo>
                  <a:lnTo>
                    <a:pt x="2714167" y="763524"/>
                  </a:lnTo>
                  <a:lnTo>
                    <a:pt x="2715704" y="753364"/>
                  </a:lnTo>
                  <a:lnTo>
                    <a:pt x="2716530" y="742467"/>
                  </a:lnTo>
                  <a:lnTo>
                    <a:pt x="2674645" y="723125"/>
                  </a:lnTo>
                  <a:lnTo>
                    <a:pt x="2614574" y="715886"/>
                  </a:lnTo>
                  <a:lnTo>
                    <a:pt x="2564714" y="714171"/>
                  </a:lnTo>
                  <a:lnTo>
                    <a:pt x="2514587" y="713409"/>
                  </a:lnTo>
                  <a:lnTo>
                    <a:pt x="2453690" y="709053"/>
                  </a:lnTo>
                  <a:lnTo>
                    <a:pt x="2368461" y="699109"/>
                  </a:lnTo>
                  <a:lnTo>
                    <a:pt x="2313076" y="692124"/>
                  </a:lnTo>
                  <a:lnTo>
                    <a:pt x="2253310" y="684110"/>
                  </a:lnTo>
                  <a:lnTo>
                    <a:pt x="2192261" y="675259"/>
                  </a:lnTo>
                  <a:lnTo>
                    <a:pt x="2133041" y="665822"/>
                  </a:lnTo>
                  <a:lnTo>
                    <a:pt x="2078736" y="655993"/>
                  </a:lnTo>
                  <a:lnTo>
                    <a:pt x="2032444" y="646023"/>
                  </a:lnTo>
                  <a:lnTo>
                    <a:pt x="1997265" y="636104"/>
                  </a:lnTo>
                  <a:lnTo>
                    <a:pt x="1997265" y="501713"/>
                  </a:lnTo>
                  <a:lnTo>
                    <a:pt x="2194953" y="373722"/>
                  </a:lnTo>
                  <a:lnTo>
                    <a:pt x="0" y="0"/>
                  </a:lnTo>
                  <a:lnTo>
                    <a:pt x="206184" y="205841"/>
                  </a:lnTo>
                  <a:lnTo>
                    <a:pt x="681380" y="679132"/>
                  </a:lnTo>
                  <a:lnTo>
                    <a:pt x="1210538" y="1203540"/>
                  </a:lnTo>
                  <a:lnTo>
                    <a:pt x="1578622" y="1562722"/>
                  </a:lnTo>
                  <a:lnTo>
                    <a:pt x="1719249" y="1527467"/>
                  </a:lnTo>
                  <a:lnTo>
                    <a:pt x="1781289" y="1511579"/>
                  </a:lnTo>
                  <a:lnTo>
                    <a:pt x="1838159" y="1496745"/>
                  </a:lnTo>
                  <a:lnTo>
                    <a:pt x="1890153" y="1482902"/>
                  </a:lnTo>
                  <a:lnTo>
                    <a:pt x="1937537" y="1469986"/>
                  </a:lnTo>
                  <a:lnTo>
                    <a:pt x="1980590" y="1457921"/>
                  </a:lnTo>
                  <a:lnTo>
                    <a:pt x="2019592" y="1446644"/>
                  </a:lnTo>
                  <a:lnTo>
                    <a:pt x="2086521" y="1426159"/>
                  </a:lnTo>
                  <a:lnTo>
                    <a:pt x="2161946" y="1395996"/>
                  </a:lnTo>
                  <a:lnTo>
                    <a:pt x="2171154" y="1381785"/>
                  </a:lnTo>
                  <a:lnTo>
                    <a:pt x="2167534" y="1371638"/>
                  </a:lnTo>
                  <a:lnTo>
                    <a:pt x="2176056" y="1363065"/>
                  </a:lnTo>
                  <a:lnTo>
                    <a:pt x="2199500" y="1359458"/>
                  </a:lnTo>
                  <a:lnTo>
                    <a:pt x="2226208" y="1361147"/>
                  </a:lnTo>
                  <a:lnTo>
                    <a:pt x="2259457" y="1360906"/>
                  </a:lnTo>
                  <a:lnTo>
                    <a:pt x="2302522" y="1351546"/>
                  </a:lnTo>
                  <a:lnTo>
                    <a:pt x="2377325" y="1335925"/>
                  </a:lnTo>
                  <a:lnTo>
                    <a:pt x="2430526" y="1319987"/>
                  </a:lnTo>
                  <a:lnTo>
                    <a:pt x="2466975" y="1303985"/>
                  </a:lnTo>
                  <a:lnTo>
                    <a:pt x="2491486" y="1288186"/>
                  </a:lnTo>
                  <a:lnTo>
                    <a:pt x="2508923" y="1272882"/>
                  </a:lnTo>
                  <a:lnTo>
                    <a:pt x="2524099" y="1258316"/>
                  </a:lnTo>
                  <a:lnTo>
                    <a:pt x="2541879" y="1244777"/>
                  </a:lnTo>
                  <a:lnTo>
                    <a:pt x="2567076" y="1232522"/>
                  </a:lnTo>
                  <a:lnTo>
                    <a:pt x="2615158" y="1217599"/>
                  </a:lnTo>
                  <a:lnTo>
                    <a:pt x="2662199" y="1207160"/>
                  </a:lnTo>
                  <a:lnTo>
                    <a:pt x="2708897" y="1197406"/>
                  </a:lnTo>
                  <a:lnTo>
                    <a:pt x="2755925" y="1184516"/>
                  </a:lnTo>
                  <a:lnTo>
                    <a:pt x="2804020" y="1164678"/>
                  </a:lnTo>
                  <a:lnTo>
                    <a:pt x="2844304" y="1145616"/>
                  </a:lnTo>
                  <a:lnTo>
                    <a:pt x="2893098" y="1124013"/>
                  </a:lnTo>
                  <a:lnTo>
                    <a:pt x="3002623" y="1076261"/>
                  </a:lnTo>
                  <a:lnTo>
                    <a:pt x="3056534" y="1051636"/>
                  </a:lnTo>
                  <a:lnTo>
                    <a:pt x="3105340" y="1027531"/>
                  </a:lnTo>
                  <a:lnTo>
                    <a:pt x="3145612" y="1004697"/>
                  </a:lnTo>
                  <a:lnTo>
                    <a:pt x="3200374" y="971169"/>
                  </a:lnTo>
                  <a:lnTo>
                    <a:pt x="3241370" y="944702"/>
                  </a:lnTo>
                  <a:lnTo>
                    <a:pt x="3266833" y="921372"/>
                  </a:lnTo>
                  <a:lnTo>
                    <a:pt x="3274987" y="897191"/>
                  </a:lnTo>
                  <a:close/>
                </a:path>
              </a:pathLst>
            </a:custGeom>
            <a:solidFill>
              <a:srgbClr val="FF0000">
                <a:alpha val="431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597465" y="2691342"/>
              <a:ext cx="1699895" cy="890269"/>
            </a:xfrm>
            <a:custGeom>
              <a:avLst/>
              <a:gdLst/>
              <a:ahLst/>
              <a:cxnLst/>
              <a:rect l="l" t="t" r="r" b="b"/>
              <a:pathLst>
                <a:path w="1699895" h="890270">
                  <a:moveTo>
                    <a:pt x="0" y="890058"/>
                  </a:moveTo>
                  <a:lnTo>
                    <a:pt x="49672" y="876870"/>
                  </a:lnTo>
                  <a:lnTo>
                    <a:pt x="97573" y="864161"/>
                  </a:lnTo>
                  <a:lnTo>
                    <a:pt x="142476" y="851933"/>
                  </a:lnTo>
                  <a:lnTo>
                    <a:pt x="183155" y="840184"/>
                  </a:lnTo>
                  <a:lnTo>
                    <a:pt x="218382" y="828494"/>
                  </a:lnTo>
                  <a:lnTo>
                    <a:pt x="249113" y="816685"/>
                  </a:lnTo>
                  <a:lnTo>
                    <a:pt x="277390" y="805116"/>
                  </a:lnTo>
                  <a:lnTo>
                    <a:pt x="305259" y="794146"/>
                  </a:lnTo>
                  <a:lnTo>
                    <a:pt x="360859" y="774484"/>
                  </a:lnTo>
                  <a:lnTo>
                    <a:pt x="409919" y="759618"/>
                  </a:lnTo>
                  <a:lnTo>
                    <a:pt x="448621" y="752904"/>
                  </a:lnTo>
                  <a:lnTo>
                    <a:pt x="466133" y="750986"/>
                  </a:lnTo>
                  <a:lnTo>
                    <a:pt x="484053" y="748109"/>
                  </a:lnTo>
                  <a:lnTo>
                    <a:pt x="526571" y="738038"/>
                  </a:lnTo>
                  <a:lnTo>
                    <a:pt x="562548" y="725090"/>
                  </a:lnTo>
                  <a:lnTo>
                    <a:pt x="566569" y="718316"/>
                  </a:lnTo>
                  <a:lnTo>
                    <a:pt x="563093" y="711183"/>
                  </a:lnTo>
                  <a:lnTo>
                    <a:pt x="564797" y="703330"/>
                  </a:lnTo>
                  <a:lnTo>
                    <a:pt x="621577" y="685283"/>
                  </a:lnTo>
                  <a:lnTo>
                    <a:pt x="674221" y="674264"/>
                  </a:lnTo>
                  <a:lnTo>
                    <a:pt x="732238" y="662816"/>
                  </a:lnTo>
                  <a:lnTo>
                    <a:pt x="785579" y="652412"/>
                  </a:lnTo>
                  <a:lnTo>
                    <a:pt x="824199" y="644524"/>
                  </a:lnTo>
                  <a:lnTo>
                    <a:pt x="845867" y="640328"/>
                  </a:lnTo>
                  <a:lnTo>
                    <a:pt x="850364" y="639729"/>
                  </a:lnTo>
                  <a:lnTo>
                    <a:pt x="851591" y="637691"/>
                  </a:lnTo>
                  <a:lnTo>
                    <a:pt x="863447" y="629178"/>
                  </a:lnTo>
                  <a:lnTo>
                    <a:pt x="891792" y="610356"/>
                  </a:lnTo>
                  <a:lnTo>
                    <a:pt x="928859" y="585059"/>
                  </a:lnTo>
                  <a:lnTo>
                    <a:pt x="968107" y="559763"/>
                  </a:lnTo>
                  <a:lnTo>
                    <a:pt x="1002994" y="540940"/>
                  </a:lnTo>
                  <a:lnTo>
                    <a:pt x="1054778" y="529910"/>
                  </a:lnTo>
                  <a:lnTo>
                    <a:pt x="1078013" y="529251"/>
                  </a:lnTo>
                  <a:lnTo>
                    <a:pt x="1103293" y="525594"/>
                  </a:lnTo>
                  <a:lnTo>
                    <a:pt x="1130276" y="517741"/>
                  </a:lnTo>
                  <a:lnTo>
                    <a:pt x="1157804" y="507850"/>
                  </a:lnTo>
                  <a:lnTo>
                    <a:pt x="1187512" y="496281"/>
                  </a:lnTo>
                  <a:lnTo>
                    <a:pt x="1221036" y="483393"/>
                  </a:lnTo>
                  <a:lnTo>
                    <a:pt x="1259670" y="468647"/>
                  </a:lnTo>
                  <a:lnTo>
                    <a:pt x="1302257" y="451742"/>
                  </a:lnTo>
                  <a:lnTo>
                    <a:pt x="1346751" y="433399"/>
                  </a:lnTo>
                  <a:lnTo>
                    <a:pt x="1391109" y="414337"/>
                  </a:lnTo>
                  <a:lnTo>
                    <a:pt x="1437511" y="393896"/>
                  </a:lnTo>
                  <a:lnTo>
                    <a:pt x="1486502" y="371656"/>
                  </a:lnTo>
                  <a:lnTo>
                    <a:pt x="1533586" y="348697"/>
                  </a:lnTo>
                  <a:lnTo>
                    <a:pt x="1574265" y="326098"/>
                  </a:lnTo>
                  <a:lnTo>
                    <a:pt x="1608879" y="302780"/>
                  </a:lnTo>
                  <a:lnTo>
                    <a:pt x="1639677" y="278622"/>
                  </a:lnTo>
                  <a:lnTo>
                    <a:pt x="1683286" y="237860"/>
                  </a:lnTo>
                  <a:lnTo>
                    <a:pt x="1699639" y="219157"/>
                  </a:lnTo>
                  <a:lnTo>
                    <a:pt x="1698821" y="212863"/>
                  </a:lnTo>
                  <a:lnTo>
                    <a:pt x="1656030" y="169283"/>
                  </a:lnTo>
                  <a:lnTo>
                    <a:pt x="1609151" y="138112"/>
                  </a:lnTo>
                  <a:lnTo>
                    <a:pt x="1569358" y="127562"/>
                  </a:lnTo>
                  <a:lnTo>
                    <a:pt x="1547622" y="125524"/>
                  </a:lnTo>
                  <a:lnTo>
                    <a:pt x="1521934" y="122766"/>
                  </a:lnTo>
                  <a:lnTo>
                    <a:pt x="1493384" y="118330"/>
                  </a:lnTo>
                  <a:lnTo>
                    <a:pt x="1462518" y="113175"/>
                  </a:lnTo>
                  <a:lnTo>
                    <a:pt x="1426472" y="108020"/>
                  </a:lnTo>
                  <a:lnTo>
                    <a:pt x="1382387" y="103584"/>
                  </a:lnTo>
                  <a:lnTo>
                    <a:pt x="1334836" y="101159"/>
                  </a:lnTo>
                  <a:lnTo>
                    <a:pt x="1276541" y="99533"/>
                  </a:lnTo>
                  <a:lnTo>
                    <a:pt x="1216291" y="97967"/>
                  </a:lnTo>
                  <a:lnTo>
                    <a:pt x="1162880" y="95727"/>
                  </a:lnTo>
                  <a:lnTo>
                    <a:pt x="1125098" y="92074"/>
                  </a:lnTo>
                  <a:lnTo>
                    <a:pt x="1109494" y="84282"/>
                  </a:lnTo>
                  <a:lnTo>
                    <a:pt x="1115831" y="73851"/>
                  </a:lnTo>
                  <a:lnTo>
                    <a:pt x="1122440" y="62941"/>
                  </a:lnTo>
                  <a:lnTo>
                    <a:pt x="1072348" y="48001"/>
                  </a:lnTo>
                  <a:lnTo>
                    <a:pt x="1023367" y="43029"/>
                  </a:lnTo>
                  <a:lnTo>
                    <a:pt x="967618" y="38610"/>
                  </a:lnTo>
                  <a:lnTo>
                    <a:pt x="912009" y="34558"/>
                  </a:lnTo>
                  <a:lnTo>
                    <a:pt x="863447" y="30691"/>
                  </a:lnTo>
                  <a:lnTo>
                    <a:pt x="810503" y="26315"/>
                  </a:lnTo>
                  <a:lnTo>
                    <a:pt x="760422" y="22539"/>
                  </a:lnTo>
                  <a:lnTo>
                    <a:pt x="716064" y="19002"/>
                  </a:lnTo>
                  <a:lnTo>
                    <a:pt x="680291" y="15345"/>
                  </a:lnTo>
                  <a:lnTo>
                    <a:pt x="654535" y="11509"/>
                  </a:lnTo>
                  <a:lnTo>
                    <a:pt x="636683" y="7672"/>
                  </a:lnTo>
                  <a:lnTo>
                    <a:pt x="624282" y="3836"/>
                  </a:lnTo>
                  <a:lnTo>
                    <a:pt x="614879" y="0"/>
                  </a:lnTo>
                </a:path>
              </a:pathLst>
            </a:custGeom>
            <a:ln w="381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1934" y="2400829"/>
              <a:ext cx="122014" cy="1526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21739" y="2839720"/>
            <a:ext cx="2123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Laser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Terrain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Mapping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3733800"/>
            <a:ext cx="4805362" cy="26876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21952" y="5621020"/>
            <a:ext cx="7023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33CC33"/>
                </a:solidFill>
                <a:latin typeface="Arial MT"/>
                <a:cs typeface="Arial MT"/>
              </a:rPr>
              <a:t>Stanley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4144962"/>
            <a:ext cx="4269105" cy="2473325"/>
            <a:chOff x="457200" y="4144962"/>
            <a:chExt cx="4269105" cy="2473325"/>
          </a:xfrm>
        </p:grpSpPr>
        <p:sp>
          <p:nvSpPr>
            <p:cNvPr id="12" name="object 12"/>
            <p:cNvSpPr/>
            <p:nvPr/>
          </p:nvSpPr>
          <p:spPr>
            <a:xfrm>
              <a:off x="595313" y="4144962"/>
              <a:ext cx="2247900" cy="238125"/>
            </a:xfrm>
            <a:custGeom>
              <a:avLst/>
              <a:gdLst/>
              <a:ahLst/>
              <a:cxnLst/>
              <a:rect l="l" t="t" r="r" b="b"/>
              <a:pathLst>
                <a:path w="2247900" h="238125">
                  <a:moveTo>
                    <a:pt x="22479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47900" y="238125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6400800"/>
              <a:ext cx="4268787" cy="21748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12140" y="3754120"/>
            <a:ext cx="2813050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800">
              <a:latin typeface="Calibri"/>
              <a:cs typeface="Calibri"/>
            </a:endParaRPr>
          </a:p>
          <a:p>
            <a:pPr marL="1396365">
              <a:lnSpc>
                <a:spcPct val="100000"/>
              </a:lnSpc>
            </a:pPr>
            <a:r>
              <a:rPr sz="1600" spc="-10" dirty="0">
                <a:solidFill>
                  <a:srgbClr val="00CC99"/>
                </a:solidFill>
                <a:latin typeface="Arial MT"/>
                <a:cs typeface="Arial MT"/>
              </a:rPr>
              <a:t>Sebastian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9200" y="3733800"/>
            <a:ext cx="3979862" cy="26527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946140" y="3906520"/>
            <a:ext cx="1510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Adaptive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Vision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0" y="1447800"/>
            <a:ext cx="2657475" cy="216058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17802" y="1544320"/>
            <a:ext cx="84709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390525">
              <a:lnSpc>
                <a:spcPts val="2100"/>
              </a:lnSpc>
              <a:spcBef>
                <a:spcPts val="220"/>
              </a:spcBef>
            </a:pPr>
            <a:r>
              <a:rPr sz="1800" b="1" spc="-30" dirty="0">
                <a:latin typeface="Calibri"/>
                <a:cs typeface="Calibri"/>
              </a:rPr>
              <a:t>Path </a:t>
            </a:r>
            <a:r>
              <a:rPr sz="1800" b="1" spc="-10" dirty="0">
                <a:latin typeface="Calibri"/>
                <a:cs typeface="Calibri"/>
              </a:rPr>
              <a:t>Planning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8740" y="6484619"/>
            <a:ext cx="3715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Images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movies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taken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from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Sebastian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Thrun</a:t>
            </a:r>
            <a:r>
              <a:rPr sz="1000" dirty="0">
                <a:latin typeface="MS PGothic"/>
                <a:cs typeface="MS PGothic"/>
              </a:rPr>
              <a:t>’</a:t>
            </a:r>
            <a:r>
              <a:rPr sz="1000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multimedia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80" dirty="0">
                <a:latin typeface="Calibri"/>
                <a:cs typeface="Calibri"/>
              </a:rPr>
              <a:t>w</a:t>
            </a:r>
            <a:r>
              <a:rPr sz="1800" spc="-120" baseline="23000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r>
              <a:rPr sz="1000" spc="-80" dirty="0">
                <a:latin typeface="Calibri"/>
                <a:cs typeface="Calibri"/>
              </a:rPr>
              <a:t>e</a:t>
            </a:r>
            <a:r>
              <a:rPr sz="1800" spc="-120" baseline="23000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r>
              <a:rPr sz="1000" spc="-80" dirty="0">
                <a:latin typeface="Calibri"/>
                <a:cs typeface="Calibri"/>
              </a:rPr>
              <a:t>bsite.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Deep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Headlines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2" y="1447799"/>
            <a:ext cx="3794125" cy="2316480"/>
            <a:chOff x="381002" y="1447799"/>
            <a:chExt cx="3794125" cy="231648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1002" y="1567405"/>
              <a:ext cx="3657600" cy="21962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1447799"/>
              <a:ext cx="822157" cy="40306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9226" y="1490336"/>
            <a:ext cx="3111237" cy="4132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8200" y="2007348"/>
            <a:ext cx="3267636" cy="5961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9779" y="2734703"/>
            <a:ext cx="4085850" cy="96809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04800" y="4038599"/>
            <a:ext cx="4114800" cy="2634615"/>
            <a:chOff x="304800" y="4038599"/>
            <a:chExt cx="4114800" cy="263461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800" y="4038599"/>
              <a:ext cx="4114801" cy="13724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5369138"/>
              <a:ext cx="3375823" cy="130370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58575" y="4038600"/>
            <a:ext cx="425682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89581" y="4133970"/>
            <a:ext cx="1740941" cy="11270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627656" y="655637"/>
            <a:ext cx="2130425" cy="5978525"/>
            <a:chOff x="4627656" y="655637"/>
            <a:chExt cx="2130425" cy="5978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4856" y="5667375"/>
              <a:ext cx="966786" cy="966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9575" y="2381974"/>
              <a:ext cx="1949393" cy="13232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54643" y="2332038"/>
              <a:ext cx="2103755" cy="338455"/>
            </a:xfrm>
            <a:custGeom>
              <a:avLst/>
              <a:gdLst/>
              <a:ahLst/>
              <a:cxnLst/>
              <a:rect l="l" t="t" r="r" b="b"/>
              <a:pathLst>
                <a:path w="2103754" h="338455">
                  <a:moveTo>
                    <a:pt x="2103437" y="0"/>
                  </a:moveTo>
                  <a:lnTo>
                    <a:pt x="0" y="0"/>
                  </a:lnTo>
                  <a:lnTo>
                    <a:pt x="0" y="338195"/>
                  </a:lnTo>
                  <a:lnTo>
                    <a:pt x="2103437" y="338195"/>
                  </a:lnTo>
                  <a:lnTo>
                    <a:pt x="2103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8924" y="779423"/>
              <a:ext cx="1948790" cy="14017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27656" y="655637"/>
              <a:ext cx="2011680" cy="339090"/>
            </a:xfrm>
            <a:custGeom>
              <a:avLst/>
              <a:gdLst/>
              <a:ahLst/>
              <a:cxnLst/>
              <a:rect l="l" t="t" r="r" b="b"/>
              <a:pathLst>
                <a:path w="2011679" h="339090">
                  <a:moveTo>
                    <a:pt x="2011362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2011362" y="338554"/>
                  </a:lnTo>
                  <a:lnTo>
                    <a:pt x="2011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78578" y="3747862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382"/>
                  </a:lnTo>
                  <a:lnTo>
                    <a:pt x="182142" y="101382"/>
                  </a:lnTo>
                  <a:lnTo>
                    <a:pt x="182142" y="232225"/>
                  </a:lnTo>
                  <a:lnTo>
                    <a:pt x="546425" y="232225"/>
                  </a:lnTo>
                  <a:lnTo>
                    <a:pt x="546425" y="101382"/>
                  </a:lnTo>
                  <a:lnTo>
                    <a:pt x="728567" y="101382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278577" y="3747862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18253" y="2276250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382"/>
                  </a:lnTo>
                  <a:lnTo>
                    <a:pt x="182142" y="101382"/>
                  </a:lnTo>
                  <a:lnTo>
                    <a:pt x="182142" y="232225"/>
                  </a:lnTo>
                  <a:lnTo>
                    <a:pt x="546425" y="232225"/>
                  </a:lnTo>
                  <a:lnTo>
                    <a:pt x="546425" y="101382"/>
                  </a:lnTo>
                  <a:lnTo>
                    <a:pt x="728567" y="101382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18252" y="2276250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320883" y="6003607"/>
            <a:ext cx="676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pixels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0308" y="4546282"/>
            <a:ext cx="7181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edges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34128" y="5294881"/>
            <a:ext cx="741680" cy="245110"/>
            <a:chOff x="5234128" y="5294881"/>
            <a:chExt cx="741680" cy="245110"/>
          </a:xfrm>
        </p:grpSpPr>
        <p:sp>
          <p:nvSpPr>
            <p:cNvPr id="16" name="object 16"/>
            <p:cNvSpPr/>
            <p:nvPr/>
          </p:nvSpPr>
          <p:spPr>
            <a:xfrm>
              <a:off x="5240478" y="5301231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823"/>
                  </a:lnTo>
                  <a:lnTo>
                    <a:pt x="182142" y="101823"/>
                  </a:lnTo>
                  <a:lnTo>
                    <a:pt x="182142" y="232225"/>
                  </a:lnTo>
                  <a:lnTo>
                    <a:pt x="546426" y="232225"/>
                  </a:lnTo>
                  <a:lnTo>
                    <a:pt x="546426" y="101823"/>
                  </a:lnTo>
                  <a:lnTo>
                    <a:pt x="728568" y="101823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240478" y="5301231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824"/>
                  </a:lnTo>
                  <a:lnTo>
                    <a:pt x="546426" y="101824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824"/>
                  </a:lnTo>
                  <a:lnTo>
                    <a:pt x="0" y="101824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940008" y="2719070"/>
            <a:ext cx="14795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parts </a:t>
            </a:r>
            <a:r>
              <a:rPr sz="2000" spc="-10" dirty="0">
                <a:latin typeface="Arial MT"/>
                <a:cs typeface="Arial MT"/>
              </a:rPr>
              <a:t>(combination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edges)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27308" y="1315720"/>
            <a:ext cx="1592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models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Deep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Belief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Net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Face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Images</a:t>
            </a:r>
            <a:endParaRPr b="0" spc="-10" dirty="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8800" y="1104900"/>
            <a:ext cx="4495800" cy="5684520"/>
            <a:chOff x="558800" y="1104900"/>
            <a:chExt cx="4495800" cy="568452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800" y="1104900"/>
              <a:ext cx="3332034" cy="470715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1100" y="4711700"/>
              <a:ext cx="2590800" cy="5969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7890" y="5842000"/>
              <a:ext cx="1233923" cy="9469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97300" y="5029200"/>
              <a:ext cx="1257300" cy="1079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90834" y="5105400"/>
              <a:ext cx="1062355" cy="878205"/>
            </a:xfrm>
            <a:custGeom>
              <a:avLst/>
              <a:gdLst/>
              <a:ahLst/>
              <a:cxnLst/>
              <a:rect l="l" t="t" r="r" b="b"/>
              <a:pathLst>
                <a:path w="1062354" h="878204">
                  <a:moveTo>
                    <a:pt x="0" y="0"/>
                  </a:moveTo>
                  <a:lnTo>
                    <a:pt x="1062166" y="877888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8700" y="4089399"/>
              <a:ext cx="1206500" cy="736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47409" y="4168953"/>
              <a:ext cx="1021715" cy="530225"/>
            </a:xfrm>
            <a:custGeom>
              <a:avLst/>
              <a:gdLst/>
              <a:ahLst/>
              <a:cxnLst/>
              <a:rect l="l" t="t" r="r" b="b"/>
              <a:pathLst>
                <a:path w="1021714" h="530225">
                  <a:moveTo>
                    <a:pt x="0" y="0"/>
                  </a:moveTo>
                  <a:lnTo>
                    <a:pt x="1021516" y="530046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4400" y="3098799"/>
              <a:ext cx="1282700" cy="3683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24850" y="3175000"/>
              <a:ext cx="1115695" cy="168910"/>
            </a:xfrm>
            <a:custGeom>
              <a:avLst/>
              <a:gdLst/>
              <a:ahLst/>
              <a:cxnLst/>
              <a:rect l="l" t="t" r="r" b="b"/>
              <a:pathLst>
                <a:path w="1115695" h="168910">
                  <a:moveTo>
                    <a:pt x="0" y="168675"/>
                  </a:moveTo>
                  <a:lnTo>
                    <a:pt x="1115506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29000" y="1485899"/>
              <a:ext cx="1295400" cy="10922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512150" y="1562100"/>
              <a:ext cx="1115695" cy="904240"/>
            </a:xfrm>
            <a:custGeom>
              <a:avLst/>
              <a:gdLst/>
              <a:ahLst/>
              <a:cxnLst/>
              <a:rect l="l" t="t" r="r" b="b"/>
              <a:pathLst>
                <a:path w="1115695" h="904239">
                  <a:moveTo>
                    <a:pt x="0" y="903687"/>
                  </a:moveTo>
                  <a:lnTo>
                    <a:pt x="1115506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8739" y="6392873"/>
            <a:ext cx="1400175" cy="4546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materials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Scene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Labeling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Deep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34" y="1681458"/>
            <a:ext cx="9036877" cy="35007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607" y="6281419"/>
            <a:ext cx="3531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[Farabet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ICML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2012,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PAMI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2013]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1600" y="1776924"/>
            <a:ext cx="8953500" cy="18663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0707" y="-47497"/>
            <a:ext cx="6964680" cy="1229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indent="1163955">
              <a:lnSpc>
                <a:spcPct val="80000"/>
              </a:lnSpc>
              <a:spcBef>
                <a:spcPts val="1180"/>
              </a:spcBef>
            </a:pPr>
            <a:r>
              <a:rPr b="0" dirty="0">
                <a:latin typeface="Calibri"/>
                <a:cs typeface="Calibri"/>
              </a:rPr>
              <a:t>Machine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in </a:t>
            </a:r>
            <a:r>
              <a:rPr b="0" dirty="0">
                <a:latin typeface="Calibri"/>
                <a:cs typeface="Calibri"/>
              </a:rPr>
              <a:t>Automatic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Speech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Recognition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322876"/>
            <a:ext cx="4559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3989468"/>
            <a:ext cx="3917751" cy="28685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4340" y="3535424"/>
            <a:ext cx="8353425" cy="108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spectrogram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>
              <a:latin typeface="Calibri"/>
              <a:cs typeface="Calibri"/>
            </a:endParaRPr>
          </a:p>
          <a:p>
            <a:pPr marL="409067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Deep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state-</a:t>
            </a:r>
            <a:r>
              <a:rPr sz="2000" spc="-30" dirty="0">
                <a:latin typeface="Calibri"/>
                <a:cs typeface="Calibri"/>
              </a:rPr>
              <a:t>of-</a:t>
            </a:r>
            <a:r>
              <a:rPr sz="2000" spc="-10" dirty="0">
                <a:latin typeface="Calibri"/>
                <a:cs typeface="Calibri"/>
              </a:rPr>
              <a:t>the-</a:t>
            </a:r>
            <a:r>
              <a:rPr sz="2000" dirty="0">
                <a:latin typeface="Calibri"/>
                <a:cs typeface="Calibri"/>
              </a:rPr>
              <a:t>art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results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73548" y="4845050"/>
          <a:ext cx="4774563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7510"/>
                <a:gridCol w="519430"/>
                <a:gridCol w="508000"/>
                <a:gridCol w="509269"/>
                <a:gridCol w="520064"/>
                <a:gridCol w="509270"/>
                <a:gridCol w="541020"/>
              </a:tblGrid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Hidden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16.0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12.8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10.9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650740" y="5505268"/>
            <a:ext cx="3956050" cy="112522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Calibri"/>
                <a:cs typeface="Calibri"/>
              </a:rPr>
              <a:t>Baseline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GMM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15.4%</a:t>
            </a:r>
            <a:endParaRPr sz="1800">
              <a:latin typeface="Calibri"/>
              <a:cs typeface="Calibri"/>
            </a:endParaRPr>
          </a:p>
          <a:p>
            <a:pPr marL="12700" marR="469265">
              <a:lnSpc>
                <a:spcPct val="101000"/>
              </a:lnSpc>
              <a:spcBef>
                <a:spcPts val="720"/>
              </a:spcBef>
            </a:pPr>
            <a:r>
              <a:rPr sz="1400" dirty="0">
                <a:latin typeface="Calibri"/>
                <a:cs typeface="Calibri"/>
              </a:rPr>
              <a:t>[Zeiler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“On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rectified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linear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units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speech recognition”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ICASSP</a:t>
            </a:r>
            <a:r>
              <a:rPr sz="1400" spc="-20" dirty="0">
                <a:latin typeface="Calibri"/>
                <a:cs typeface="Calibri"/>
              </a:rPr>
              <a:t> 2013]</a:t>
            </a:r>
            <a:endParaRPr sz="1400">
              <a:latin typeface="Calibri"/>
              <a:cs typeface="Calibri"/>
            </a:endParaRPr>
          </a:p>
          <a:p>
            <a:pPr marL="3787775">
              <a:lnSpc>
                <a:spcPts val="1425"/>
              </a:lnSpc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88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Impact</a:t>
            </a:r>
            <a:r>
              <a:rPr sz="3200" spc="-35" dirty="0"/>
              <a:t> </a:t>
            </a:r>
            <a:r>
              <a:rPr sz="3200" dirty="0"/>
              <a:t>of</a:t>
            </a:r>
            <a:r>
              <a:rPr sz="3200" spc="-30" dirty="0"/>
              <a:t> </a:t>
            </a:r>
            <a:r>
              <a:rPr sz="3200" dirty="0"/>
              <a:t>Deep</a:t>
            </a:r>
            <a:r>
              <a:rPr sz="3200" spc="-40" dirty="0"/>
              <a:t> </a:t>
            </a:r>
            <a:r>
              <a:rPr sz="3200" dirty="0"/>
              <a:t>Learning</a:t>
            </a:r>
            <a:r>
              <a:rPr sz="3200" spc="-40" dirty="0"/>
              <a:t> </a:t>
            </a:r>
            <a:r>
              <a:rPr sz="3200" dirty="0"/>
              <a:t>in</a:t>
            </a:r>
            <a:r>
              <a:rPr sz="3200" spc="-35" dirty="0"/>
              <a:t> </a:t>
            </a:r>
            <a:r>
              <a:rPr sz="3200" dirty="0"/>
              <a:t>Speech</a:t>
            </a:r>
            <a:r>
              <a:rPr sz="3200" spc="-40" dirty="0"/>
              <a:t> </a:t>
            </a:r>
            <a:r>
              <a:rPr sz="3200" spc="-10" dirty="0"/>
              <a:t>Technology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9824" y="1240081"/>
            <a:ext cx="8811895" cy="5496560"/>
            <a:chOff x="9824" y="1240081"/>
            <a:chExt cx="8811895" cy="549656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6976" y="1240081"/>
              <a:ext cx="3201112" cy="21149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5515" y="1241916"/>
              <a:ext cx="2327483" cy="2063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9848" y="3221865"/>
              <a:ext cx="2381250" cy="35147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0902" y="3200158"/>
              <a:ext cx="3102714" cy="1737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1" y="4800602"/>
              <a:ext cx="3102714" cy="19337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24" y="3305671"/>
              <a:ext cx="3381075" cy="226453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0902" y="1241915"/>
              <a:ext cx="3102712" cy="21131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8739" y="6569510"/>
            <a:ext cx="2462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Deng,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Research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385" y="2479357"/>
            <a:ext cx="39928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Calibri"/>
                <a:cs typeface="Calibri"/>
              </a:rPr>
              <a:t>Types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567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Learning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2025"/>
            <a:ext cx="7385684" cy="44215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Supervised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(inductive)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(labels)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Unsupervised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(without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outputs)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Semi-</a:t>
            </a:r>
            <a:r>
              <a:rPr sz="3200" b="1" dirty="0">
                <a:latin typeface="Calibri"/>
                <a:cs typeface="Calibri"/>
              </a:rPr>
              <a:t>supervised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Reinforcement</a:t>
            </a:r>
            <a:r>
              <a:rPr sz="3200" b="1" spc="-1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spc="-10" dirty="0">
                <a:latin typeface="Calibri"/>
                <a:cs typeface="Calibri"/>
              </a:rPr>
              <a:t>Rewards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2505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Regression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240" y="1016000"/>
            <a:ext cx="7139305" cy="171703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3676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7" baseline="-19000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676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 panose="02040502050405090303"/>
                <a:cs typeface="Georgia" panose="02040502050405090303"/>
              </a:rPr>
              <a:t>y</a:t>
            </a:r>
            <a:r>
              <a:rPr sz="3200" i="1" spc="-45" dirty="0">
                <a:latin typeface="Georgia" panose="02040502050405090303"/>
                <a:cs typeface="Georgia" panose="02040502050405090303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endParaRPr sz="3200">
              <a:latin typeface="Georgia" panose="02040502050405090303"/>
              <a:cs typeface="Georgia" panose="02040502050405090303"/>
            </a:endParaRPr>
          </a:p>
          <a:p>
            <a:pPr marL="4826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 panose="02040502050405090303"/>
                <a:cs typeface="Georgia" panose="02040502050405090303"/>
              </a:rPr>
              <a:t>y</a:t>
            </a:r>
            <a:r>
              <a:rPr sz="2800" i="1" spc="-40" dirty="0">
                <a:latin typeface="Georgia" panose="02040502050405090303"/>
                <a:cs typeface="Georgia" panose="02040502050405090303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valued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1339" y="3096196"/>
            <a:ext cx="4997450" cy="2836545"/>
            <a:chOff x="2331339" y="3096196"/>
            <a:chExt cx="4997450" cy="2836545"/>
          </a:xfrm>
        </p:grpSpPr>
        <p:sp>
          <p:nvSpPr>
            <p:cNvPr id="5" name="object 5"/>
            <p:cNvSpPr/>
            <p:nvPr/>
          </p:nvSpPr>
          <p:spPr>
            <a:xfrm>
              <a:off x="2394119" y="3102546"/>
              <a:ext cx="4928235" cy="2460625"/>
            </a:xfrm>
            <a:custGeom>
              <a:avLst/>
              <a:gdLst/>
              <a:ahLst/>
              <a:cxnLst/>
              <a:rect l="l" t="t" r="r" b="b"/>
              <a:pathLst>
                <a:path w="4928234" h="2460625">
                  <a:moveTo>
                    <a:pt x="0" y="2460054"/>
                  </a:moveTo>
                  <a:lnTo>
                    <a:pt x="4928193" y="2460054"/>
                  </a:lnTo>
                </a:path>
                <a:path w="4928234" h="2460625">
                  <a:moveTo>
                    <a:pt x="0" y="2155254"/>
                  </a:moveTo>
                  <a:lnTo>
                    <a:pt x="4928193" y="2155254"/>
                  </a:lnTo>
                </a:path>
                <a:path w="4928234" h="2460625">
                  <a:moveTo>
                    <a:pt x="0" y="1850454"/>
                  </a:moveTo>
                  <a:lnTo>
                    <a:pt x="4928193" y="1850454"/>
                  </a:lnTo>
                </a:path>
                <a:path w="4928234" h="2460625">
                  <a:moveTo>
                    <a:pt x="0" y="1532954"/>
                  </a:moveTo>
                  <a:lnTo>
                    <a:pt x="4928193" y="1532954"/>
                  </a:lnTo>
                </a:path>
                <a:path w="4928234" h="2460625">
                  <a:moveTo>
                    <a:pt x="0" y="1228154"/>
                  </a:moveTo>
                  <a:lnTo>
                    <a:pt x="4928193" y="1228154"/>
                  </a:lnTo>
                </a:path>
                <a:path w="4928234" h="2460625">
                  <a:moveTo>
                    <a:pt x="0" y="923354"/>
                  </a:moveTo>
                  <a:lnTo>
                    <a:pt x="4928193" y="923354"/>
                  </a:lnTo>
                </a:path>
                <a:path w="4928234" h="2460625">
                  <a:moveTo>
                    <a:pt x="0" y="618554"/>
                  </a:moveTo>
                  <a:lnTo>
                    <a:pt x="4928193" y="618554"/>
                  </a:lnTo>
                </a:path>
                <a:path w="4928234" h="2460625">
                  <a:moveTo>
                    <a:pt x="0" y="313754"/>
                  </a:moveTo>
                  <a:lnTo>
                    <a:pt x="4928193" y="313754"/>
                  </a:lnTo>
                </a:path>
                <a:path w="4928234" h="2460625">
                  <a:moveTo>
                    <a:pt x="0" y="0"/>
                  </a:moveTo>
                  <a:lnTo>
                    <a:pt x="4928193" y="0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94119" y="3102546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h="2767329">
                  <a:moveTo>
                    <a:pt x="0" y="2767183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37689" y="3102546"/>
              <a:ext cx="56515" cy="2767330"/>
            </a:xfrm>
            <a:custGeom>
              <a:avLst/>
              <a:gdLst/>
              <a:ahLst/>
              <a:cxnLst/>
              <a:rect l="l" t="t" r="r" b="b"/>
              <a:pathLst>
                <a:path w="56514" h="2767329">
                  <a:moveTo>
                    <a:pt x="0" y="2767183"/>
                  </a:moveTo>
                  <a:lnTo>
                    <a:pt x="56430" y="2767183"/>
                  </a:lnTo>
                </a:path>
                <a:path w="56514" h="2767329">
                  <a:moveTo>
                    <a:pt x="0" y="2460054"/>
                  </a:moveTo>
                  <a:lnTo>
                    <a:pt x="56430" y="2460054"/>
                  </a:lnTo>
                </a:path>
                <a:path w="56514" h="2767329">
                  <a:moveTo>
                    <a:pt x="0" y="2155254"/>
                  </a:moveTo>
                  <a:lnTo>
                    <a:pt x="56430" y="2155254"/>
                  </a:lnTo>
                </a:path>
                <a:path w="56514" h="2767329">
                  <a:moveTo>
                    <a:pt x="0" y="1850454"/>
                  </a:moveTo>
                  <a:lnTo>
                    <a:pt x="56430" y="1850454"/>
                  </a:lnTo>
                </a:path>
                <a:path w="56514" h="2767329">
                  <a:moveTo>
                    <a:pt x="0" y="1532954"/>
                  </a:moveTo>
                  <a:lnTo>
                    <a:pt x="56430" y="1532954"/>
                  </a:lnTo>
                </a:path>
                <a:path w="56514" h="2767329">
                  <a:moveTo>
                    <a:pt x="0" y="1228154"/>
                  </a:moveTo>
                  <a:lnTo>
                    <a:pt x="56430" y="1228154"/>
                  </a:lnTo>
                </a:path>
                <a:path w="56514" h="2767329">
                  <a:moveTo>
                    <a:pt x="0" y="923354"/>
                  </a:moveTo>
                  <a:lnTo>
                    <a:pt x="56430" y="923354"/>
                  </a:lnTo>
                </a:path>
                <a:path w="56514" h="2767329">
                  <a:moveTo>
                    <a:pt x="0" y="618554"/>
                  </a:moveTo>
                  <a:lnTo>
                    <a:pt x="56430" y="618554"/>
                  </a:lnTo>
                </a:path>
                <a:path w="56514" h="2767329">
                  <a:moveTo>
                    <a:pt x="0" y="313754"/>
                  </a:moveTo>
                  <a:lnTo>
                    <a:pt x="56430" y="313754"/>
                  </a:lnTo>
                </a:path>
                <a:path w="56514" h="2767329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94119" y="5869728"/>
              <a:ext cx="4928235" cy="56515"/>
            </a:xfrm>
            <a:custGeom>
              <a:avLst/>
              <a:gdLst/>
              <a:ahLst/>
              <a:cxnLst/>
              <a:rect l="l" t="t" r="r" b="b"/>
              <a:pathLst>
                <a:path w="4928234" h="56514">
                  <a:moveTo>
                    <a:pt x="0" y="0"/>
                  </a:moveTo>
                  <a:lnTo>
                    <a:pt x="4928193" y="1"/>
                  </a:lnTo>
                </a:path>
                <a:path w="4928234" h="56514">
                  <a:moveTo>
                    <a:pt x="0" y="0"/>
                  </a:moveTo>
                  <a:lnTo>
                    <a:pt x="0" y="56430"/>
                  </a:lnTo>
                </a:path>
                <a:path w="4928234" h="56514">
                  <a:moveTo>
                    <a:pt x="984081" y="0"/>
                  </a:moveTo>
                  <a:lnTo>
                    <a:pt x="984081" y="56430"/>
                  </a:lnTo>
                </a:path>
                <a:path w="4928234" h="56514">
                  <a:moveTo>
                    <a:pt x="1974681" y="0"/>
                  </a:moveTo>
                  <a:lnTo>
                    <a:pt x="1974681" y="56430"/>
                  </a:lnTo>
                </a:path>
                <a:path w="4928234" h="56514">
                  <a:moveTo>
                    <a:pt x="2952581" y="0"/>
                  </a:moveTo>
                  <a:lnTo>
                    <a:pt x="2952581" y="56430"/>
                  </a:lnTo>
                </a:path>
                <a:path w="4928234" h="56514">
                  <a:moveTo>
                    <a:pt x="3943181" y="0"/>
                  </a:moveTo>
                  <a:lnTo>
                    <a:pt x="3943181" y="56430"/>
                  </a:lnTo>
                </a:path>
                <a:path w="4928234" h="56514">
                  <a:moveTo>
                    <a:pt x="4928193" y="0"/>
                  </a:moveTo>
                  <a:lnTo>
                    <a:pt x="4928193" y="5643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62300" y="3556000"/>
              <a:ext cx="241300" cy="241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63900" y="3365499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52800" y="3543300"/>
              <a:ext cx="241300" cy="241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54400" y="3479799"/>
              <a:ext cx="241300" cy="241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56000" y="3467099"/>
              <a:ext cx="241300" cy="241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57600" y="3568700"/>
              <a:ext cx="241300" cy="241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46500" y="3644900"/>
              <a:ext cx="241300" cy="241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8100" y="3454399"/>
              <a:ext cx="241300" cy="241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49700" y="3479799"/>
              <a:ext cx="241300" cy="241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51300" y="3467099"/>
              <a:ext cx="241300" cy="241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40200" y="36068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41800" y="3860800"/>
              <a:ext cx="241300" cy="241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43400" y="3759200"/>
              <a:ext cx="241300" cy="241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45000" y="3454399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546600" y="3771900"/>
              <a:ext cx="241300" cy="241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635500" y="3568700"/>
              <a:ext cx="241300" cy="241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37100" y="38862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838700" y="3352799"/>
              <a:ext cx="241300" cy="241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940300" y="370840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029200" y="3759200"/>
              <a:ext cx="241300" cy="241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30800" y="386080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32400" y="3835400"/>
              <a:ext cx="241300" cy="241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34000" y="369570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22900" y="3937000"/>
              <a:ext cx="241300" cy="241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524500" y="388620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26100" y="3911600"/>
              <a:ext cx="241300" cy="241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727700" y="406400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816600" y="3949700"/>
              <a:ext cx="241300" cy="241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18200" y="4457700"/>
              <a:ext cx="241300" cy="2413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19800" y="4330700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21400" y="4127500"/>
              <a:ext cx="241300" cy="241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10300" y="4267200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311900" y="4356100"/>
              <a:ext cx="241300" cy="241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13500" y="4660900"/>
              <a:ext cx="241300" cy="241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5325" y="3597275"/>
              <a:ext cx="101600" cy="101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235325" y="3597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6925" y="3406774"/>
              <a:ext cx="101600" cy="101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336925" y="34067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5825" y="3584575"/>
              <a:ext cx="101600" cy="101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425825" y="35845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7425" y="3521074"/>
              <a:ext cx="101600" cy="101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5274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9025" y="3508375"/>
              <a:ext cx="101600" cy="101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6290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0625" y="3609974"/>
              <a:ext cx="101600" cy="101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7306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9525" y="3686175"/>
              <a:ext cx="101600" cy="1016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819525" y="3686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1125" y="3495674"/>
              <a:ext cx="101600" cy="1016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9211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2725" y="3521074"/>
              <a:ext cx="101600" cy="101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0227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4325" y="3508375"/>
              <a:ext cx="101600" cy="1016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1243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3225" y="3648074"/>
              <a:ext cx="101600" cy="101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213225" y="3648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825" y="3902074"/>
              <a:ext cx="101600" cy="1016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314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6425" y="3800475"/>
              <a:ext cx="101600" cy="1016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4164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8025" y="3495674"/>
              <a:ext cx="101600" cy="101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5180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625" y="3813175"/>
              <a:ext cx="101600" cy="1016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619625" y="3813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8525" y="3609974"/>
              <a:ext cx="101600" cy="1016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7085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0125" y="3927475"/>
              <a:ext cx="101600" cy="10160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8101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1725" y="3394074"/>
              <a:ext cx="101600" cy="1016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911725" y="33940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3325" y="3749674"/>
              <a:ext cx="101600" cy="1016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013325" y="3749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2225" y="3800475"/>
              <a:ext cx="101600" cy="1016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1022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3825" y="3902074"/>
              <a:ext cx="101600" cy="10160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203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5425" y="3876674"/>
              <a:ext cx="101600" cy="1016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305425" y="3876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7024" y="3736974"/>
              <a:ext cx="101600" cy="10160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407025" y="3736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5925" y="3978275"/>
              <a:ext cx="101600" cy="101600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495925" y="3978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7525" y="3927475"/>
              <a:ext cx="101600" cy="10160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5975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9125" y="3952874"/>
              <a:ext cx="101600" cy="101600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699125" y="39528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0725" y="4105275"/>
              <a:ext cx="101600" cy="10160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5800725" y="4105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9625" y="3990974"/>
              <a:ext cx="101600" cy="10160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889625" y="3990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1225" y="4498975"/>
              <a:ext cx="101600" cy="101600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991225" y="449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2825" y="4371975"/>
              <a:ext cx="101600" cy="10160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092825" y="4371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4425" y="4168774"/>
              <a:ext cx="101600" cy="10160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194425" y="41687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3325" y="4308475"/>
              <a:ext cx="101600" cy="10160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6283325" y="4308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4925" y="4397374"/>
              <a:ext cx="101600" cy="10160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6384925" y="4397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525" y="4702175"/>
              <a:ext cx="101600" cy="101600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486525" y="4702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111"/>
          <p:cNvSpPr txBox="1"/>
          <p:nvPr/>
        </p:nvSpPr>
        <p:spPr>
          <a:xfrm>
            <a:off x="2126360" y="2874519"/>
            <a:ext cx="1446530" cy="332168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  <a:p>
            <a:pPr marL="86995">
              <a:lnSpc>
                <a:spcPct val="100000"/>
              </a:lnSpc>
              <a:spcBef>
                <a:spcPts val="60"/>
              </a:spcBef>
              <a:tabLst>
                <a:tab pos="1072515" algn="l"/>
              </a:tabLst>
            </a:pPr>
            <a:r>
              <a:rPr sz="1400" spc="-20" dirty="0">
                <a:latin typeface="Calibri"/>
                <a:cs typeface="Calibri"/>
              </a:rPr>
              <a:t>1970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1980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172483" y="5957189"/>
            <a:ext cx="137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7585" algn="l"/>
              </a:tabLst>
            </a:pPr>
            <a:r>
              <a:rPr sz="1400" spc="-20" dirty="0">
                <a:latin typeface="Calibri"/>
                <a:cs typeface="Calibri"/>
              </a:rPr>
              <a:t>1990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2000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143759" y="5957189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129398" y="5957189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2020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42033" y="3288974"/>
            <a:ext cx="458470" cy="236410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527050" marR="5080" indent="-514985">
              <a:lnSpc>
                <a:spcPct val="101000"/>
              </a:lnSpc>
              <a:spcBef>
                <a:spcPts val="10"/>
              </a:spcBef>
            </a:pPr>
            <a:r>
              <a:rPr sz="1400" b="1" dirty="0">
                <a:latin typeface="Calibri"/>
                <a:cs typeface="Calibri"/>
              </a:rPr>
              <a:t>September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Arctic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Sea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Ice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Extent (1,000,000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sq </a:t>
            </a:r>
            <a:r>
              <a:rPr sz="1400" b="1" spc="-25" dirty="0">
                <a:latin typeface="Calibri"/>
                <a:cs typeface="Calibri"/>
              </a:rPr>
              <a:t>km)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8739" y="6218682"/>
            <a:ext cx="5716270" cy="59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8985" algn="r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Calibri"/>
                <a:cs typeface="Calibri"/>
              </a:rPr>
              <a:t>Year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Witt.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Journal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Statistics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Education,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Volume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21,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(2013)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794000" y="3365500"/>
            <a:ext cx="4279900" cy="1409700"/>
            <a:chOff x="2794000" y="3365500"/>
            <a:chExt cx="4279900" cy="1409700"/>
          </a:xfrm>
        </p:grpSpPr>
        <p:pic>
          <p:nvPicPr>
            <p:cNvPr id="118" name="object 1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94000" y="3365500"/>
              <a:ext cx="4254500" cy="1104900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2857500" y="3416300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>
                  <a:moveTo>
                    <a:pt x="0" y="0"/>
                  </a:moveTo>
                  <a:lnTo>
                    <a:pt x="4114800" y="9525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2100" y="3517900"/>
              <a:ext cx="4241800" cy="125730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2895600" y="3568700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1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0" y="4620"/>
                  </a:lnTo>
                  <a:lnTo>
                    <a:pt x="419375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3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8" y="19181"/>
                  </a:lnTo>
                  <a:lnTo>
                    <a:pt x="938377" y="21538"/>
                  </a:lnTo>
                  <a:lnTo>
                    <a:pt x="989725" y="24107"/>
                  </a:lnTo>
                  <a:lnTo>
                    <a:pt x="1040947" y="26897"/>
                  </a:lnTo>
                  <a:lnTo>
                    <a:pt x="1092034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6" y="40519"/>
                  </a:lnTo>
                  <a:lnTo>
                    <a:pt x="1294912" y="44597"/>
                  </a:lnTo>
                  <a:lnTo>
                    <a:pt x="1345230" y="48968"/>
                  </a:lnTo>
                  <a:lnTo>
                    <a:pt x="1395374" y="53644"/>
                  </a:lnTo>
                  <a:lnTo>
                    <a:pt x="1445337" y="58636"/>
                  </a:lnTo>
                  <a:lnTo>
                    <a:pt x="1495114" y="63955"/>
                  </a:lnTo>
                  <a:lnTo>
                    <a:pt x="1544696" y="69614"/>
                  </a:lnTo>
                  <a:lnTo>
                    <a:pt x="1594077" y="75624"/>
                  </a:lnTo>
                  <a:lnTo>
                    <a:pt x="1643251" y="81997"/>
                  </a:lnTo>
                  <a:lnTo>
                    <a:pt x="1692211" y="88745"/>
                  </a:lnTo>
                  <a:lnTo>
                    <a:pt x="1740951" y="95879"/>
                  </a:lnTo>
                  <a:lnTo>
                    <a:pt x="1789463" y="103411"/>
                  </a:lnTo>
                  <a:lnTo>
                    <a:pt x="1837740" y="111353"/>
                  </a:lnTo>
                  <a:lnTo>
                    <a:pt x="1885777" y="119716"/>
                  </a:lnTo>
                  <a:lnTo>
                    <a:pt x="1933567" y="128513"/>
                  </a:lnTo>
                  <a:lnTo>
                    <a:pt x="1981102" y="137754"/>
                  </a:lnTo>
                  <a:lnTo>
                    <a:pt x="2028376" y="147452"/>
                  </a:lnTo>
                  <a:lnTo>
                    <a:pt x="2075383" y="157618"/>
                  </a:lnTo>
                  <a:lnTo>
                    <a:pt x="2122115" y="168264"/>
                  </a:lnTo>
                  <a:lnTo>
                    <a:pt x="2168566" y="179402"/>
                  </a:lnTo>
                  <a:lnTo>
                    <a:pt x="2214730" y="191043"/>
                  </a:lnTo>
                  <a:lnTo>
                    <a:pt x="2260600" y="203200"/>
                  </a:lnTo>
                  <a:lnTo>
                    <a:pt x="2839640" y="424656"/>
                  </a:lnTo>
                  <a:lnTo>
                    <a:pt x="3444875" y="730250"/>
                  </a:lnTo>
                  <a:lnTo>
                    <a:pt x="3921521" y="1000918"/>
                  </a:lnTo>
                  <a:lnTo>
                    <a:pt x="4114800" y="111760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  <a:endParaRPr b="0" spc="-1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5"/>
            <a:ext cx="4972685" cy="1972310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85140" y="1016000"/>
            <a:ext cx="7215505" cy="44684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7" baseline="-19000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 panose="02040502050405090303"/>
                <a:cs typeface="Georgia" panose="02040502050405090303"/>
              </a:rPr>
              <a:t>y</a:t>
            </a:r>
            <a:r>
              <a:rPr sz="3200" i="1" spc="-45" dirty="0">
                <a:latin typeface="Georgia" panose="02040502050405090303"/>
                <a:cs typeface="Georgia" panose="02040502050405090303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endParaRPr sz="3200">
              <a:latin typeface="Georgia" panose="02040502050405090303"/>
              <a:cs typeface="Georgia" panose="02040502050405090303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 panose="02040502050405090303"/>
                <a:cs typeface="Georgia" panose="02040502050405090303"/>
              </a:rPr>
              <a:t>y</a:t>
            </a:r>
            <a:r>
              <a:rPr sz="2800" i="1" spc="-40" dirty="0">
                <a:latin typeface="Georgia" panose="02040502050405090303"/>
                <a:cs typeface="Georgia" panose="02040502050405090303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categorical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967105" algn="ctr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L="6032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  <a:p>
            <a:pPr marL="890905" algn="ctr">
              <a:lnSpc>
                <a:spcPct val="100000"/>
              </a:lnSpc>
              <a:spcBef>
                <a:spcPts val="57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8739" y="6569510"/>
            <a:ext cx="2395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  <a:endParaRPr b="0" spc="-1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5"/>
            <a:ext cx="4972685" cy="1972310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85140" y="1016000"/>
            <a:ext cx="7215505" cy="44684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7" baseline="-19000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 panose="02040502050405090303"/>
                <a:cs typeface="Georgia" panose="02040502050405090303"/>
              </a:rPr>
              <a:t>y</a:t>
            </a:r>
            <a:r>
              <a:rPr sz="3200" i="1" spc="-45" dirty="0">
                <a:latin typeface="Georgia" panose="02040502050405090303"/>
                <a:cs typeface="Georgia" panose="02040502050405090303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endParaRPr sz="3200">
              <a:latin typeface="Georgia" panose="02040502050405090303"/>
              <a:cs typeface="Georgia" panose="02040502050405090303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 panose="02040502050405090303"/>
                <a:cs typeface="Georgia" panose="02040502050405090303"/>
              </a:rPr>
              <a:t>y</a:t>
            </a:r>
            <a:r>
              <a:rPr sz="2800" i="1" spc="-40" dirty="0">
                <a:latin typeface="Georgia" panose="02040502050405090303"/>
                <a:cs typeface="Georgia" panose="02040502050405090303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categorical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967105" algn="ctr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L="6032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  <a:p>
            <a:pPr marL="890905" algn="ctr">
              <a:lnSpc>
                <a:spcPct val="100000"/>
              </a:lnSpc>
              <a:spcBef>
                <a:spcPts val="57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11400" y="4749800"/>
              <a:ext cx="355600" cy="368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4900" y="4799567"/>
              <a:ext cx="228600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8550" y="4793217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82900" y="4749800"/>
              <a:ext cx="355600" cy="368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6399" y="4799567"/>
              <a:ext cx="2286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46400" y="479956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92400" y="4749800"/>
              <a:ext cx="355600" cy="368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900" y="4799567"/>
              <a:ext cx="228600" cy="228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755900" y="479956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90900" y="4749800"/>
              <a:ext cx="368300" cy="3683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2780" y="4799567"/>
              <a:ext cx="228600" cy="228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6430" y="4793217"/>
              <a:ext cx="241300" cy="241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4749800"/>
              <a:ext cx="355600" cy="3683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4500" y="4799567"/>
              <a:ext cx="228600" cy="2286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8150" y="4793217"/>
              <a:ext cx="241300" cy="241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37100" y="4749800"/>
              <a:ext cx="355600" cy="3683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600" y="4799567"/>
              <a:ext cx="2286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4250" y="4793217"/>
              <a:ext cx="241300" cy="241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16688" y="3804535"/>
              <a:ext cx="241300" cy="241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84850" y="3804535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02290" y="3804535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65650" y="3804535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33850" y="3804535"/>
              <a:ext cx="241300" cy="241300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1962975" y="6076078"/>
            <a:ext cx="4946015" cy="172085"/>
          </a:xfrm>
          <a:custGeom>
            <a:avLst/>
            <a:gdLst/>
            <a:ahLst/>
            <a:cxnLst/>
            <a:rect l="l" t="t" r="r" b="b"/>
            <a:pathLst>
              <a:path w="4946015" h="172085">
                <a:moveTo>
                  <a:pt x="4793672" y="0"/>
                </a:moveTo>
                <a:lnTo>
                  <a:pt x="4774907" y="17224"/>
                </a:lnTo>
                <a:lnTo>
                  <a:pt x="4775382" y="24511"/>
                </a:lnTo>
                <a:lnTo>
                  <a:pt x="4778555" y="31089"/>
                </a:lnTo>
                <a:lnTo>
                  <a:pt x="4784206" y="36118"/>
                </a:lnTo>
                <a:lnTo>
                  <a:pt x="4837640" y="67288"/>
                </a:lnTo>
                <a:lnTo>
                  <a:pt x="0" y="67289"/>
                </a:lnTo>
                <a:lnTo>
                  <a:pt x="0" y="105389"/>
                </a:lnTo>
                <a:lnTo>
                  <a:pt x="4837640" y="105388"/>
                </a:lnTo>
                <a:lnTo>
                  <a:pt x="4784206" y="136558"/>
                </a:lnTo>
                <a:lnTo>
                  <a:pt x="4778555" y="141587"/>
                </a:lnTo>
                <a:lnTo>
                  <a:pt x="4775382" y="148165"/>
                </a:lnTo>
                <a:lnTo>
                  <a:pt x="4774907" y="155452"/>
                </a:lnTo>
                <a:lnTo>
                  <a:pt x="4777350" y="162612"/>
                </a:lnTo>
                <a:lnTo>
                  <a:pt x="4782379" y="168262"/>
                </a:lnTo>
                <a:lnTo>
                  <a:pt x="4788956" y="171436"/>
                </a:lnTo>
                <a:lnTo>
                  <a:pt x="4796244" y="171911"/>
                </a:lnTo>
                <a:lnTo>
                  <a:pt x="4803404" y="169468"/>
                </a:lnTo>
                <a:lnTo>
                  <a:pt x="4945912" y="86338"/>
                </a:lnTo>
                <a:lnTo>
                  <a:pt x="4798860" y="557"/>
                </a:lnTo>
                <a:lnTo>
                  <a:pt x="479367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3854080" y="6348690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28</a:t>
            </a:r>
            <a:endParaRPr spc="-25" dirty="0"/>
          </a:p>
        </p:txBody>
      </p:sp>
      <p:sp>
        <p:nvSpPr>
          <p:cNvPr id="67" name="object 67"/>
          <p:cNvSpPr txBox="1"/>
          <p:nvPr/>
        </p:nvSpPr>
        <p:spPr>
          <a:xfrm>
            <a:off x="78739" y="6578018"/>
            <a:ext cx="23952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  <a:endParaRPr b="0" spc="-1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5"/>
            <a:ext cx="4972685" cy="1972310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97840" y="1016000"/>
            <a:ext cx="7190105" cy="40303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0" baseline="-19000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82" baseline="-19000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 panose="02040502050405090303"/>
                <a:cs typeface="Georgia" panose="02040502050405090303"/>
              </a:rPr>
              <a:t>y</a:t>
            </a:r>
            <a:r>
              <a:rPr sz="3150" spc="-37" baseline="-19000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 panose="02040502050405090303"/>
                <a:cs typeface="Georgia" panose="02040502050405090303"/>
              </a:rPr>
              <a:t>y</a:t>
            </a:r>
            <a:r>
              <a:rPr sz="3200" i="1" spc="-45" dirty="0">
                <a:latin typeface="Georgia" panose="02040502050405090303"/>
                <a:cs typeface="Georgia" panose="02040502050405090303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 panose="02040502050405090303"/>
                <a:cs typeface="Georgia" panose="02040502050405090303"/>
              </a:rPr>
              <a:t>x</a:t>
            </a:r>
            <a:endParaRPr sz="3200">
              <a:latin typeface="Georgia" panose="02040502050405090303"/>
              <a:cs typeface="Georgia" panose="02040502050405090303"/>
            </a:endParaRPr>
          </a:p>
          <a:p>
            <a:pPr marL="5080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 panose="02040502050405090303"/>
                <a:cs typeface="Georgia" panose="02040502050405090303"/>
              </a:rPr>
              <a:t>y</a:t>
            </a:r>
            <a:r>
              <a:rPr sz="2800" i="1" spc="-40" dirty="0">
                <a:latin typeface="Georgia" panose="02040502050405090303"/>
                <a:cs typeface="Georgia" panose="02040502050405090303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categorical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2273300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R="5801995" algn="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R="5777865" algn="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1962975" y="5715000"/>
            <a:ext cx="4946015" cy="927100"/>
            <a:chOff x="1962975" y="5715000"/>
            <a:chExt cx="4946015" cy="927100"/>
          </a:xfrm>
        </p:grpSpPr>
        <p:sp>
          <p:nvSpPr>
            <p:cNvPr id="37" name="object 37"/>
            <p:cNvSpPr/>
            <p:nvPr/>
          </p:nvSpPr>
          <p:spPr>
            <a:xfrm>
              <a:off x="1962975" y="6076078"/>
              <a:ext cx="4946015" cy="172085"/>
            </a:xfrm>
            <a:custGeom>
              <a:avLst/>
              <a:gdLst/>
              <a:ahLst/>
              <a:cxnLst/>
              <a:rect l="l" t="t" r="r" b="b"/>
              <a:pathLst>
                <a:path w="4946015" h="172085">
                  <a:moveTo>
                    <a:pt x="4793672" y="0"/>
                  </a:moveTo>
                  <a:lnTo>
                    <a:pt x="4774907" y="17224"/>
                  </a:lnTo>
                  <a:lnTo>
                    <a:pt x="4775382" y="24511"/>
                  </a:lnTo>
                  <a:lnTo>
                    <a:pt x="4778555" y="31089"/>
                  </a:lnTo>
                  <a:lnTo>
                    <a:pt x="4784206" y="36118"/>
                  </a:lnTo>
                  <a:lnTo>
                    <a:pt x="4837640" y="67288"/>
                  </a:lnTo>
                  <a:lnTo>
                    <a:pt x="0" y="67289"/>
                  </a:lnTo>
                  <a:lnTo>
                    <a:pt x="0" y="105389"/>
                  </a:lnTo>
                  <a:lnTo>
                    <a:pt x="4837640" y="105388"/>
                  </a:lnTo>
                  <a:lnTo>
                    <a:pt x="4784206" y="136558"/>
                  </a:lnTo>
                  <a:lnTo>
                    <a:pt x="4778555" y="141587"/>
                  </a:lnTo>
                  <a:lnTo>
                    <a:pt x="4775382" y="148165"/>
                  </a:lnTo>
                  <a:lnTo>
                    <a:pt x="4774907" y="155452"/>
                  </a:lnTo>
                  <a:lnTo>
                    <a:pt x="4777350" y="162612"/>
                  </a:lnTo>
                  <a:lnTo>
                    <a:pt x="4782379" y="168262"/>
                  </a:lnTo>
                  <a:lnTo>
                    <a:pt x="4788956" y="171436"/>
                  </a:lnTo>
                  <a:lnTo>
                    <a:pt x="4796244" y="171911"/>
                  </a:lnTo>
                  <a:lnTo>
                    <a:pt x="4803404" y="169468"/>
                  </a:lnTo>
                  <a:lnTo>
                    <a:pt x="4945912" y="86338"/>
                  </a:lnTo>
                  <a:lnTo>
                    <a:pt x="4798860" y="557"/>
                  </a:lnTo>
                  <a:lnTo>
                    <a:pt x="479367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98700" y="6019800"/>
              <a:ext cx="368300" cy="368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0580" y="6060816"/>
              <a:ext cx="2286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4230" y="6054466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70200" y="6019800"/>
              <a:ext cx="368300" cy="368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2080" y="6060816"/>
              <a:ext cx="228600" cy="2286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9420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79700" y="60198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1580" y="6060816"/>
              <a:ext cx="228600" cy="228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7515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90900" y="60198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8463" y="6060816"/>
              <a:ext cx="228600" cy="2286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2112" y="6054466"/>
              <a:ext cx="241300" cy="241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78300" y="60198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180" y="6060816"/>
              <a:ext cx="2286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2501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4400" y="6019800"/>
              <a:ext cx="368300" cy="368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6280" y="6060816"/>
              <a:ext cx="228600" cy="2286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7962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57800" y="6032500"/>
              <a:ext cx="3683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16688" y="6067166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27700" y="6032500"/>
              <a:ext cx="3556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84850" y="6067166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32500" y="6032500"/>
              <a:ext cx="3683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02290" y="6067166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08500" y="6032500"/>
              <a:ext cx="355600" cy="3683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76700" y="6032500"/>
              <a:ext cx="355600" cy="3683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95800" y="5715000"/>
              <a:ext cx="152400" cy="9271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572000" y="5753100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h="796290">
                  <a:moveTo>
                    <a:pt x="0" y="0"/>
                  </a:moveTo>
                  <a:lnTo>
                    <a:pt x="1" y="79609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3333565" y="5092937"/>
            <a:ext cx="2608580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  <a:tabLst>
                <a:tab pos="1310005" algn="l"/>
              </a:tabLst>
            </a:pPr>
            <a:r>
              <a:rPr sz="2100" baseline="4000" dirty="0">
                <a:latin typeface="Calibri"/>
                <a:cs typeface="Calibri"/>
              </a:rPr>
              <a:t>Predict</a:t>
            </a:r>
            <a:r>
              <a:rPr sz="2100" spc="-104" baseline="4000" dirty="0">
                <a:latin typeface="Calibri"/>
                <a:cs typeface="Calibri"/>
              </a:rPr>
              <a:t> </a:t>
            </a:r>
            <a:r>
              <a:rPr sz="2100" spc="-15" baseline="4000" dirty="0">
                <a:latin typeface="Calibri"/>
                <a:cs typeface="Calibri"/>
              </a:rPr>
              <a:t>Benign</a:t>
            </a:r>
            <a:r>
              <a:rPr sz="2100" baseline="4000" dirty="0">
                <a:latin typeface="Calibri"/>
                <a:cs typeface="Calibri"/>
              </a:rPr>
              <a:t>	</a:t>
            </a:r>
            <a:r>
              <a:rPr sz="1400" dirty="0">
                <a:latin typeface="Calibri"/>
                <a:cs typeface="Calibri"/>
              </a:rPr>
              <a:t>Predict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Malignant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854080" y="6348690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29</a:t>
            </a:r>
            <a:endParaRPr spc="-25" dirty="0"/>
          </a:p>
        </p:txBody>
      </p:sp>
      <p:sp>
        <p:nvSpPr>
          <p:cNvPr id="73" name="object 73"/>
          <p:cNvSpPr txBox="1"/>
          <p:nvPr/>
        </p:nvSpPr>
        <p:spPr>
          <a:xfrm>
            <a:off x="78739" y="6578018"/>
            <a:ext cx="23952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342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1095" y="2841536"/>
            <a:ext cx="3598545" cy="2726055"/>
            <a:chOff x="961095" y="2841536"/>
            <a:chExt cx="3598545" cy="2726055"/>
          </a:xfrm>
        </p:grpSpPr>
        <p:sp>
          <p:nvSpPr>
            <p:cNvPr id="4" name="object 4"/>
            <p:cNvSpPr/>
            <p:nvPr/>
          </p:nvSpPr>
          <p:spPr>
            <a:xfrm>
              <a:off x="961085" y="28415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502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61" y="149669"/>
                  </a:lnTo>
                  <a:lnTo>
                    <a:pt x="247510" y="142519"/>
                  </a:lnTo>
                  <a:lnTo>
                    <a:pt x="164388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73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24200" y="4787900"/>
              <a:ext cx="368300" cy="368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0214" y="4837667"/>
              <a:ext cx="228600" cy="228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3864" y="4831317"/>
              <a:ext cx="241300" cy="241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5100" y="4749800"/>
              <a:ext cx="3683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6980" y="4799567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0630" y="4793217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0000" y="4254500"/>
              <a:ext cx="3683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1880" y="4295956"/>
              <a:ext cx="228600" cy="228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05530" y="4289606"/>
              <a:ext cx="241300" cy="241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8600" y="5016500"/>
              <a:ext cx="3683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0480" y="5066267"/>
              <a:ext cx="228600" cy="228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4130" y="5059917"/>
              <a:ext cx="241300" cy="241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5300" y="39751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0640" y="4023878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4290" y="4017528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9900" y="3517899"/>
              <a:ext cx="3683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69564" y="3560328"/>
              <a:ext cx="241300" cy="241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46300" y="3149599"/>
              <a:ext cx="355600" cy="368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03450" y="3194049"/>
              <a:ext cx="241300" cy="241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48100" y="4521200"/>
              <a:ext cx="368300" cy="368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09312" y="4564617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19500" y="3517899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80712" y="3559295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3300" y="3086099"/>
              <a:ext cx="3683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08830" y="3129517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36700" y="3086099"/>
              <a:ext cx="2819400" cy="22860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612900" y="3135867"/>
              <a:ext cx="2667000" cy="2144395"/>
            </a:xfrm>
            <a:custGeom>
              <a:avLst/>
              <a:gdLst/>
              <a:ahLst/>
              <a:cxnLst/>
              <a:rect l="l" t="t" r="r" b="b"/>
              <a:pathLst>
                <a:path w="2667000" h="2144395">
                  <a:moveTo>
                    <a:pt x="0" y="0"/>
                  </a:moveTo>
                  <a:lnTo>
                    <a:pt x="2667000" y="2144157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180399" y="5672566"/>
            <a:ext cx="1146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libri"/>
                <a:cs typeface="Calibri"/>
              </a:rPr>
              <a:t>Tumor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Size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740" y="4044198"/>
            <a:ext cx="4165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libri"/>
                <a:cs typeface="Calibri"/>
              </a:rPr>
              <a:t>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47512" y="2755265"/>
            <a:ext cx="3872865" cy="20828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Clump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Thickness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Size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Shape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50" dirty="0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940" y="1002211"/>
            <a:ext cx="7073265" cy="11468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i="1" spc="220" dirty="0">
                <a:latin typeface="Georgia" panose="02040502050405090303"/>
                <a:cs typeface="Georgia" panose="02040502050405090303"/>
              </a:rPr>
              <a:t>x</a:t>
            </a:r>
            <a:r>
              <a:rPr sz="3200" i="1" spc="185" dirty="0">
                <a:latin typeface="Georgia" panose="02040502050405090303"/>
                <a:cs typeface="Georgia" panose="02040502050405090303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multi-</a:t>
            </a:r>
            <a:r>
              <a:rPr sz="3200" spc="-10" dirty="0">
                <a:latin typeface="Calibri"/>
                <a:cs typeface="Calibri"/>
              </a:rPr>
              <a:t>dimensional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739" y="6569510"/>
            <a:ext cx="2395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40" y="1016000"/>
            <a:ext cx="6909434" cy="171703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  <a:tab pos="3698240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7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112" baseline="-19000" dirty="0">
                <a:latin typeface="Calibri"/>
                <a:cs typeface="Calibri"/>
              </a:rPr>
              <a:t>1</a:t>
            </a:r>
            <a:r>
              <a:rPr sz="3200" spc="75" dirty="0">
                <a:latin typeface="Calibri"/>
                <a:cs typeface="Calibri"/>
              </a:rPr>
              <a:t>,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75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112" baseline="-19000" dirty="0">
                <a:latin typeface="Calibri"/>
                <a:cs typeface="Calibri"/>
              </a:rPr>
              <a:t>2</a:t>
            </a:r>
            <a:r>
              <a:rPr sz="3200" spc="75" dirty="0">
                <a:latin typeface="Calibri"/>
                <a:cs typeface="Calibri"/>
              </a:rPr>
              <a:t>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80" dirty="0">
                <a:latin typeface="Georgia" panose="02040502050405090303"/>
                <a:cs typeface="Georgia" panose="02040502050405090303"/>
              </a:rPr>
              <a:t>x</a:t>
            </a:r>
            <a:r>
              <a:rPr sz="3150" spc="120" baseline="-19000" dirty="0">
                <a:latin typeface="Calibri"/>
                <a:cs typeface="Calibri"/>
              </a:rPr>
              <a:t>n</a:t>
            </a:r>
            <a:r>
              <a:rPr sz="3150" baseline="-19000" dirty="0">
                <a:latin typeface="Calibri"/>
                <a:cs typeface="Calibri"/>
              </a:rPr>
              <a:t>	</a:t>
            </a:r>
            <a:r>
              <a:rPr sz="3200" dirty="0">
                <a:latin typeface="Calibri"/>
                <a:cs typeface="Calibri"/>
              </a:rPr>
              <a:t>(without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labels)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hidden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behind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 panose="02040502050405090303"/>
                <a:cs typeface="Georgia" panose="02040502050405090303"/>
              </a:rPr>
              <a:t>x</a:t>
            </a:r>
            <a:r>
              <a:rPr sz="3200" spc="-25" dirty="0">
                <a:latin typeface="Calibri"/>
                <a:cs typeface="Calibri"/>
              </a:rPr>
              <a:t>’s</a:t>
            </a:r>
            <a:endParaRPr sz="320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E.g.,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clustering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2675" y="3044736"/>
            <a:ext cx="7954645" cy="2726055"/>
            <a:chOff x="672675" y="3044736"/>
            <a:chExt cx="7954645" cy="2726055"/>
          </a:xfrm>
        </p:grpSpPr>
        <p:sp>
          <p:nvSpPr>
            <p:cNvPr id="5" name="object 5"/>
            <p:cNvSpPr/>
            <p:nvPr/>
          </p:nvSpPr>
          <p:spPr>
            <a:xfrm>
              <a:off x="6726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489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19"/>
                  </a:lnTo>
                  <a:lnTo>
                    <a:pt x="164376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099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60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95400" y="4254500"/>
              <a:ext cx="368300" cy="368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9909" y="4294906"/>
              <a:ext cx="241300" cy="241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1800" y="4368800"/>
              <a:ext cx="368300" cy="368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708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708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1800" y="4864100"/>
              <a:ext cx="368300" cy="368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708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708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4600" y="4749800"/>
              <a:ext cx="368300" cy="368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136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3136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5600" y="3657599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8269" y="3700028"/>
              <a:ext cx="241300" cy="241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30400" y="3911600"/>
              <a:ext cx="368300" cy="368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3069" y="3949984"/>
              <a:ext cx="241300" cy="241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3300" y="3695699"/>
              <a:ext cx="368300" cy="368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5969" y="3730039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06600" y="3416299"/>
              <a:ext cx="368300" cy="3683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0774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774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43688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4469" y="4409206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17800" y="4711700"/>
              <a:ext cx="3683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82309" y="4752106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6100" y="47117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48769" y="4752106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4400" y="4546600"/>
              <a:ext cx="3683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17069" y="4584984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8600" y="4622800"/>
              <a:ext cx="368300" cy="3683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5731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5731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5300" y="3301999"/>
              <a:ext cx="368300" cy="3683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289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8289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0287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489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19"/>
                  </a:lnTo>
                  <a:lnTo>
                    <a:pt x="164376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60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51499" y="4254500"/>
              <a:ext cx="368300" cy="368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2359" y="4301256"/>
              <a:ext cx="228600" cy="2286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16009" y="4294906"/>
              <a:ext cx="241300" cy="2413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7899" y="43688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6919" y="4415556"/>
              <a:ext cx="228600" cy="228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1269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7899" y="48641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6919" y="4912878"/>
              <a:ext cx="228600" cy="22860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1269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0699" y="47498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9719" y="4798578"/>
              <a:ext cx="2286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6697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1699" y="3657599"/>
              <a:ext cx="368300" cy="368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44369" y="3700028"/>
              <a:ext cx="241300" cy="241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86499" y="3911600"/>
              <a:ext cx="368300" cy="368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49169" y="3949984"/>
              <a:ext cx="241300" cy="241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9399" y="3695699"/>
              <a:ext cx="368300" cy="368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92069" y="3730039"/>
              <a:ext cx="241300" cy="241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362699" y="3416299"/>
              <a:ext cx="368300" cy="3683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4335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4335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7899" y="4368800"/>
              <a:ext cx="368300" cy="3683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90569" y="4409206"/>
              <a:ext cx="241300" cy="2413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073899" y="4711700"/>
              <a:ext cx="368300" cy="3683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38409" y="4752106"/>
              <a:ext cx="241300" cy="2413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2199" y="4711700"/>
              <a:ext cx="368300" cy="3683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04869" y="4752106"/>
              <a:ext cx="241300" cy="2413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0499" y="4546600"/>
              <a:ext cx="368300" cy="3683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73169" y="4584984"/>
              <a:ext cx="241300" cy="2413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4699" y="4622800"/>
              <a:ext cx="368300" cy="3683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29240" y="4667534"/>
              <a:ext cx="228600" cy="2286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9292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21399" y="3301999"/>
              <a:ext cx="368300" cy="3683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1850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1850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86200" y="3873500"/>
              <a:ext cx="1219200" cy="6985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49699" y="3934978"/>
              <a:ext cx="1079074" cy="53449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949699" y="3934978"/>
              <a:ext cx="1079500" cy="534670"/>
            </a:xfrm>
            <a:custGeom>
              <a:avLst/>
              <a:gdLst/>
              <a:ahLst/>
              <a:cxnLst/>
              <a:rect l="l" t="t" r="r" b="b"/>
              <a:pathLst>
                <a:path w="1079500" h="534670">
                  <a:moveTo>
                    <a:pt x="0" y="133624"/>
                  </a:moveTo>
                  <a:lnTo>
                    <a:pt x="811828" y="133624"/>
                  </a:lnTo>
                  <a:lnTo>
                    <a:pt x="811828" y="0"/>
                  </a:lnTo>
                  <a:lnTo>
                    <a:pt x="1079075" y="267248"/>
                  </a:lnTo>
                  <a:lnTo>
                    <a:pt x="811828" y="534495"/>
                  </a:lnTo>
                  <a:lnTo>
                    <a:pt x="811828" y="400870"/>
                  </a:lnTo>
                  <a:lnTo>
                    <a:pt x="0" y="400870"/>
                  </a:lnTo>
                  <a:lnTo>
                    <a:pt x="0" y="133624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3334" y="6508433"/>
            <a:ext cx="1733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[Source: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Daphne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Koller]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995" y="4046106"/>
            <a:ext cx="335915" cy="67310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Genes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8028" y="6290944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Individuals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9631" y="5983821"/>
            <a:ext cx="7830212" cy="20310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52626" y="1834238"/>
            <a:ext cx="7848600" cy="4086860"/>
            <a:chOff x="752626" y="1834238"/>
            <a:chExt cx="7848600" cy="40868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9377" y="2052378"/>
              <a:ext cx="7830464" cy="36337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626" y="5719439"/>
              <a:ext cx="7841630" cy="2013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6634" y="1841500"/>
              <a:ext cx="723265" cy="196215"/>
            </a:xfrm>
            <a:custGeom>
              <a:avLst/>
              <a:gdLst/>
              <a:ahLst/>
              <a:cxnLst/>
              <a:rect l="l" t="t" r="r" b="b"/>
              <a:pathLst>
                <a:path w="72326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99707" y="97956"/>
                  </a:lnTo>
                  <a:lnTo>
                    <a:pt x="321716" y="90258"/>
                  </a:lnTo>
                  <a:lnTo>
                    <a:pt x="339689" y="69265"/>
                  </a:lnTo>
                  <a:lnTo>
                    <a:pt x="351806" y="38129"/>
                  </a:lnTo>
                  <a:lnTo>
                    <a:pt x="356249" y="0"/>
                  </a:lnTo>
                  <a:lnTo>
                    <a:pt x="360693" y="38129"/>
                  </a:lnTo>
                  <a:lnTo>
                    <a:pt x="372810" y="69265"/>
                  </a:lnTo>
                  <a:lnTo>
                    <a:pt x="390783" y="90258"/>
                  </a:lnTo>
                  <a:lnTo>
                    <a:pt x="412792" y="97956"/>
                  </a:lnTo>
                  <a:lnTo>
                    <a:pt x="666587" y="97956"/>
                  </a:lnTo>
                  <a:lnTo>
                    <a:pt x="688596" y="105654"/>
                  </a:lnTo>
                  <a:lnTo>
                    <a:pt x="706569" y="126647"/>
                  </a:lnTo>
                  <a:lnTo>
                    <a:pt x="718686" y="157783"/>
                  </a:lnTo>
                  <a:lnTo>
                    <a:pt x="72313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89766" y="1841502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23102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8" y="90258"/>
                  </a:lnTo>
                  <a:lnTo>
                    <a:pt x="336187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057401" y="1840589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23102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8" y="90258"/>
                  </a:lnTo>
                  <a:lnTo>
                    <a:pt x="336187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25034" y="1840589"/>
              <a:ext cx="652145" cy="196215"/>
            </a:xfrm>
            <a:custGeom>
              <a:avLst/>
              <a:gdLst/>
              <a:ahLst/>
              <a:cxnLst/>
              <a:rect l="l" t="t" r="r" b="b"/>
              <a:pathLst>
                <a:path w="65214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64451" y="97956"/>
                  </a:lnTo>
                  <a:lnTo>
                    <a:pt x="286459" y="90258"/>
                  </a:lnTo>
                  <a:lnTo>
                    <a:pt x="304432" y="69265"/>
                  </a:lnTo>
                  <a:lnTo>
                    <a:pt x="316550" y="38129"/>
                  </a:lnTo>
                  <a:lnTo>
                    <a:pt x="320993" y="0"/>
                  </a:lnTo>
                  <a:lnTo>
                    <a:pt x="325436" y="38129"/>
                  </a:lnTo>
                  <a:lnTo>
                    <a:pt x="337554" y="69265"/>
                  </a:lnTo>
                  <a:lnTo>
                    <a:pt x="355526" y="90258"/>
                  </a:lnTo>
                  <a:lnTo>
                    <a:pt x="377535" y="97956"/>
                  </a:lnTo>
                  <a:lnTo>
                    <a:pt x="595022" y="97956"/>
                  </a:lnTo>
                  <a:lnTo>
                    <a:pt x="617031" y="105654"/>
                  </a:lnTo>
                  <a:lnTo>
                    <a:pt x="635004" y="126647"/>
                  </a:lnTo>
                  <a:lnTo>
                    <a:pt x="647121" y="157783"/>
                  </a:lnTo>
                  <a:lnTo>
                    <a:pt x="65156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76599" y="1840589"/>
              <a:ext cx="1066800" cy="196215"/>
            </a:xfrm>
            <a:custGeom>
              <a:avLst/>
              <a:gdLst/>
              <a:ahLst/>
              <a:cxnLst/>
              <a:rect l="l" t="t" r="r" b="b"/>
              <a:pathLst>
                <a:path w="1066800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1" y="126646"/>
                  </a:lnTo>
                  <a:lnTo>
                    <a:pt x="34533" y="105653"/>
                  </a:lnTo>
                  <a:lnTo>
                    <a:pt x="56543" y="97955"/>
                  </a:lnTo>
                  <a:lnTo>
                    <a:pt x="469016" y="97957"/>
                  </a:lnTo>
                  <a:lnTo>
                    <a:pt x="491025" y="90259"/>
                  </a:lnTo>
                  <a:lnTo>
                    <a:pt x="508998" y="69266"/>
                  </a:lnTo>
                  <a:lnTo>
                    <a:pt x="521115" y="38129"/>
                  </a:lnTo>
                  <a:lnTo>
                    <a:pt x="525559" y="0"/>
                  </a:lnTo>
                  <a:lnTo>
                    <a:pt x="530002" y="38129"/>
                  </a:lnTo>
                  <a:lnTo>
                    <a:pt x="542120" y="69266"/>
                  </a:lnTo>
                  <a:lnTo>
                    <a:pt x="560092" y="90259"/>
                  </a:lnTo>
                  <a:lnTo>
                    <a:pt x="582101" y="97957"/>
                  </a:lnTo>
                  <a:lnTo>
                    <a:pt x="1010258" y="97957"/>
                  </a:lnTo>
                  <a:lnTo>
                    <a:pt x="1032267" y="105655"/>
                  </a:lnTo>
                  <a:lnTo>
                    <a:pt x="1050240" y="126648"/>
                  </a:lnTo>
                  <a:lnTo>
                    <a:pt x="1062357" y="157784"/>
                  </a:lnTo>
                  <a:lnTo>
                    <a:pt x="1066801" y="1959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43399" y="1840588"/>
              <a:ext cx="990600" cy="196215"/>
            </a:xfrm>
            <a:custGeom>
              <a:avLst/>
              <a:gdLst/>
              <a:ahLst/>
              <a:cxnLst/>
              <a:rect l="l" t="t" r="r" b="b"/>
              <a:pathLst>
                <a:path w="990600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431476" y="97956"/>
                  </a:lnTo>
                  <a:lnTo>
                    <a:pt x="453485" y="90258"/>
                  </a:lnTo>
                  <a:lnTo>
                    <a:pt x="471458" y="69265"/>
                  </a:lnTo>
                  <a:lnTo>
                    <a:pt x="483575" y="38129"/>
                  </a:lnTo>
                  <a:lnTo>
                    <a:pt x="488018" y="0"/>
                  </a:lnTo>
                  <a:lnTo>
                    <a:pt x="492462" y="38129"/>
                  </a:lnTo>
                  <a:lnTo>
                    <a:pt x="504579" y="69265"/>
                  </a:lnTo>
                  <a:lnTo>
                    <a:pt x="522552" y="90258"/>
                  </a:lnTo>
                  <a:lnTo>
                    <a:pt x="544561" y="97956"/>
                  </a:lnTo>
                  <a:lnTo>
                    <a:pt x="934057" y="97956"/>
                  </a:lnTo>
                  <a:lnTo>
                    <a:pt x="956066" y="105654"/>
                  </a:lnTo>
                  <a:lnTo>
                    <a:pt x="974039" y="126647"/>
                  </a:lnTo>
                  <a:lnTo>
                    <a:pt x="986156" y="157783"/>
                  </a:lnTo>
                  <a:lnTo>
                    <a:pt x="99060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41146" y="1840590"/>
              <a:ext cx="1440815" cy="196215"/>
            </a:xfrm>
            <a:custGeom>
              <a:avLst/>
              <a:gdLst/>
              <a:ahLst/>
              <a:cxnLst/>
              <a:rect l="l" t="t" r="r" b="b"/>
              <a:pathLst>
                <a:path w="144081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653196" y="97956"/>
                  </a:lnTo>
                  <a:lnTo>
                    <a:pt x="675205" y="90258"/>
                  </a:lnTo>
                  <a:lnTo>
                    <a:pt x="693178" y="69265"/>
                  </a:lnTo>
                  <a:lnTo>
                    <a:pt x="705295" y="38129"/>
                  </a:lnTo>
                  <a:lnTo>
                    <a:pt x="709738" y="0"/>
                  </a:lnTo>
                  <a:lnTo>
                    <a:pt x="714182" y="38129"/>
                  </a:lnTo>
                  <a:lnTo>
                    <a:pt x="726299" y="69265"/>
                  </a:lnTo>
                  <a:lnTo>
                    <a:pt x="744272" y="90258"/>
                  </a:lnTo>
                  <a:lnTo>
                    <a:pt x="766281" y="97956"/>
                  </a:lnTo>
                  <a:lnTo>
                    <a:pt x="1384113" y="97956"/>
                  </a:lnTo>
                  <a:lnTo>
                    <a:pt x="1406122" y="105654"/>
                  </a:lnTo>
                  <a:lnTo>
                    <a:pt x="1424095" y="126647"/>
                  </a:lnTo>
                  <a:lnTo>
                    <a:pt x="1436212" y="157783"/>
                  </a:lnTo>
                  <a:lnTo>
                    <a:pt x="1440656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781801" y="1841502"/>
              <a:ext cx="1812925" cy="196215"/>
            </a:xfrm>
            <a:custGeom>
              <a:avLst/>
              <a:gdLst/>
              <a:ahLst/>
              <a:cxnLst/>
              <a:rect l="l" t="t" r="r" b="b"/>
              <a:pathLst>
                <a:path w="181292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6"/>
                  </a:lnTo>
                  <a:lnTo>
                    <a:pt x="34533" y="105653"/>
                  </a:lnTo>
                  <a:lnTo>
                    <a:pt x="56542" y="97955"/>
                  </a:lnTo>
                  <a:lnTo>
                    <a:pt x="836364" y="97957"/>
                  </a:lnTo>
                  <a:lnTo>
                    <a:pt x="858373" y="90259"/>
                  </a:lnTo>
                  <a:lnTo>
                    <a:pt x="876345" y="69266"/>
                  </a:lnTo>
                  <a:lnTo>
                    <a:pt x="888463" y="38129"/>
                  </a:lnTo>
                  <a:lnTo>
                    <a:pt x="892906" y="0"/>
                  </a:lnTo>
                  <a:lnTo>
                    <a:pt x="897349" y="38129"/>
                  </a:lnTo>
                  <a:lnTo>
                    <a:pt x="909467" y="69266"/>
                  </a:lnTo>
                  <a:lnTo>
                    <a:pt x="927440" y="90259"/>
                  </a:lnTo>
                  <a:lnTo>
                    <a:pt x="949448" y="97957"/>
                  </a:lnTo>
                  <a:lnTo>
                    <a:pt x="1755914" y="97957"/>
                  </a:lnTo>
                  <a:lnTo>
                    <a:pt x="1777923" y="105655"/>
                  </a:lnTo>
                  <a:lnTo>
                    <a:pt x="1795896" y="126648"/>
                  </a:lnTo>
                  <a:lnTo>
                    <a:pt x="1808013" y="157785"/>
                  </a:lnTo>
                  <a:lnTo>
                    <a:pt x="1812457" y="1959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1049020"/>
            <a:ext cx="8046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6295" algn="l"/>
              </a:tabLst>
            </a:pPr>
            <a:r>
              <a:rPr sz="2800" dirty="0">
                <a:latin typeface="Calibri"/>
                <a:cs typeface="Calibri"/>
              </a:rPr>
              <a:t>Genomics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genetic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similarity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35106" y="1232989"/>
            <a:ext cx="1490375" cy="1985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9055" y="1232989"/>
            <a:ext cx="1490375" cy="19853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4303" y="3281935"/>
            <a:ext cx="2650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Organize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clusters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8680" y="3271520"/>
            <a:ext cx="2166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94291" y="3988886"/>
            <a:ext cx="3295015" cy="2186940"/>
            <a:chOff x="5094291" y="3988886"/>
            <a:chExt cx="3295015" cy="21869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4291" y="3988886"/>
              <a:ext cx="3294661" cy="21864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11677" y="6065151"/>
              <a:ext cx="2545715" cy="87630"/>
            </a:xfrm>
            <a:custGeom>
              <a:avLst/>
              <a:gdLst/>
              <a:ahLst/>
              <a:cxnLst/>
              <a:rect l="l" t="t" r="r" b="b"/>
              <a:pathLst>
                <a:path w="2545715" h="87629">
                  <a:moveTo>
                    <a:pt x="2545612" y="0"/>
                  </a:moveTo>
                  <a:lnTo>
                    <a:pt x="0" y="0"/>
                  </a:lnTo>
                  <a:lnTo>
                    <a:pt x="0" y="87151"/>
                  </a:lnTo>
                  <a:lnTo>
                    <a:pt x="2545612" y="87151"/>
                  </a:lnTo>
                  <a:lnTo>
                    <a:pt x="2545612" y="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098977" y="6052451"/>
            <a:ext cx="27959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Calibri"/>
                <a:cs typeface="Calibri"/>
              </a:rPr>
              <a:t>Image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credit: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NASA/JPL-</a:t>
            </a:r>
            <a:r>
              <a:rPr sz="700" dirty="0">
                <a:latin typeface="Calibri"/>
                <a:cs typeface="Calibri"/>
              </a:rPr>
              <a:t>Caltech/E.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Churchwell</a:t>
            </a:r>
            <a:r>
              <a:rPr sz="700" spc="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(Univ.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of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Wisconsin,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Madison)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4948" y="6252845"/>
            <a:ext cx="248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Astronomical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2600" y="3467100"/>
            <a:ext cx="3263900" cy="3390900"/>
            <a:chOff x="482600" y="3467100"/>
            <a:chExt cx="3263900" cy="33909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600" y="3467100"/>
              <a:ext cx="3263900" cy="3390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0913" y="4156908"/>
              <a:ext cx="368639" cy="6789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8502" y="3965120"/>
              <a:ext cx="368639" cy="67893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6000" y="4273085"/>
              <a:ext cx="368639" cy="67893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1587" y="5035129"/>
              <a:ext cx="368639" cy="6789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5673" y="4876148"/>
              <a:ext cx="368639" cy="6789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4719" y="4876150"/>
              <a:ext cx="368639" cy="6789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60030" y="5073291"/>
              <a:ext cx="368639" cy="67893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6592" y="4968704"/>
              <a:ext cx="368639" cy="67893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8089" y="5317504"/>
              <a:ext cx="368639" cy="67893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3141" y="5256319"/>
              <a:ext cx="368639" cy="6789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5020" y="4015029"/>
              <a:ext cx="368639" cy="6789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0633" y="4096433"/>
              <a:ext cx="368639" cy="67893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2277" y="4326389"/>
              <a:ext cx="368639" cy="6789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3637" y="4289769"/>
              <a:ext cx="368639" cy="67893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2823" y="5215614"/>
              <a:ext cx="368639" cy="67893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8739" y="6111315"/>
            <a:ext cx="3186430" cy="6972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Calibri"/>
                <a:cs typeface="Calibri"/>
              </a:rPr>
              <a:t>Market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segmentation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45967" y="957649"/>
            <a:ext cx="3149600" cy="2407285"/>
            <a:chOff x="5045967" y="957649"/>
            <a:chExt cx="3149600" cy="2407285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7633" y="1109607"/>
              <a:ext cx="292201" cy="6225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7306" y="1058488"/>
              <a:ext cx="292201" cy="62253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72991" y="2197042"/>
              <a:ext cx="292201" cy="62253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5967" y="1856132"/>
              <a:ext cx="292201" cy="62253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8382" y="1901476"/>
              <a:ext cx="292201" cy="6225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16362" y="957649"/>
              <a:ext cx="292201" cy="6225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7944" y="1726984"/>
              <a:ext cx="292201" cy="6225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5793" y="1024550"/>
              <a:ext cx="292201" cy="62253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56248" y="1360314"/>
              <a:ext cx="292201" cy="62253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03365" y="1104447"/>
              <a:ext cx="292201" cy="62253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80353" y="1721889"/>
              <a:ext cx="292201" cy="62253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05106" y="2579454"/>
              <a:ext cx="292201" cy="62253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82801" y="2339330"/>
              <a:ext cx="292201" cy="62253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287924" y="1732101"/>
              <a:ext cx="317500" cy="351155"/>
            </a:xfrm>
            <a:custGeom>
              <a:avLst/>
              <a:gdLst/>
              <a:ahLst/>
              <a:cxnLst/>
              <a:rect l="l" t="t" r="r" b="b"/>
              <a:pathLst>
                <a:path w="317500" h="351155">
                  <a:moveTo>
                    <a:pt x="317474" y="234708"/>
                  </a:moveTo>
                  <a:lnTo>
                    <a:pt x="312585" y="228320"/>
                  </a:lnTo>
                  <a:lnTo>
                    <a:pt x="298678" y="226453"/>
                  </a:lnTo>
                  <a:lnTo>
                    <a:pt x="292290" y="231330"/>
                  </a:lnTo>
                  <a:lnTo>
                    <a:pt x="285889" y="279158"/>
                  </a:lnTo>
                  <a:lnTo>
                    <a:pt x="195275" y="61734"/>
                  </a:lnTo>
                  <a:lnTo>
                    <a:pt x="233743" y="90855"/>
                  </a:lnTo>
                  <a:lnTo>
                    <a:pt x="241719" y="89750"/>
                  </a:lnTo>
                  <a:lnTo>
                    <a:pt x="250177" y="78562"/>
                  </a:lnTo>
                  <a:lnTo>
                    <a:pt x="249072" y="70599"/>
                  </a:lnTo>
                  <a:lnTo>
                    <a:pt x="155829" y="50"/>
                  </a:lnTo>
                  <a:lnTo>
                    <a:pt x="59093" y="65811"/>
                  </a:lnTo>
                  <a:lnTo>
                    <a:pt x="57594" y="73710"/>
                  </a:lnTo>
                  <a:lnTo>
                    <a:pt x="65481" y="85305"/>
                  </a:lnTo>
                  <a:lnTo>
                    <a:pt x="73380" y="86804"/>
                  </a:lnTo>
                  <a:lnTo>
                    <a:pt x="113271" y="59664"/>
                  </a:lnTo>
                  <a:lnTo>
                    <a:pt x="29311" y="235597"/>
                  </a:lnTo>
                  <a:lnTo>
                    <a:pt x="25323" y="187502"/>
                  </a:lnTo>
                  <a:lnTo>
                    <a:pt x="19177" y="182308"/>
                  </a:lnTo>
                  <a:lnTo>
                    <a:pt x="5207" y="183476"/>
                  </a:lnTo>
                  <a:lnTo>
                    <a:pt x="0" y="189611"/>
                  </a:lnTo>
                  <a:lnTo>
                    <a:pt x="9677" y="306209"/>
                  </a:lnTo>
                  <a:lnTo>
                    <a:pt x="106413" y="240398"/>
                  </a:lnTo>
                  <a:lnTo>
                    <a:pt x="107924" y="232498"/>
                  </a:lnTo>
                  <a:lnTo>
                    <a:pt x="100025" y="220903"/>
                  </a:lnTo>
                  <a:lnTo>
                    <a:pt x="92125" y="219392"/>
                  </a:lnTo>
                  <a:lnTo>
                    <a:pt x="52235" y="246545"/>
                  </a:lnTo>
                  <a:lnTo>
                    <a:pt x="136194" y="70612"/>
                  </a:lnTo>
                  <a:lnTo>
                    <a:pt x="140195" y="118694"/>
                  </a:lnTo>
                  <a:lnTo>
                    <a:pt x="146329" y="123888"/>
                  </a:lnTo>
                  <a:lnTo>
                    <a:pt x="152666" y="123367"/>
                  </a:lnTo>
                  <a:lnTo>
                    <a:pt x="159029" y="124218"/>
                  </a:lnTo>
                  <a:lnTo>
                    <a:pt x="165417" y="119329"/>
                  </a:lnTo>
                  <a:lnTo>
                    <a:pt x="171831" y="71501"/>
                  </a:lnTo>
                  <a:lnTo>
                    <a:pt x="262432" y="288937"/>
                  </a:lnTo>
                  <a:lnTo>
                    <a:pt x="223964" y="259816"/>
                  </a:lnTo>
                  <a:lnTo>
                    <a:pt x="216001" y="260908"/>
                  </a:lnTo>
                  <a:lnTo>
                    <a:pt x="207530" y="272097"/>
                  </a:lnTo>
                  <a:lnTo>
                    <a:pt x="208635" y="280060"/>
                  </a:lnTo>
                  <a:lnTo>
                    <a:pt x="301929" y="350672"/>
                  </a:lnTo>
                  <a:lnTo>
                    <a:pt x="317474" y="234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0537" y="2349487"/>
              <a:ext cx="212501" cy="1588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49965" y="2741995"/>
              <a:ext cx="292201" cy="62253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942101" y="1680984"/>
              <a:ext cx="663575" cy="1405890"/>
            </a:xfrm>
            <a:custGeom>
              <a:avLst/>
              <a:gdLst/>
              <a:ahLst/>
              <a:cxnLst/>
              <a:rect l="l" t="t" r="r" b="b"/>
              <a:pathLst>
                <a:path w="663575" h="1405889">
                  <a:moveTo>
                    <a:pt x="575868" y="357327"/>
                  </a:moveTo>
                  <a:lnTo>
                    <a:pt x="574370" y="240334"/>
                  </a:lnTo>
                  <a:lnTo>
                    <a:pt x="568617" y="234721"/>
                  </a:lnTo>
                  <a:lnTo>
                    <a:pt x="554596" y="234899"/>
                  </a:lnTo>
                  <a:lnTo>
                    <a:pt x="548982" y="240652"/>
                  </a:lnTo>
                  <a:lnTo>
                    <a:pt x="549592" y="288912"/>
                  </a:lnTo>
                  <a:lnTo>
                    <a:pt x="409321" y="55333"/>
                  </a:lnTo>
                  <a:lnTo>
                    <a:pt x="451624" y="78549"/>
                  </a:lnTo>
                  <a:lnTo>
                    <a:pt x="459346" y="76301"/>
                  </a:lnTo>
                  <a:lnTo>
                    <a:pt x="466090" y="64008"/>
                  </a:lnTo>
                  <a:lnTo>
                    <a:pt x="463842" y="56286"/>
                  </a:lnTo>
                  <a:lnTo>
                    <a:pt x="361264" y="0"/>
                  </a:lnTo>
                  <a:lnTo>
                    <a:pt x="362762" y="116992"/>
                  </a:lnTo>
                  <a:lnTo>
                    <a:pt x="368515" y="122605"/>
                  </a:lnTo>
                  <a:lnTo>
                    <a:pt x="382549" y="122428"/>
                  </a:lnTo>
                  <a:lnTo>
                    <a:pt x="388162" y="116662"/>
                  </a:lnTo>
                  <a:lnTo>
                    <a:pt x="387540" y="68414"/>
                  </a:lnTo>
                  <a:lnTo>
                    <a:pt x="527812" y="301980"/>
                  </a:lnTo>
                  <a:lnTo>
                    <a:pt x="485508" y="278765"/>
                  </a:lnTo>
                  <a:lnTo>
                    <a:pt x="477799" y="281025"/>
                  </a:lnTo>
                  <a:lnTo>
                    <a:pt x="471043" y="293319"/>
                  </a:lnTo>
                  <a:lnTo>
                    <a:pt x="473290" y="301040"/>
                  </a:lnTo>
                  <a:lnTo>
                    <a:pt x="575868" y="357327"/>
                  </a:lnTo>
                  <a:close/>
                </a:path>
                <a:path w="663575" h="1405889">
                  <a:moveTo>
                    <a:pt x="663054" y="1209725"/>
                  </a:moveTo>
                  <a:lnTo>
                    <a:pt x="659257" y="1092847"/>
                  </a:lnTo>
                  <a:lnTo>
                    <a:pt x="653389" y="1087348"/>
                  </a:lnTo>
                  <a:lnTo>
                    <a:pt x="639368" y="1087805"/>
                  </a:lnTo>
                  <a:lnTo>
                    <a:pt x="633869" y="1093673"/>
                  </a:lnTo>
                  <a:lnTo>
                    <a:pt x="635431" y="1141895"/>
                  </a:lnTo>
                  <a:lnTo>
                    <a:pt x="472173" y="881672"/>
                  </a:lnTo>
                  <a:lnTo>
                    <a:pt x="514921" y="904062"/>
                  </a:lnTo>
                  <a:lnTo>
                    <a:pt x="522592" y="901661"/>
                  </a:lnTo>
                  <a:lnTo>
                    <a:pt x="529107" y="889241"/>
                  </a:lnTo>
                  <a:lnTo>
                    <a:pt x="526707" y="881557"/>
                  </a:lnTo>
                  <a:lnTo>
                    <a:pt x="423049" y="827278"/>
                  </a:lnTo>
                  <a:lnTo>
                    <a:pt x="426821" y="944219"/>
                  </a:lnTo>
                  <a:lnTo>
                    <a:pt x="432689" y="949718"/>
                  </a:lnTo>
                  <a:lnTo>
                    <a:pt x="446709" y="949274"/>
                  </a:lnTo>
                  <a:lnTo>
                    <a:pt x="452208" y="943406"/>
                  </a:lnTo>
                  <a:lnTo>
                    <a:pt x="450659" y="895172"/>
                  </a:lnTo>
                  <a:lnTo>
                    <a:pt x="613918" y="1155395"/>
                  </a:lnTo>
                  <a:lnTo>
                    <a:pt x="571169" y="1133017"/>
                  </a:lnTo>
                  <a:lnTo>
                    <a:pt x="563486" y="1135418"/>
                  </a:lnTo>
                  <a:lnTo>
                    <a:pt x="556983" y="1147838"/>
                  </a:lnTo>
                  <a:lnTo>
                    <a:pt x="559384" y="1155509"/>
                  </a:lnTo>
                  <a:lnTo>
                    <a:pt x="662711" y="1209636"/>
                  </a:lnTo>
                  <a:lnTo>
                    <a:pt x="550862" y="1176540"/>
                  </a:lnTo>
                  <a:lnTo>
                    <a:pt x="543788" y="1180376"/>
                  </a:lnTo>
                  <a:lnTo>
                    <a:pt x="539813" y="1193825"/>
                  </a:lnTo>
                  <a:lnTo>
                    <a:pt x="543648" y="1200899"/>
                  </a:lnTo>
                  <a:lnTo>
                    <a:pt x="589927" y="1214589"/>
                  </a:lnTo>
                  <a:lnTo>
                    <a:pt x="116014" y="1330782"/>
                  </a:lnTo>
                  <a:lnTo>
                    <a:pt x="110909" y="1327175"/>
                  </a:lnTo>
                  <a:lnTo>
                    <a:pt x="77101" y="1333093"/>
                  </a:lnTo>
                  <a:lnTo>
                    <a:pt x="101777" y="1309230"/>
                  </a:lnTo>
                  <a:lnTo>
                    <a:pt x="101879" y="1302981"/>
                  </a:lnTo>
                  <a:lnTo>
                    <a:pt x="230060" y="1194816"/>
                  </a:lnTo>
                  <a:lnTo>
                    <a:pt x="213880" y="1240282"/>
                  </a:lnTo>
                  <a:lnTo>
                    <a:pt x="217335" y="1247546"/>
                  </a:lnTo>
                  <a:lnTo>
                    <a:pt x="230543" y="1252245"/>
                  </a:lnTo>
                  <a:lnTo>
                    <a:pt x="237807" y="1248791"/>
                  </a:lnTo>
                  <a:lnTo>
                    <a:pt x="277025" y="1138567"/>
                  </a:lnTo>
                  <a:lnTo>
                    <a:pt x="161772" y="1158684"/>
                  </a:lnTo>
                  <a:lnTo>
                    <a:pt x="157149" y="1165263"/>
                  </a:lnTo>
                  <a:lnTo>
                    <a:pt x="159562" y="1179080"/>
                  </a:lnTo>
                  <a:lnTo>
                    <a:pt x="166141" y="1183703"/>
                  </a:lnTo>
                  <a:lnTo>
                    <a:pt x="213677" y="1175410"/>
                  </a:lnTo>
                  <a:lnTo>
                    <a:pt x="46990" y="1316062"/>
                  </a:lnTo>
                  <a:lnTo>
                    <a:pt x="63169" y="1270596"/>
                  </a:lnTo>
                  <a:lnTo>
                    <a:pt x="59715" y="1263345"/>
                  </a:lnTo>
                  <a:lnTo>
                    <a:pt x="46494" y="1258633"/>
                  </a:lnTo>
                  <a:lnTo>
                    <a:pt x="39230" y="1262087"/>
                  </a:lnTo>
                  <a:lnTo>
                    <a:pt x="25" y="1372273"/>
                  </a:lnTo>
                  <a:lnTo>
                    <a:pt x="105473" y="1403502"/>
                  </a:lnTo>
                  <a:lnTo>
                    <a:pt x="112204" y="1405496"/>
                  </a:lnTo>
                  <a:lnTo>
                    <a:pt x="119265" y="1401648"/>
                  </a:lnTo>
                  <a:lnTo>
                    <a:pt x="123240" y="1388198"/>
                  </a:lnTo>
                  <a:lnTo>
                    <a:pt x="119405" y="1381137"/>
                  </a:lnTo>
                  <a:lnTo>
                    <a:pt x="73126" y="1367447"/>
                  </a:lnTo>
                  <a:lnTo>
                    <a:pt x="595972" y="1239253"/>
                  </a:lnTo>
                  <a:lnTo>
                    <a:pt x="561289" y="1272794"/>
                  </a:lnTo>
                  <a:lnTo>
                    <a:pt x="561149" y="1280833"/>
                  </a:lnTo>
                  <a:lnTo>
                    <a:pt x="570903" y="1290916"/>
                  </a:lnTo>
                  <a:lnTo>
                    <a:pt x="578942" y="1291056"/>
                  </a:lnTo>
                  <a:lnTo>
                    <a:pt x="662990" y="1209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97272" y="2650552"/>
              <a:ext cx="185566" cy="24021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365134" y="2470127"/>
              <a:ext cx="718185" cy="219075"/>
            </a:xfrm>
            <a:custGeom>
              <a:avLst/>
              <a:gdLst/>
              <a:ahLst/>
              <a:cxnLst/>
              <a:rect l="l" t="t" r="r" b="b"/>
              <a:pathLst>
                <a:path w="718184" h="219075">
                  <a:moveTo>
                    <a:pt x="110600" y="0"/>
                  </a:moveTo>
                  <a:lnTo>
                    <a:pt x="0" y="38172"/>
                  </a:lnTo>
                  <a:lnTo>
                    <a:pt x="87668" y="115657"/>
                  </a:lnTo>
                  <a:lnTo>
                    <a:pt x="95694" y="115162"/>
                  </a:lnTo>
                  <a:lnTo>
                    <a:pt x="104984" y="104651"/>
                  </a:lnTo>
                  <a:lnTo>
                    <a:pt x="104489" y="96625"/>
                  </a:lnTo>
                  <a:lnTo>
                    <a:pt x="68333" y="64668"/>
                  </a:lnTo>
                  <a:lnTo>
                    <a:pt x="644452" y="178902"/>
                  </a:lnTo>
                  <a:lnTo>
                    <a:pt x="598838" y="194645"/>
                  </a:lnTo>
                  <a:lnTo>
                    <a:pt x="595317" y="201875"/>
                  </a:lnTo>
                  <a:lnTo>
                    <a:pt x="599894" y="215135"/>
                  </a:lnTo>
                  <a:lnTo>
                    <a:pt x="607124" y="218655"/>
                  </a:lnTo>
                  <a:lnTo>
                    <a:pt x="613754" y="216367"/>
                  </a:lnTo>
                  <a:lnTo>
                    <a:pt x="717725" y="180483"/>
                  </a:lnTo>
                  <a:lnTo>
                    <a:pt x="630057" y="102998"/>
                  </a:lnTo>
                  <a:lnTo>
                    <a:pt x="622030" y="103493"/>
                  </a:lnTo>
                  <a:lnTo>
                    <a:pt x="612740" y="114004"/>
                  </a:lnTo>
                  <a:lnTo>
                    <a:pt x="613236" y="122030"/>
                  </a:lnTo>
                  <a:lnTo>
                    <a:pt x="649391" y="153987"/>
                  </a:lnTo>
                  <a:lnTo>
                    <a:pt x="73273" y="39753"/>
                  </a:lnTo>
                  <a:lnTo>
                    <a:pt x="118887" y="24010"/>
                  </a:lnTo>
                  <a:lnTo>
                    <a:pt x="122407" y="16780"/>
                  </a:lnTo>
                  <a:lnTo>
                    <a:pt x="117830" y="3520"/>
                  </a:lnTo>
                  <a:lnTo>
                    <a:pt x="110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49458" y="1266195"/>
              <a:ext cx="166954" cy="10628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297564" y="1226705"/>
              <a:ext cx="2784475" cy="870585"/>
            </a:xfrm>
            <a:custGeom>
              <a:avLst/>
              <a:gdLst/>
              <a:ahLst/>
              <a:cxnLst/>
              <a:rect l="l" t="t" r="r" b="b"/>
              <a:pathLst>
                <a:path w="2784475" h="870585">
                  <a:moveTo>
                    <a:pt x="292328" y="811555"/>
                  </a:moveTo>
                  <a:lnTo>
                    <a:pt x="194284" y="754367"/>
                  </a:lnTo>
                  <a:lnTo>
                    <a:pt x="190830" y="753999"/>
                  </a:lnTo>
                  <a:lnTo>
                    <a:pt x="187693" y="754824"/>
                  </a:lnTo>
                  <a:lnTo>
                    <a:pt x="184543" y="755650"/>
                  </a:lnTo>
                  <a:lnTo>
                    <a:pt x="181711" y="757682"/>
                  </a:lnTo>
                  <a:lnTo>
                    <a:pt x="176415" y="766762"/>
                  </a:lnTo>
                  <a:lnTo>
                    <a:pt x="178460" y="774534"/>
                  </a:lnTo>
                  <a:lnTo>
                    <a:pt x="220141" y="798855"/>
                  </a:lnTo>
                  <a:lnTo>
                    <a:pt x="72186" y="798855"/>
                  </a:lnTo>
                  <a:lnTo>
                    <a:pt x="113868" y="774534"/>
                  </a:lnTo>
                  <a:lnTo>
                    <a:pt x="115912" y="766762"/>
                  </a:lnTo>
                  <a:lnTo>
                    <a:pt x="108851" y="754646"/>
                  </a:lnTo>
                  <a:lnTo>
                    <a:pt x="101066" y="752602"/>
                  </a:lnTo>
                  <a:lnTo>
                    <a:pt x="0" y="811555"/>
                  </a:lnTo>
                  <a:lnTo>
                    <a:pt x="101066" y="870508"/>
                  </a:lnTo>
                  <a:lnTo>
                    <a:pt x="108851" y="868464"/>
                  </a:lnTo>
                  <a:lnTo>
                    <a:pt x="115912" y="856348"/>
                  </a:lnTo>
                  <a:lnTo>
                    <a:pt x="113868" y="848563"/>
                  </a:lnTo>
                  <a:lnTo>
                    <a:pt x="72186" y="824255"/>
                  </a:lnTo>
                  <a:lnTo>
                    <a:pt x="220141" y="824255"/>
                  </a:lnTo>
                  <a:lnTo>
                    <a:pt x="178460" y="848563"/>
                  </a:lnTo>
                  <a:lnTo>
                    <a:pt x="176415" y="856348"/>
                  </a:lnTo>
                  <a:lnTo>
                    <a:pt x="183489" y="868464"/>
                  </a:lnTo>
                  <a:lnTo>
                    <a:pt x="191262" y="870508"/>
                  </a:lnTo>
                  <a:lnTo>
                    <a:pt x="292328" y="811555"/>
                  </a:lnTo>
                  <a:close/>
                </a:path>
                <a:path w="2784475" h="870585">
                  <a:moveTo>
                    <a:pt x="2028278" y="109131"/>
                  </a:moveTo>
                  <a:lnTo>
                    <a:pt x="1937829" y="34912"/>
                  </a:lnTo>
                  <a:lnTo>
                    <a:pt x="1929828" y="35712"/>
                  </a:lnTo>
                  <a:lnTo>
                    <a:pt x="1920925" y="46558"/>
                  </a:lnTo>
                  <a:lnTo>
                    <a:pt x="1921713" y="54559"/>
                  </a:lnTo>
                  <a:lnTo>
                    <a:pt x="1959025" y="85166"/>
                  </a:lnTo>
                  <a:lnTo>
                    <a:pt x="1684223" y="41097"/>
                  </a:lnTo>
                  <a:lnTo>
                    <a:pt x="1729219" y="23685"/>
                  </a:lnTo>
                  <a:lnTo>
                    <a:pt x="1732470" y="16332"/>
                  </a:lnTo>
                  <a:lnTo>
                    <a:pt x="1727415" y="3251"/>
                  </a:lnTo>
                  <a:lnTo>
                    <a:pt x="1720062" y="0"/>
                  </a:lnTo>
                  <a:lnTo>
                    <a:pt x="1713522" y="2527"/>
                  </a:lnTo>
                  <a:lnTo>
                    <a:pt x="1610931" y="42214"/>
                  </a:lnTo>
                  <a:lnTo>
                    <a:pt x="1701393" y="116420"/>
                  </a:lnTo>
                  <a:lnTo>
                    <a:pt x="1709394" y="115633"/>
                  </a:lnTo>
                  <a:lnTo>
                    <a:pt x="1718297" y="104787"/>
                  </a:lnTo>
                  <a:lnTo>
                    <a:pt x="1717509" y="96786"/>
                  </a:lnTo>
                  <a:lnTo>
                    <a:pt x="1680197" y="66179"/>
                  </a:lnTo>
                  <a:lnTo>
                    <a:pt x="1954999" y="110236"/>
                  </a:lnTo>
                  <a:lnTo>
                    <a:pt x="1909991" y="127647"/>
                  </a:lnTo>
                  <a:lnTo>
                    <a:pt x="1906739" y="135001"/>
                  </a:lnTo>
                  <a:lnTo>
                    <a:pt x="1911807" y="148082"/>
                  </a:lnTo>
                  <a:lnTo>
                    <a:pt x="1919160" y="151333"/>
                  </a:lnTo>
                  <a:lnTo>
                    <a:pt x="2028278" y="109131"/>
                  </a:lnTo>
                  <a:close/>
                </a:path>
                <a:path w="2784475" h="870585">
                  <a:moveTo>
                    <a:pt x="2386673" y="689571"/>
                  </a:moveTo>
                  <a:lnTo>
                    <a:pt x="2381173" y="683704"/>
                  </a:lnTo>
                  <a:lnTo>
                    <a:pt x="2367153" y="683234"/>
                  </a:lnTo>
                  <a:lnTo>
                    <a:pt x="2361285" y="688733"/>
                  </a:lnTo>
                  <a:lnTo>
                    <a:pt x="2359698" y="736955"/>
                  </a:lnTo>
                  <a:lnTo>
                    <a:pt x="2219769" y="477812"/>
                  </a:lnTo>
                  <a:lnTo>
                    <a:pt x="2260968" y="502945"/>
                  </a:lnTo>
                  <a:lnTo>
                    <a:pt x="2268778" y="501040"/>
                  </a:lnTo>
                  <a:lnTo>
                    <a:pt x="2276081" y="489064"/>
                  </a:lnTo>
                  <a:lnTo>
                    <a:pt x="2274189" y="481253"/>
                  </a:lnTo>
                  <a:lnTo>
                    <a:pt x="2174290" y="420331"/>
                  </a:lnTo>
                  <a:lnTo>
                    <a:pt x="2170442" y="537273"/>
                  </a:lnTo>
                  <a:lnTo>
                    <a:pt x="2175929" y="543140"/>
                  </a:lnTo>
                  <a:lnTo>
                    <a:pt x="2189950" y="543610"/>
                  </a:lnTo>
                  <a:lnTo>
                    <a:pt x="2195830" y="538111"/>
                  </a:lnTo>
                  <a:lnTo>
                    <a:pt x="2197417" y="489889"/>
                  </a:lnTo>
                  <a:lnTo>
                    <a:pt x="2337346" y="749033"/>
                  </a:lnTo>
                  <a:lnTo>
                    <a:pt x="2296147" y="723900"/>
                  </a:lnTo>
                  <a:lnTo>
                    <a:pt x="2288324" y="725792"/>
                  </a:lnTo>
                  <a:lnTo>
                    <a:pt x="2281021" y="737781"/>
                  </a:lnTo>
                  <a:lnTo>
                    <a:pt x="2282914" y="745591"/>
                  </a:lnTo>
                  <a:lnTo>
                    <a:pt x="2382812" y="806513"/>
                  </a:lnTo>
                  <a:lnTo>
                    <a:pt x="2386673" y="689571"/>
                  </a:lnTo>
                  <a:close/>
                </a:path>
                <a:path w="2784475" h="870585">
                  <a:moveTo>
                    <a:pt x="2605849" y="189026"/>
                  </a:moveTo>
                  <a:lnTo>
                    <a:pt x="2524429" y="105016"/>
                  </a:lnTo>
                  <a:lnTo>
                    <a:pt x="2516390" y="104889"/>
                  </a:lnTo>
                  <a:lnTo>
                    <a:pt x="2506307" y="114655"/>
                  </a:lnTo>
                  <a:lnTo>
                    <a:pt x="2506180" y="122694"/>
                  </a:lnTo>
                  <a:lnTo>
                    <a:pt x="2539771" y="157340"/>
                  </a:lnTo>
                  <a:lnTo>
                    <a:pt x="2393302" y="116332"/>
                  </a:lnTo>
                  <a:lnTo>
                    <a:pt x="2440000" y="104152"/>
                  </a:lnTo>
                  <a:lnTo>
                    <a:pt x="2444064" y="97218"/>
                  </a:lnTo>
                  <a:lnTo>
                    <a:pt x="2440521" y="83642"/>
                  </a:lnTo>
                  <a:lnTo>
                    <a:pt x="2433586" y="79578"/>
                  </a:lnTo>
                  <a:lnTo>
                    <a:pt x="2426792" y="81343"/>
                  </a:lnTo>
                  <a:lnTo>
                    <a:pt x="2320366" y="109105"/>
                  </a:lnTo>
                  <a:lnTo>
                    <a:pt x="2401798" y="193116"/>
                  </a:lnTo>
                  <a:lnTo>
                    <a:pt x="2409837" y="193243"/>
                  </a:lnTo>
                  <a:lnTo>
                    <a:pt x="2419908" y="183489"/>
                  </a:lnTo>
                  <a:lnTo>
                    <a:pt x="2420035" y="175450"/>
                  </a:lnTo>
                  <a:lnTo>
                    <a:pt x="2386457" y="140792"/>
                  </a:lnTo>
                  <a:lnTo>
                    <a:pt x="2532913" y="181800"/>
                  </a:lnTo>
                  <a:lnTo>
                    <a:pt x="2486228" y="193979"/>
                  </a:lnTo>
                  <a:lnTo>
                    <a:pt x="2482164" y="200914"/>
                  </a:lnTo>
                  <a:lnTo>
                    <a:pt x="2485694" y="214490"/>
                  </a:lnTo>
                  <a:lnTo>
                    <a:pt x="2492641" y="218554"/>
                  </a:lnTo>
                  <a:lnTo>
                    <a:pt x="2605849" y="189026"/>
                  </a:lnTo>
                  <a:close/>
                </a:path>
                <a:path w="2784475" h="870585">
                  <a:moveTo>
                    <a:pt x="2784462" y="612609"/>
                  </a:moveTo>
                  <a:lnTo>
                    <a:pt x="2751912" y="500227"/>
                  </a:lnTo>
                  <a:lnTo>
                    <a:pt x="2670111" y="583882"/>
                  </a:lnTo>
                  <a:lnTo>
                    <a:pt x="2670200" y="591921"/>
                  </a:lnTo>
                  <a:lnTo>
                    <a:pt x="2680233" y="601726"/>
                  </a:lnTo>
                  <a:lnTo>
                    <a:pt x="2688272" y="601637"/>
                  </a:lnTo>
                  <a:lnTo>
                    <a:pt x="2722003" y="567143"/>
                  </a:lnTo>
                  <a:lnTo>
                    <a:pt x="2680246" y="733412"/>
                  </a:lnTo>
                  <a:lnTo>
                    <a:pt x="2666809" y="687070"/>
                  </a:lnTo>
                  <a:lnTo>
                    <a:pt x="2659773" y="683183"/>
                  </a:lnTo>
                  <a:lnTo>
                    <a:pt x="2646299" y="687095"/>
                  </a:lnTo>
                  <a:lnTo>
                    <a:pt x="2642412" y="694131"/>
                  </a:lnTo>
                  <a:lnTo>
                    <a:pt x="2674975" y="806513"/>
                  </a:lnTo>
                  <a:lnTo>
                    <a:pt x="2756776" y="722858"/>
                  </a:lnTo>
                  <a:lnTo>
                    <a:pt x="2756687" y="714819"/>
                  </a:lnTo>
                  <a:lnTo>
                    <a:pt x="2746654" y="705015"/>
                  </a:lnTo>
                  <a:lnTo>
                    <a:pt x="2738615" y="705104"/>
                  </a:lnTo>
                  <a:lnTo>
                    <a:pt x="2704871" y="739597"/>
                  </a:lnTo>
                  <a:lnTo>
                    <a:pt x="2746641" y="573328"/>
                  </a:lnTo>
                  <a:lnTo>
                    <a:pt x="2760065" y="619683"/>
                  </a:lnTo>
                  <a:lnTo>
                    <a:pt x="2767114" y="623557"/>
                  </a:lnTo>
                  <a:lnTo>
                    <a:pt x="2780588" y="619658"/>
                  </a:lnTo>
                  <a:lnTo>
                    <a:pt x="2784462" y="612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48391" y="1600925"/>
              <a:ext cx="223560" cy="11825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89765" y="1268869"/>
              <a:ext cx="2098675" cy="1382395"/>
            </a:xfrm>
            <a:custGeom>
              <a:avLst/>
              <a:gdLst/>
              <a:ahLst/>
              <a:cxnLst/>
              <a:rect l="l" t="t" r="r" b="b"/>
              <a:pathLst>
                <a:path w="2098675" h="1382395">
                  <a:moveTo>
                    <a:pt x="567588" y="100888"/>
                  </a:moveTo>
                  <a:lnTo>
                    <a:pt x="461645" y="51244"/>
                  </a:lnTo>
                  <a:lnTo>
                    <a:pt x="454088" y="53975"/>
                  </a:lnTo>
                  <a:lnTo>
                    <a:pt x="448132" y="66675"/>
                  </a:lnTo>
                  <a:lnTo>
                    <a:pt x="450875" y="74244"/>
                  </a:lnTo>
                  <a:lnTo>
                    <a:pt x="494563" y="94716"/>
                  </a:lnTo>
                  <a:lnTo>
                    <a:pt x="70751" y="132892"/>
                  </a:lnTo>
                  <a:lnTo>
                    <a:pt x="110083" y="104940"/>
                  </a:lnTo>
                  <a:lnTo>
                    <a:pt x="111429" y="97002"/>
                  </a:lnTo>
                  <a:lnTo>
                    <a:pt x="103301" y="85572"/>
                  </a:lnTo>
                  <a:lnTo>
                    <a:pt x="95377" y="84239"/>
                  </a:lnTo>
                  <a:lnTo>
                    <a:pt x="0" y="152019"/>
                  </a:lnTo>
                  <a:lnTo>
                    <a:pt x="102781" y="200177"/>
                  </a:lnTo>
                  <a:lnTo>
                    <a:pt x="106260" y="200240"/>
                  </a:lnTo>
                  <a:lnTo>
                    <a:pt x="109308" y="199136"/>
                  </a:lnTo>
                  <a:lnTo>
                    <a:pt x="112369" y="198031"/>
                  </a:lnTo>
                  <a:lnTo>
                    <a:pt x="114998" y="195757"/>
                  </a:lnTo>
                  <a:lnTo>
                    <a:pt x="119468" y="186232"/>
                  </a:lnTo>
                  <a:lnTo>
                    <a:pt x="116725" y="178663"/>
                  </a:lnTo>
                  <a:lnTo>
                    <a:pt x="73037" y="158191"/>
                  </a:lnTo>
                  <a:lnTo>
                    <a:pt x="496849" y="120015"/>
                  </a:lnTo>
                  <a:lnTo>
                    <a:pt x="457517" y="147967"/>
                  </a:lnTo>
                  <a:lnTo>
                    <a:pt x="456171" y="155892"/>
                  </a:lnTo>
                  <a:lnTo>
                    <a:pt x="464299" y="167335"/>
                  </a:lnTo>
                  <a:lnTo>
                    <a:pt x="472224" y="168668"/>
                  </a:lnTo>
                  <a:lnTo>
                    <a:pt x="567588" y="100888"/>
                  </a:lnTo>
                  <a:close/>
                </a:path>
                <a:path w="2098675" h="1382395">
                  <a:moveTo>
                    <a:pt x="1413141" y="295478"/>
                  </a:moveTo>
                  <a:lnTo>
                    <a:pt x="1410195" y="287997"/>
                  </a:lnTo>
                  <a:lnTo>
                    <a:pt x="1397330" y="282409"/>
                  </a:lnTo>
                  <a:lnTo>
                    <a:pt x="1389849" y="285356"/>
                  </a:lnTo>
                  <a:lnTo>
                    <a:pt x="1370609" y="329603"/>
                  </a:lnTo>
                  <a:lnTo>
                    <a:pt x="1339888" y="70180"/>
                  </a:lnTo>
                  <a:lnTo>
                    <a:pt x="1368933" y="108712"/>
                  </a:lnTo>
                  <a:lnTo>
                    <a:pt x="1376895" y="109829"/>
                  </a:lnTo>
                  <a:lnTo>
                    <a:pt x="1388097" y="101384"/>
                  </a:lnTo>
                  <a:lnTo>
                    <a:pt x="1389214" y="93421"/>
                  </a:lnTo>
                  <a:lnTo>
                    <a:pt x="1318793" y="0"/>
                  </a:lnTo>
                  <a:lnTo>
                    <a:pt x="1272120" y="107289"/>
                  </a:lnTo>
                  <a:lnTo>
                    <a:pt x="1275080" y="114769"/>
                  </a:lnTo>
                  <a:lnTo>
                    <a:pt x="1287932" y="120370"/>
                  </a:lnTo>
                  <a:lnTo>
                    <a:pt x="1295425" y="117424"/>
                  </a:lnTo>
                  <a:lnTo>
                    <a:pt x="1314665" y="73164"/>
                  </a:lnTo>
                  <a:lnTo>
                    <a:pt x="1345387" y="332587"/>
                  </a:lnTo>
                  <a:lnTo>
                    <a:pt x="1316342" y="294055"/>
                  </a:lnTo>
                  <a:lnTo>
                    <a:pt x="1308379" y="292938"/>
                  </a:lnTo>
                  <a:lnTo>
                    <a:pt x="1297178" y="301383"/>
                  </a:lnTo>
                  <a:lnTo>
                    <a:pt x="1296060" y="309346"/>
                  </a:lnTo>
                  <a:lnTo>
                    <a:pt x="1366481" y="402780"/>
                  </a:lnTo>
                  <a:lnTo>
                    <a:pt x="1413141" y="295478"/>
                  </a:lnTo>
                  <a:close/>
                </a:path>
                <a:path w="2098675" h="1382395">
                  <a:moveTo>
                    <a:pt x="2098649" y="880960"/>
                  </a:moveTo>
                  <a:lnTo>
                    <a:pt x="2090610" y="764311"/>
                  </a:lnTo>
                  <a:lnTo>
                    <a:pt x="1989239" y="705929"/>
                  </a:lnTo>
                  <a:lnTo>
                    <a:pt x="1981466" y="708025"/>
                  </a:lnTo>
                  <a:lnTo>
                    <a:pt x="1974469" y="720178"/>
                  </a:lnTo>
                  <a:lnTo>
                    <a:pt x="1976564" y="727951"/>
                  </a:lnTo>
                  <a:lnTo>
                    <a:pt x="2018385" y="752017"/>
                  </a:lnTo>
                  <a:lnTo>
                    <a:pt x="1292428" y="756272"/>
                  </a:lnTo>
                  <a:lnTo>
                    <a:pt x="1333957" y="731710"/>
                  </a:lnTo>
                  <a:lnTo>
                    <a:pt x="1335963" y="723925"/>
                  </a:lnTo>
                  <a:lnTo>
                    <a:pt x="1328826" y="711847"/>
                  </a:lnTo>
                  <a:lnTo>
                    <a:pt x="1321028" y="709841"/>
                  </a:lnTo>
                  <a:lnTo>
                    <a:pt x="1220431" y="769327"/>
                  </a:lnTo>
                  <a:lnTo>
                    <a:pt x="1268552" y="662825"/>
                  </a:lnTo>
                  <a:lnTo>
                    <a:pt x="1265720" y="655294"/>
                  </a:lnTo>
                  <a:lnTo>
                    <a:pt x="1252931" y="649528"/>
                  </a:lnTo>
                  <a:lnTo>
                    <a:pt x="1245412" y="652360"/>
                  </a:lnTo>
                  <a:lnTo>
                    <a:pt x="1225537" y="696341"/>
                  </a:lnTo>
                  <a:lnTo>
                    <a:pt x="1192796" y="381736"/>
                  </a:lnTo>
                  <a:lnTo>
                    <a:pt x="1221295" y="420687"/>
                  </a:lnTo>
                  <a:lnTo>
                    <a:pt x="1229233" y="421919"/>
                  </a:lnTo>
                  <a:lnTo>
                    <a:pt x="1240561" y="413626"/>
                  </a:lnTo>
                  <a:lnTo>
                    <a:pt x="1241793" y="405676"/>
                  </a:lnTo>
                  <a:lnTo>
                    <a:pt x="1172692" y="311264"/>
                  </a:lnTo>
                  <a:lnTo>
                    <a:pt x="1124508" y="417893"/>
                  </a:lnTo>
                  <a:lnTo>
                    <a:pt x="1127353" y="425411"/>
                  </a:lnTo>
                  <a:lnTo>
                    <a:pt x="1140142" y="431190"/>
                  </a:lnTo>
                  <a:lnTo>
                    <a:pt x="1147660" y="428345"/>
                  </a:lnTo>
                  <a:lnTo>
                    <a:pt x="1167523" y="384378"/>
                  </a:lnTo>
                  <a:lnTo>
                    <a:pt x="1200277" y="698969"/>
                  </a:lnTo>
                  <a:lnTo>
                    <a:pt x="1171778" y="660031"/>
                  </a:lnTo>
                  <a:lnTo>
                    <a:pt x="1163828" y="658799"/>
                  </a:lnTo>
                  <a:lnTo>
                    <a:pt x="1152512" y="667080"/>
                  </a:lnTo>
                  <a:lnTo>
                    <a:pt x="1151280" y="675030"/>
                  </a:lnTo>
                  <a:lnTo>
                    <a:pt x="1220317" y="769391"/>
                  </a:lnTo>
                  <a:lnTo>
                    <a:pt x="1207604" y="885647"/>
                  </a:lnTo>
                  <a:lnTo>
                    <a:pt x="1212634" y="891908"/>
                  </a:lnTo>
                  <a:lnTo>
                    <a:pt x="1226578" y="893445"/>
                  </a:lnTo>
                  <a:lnTo>
                    <a:pt x="1232852" y="888415"/>
                  </a:lnTo>
                  <a:lnTo>
                    <a:pt x="1238110" y="840447"/>
                  </a:lnTo>
                  <a:lnTo>
                    <a:pt x="1452092" y="1321015"/>
                  </a:lnTo>
                  <a:lnTo>
                    <a:pt x="1412925" y="1292821"/>
                  </a:lnTo>
                  <a:lnTo>
                    <a:pt x="1404988" y="1294117"/>
                  </a:lnTo>
                  <a:lnTo>
                    <a:pt x="1396796" y="1305509"/>
                  </a:lnTo>
                  <a:lnTo>
                    <a:pt x="1398092" y="1313446"/>
                  </a:lnTo>
                  <a:lnTo>
                    <a:pt x="1493050" y="1381785"/>
                  </a:lnTo>
                  <a:lnTo>
                    <a:pt x="1505800" y="1265478"/>
                  </a:lnTo>
                  <a:lnTo>
                    <a:pt x="1500771" y="1259205"/>
                  </a:lnTo>
                  <a:lnTo>
                    <a:pt x="1486827" y="1257681"/>
                  </a:lnTo>
                  <a:lnTo>
                    <a:pt x="1480553" y="1262710"/>
                  </a:lnTo>
                  <a:lnTo>
                    <a:pt x="1475295" y="1310678"/>
                  </a:lnTo>
                  <a:lnTo>
                    <a:pt x="1261313" y="830110"/>
                  </a:lnTo>
                  <a:lnTo>
                    <a:pt x="1300480" y="858291"/>
                  </a:lnTo>
                  <a:lnTo>
                    <a:pt x="1308417" y="857008"/>
                  </a:lnTo>
                  <a:lnTo>
                    <a:pt x="1316609" y="845616"/>
                  </a:lnTo>
                  <a:lnTo>
                    <a:pt x="1315313" y="837679"/>
                  </a:lnTo>
                  <a:lnTo>
                    <a:pt x="1220749" y="769658"/>
                  </a:lnTo>
                  <a:lnTo>
                    <a:pt x="1318679" y="826008"/>
                  </a:lnTo>
                  <a:lnTo>
                    <a:pt x="1336484" y="813498"/>
                  </a:lnTo>
                  <a:lnTo>
                    <a:pt x="1334389" y="805738"/>
                  </a:lnTo>
                  <a:lnTo>
                    <a:pt x="1292567" y="781672"/>
                  </a:lnTo>
                  <a:lnTo>
                    <a:pt x="2018538" y="777417"/>
                  </a:lnTo>
                  <a:lnTo>
                    <a:pt x="1976996" y="801979"/>
                  </a:lnTo>
                  <a:lnTo>
                    <a:pt x="1975002" y="809764"/>
                  </a:lnTo>
                  <a:lnTo>
                    <a:pt x="1982139" y="821842"/>
                  </a:lnTo>
                  <a:lnTo>
                    <a:pt x="1989924" y="823836"/>
                  </a:lnTo>
                  <a:lnTo>
                    <a:pt x="2089467" y="764997"/>
                  </a:lnTo>
                  <a:lnTo>
                    <a:pt x="1992960" y="828700"/>
                  </a:lnTo>
                  <a:lnTo>
                    <a:pt x="1991347" y="836574"/>
                  </a:lnTo>
                  <a:lnTo>
                    <a:pt x="1999081" y="848283"/>
                  </a:lnTo>
                  <a:lnTo>
                    <a:pt x="2006955" y="849896"/>
                  </a:lnTo>
                  <a:lnTo>
                    <a:pt x="2047227" y="823315"/>
                  </a:lnTo>
                  <a:lnTo>
                    <a:pt x="1805825" y="1311452"/>
                  </a:lnTo>
                  <a:lnTo>
                    <a:pt x="1802498" y="1263319"/>
                  </a:lnTo>
                  <a:lnTo>
                    <a:pt x="1796440" y="1258036"/>
                  </a:lnTo>
                  <a:lnTo>
                    <a:pt x="1782445" y="1259001"/>
                  </a:lnTo>
                  <a:lnTo>
                    <a:pt x="1777161" y="1265059"/>
                  </a:lnTo>
                  <a:lnTo>
                    <a:pt x="1785200" y="1381785"/>
                  </a:lnTo>
                  <a:lnTo>
                    <a:pt x="1882851" y="1317332"/>
                  </a:lnTo>
                  <a:lnTo>
                    <a:pt x="1884464" y="1309446"/>
                  </a:lnTo>
                  <a:lnTo>
                    <a:pt x="1876742" y="1297749"/>
                  </a:lnTo>
                  <a:lnTo>
                    <a:pt x="1868855" y="1296136"/>
                  </a:lnTo>
                  <a:lnTo>
                    <a:pt x="1828584" y="1322717"/>
                  </a:lnTo>
                  <a:lnTo>
                    <a:pt x="2069998" y="834567"/>
                  </a:lnTo>
                  <a:lnTo>
                    <a:pt x="2073313" y="882713"/>
                  </a:lnTo>
                  <a:lnTo>
                    <a:pt x="2079371" y="887996"/>
                  </a:lnTo>
                  <a:lnTo>
                    <a:pt x="2093366" y="887031"/>
                  </a:lnTo>
                  <a:lnTo>
                    <a:pt x="2098649" y="880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7584440" cy="45796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sequence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actions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(delayed)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rewards,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policy</a:t>
            </a:r>
            <a:endParaRPr sz="3200">
              <a:latin typeface="Calibri"/>
              <a:cs typeface="Calibri"/>
            </a:endParaRPr>
          </a:p>
          <a:p>
            <a:pPr marL="754380" marR="160020" lvl="1" indent="-284480">
              <a:lnSpc>
                <a:spcPts val="3300"/>
              </a:lnSpc>
              <a:spcBef>
                <a:spcPts val="80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Policy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800" spc="-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dirty="0">
                <a:latin typeface="Calibri"/>
                <a:cs typeface="Calibri"/>
              </a:rPr>
              <a:t>actions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	</a:t>
            </a:r>
            <a:r>
              <a:rPr sz="2800" dirty="0">
                <a:latin typeface="Calibri"/>
                <a:cs typeface="Calibri"/>
              </a:rPr>
              <a:t>tells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Credit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assignment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Game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playing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Robot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maze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Balance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The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60" dirty="0">
                <a:latin typeface="Calibri"/>
                <a:cs typeface="Calibri"/>
              </a:rPr>
              <a:t>Agent-</a:t>
            </a:r>
            <a:r>
              <a:rPr b="0" spc="-10" dirty="0">
                <a:latin typeface="Calibri"/>
                <a:cs typeface="Calibri"/>
              </a:rPr>
              <a:t>Environment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Interface</a:t>
            </a:r>
            <a:endParaRPr b="0" spc="-1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40180" y="1384300"/>
            <a:ext cx="4713069" cy="190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09161" y="3537902"/>
            <a:ext cx="501142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marR="30480" indent="-308610">
              <a:lnSpc>
                <a:spcPct val="125000"/>
              </a:lnSpc>
              <a:spcBef>
                <a:spcPts val="100"/>
              </a:spcBef>
              <a:tabLst>
                <a:tab pos="3087370" algn="l"/>
                <a:tab pos="3553460" algn="l"/>
              </a:tabLst>
            </a:pPr>
            <a:r>
              <a:rPr sz="1900" spc="-30" dirty="0">
                <a:latin typeface="Times New Roman" panose="02020503050405090304"/>
                <a:cs typeface="Times New Roman" panose="02020503050405090304"/>
              </a:rPr>
              <a:t>Agent</a:t>
            </a:r>
            <a:r>
              <a:rPr sz="19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9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40" dirty="0">
                <a:latin typeface="Times New Roman" panose="02020503050405090304"/>
                <a:cs typeface="Times New Roman" panose="02020503050405090304"/>
              </a:rPr>
              <a:t>environment</a:t>
            </a:r>
            <a:r>
              <a:rPr sz="19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5" dirty="0">
                <a:latin typeface="Times New Roman" panose="02020503050405090304"/>
                <a:cs typeface="Times New Roman" panose="02020503050405090304"/>
              </a:rPr>
              <a:t>interact</a:t>
            </a:r>
            <a:r>
              <a:rPr sz="19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9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5" dirty="0">
                <a:latin typeface="Times New Roman" panose="02020503050405090304"/>
                <a:cs typeface="Times New Roman" panose="02020503050405090304"/>
              </a:rPr>
              <a:t>discrete</a:t>
            </a:r>
            <a:r>
              <a:rPr sz="19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9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10" dirty="0">
                <a:latin typeface="Times New Roman" panose="02020503050405090304"/>
                <a:cs typeface="Times New Roman" panose="02020503050405090304"/>
              </a:rPr>
              <a:t>steps </a:t>
            </a:r>
            <a:r>
              <a:rPr sz="1900" spc="-20" dirty="0">
                <a:latin typeface="Times New Roman" panose="02020503050405090304"/>
                <a:cs typeface="Times New Roman" panose="02020503050405090304"/>
              </a:rPr>
              <a:t>Agent</a:t>
            </a:r>
            <a:r>
              <a:rPr sz="190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30" dirty="0">
                <a:latin typeface="Times New Roman" panose="02020503050405090304"/>
                <a:cs typeface="Times New Roman" panose="02020503050405090304"/>
              </a:rPr>
              <a:t>observes</a:t>
            </a:r>
            <a:r>
              <a:rPr sz="19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10" dirty="0">
                <a:latin typeface="Times New Roman" panose="02020503050405090304"/>
                <a:cs typeface="Times New Roman" panose="02020503050405090304"/>
              </a:rPr>
              <a:t>state</a:t>
            </a:r>
            <a:r>
              <a:rPr sz="19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9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0" dirty="0">
                <a:latin typeface="Times New Roman" panose="02020503050405090304"/>
                <a:cs typeface="Times New Roman" panose="02020503050405090304"/>
              </a:rPr>
              <a:t>step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900" i="1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900" i="1" spc="-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50" dirty="0">
                <a:latin typeface="Times New Roman" panose="02020503050405090304"/>
                <a:cs typeface="Times New Roman" panose="02020503050405090304"/>
              </a:rPr>
              <a:t>: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900" i="1" dirty="0">
                <a:latin typeface="Times New Roman" panose="02020503050405090304"/>
                <a:cs typeface="Times New Roman" panose="02020503050405090304"/>
              </a:rPr>
              <a:t>s</a:t>
            </a:r>
            <a:r>
              <a:rPr sz="1650" i="1" baseline="-23000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650" i="1" spc="569" baseline="-23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5" dirty="0">
                <a:latin typeface="Symbol"/>
                <a:cs typeface="Symbol"/>
              </a:rPr>
              <a:t></a:t>
            </a:r>
            <a:r>
              <a:rPr sz="1900" i="1" spc="-25" dirty="0">
                <a:latin typeface="Times New Roman" panose="02020503050405090304"/>
                <a:cs typeface="Times New Roman" panose="02020503050405090304"/>
              </a:rPr>
              <a:t>S</a:t>
            </a:r>
            <a:endParaRPr sz="19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0489" y="3610119"/>
            <a:ext cx="138938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920" algn="l"/>
              </a:tabLst>
            </a:pPr>
            <a:r>
              <a:rPr sz="1900" spc="-50" dirty="0">
                <a:latin typeface="Times New Roman" panose="02020503050405090304"/>
                <a:cs typeface="Times New Roman" panose="02020503050405090304"/>
              </a:rPr>
              <a:t>: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900" i="1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900" i="1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95" dirty="0">
                <a:latin typeface="Times New Roman" panose="02020503050405090304"/>
                <a:cs typeface="Times New Roman" panose="02020503050405090304"/>
              </a:rPr>
              <a:t>0,</a:t>
            </a:r>
            <a:r>
              <a:rPr sz="1900" spc="-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65" dirty="0">
                <a:latin typeface="Times New Roman" panose="02020503050405090304"/>
                <a:cs typeface="Times New Roman" panose="02020503050405090304"/>
              </a:rPr>
              <a:t>1,</a:t>
            </a:r>
            <a:r>
              <a:rPr sz="1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95" dirty="0">
                <a:latin typeface="Times New Roman" panose="02020503050405090304"/>
                <a:cs typeface="Times New Roman" panose="02020503050405090304"/>
              </a:rPr>
              <a:t>2,</a:t>
            </a:r>
            <a:r>
              <a:rPr sz="1900" spc="-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50" dirty="0"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0764" y="4352347"/>
            <a:ext cx="36093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54935" algn="l"/>
              </a:tabLst>
            </a:pPr>
            <a:r>
              <a:rPr sz="1900" spc="-25" dirty="0">
                <a:latin typeface="Times New Roman" panose="02020503050405090304"/>
                <a:cs typeface="Times New Roman" panose="02020503050405090304"/>
              </a:rPr>
              <a:t>produces</a:t>
            </a:r>
            <a:r>
              <a:rPr sz="19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action</a:t>
            </a:r>
            <a:r>
              <a:rPr sz="19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9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step</a:t>
            </a:r>
            <a:r>
              <a:rPr sz="19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i="1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900" i="1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50" dirty="0">
                <a:latin typeface="Times New Roman" panose="02020503050405090304"/>
                <a:cs typeface="Times New Roman" panose="02020503050405090304"/>
              </a:rPr>
              <a:t>: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900" i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50" i="1" baseline="-23000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650" i="1" spc="315" baseline="-23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Symbol"/>
                <a:cs typeface="Symbol"/>
              </a:rPr>
              <a:t></a:t>
            </a:r>
            <a:r>
              <a:rPr sz="190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i="1" spc="-25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900" spc="-25" dirty="0">
                <a:latin typeface="Times New Roman" panose="02020503050405090304"/>
                <a:cs typeface="Times New Roman" panose="02020503050405090304"/>
              </a:rPr>
              <a:t>(</a:t>
            </a:r>
            <a:r>
              <a:rPr sz="1900" i="1" spc="-25" dirty="0">
                <a:latin typeface="Times New Roman" panose="02020503050405090304"/>
                <a:cs typeface="Times New Roman" panose="02020503050405090304"/>
              </a:rPr>
              <a:t>s</a:t>
            </a:r>
            <a:r>
              <a:rPr sz="1650" i="1" spc="-37" baseline="-23000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650" i="1" spc="-22" baseline="-23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50" dirty="0">
                <a:latin typeface="Times New Roman" panose="02020503050405090304"/>
                <a:cs typeface="Times New Roman" panose="02020503050405090304"/>
              </a:rPr>
              <a:t>)</a:t>
            </a:r>
            <a:endParaRPr sz="19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960" y="4661274"/>
            <a:ext cx="235013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900" dirty="0">
                <a:latin typeface="Times New Roman" panose="02020503050405090304"/>
                <a:cs typeface="Times New Roman" panose="02020503050405090304"/>
              </a:rPr>
              <a:t>gets</a:t>
            </a:r>
            <a:r>
              <a:rPr sz="19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5" dirty="0">
                <a:latin typeface="Times New Roman" panose="02020503050405090304"/>
                <a:cs typeface="Times New Roman" panose="02020503050405090304"/>
              </a:rPr>
              <a:t>resulting</a:t>
            </a:r>
            <a:r>
              <a:rPr sz="1900" spc="-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reward</a:t>
            </a:r>
            <a:r>
              <a:rPr sz="19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50" dirty="0">
                <a:latin typeface="Times New Roman" panose="02020503050405090304"/>
                <a:cs typeface="Times New Roman" panose="02020503050405090304"/>
              </a:rPr>
              <a:t>: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900" spc="-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25" dirty="0">
                <a:latin typeface="Times New Roman" panose="02020503050405090304"/>
                <a:cs typeface="Times New Roman" panose="02020503050405090304"/>
              </a:rPr>
              <a:t>resulting</a:t>
            </a:r>
            <a:r>
              <a:rPr sz="190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next</a:t>
            </a:r>
            <a:r>
              <a:rPr sz="1900" spc="-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dirty="0">
                <a:latin typeface="Times New Roman" panose="02020503050405090304"/>
                <a:cs typeface="Times New Roman" panose="02020503050405090304"/>
              </a:rPr>
              <a:t>state</a:t>
            </a:r>
            <a:r>
              <a:rPr sz="19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-50" dirty="0">
                <a:latin typeface="Times New Roman" panose="02020503050405090304"/>
                <a:cs typeface="Times New Roman" panose="02020503050405090304"/>
              </a:rPr>
              <a:t>:</a:t>
            </a:r>
            <a:endParaRPr sz="19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2357" y="4601094"/>
            <a:ext cx="812165" cy="868044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1900" i="1" spc="-155" dirty="0">
                <a:latin typeface="Times New Roman" panose="02020503050405090304"/>
                <a:cs typeface="Times New Roman" panose="02020503050405090304"/>
              </a:rPr>
              <a:t>r</a:t>
            </a:r>
            <a:r>
              <a:rPr sz="1650" i="1" spc="-232" baseline="-23000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650" i="1" spc="-142" baseline="-23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50" baseline="-23000" dirty="0">
                <a:latin typeface="Symbol"/>
                <a:cs typeface="Symbol"/>
              </a:rPr>
              <a:t></a:t>
            </a:r>
            <a:r>
              <a:rPr sz="1650" baseline="-23000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1650" spc="442" baseline="-23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spc="100" dirty="0">
                <a:latin typeface="Symbol"/>
                <a:cs typeface="Symbol"/>
              </a:rPr>
              <a:t></a:t>
            </a:r>
            <a:endParaRPr sz="1900">
              <a:latin typeface="Symbol"/>
              <a:cs typeface="Symbol"/>
            </a:endParaRPr>
          </a:p>
          <a:p>
            <a:pPr marL="116840">
              <a:lnSpc>
                <a:spcPct val="100000"/>
              </a:lnSpc>
              <a:spcBef>
                <a:spcPts val="1040"/>
              </a:spcBef>
            </a:pPr>
            <a:r>
              <a:rPr sz="2850" i="1" baseline="13000" dirty="0">
                <a:latin typeface="Times New Roman" panose="02020503050405090304"/>
                <a:cs typeface="Times New Roman" panose="02020503050405090304"/>
              </a:rPr>
              <a:t>s</a:t>
            </a:r>
            <a:r>
              <a:rPr sz="1100" i="1" dirty="0"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100" i="1" spc="-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 panose="02020503050405090304"/>
                <a:cs typeface="Times New Roman" panose="02020503050405090304"/>
              </a:rPr>
              <a:t>1</a:t>
            </a:r>
            <a:endParaRPr sz="1100">
              <a:latin typeface="Times New Roman" panose="02020503050405090304"/>
              <a:cs typeface="Times New Roman" panose="020205030504050903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44725" y="5786437"/>
            <a:ext cx="5026025" cy="536575"/>
            <a:chOff x="2244725" y="5786437"/>
            <a:chExt cx="5026025" cy="5365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1700" y="6008687"/>
              <a:ext cx="103188" cy="101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5537" y="6008687"/>
              <a:ext cx="103188" cy="101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51075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9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9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5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2"/>
                  </a:lnTo>
                  <a:lnTo>
                    <a:pt x="359760" y="507487"/>
                  </a:lnTo>
                  <a:lnTo>
                    <a:pt x="314639" y="519654"/>
                  </a:lnTo>
                  <a:lnTo>
                    <a:pt x="266700" y="523875"/>
                  </a:lnTo>
                  <a:lnTo>
                    <a:pt x="218760" y="519654"/>
                  </a:lnTo>
                  <a:lnTo>
                    <a:pt x="173639" y="507487"/>
                  </a:lnTo>
                  <a:lnTo>
                    <a:pt x="132091" y="488112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5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95587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6750" y="6008687"/>
              <a:ext cx="103188" cy="101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4912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9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9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5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2"/>
                  </a:lnTo>
                  <a:lnTo>
                    <a:pt x="359760" y="507487"/>
                  </a:lnTo>
                  <a:lnTo>
                    <a:pt x="314639" y="519654"/>
                  </a:lnTo>
                  <a:lnTo>
                    <a:pt x="266700" y="523875"/>
                  </a:lnTo>
                  <a:lnTo>
                    <a:pt x="218760" y="519654"/>
                  </a:lnTo>
                  <a:lnTo>
                    <a:pt x="173639" y="507487"/>
                  </a:lnTo>
                  <a:lnTo>
                    <a:pt x="132091" y="488112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5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28942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238750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9"/>
                  </a:lnTo>
                  <a:lnTo>
                    <a:pt x="36304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3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89" y="16387"/>
                  </a:lnTo>
                  <a:lnTo>
                    <a:pt x="400114" y="35762"/>
                  </a:lnTo>
                  <a:lnTo>
                    <a:pt x="437226" y="61604"/>
                  </a:lnTo>
                  <a:lnTo>
                    <a:pt x="469275" y="93174"/>
                  </a:lnTo>
                  <a:lnTo>
                    <a:pt x="495508" y="129732"/>
                  </a:lnTo>
                  <a:lnTo>
                    <a:pt x="515177" y="170539"/>
                  </a:lnTo>
                  <a:lnTo>
                    <a:pt x="527528" y="214853"/>
                  </a:lnTo>
                  <a:lnTo>
                    <a:pt x="531813" y="261937"/>
                  </a:lnTo>
                  <a:lnTo>
                    <a:pt x="527528" y="309021"/>
                  </a:lnTo>
                  <a:lnTo>
                    <a:pt x="515177" y="353335"/>
                  </a:lnTo>
                  <a:lnTo>
                    <a:pt x="495508" y="394142"/>
                  </a:lnTo>
                  <a:lnTo>
                    <a:pt x="469275" y="430700"/>
                  </a:lnTo>
                  <a:lnTo>
                    <a:pt x="437226" y="462270"/>
                  </a:lnTo>
                  <a:lnTo>
                    <a:pt x="400114" y="488112"/>
                  </a:lnTo>
                  <a:lnTo>
                    <a:pt x="358689" y="507487"/>
                  </a:lnTo>
                  <a:lnTo>
                    <a:pt x="313703" y="519654"/>
                  </a:lnTo>
                  <a:lnTo>
                    <a:pt x="265906" y="523875"/>
                  </a:lnTo>
                  <a:lnTo>
                    <a:pt x="218109" y="519654"/>
                  </a:lnTo>
                  <a:lnTo>
                    <a:pt x="173123" y="507487"/>
                  </a:lnTo>
                  <a:lnTo>
                    <a:pt x="131698" y="488112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4" y="394142"/>
                  </a:lnTo>
                  <a:lnTo>
                    <a:pt x="16635" y="353335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732588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9"/>
                  </a:lnTo>
                  <a:lnTo>
                    <a:pt x="36304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3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89" y="16387"/>
                  </a:lnTo>
                  <a:lnTo>
                    <a:pt x="400114" y="35762"/>
                  </a:lnTo>
                  <a:lnTo>
                    <a:pt x="437226" y="61604"/>
                  </a:lnTo>
                  <a:lnTo>
                    <a:pt x="469275" y="93174"/>
                  </a:lnTo>
                  <a:lnTo>
                    <a:pt x="495508" y="129732"/>
                  </a:lnTo>
                  <a:lnTo>
                    <a:pt x="515177" y="170539"/>
                  </a:lnTo>
                  <a:lnTo>
                    <a:pt x="527528" y="214853"/>
                  </a:lnTo>
                  <a:lnTo>
                    <a:pt x="531813" y="261937"/>
                  </a:lnTo>
                  <a:lnTo>
                    <a:pt x="527528" y="309021"/>
                  </a:lnTo>
                  <a:lnTo>
                    <a:pt x="515177" y="353335"/>
                  </a:lnTo>
                  <a:lnTo>
                    <a:pt x="495508" y="394142"/>
                  </a:lnTo>
                  <a:lnTo>
                    <a:pt x="469275" y="430700"/>
                  </a:lnTo>
                  <a:lnTo>
                    <a:pt x="437226" y="462270"/>
                  </a:lnTo>
                  <a:lnTo>
                    <a:pt x="400114" y="488112"/>
                  </a:lnTo>
                  <a:lnTo>
                    <a:pt x="358689" y="507487"/>
                  </a:lnTo>
                  <a:lnTo>
                    <a:pt x="313703" y="519654"/>
                  </a:lnTo>
                  <a:lnTo>
                    <a:pt x="265906" y="523875"/>
                  </a:lnTo>
                  <a:lnTo>
                    <a:pt x="218109" y="519654"/>
                  </a:lnTo>
                  <a:lnTo>
                    <a:pt x="173123" y="507487"/>
                  </a:lnTo>
                  <a:lnTo>
                    <a:pt x="131698" y="488112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4" y="394142"/>
                  </a:lnTo>
                  <a:lnTo>
                    <a:pt x="16635" y="353335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8167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286789" y="5726160"/>
            <a:ext cx="9721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9125" algn="l"/>
                <a:tab pos="958850" algn="l"/>
              </a:tabLst>
            </a:pPr>
            <a:r>
              <a:rPr sz="2100" b="1" dirty="0">
                <a:latin typeface="Arial" panose="020B0604020202090204"/>
                <a:cs typeface="Arial" panose="020B0604020202090204"/>
              </a:rPr>
              <a:t>.</a:t>
            </a:r>
            <a:r>
              <a:rPr sz="2100" b="1" spc="-5" dirty="0">
                <a:latin typeface="Arial" panose="020B0604020202090204"/>
                <a:cs typeface="Arial" panose="020B0604020202090204"/>
              </a:rPr>
              <a:t> </a:t>
            </a:r>
            <a:r>
              <a:rPr sz="2100" b="1" dirty="0">
                <a:latin typeface="Arial" panose="020B0604020202090204"/>
                <a:cs typeface="Arial" panose="020B0604020202090204"/>
              </a:rPr>
              <a:t>. </a:t>
            </a:r>
            <a:r>
              <a:rPr sz="2100" b="1" spc="-50" dirty="0">
                <a:latin typeface="Arial" panose="020B0604020202090204"/>
                <a:cs typeface="Arial" panose="020B0604020202090204"/>
              </a:rPr>
              <a:t>.</a:t>
            </a:r>
            <a:r>
              <a:rPr sz="2100" b="1" dirty="0">
                <a:latin typeface="Arial" panose="020B0604020202090204"/>
                <a:cs typeface="Arial" panose="020B0604020202090204"/>
              </a:rPr>
              <a:t>	</a:t>
            </a:r>
            <a:r>
              <a:rPr sz="2100" b="1" u="sng" dirty="0">
                <a:uFill>
                  <a:solidFill>
                    <a:srgbClr val="1F497D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2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15501" y="5846810"/>
            <a:ext cx="1295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-50" dirty="0">
                <a:latin typeface="Calibri"/>
                <a:cs typeface="Calibri"/>
              </a:rPr>
              <a:t>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05989" y="5983335"/>
            <a:ext cx="939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12376" y="5942060"/>
            <a:ext cx="24637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i="1" spc="-25" dirty="0">
                <a:latin typeface="Calibri"/>
                <a:cs typeface="Calibri"/>
              </a:rPr>
              <a:t>a</a:t>
            </a:r>
            <a:r>
              <a:rPr sz="2400" i="1" spc="-37" baseline="-19000" dirty="0">
                <a:latin typeface="Calibri"/>
                <a:cs typeface="Calibri"/>
              </a:rPr>
              <a:t>t</a:t>
            </a:r>
            <a:endParaRPr sz="2400" baseline="-19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75926" y="5708698"/>
            <a:ext cx="9861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500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+1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3150" i="1" spc="-30" baseline="-17000" dirty="0">
                <a:latin typeface="Calibri"/>
                <a:cs typeface="Calibri"/>
              </a:rPr>
              <a:t>s</a:t>
            </a:r>
            <a:r>
              <a:rPr sz="2400" i="1" spc="-30" baseline="-42000" dirty="0">
                <a:latin typeface="Calibri"/>
                <a:cs typeface="Calibri"/>
              </a:rPr>
              <a:t>t</a:t>
            </a:r>
            <a:r>
              <a:rPr sz="2400" i="1" spc="-37" baseline="-42000" dirty="0">
                <a:latin typeface="Calibri"/>
                <a:cs typeface="Calibri"/>
              </a:rPr>
              <a:t> </a:t>
            </a:r>
            <a:r>
              <a:rPr sz="2400" spc="-37" baseline="-42000" dirty="0">
                <a:latin typeface="Calibri"/>
                <a:cs typeface="Calibri"/>
              </a:rPr>
              <a:t>+1</a:t>
            </a:r>
            <a:endParaRPr sz="2400" baseline="-4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9064" y="600238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500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3726" y="5708698"/>
            <a:ext cx="10198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500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+2</a:t>
            </a:r>
            <a:r>
              <a:rPr sz="1600" spc="85" dirty="0">
                <a:latin typeface="Calibri"/>
                <a:cs typeface="Calibri"/>
              </a:rPr>
              <a:t>  </a:t>
            </a:r>
            <a:r>
              <a:rPr sz="3150" i="1" spc="-15" baseline="-16000" dirty="0">
                <a:latin typeface="Calibri"/>
                <a:cs typeface="Calibri"/>
              </a:rPr>
              <a:t>s</a:t>
            </a:r>
            <a:r>
              <a:rPr sz="2400" i="1" spc="-15" baseline="-42000" dirty="0">
                <a:latin typeface="Calibri"/>
                <a:cs typeface="Calibri"/>
              </a:rPr>
              <a:t>t</a:t>
            </a:r>
            <a:r>
              <a:rPr sz="2400" i="1" spc="-37" baseline="-42000" dirty="0">
                <a:latin typeface="Calibri"/>
                <a:cs typeface="Calibri"/>
              </a:rPr>
              <a:t> </a:t>
            </a:r>
            <a:r>
              <a:rPr sz="2400" spc="-37" baseline="-42000" dirty="0">
                <a:latin typeface="Calibri"/>
                <a:cs typeface="Calibri"/>
              </a:rPr>
              <a:t>+2</a:t>
            </a:r>
            <a:endParaRPr sz="2400" baseline="-4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79414" y="600238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500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14389" y="5738860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500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1127" y="5861098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30" baseline="15000" dirty="0">
                <a:latin typeface="Calibri"/>
                <a:cs typeface="Calibri"/>
              </a:rPr>
              <a:t>s</a:t>
            </a:r>
            <a:r>
              <a:rPr sz="1600" i="1" spc="-20" dirty="0">
                <a:latin typeface="Calibri"/>
                <a:cs typeface="Calibri"/>
              </a:rPr>
              <a:t>t</a:t>
            </a:r>
            <a:r>
              <a:rPr sz="1600" i="1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81864" y="6054725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339725" y="0"/>
                </a:moveTo>
                <a:lnTo>
                  <a:pt x="0" y="1"/>
                </a:lnTo>
              </a:path>
            </a:pathLst>
          </a:custGeom>
          <a:ln w="12700">
            <a:solidFill>
              <a:srgbClr val="1F49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646314" y="5737273"/>
            <a:ext cx="398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 panose="020B0604020202090204"/>
                <a:cs typeface="Arial" panose="020B0604020202090204"/>
              </a:rPr>
              <a:t>.</a:t>
            </a:r>
            <a:r>
              <a:rPr sz="2100" b="1" spc="-5" dirty="0">
                <a:latin typeface="Arial" panose="020B0604020202090204"/>
                <a:cs typeface="Arial" panose="020B0604020202090204"/>
              </a:rPr>
              <a:t> </a:t>
            </a:r>
            <a:r>
              <a:rPr sz="2100" b="1" dirty="0">
                <a:latin typeface="Arial" panose="020B0604020202090204"/>
                <a:cs typeface="Arial" panose="020B0604020202090204"/>
              </a:rPr>
              <a:t>. </a:t>
            </a:r>
            <a:r>
              <a:rPr sz="2100" b="1" spc="-50" dirty="0">
                <a:latin typeface="Arial" panose="020B0604020202090204"/>
                <a:cs typeface="Arial" panose="020B0604020202090204"/>
              </a:rPr>
              <a:t>.</a:t>
            </a:r>
            <a:endParaRPr sz="2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6739" y="6013498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500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739" y="6569510"/>
            <a:ext cx="2032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Sutton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Barto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65133" y="1117600"/>
            <a:ext cx="6613732" cy="50085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34083" y="6133782"/>
            <a:ext cx="6249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24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www.youtube.com/watch?v=4cgWya-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wjgY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38</a:t>
            </a:r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Calibri"/>
                <a:cs typeface="Calibri"/>
              </a:rPr>
              <a:t>Inverse</a:t>
            </a:r>
            <a:r>
              <a:rPr b="0" spc="-204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2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67519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policy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demonstrations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5500" y="1727200"/>
            <a:ext cx="7340600" cy="3594100"/>
            <a:chOff x="825500" y="1727200"/>
            <a:chExt cx="7340600" cy="359410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25500" y="1727200"/>
              <a:ext cx="7340600" cy="3594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1873250"/>
              <a:ext cx="7010400" cy="32591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6150" y="1828800"/>
              <a:ext cx="7099300" cy="3348354"/>
            </a:xfrm>
            <a:custGeom>
              <a:avLst/>
              <a:gdLst/>
              <a:ahLst/>
              <a:cxnLst/>
              <a:rect l="l" t="t" r="r" b="b"/>
              <a:pathLst>
                <a:path w="7099300" h="3348354">
                  <a:moveTo>
                    <a:pt x="0" y="0"/>
                  </a:moveTo>
                  <a:lnTo>
                    <a:pt x="7099300" y="0"/>
                  </a:lnTo>
                  <a:lnTo>
                    <a:pt x="7099300" y="3348079"/>
                  </a:lnTo>
                  <a:lnTo>
                    <a:pt x="0" y="3348079"/>
                  </a:lnTo>
                  <a:lnTo>
                    <a:pt x="0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15610" y="5295582"/>
            <a:ext cx="6223000" cy="11912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270" algn="ctr">
              <a:lnSpc>
                <a:spcPct val="101000"/>
              </a:lnSpc>
              <a:spcBef>
                <a:spcPts val="70"/>
              </a:spcBef>
            </a:pPr>
            <a:r>
              <a:rPr sz="2800" spc="-10" dirty="0">
                <a:latin typeface="Calibri"/>
                <a:cs typeface="Calibri"/>
              </a:rPr>
              <a:t>Stanford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Autonomous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Helicopter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http://heli.stanford.edu/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www.youtube.com/watch?v=VCdxqn0fcnE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39</a:t>
            </a:r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40</a:t>
            </a:r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696" y="2479357"/>
            <a:ext cx="6389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Framing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Problem</a:t>
            </a:r>
            <a:endParaRPr b="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441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Designing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303020"/>
            <a:ext cx="7056755" cy="244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exactly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learned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ts val="2840"/>
              </a:lnSpc>
              <a:spcBef>
                <a:spcPts val="4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target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32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270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target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9887" y="4832350"/>
            <a:ext cx="2178050" cy="979805"/>
            <a:chOff x="1639887" y="4832350"/>
            <a:chExt cx="2178050" cy="979805"/>
          </a:xfrm>
        </p:grpSpPr>
        <p:sp>
          <p:nvSpPr>
            <p:cNvPr id="5" name="object 5"/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1082675" y="0"/>
                  </a:moveTo>
                  <a:lnTo>
                    <a:pt x="1016721" y="882"/>
                  </a:lnTo>
                  <a:lnTo>
                    <a:pt x="951813" y="3495"/>
                  </a:lnTo>
                  <a:lnTo>
                    <a:pt x="888063" y="7788"/>
                  </a:lnTo>
                  <a:lnTo>
                    <a:pt x="825584" y="13710"/>
                  </a:lnTo>
                  <a:lnTo>
                    <a:pt x="764490" y="21212"/>
                  </a:lnTo>
                  <a:lnTo>
                    <a:pt x="704895" y="30242"/>
                  </a:lnTo>
                  <a:lnTo>
                    <a:pt x="646910" y="40750"/>
                  </a:lnTo>
                  <a:lnTo>
                    <a:pt x="590650" y="52685"/>
                  </a:lnTo>
                  <a:lnTo>
                    <a:pt x="536228" y="65997"/>
                  </a:lnTo>
                  <a:lnTo>
                    <a:pt x="483757" y="80635"/>
                  </a:lnTo>
                  <a:lnTo>
                    <a:pt x="433350" y="96549"/>
                  </a:lnTo>
                  <a:lnTo>
                    <a:pt x="385121" y="113688"/>
                  </a:lnTo>
                  <a:lnTo>
                    <a:pt x="339183" y="132001"/>
                  </a:lnTo>
                  <a:lnTo>
                    <a:pt x="295648" y="151438"/>
                  </a:lnTo>
                  <a:lnTo>
                    <a:pt x="254631" y="171949"/>
                  </a:lnTo>
                  <a:lnTo>
                    <a:pt x="216245" y="193482"/>
                  </a:lnTo>
                  <a:lnTo>
                    <a:pt x="180602" y="215988"/>
                  </a:lnTo>
                  <a:lnTo>
                    <a:pt x="147817" y="239415"/>
                  </a:lnTo>
                  <a:lnTo>
                    <a:pt x="118001" y="263714"/>
                  </a:lnTo>
                  <a:lnTo>
                    <a:pt x="67734" y="314722"/>
                  </a:lnTo>
                  <a:lnTo>
                    <a:pt x="30708" y="368607"/>
                  </a:lnTo>
                  <a:lnTo>
                    <a:pt x="7828" y="424966"/>
                  </a:lnTo>
                  <a:lnTo>
                    <a:pt x="0" y="483393"/>
                  </a:lnTo>
                  <a:lnTo>
                    <a:pt x="1975" y="512840"/>
                  </a:lnTo>
                  <a:lnTo>
                    <a:pt x="17443" y="570284"/>
                  </a:lnTo>
                  <a:lnTo>
                    <a:pt x="47510" y="625457"/>
                  </a:lnTo>
                  <a:lnTo>
                    <a:pt x="91269" y="677954"/>
                  </a:lnTo>
                  <a:lnTo>
                    <a:pt x="147817" y="727372"/>
                  </a:lnTo>
                  <a:lnTo>
                    <a:pt x="180602" y="750799"/>
                  </a:lnTo>
                  <a:lnTo>
                    <a:pt x="216245" y="773305"/>
                  </a:lnTo>
                  <a:lnTo>
                    <a:pt x="254631" y="794838"/>
                  </a:lnTo>
                  <a:lnTo>
                    <a:pt x="295648" y="815349"/>
                  </a:lnTo>
                  <a:lnTo>
                    <a:pt x="339183" y="834786"/>
                  </a:lnTo>
                  <a:lnTo>
                    <a:pt x="385121" y="853099"/>
                  </a:lnTo>
                  <a:lnTo>
                    <a:pt x="433350" y="870238"/>
                  </a:lnTo>
                  <a:lnTo>
                    <a:pt x="483757" y="886152"/>
                  </a:lnTo>
                  <a:lnTo>
                    <a:pt x="536228" y="900790"/>
                  </a:lnTo>
                  <a:lnTo>
                    <a:pt x="590650" y="914102"/>
                  </a:lnTo>
                  <a:lnTo>
                    <a:pt x="646910" y="926037"/>
                  </a:lnTo>
                  <a:lnTo>
                    <a:pt x="704895" y="936545"/>
                  </a:lnTo>
                  <a:lnTo>
                    <a:pt x="764490" y="945575"/>
                  </a:lnTo>
                  <a:lnTo>
                    <a:pt x="825584" y="953077"/>
                  </a:lnTo>
                  <a:lnTo>
                    <a:pt x="888063" y="958999"/>
                  </a:lnTo>
                  <a:lnTo>
                    <a:pt x="951813" y="963292"/>
                  </a:lnTo>
                  <a:lnTo>
                    <a:pt x="1016721" y="965905"/>
                  </a:lnTo>
                  <a:lnTo>
                    <a:pt x="1082675" y="966788"/>
                  </a:lnTo>
                  <a:lnTo>
                    <a:pt x="1148628" y="965905"/>
                  </a:lnTo>
                  <a:lnTo>
                    <a:pt x="1213537" y="963292"/>
                  </a:lnTo>
                  <a:lnTo>
                    <a:pt x="1277287" y="958999"/>
                  </a:lnTo>
                  <a:lnTo>
                    <a:pt x="1339765" y="953077"/>
                  </a:lnTo>
                  <a:lnTo>
                    <a:pt x="1400859" y="945575"/>
                  </a:lnTo>
                  <a:lnTo>
                    <a:pt x="1460455" y="936545"/>
                  </a:lnTo>
                  <a:lnTo>
                    <a:pt x="1518440" y="926037"/>
                  </a:lnTo>
                  <a:lnTo>
                    <a:pt x="1574700" y="914102"/>
                  </a:lnTo>
                  <a:lnTo>
                    <a:pt x="1629122" y="900790"/>
                  </a:lnTo>
                  <a:lnTo>
                    <a:pt x="1681593" y="886152"/>
                  </a:lnTo>
                  <a:lnTo>
                    <a:pt x="1732000" y="870238"/>
                  </a:lnTo>
                  <a:lnTo>
                    <a:pt x="1780229" y="853099"/>
                  </a:lnTo>
                  <a:lnTo>
                    <a:pt x="1826167" y="834786"/>
                  </a:lnTo>
                  <a:lnTo>
                    <a:pt x="1869702" y="815349"/>
                  </a:lnTo>
                  <a:lnTo>
                    <a:pt x="1910719" y="794838"/>
                  </a:lnTo>
                  <a:lnTo>
                    <a:pt x="1949105" y="773305"/>
                  </a:lnTo>
                  <a:lnTo>
                    <a:pt x="1984748" y="750799"/>
                  </a:lnTo>
                  <a:lnTo>
                    <a:pt x="2017534" y="727372"/>
                  </a:lnTo>
                  <a:lnTo>
                    <a:pt x="2047349" y="703073"/>
                  </a:lnTo>
                  <a:lnTo>
                    <a:pt x="2097616" y="652065"/>
                  </a:lnTo>
                  <a:lnTo>
                    <a:pt x="2134642" y="598180"/>
                  </a:lnTo>
                  <a:lnTo>
                    <a:pt x="2157523" y="541821"/>
                  </a:lnTo>
                  <a:lnTo>
                    <a:pt x="2165351" y="483393"/>
                  </a:lnTo>
                  <a:lnTo>
                    <a:pt x="2163375" y="453946"/>
                  </a:lnTo>
                  <a:lnTo>
                    <a:pt x="2147907" y="396503"/>
                  </a:lnTo>
                  <a:lnTo>
                    <a:pt x="2117841" y="341330"/>
                  </a:lnTo>
                  <a:lnTo>
                    <a:pt x="2074081" y="288833"/>
                  </a:lnTo>
                  <a:lnTo>
                    <a:pt x="2017534" y="239415"/>
                  </a:lnTo>
                  <a:lnTo>
                    <a:pt x="1984748" y="215988"/>
                  </a:lnTo>
                  <a:lnTo>
                    <a:pt x="1949105" y="193482"/>
                  </a:lnTo>
                  <a:lnTo>
                    <a:pt x="1910719" y="171949"/>
                  </a:lnTo>
                  <a:lnTo>
                    <a:pt x="1869702" y="151438"/>
                  </a:lnTo>
                  <a:lnTo>
                    <a:pt x="1826167" y="132001"/>
                  </a:lnTo>
                  <a:lnTo>
                    <a:pt x="1780229" y="113688"/>
                  </a:lnTo>
                  <a:lnTo>
                    <a:pt x="1732000" y="96549"/>
                  </a:lnTo>
                  <a:lnTo>
                    <a:pt x="1681593" y="80635"/>
                  </a:lnTo>
                  <a:lnTo>
                    <a:pt x="1629122" y="65997"/>
                  </a:lnTo>
                  <a:lnTo>
                    <a:pt x="1574700" y="52685"/>
                  </a:lnTo>
                  <a:lnTo>
                    <a:pt x="1518440" y="40750"/>
                  </a:lnTo>
                  <a:lnTo>
                    <a:pt x="1460455" y="30242"/>
                  </a:lnTo>
                  <a:lnTo>
                    <a:pt x="1400859" y="21212"/>
                  </a:lnTo>
                  <a:lnTo>
                    <a:pt x="1339765" y="13710"/>
                  </a:lnTo>
                  <a:lnTo>
                    <a:pt x="1277287" y="7788"/>
                  </a:lnTo>
                  <a:lnTo>
                    <a:pt x="1213537" y="3495"/>
                  </a:lnTo>
                  <a:lnTo>
                    <a:pt x="1148628" y="882"/>
                  </a:lnTo>
                  <a:lnTo>
                    <a:pt x="108267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0" y="483394"/>
                  </a:moveTo>
                  <a:lnTo>
                    <a:pt x="7828" y="424966"/>
                  </a:lnTo>
                  <a:lnTo>
                    <a:pt x="30708" y="368607"/>
                  </a:lnTo>
                  <a:lnTo>
                    <a:pt x="67734" y="314722"/>
                  </a:lnTo>
                  <a:lnTo>
                    <a:pt x="118001" y="263714"/>
                  </a:lnTo>
                  <a:lnTo>
                    <a:pt x="147816" y="239415"/>
                  </a:lnTo>
                  <a:lnTo>
                    <a:pt x="180602" y="215988"/>
                  </a:lnTo>
                  <a:lnTo>
                    <a:pt x="216245" y="193482"/>
                  </a:lnTo>
                  <a:lnTo>
                    <a:pt x="254631" y="171949"/>
                  </a:lnTo>
                  <a:lnTo>
                    <a:pt x="295648" y="151438"/>
                  </a:lnTo>
                  <a:lnTo>
                    <a:pt x="339182" y="132001"/>
                  </a:lnTo>
                  <a:lnTo>
                    <a:pt x="385121" y="113688"/>
                  </a:lnTo>
                  <a:lnTo>
                    <a:pt x="433350" y="96549"/>
                  </a:lnTo>
                  <a:lnTo>
                    <a:pt x="483757" y="80635"/>
                  </a:lnTo>
                  <a:lnTo>
                    <a:pt x="536228" y="65997"/>
                  </a:lnTo>
                  <a:lnTo>
                    <a:pt x="590650" y="52685"/>
                  </a:lnTo>
                  <a:lnTo>
                    <a:pt x="646910" y="40750"/>
                  </a:lnTo>
                  <a:lnTo>
                    <a:pt x="704894" y="30242"/>
                  </a:lnTo>
                  <a:lnTo>
                    <a:pt x="764490" y="21212"/>
                  </a:lnTo>
                  <a:lnTo>
                    <a:pt x="825584" y="13710"/>
                  </a:lnTo>
                  <a:lnTo>
                    <a:pt x="888062" y="7788"/>
                  </a:lnTo>
                  <a:lnTo>
                    <a:pt x="951812" y="3495"/>
                  </a:lnTo>
                  <a:lnTo>
                    <a:pt x="1016721" y="882"/>
                  </a:lnTo>
                  <a:lnTo>
                    <a:pt x="1082675" y="0"/>
                  </a:lnTo>
                  <a:lnTo>
                    <a:pt x="1148628" y="882"/>
                  </a:lnTo>
                  <a:lnTo>
                    <a:pt x="1213537" y="3495"/>
                  </a:lnTo>
                  <a:lnTo>
                    <a:pt x="1277287" y="7788"/>
                  </a:lnTo>
                  <a:lnTo>
                    <a:pt x="1339765" y="13710"/>
                  </a:lnTo>
                  <a:lnTo>
                    <a:pt x="1400859" y="21212"/>
                  </a:lnTo>
                  <a:lnTo>
                    <a:pt x="1460455" y="30242"/>
                  </a:lnTo>
                  <a:lnTo>
                    <a:pt x="1518439" y="40750"/>
                  </a:lnTo>
                  <a:lnTo>
                    <a:pt x="1574699" y="52685"/>
                  </a:lnTo>
                  <a:lnTo>
                    <a:pt x="1629121" y="65997"/>
                  </a:lnTo>
                  <a:lnTo>
                    <a:pt x="1681592" y="80635"/>
                  </a:lnTo>
                  <a:lnTo>
                    <a:pt x="1731999" y="96549"/>
                  </a:lnTo>
                  <a:lnTo>
                    <a:pt x="1780228" y="113688"/>
                  </a:lnTo>
                  <a:lnTo>
                    <a:pt x="1826167" y="132001"/>
                  </a:lnTo>
                  <a:lnTo>
                    <a:pt x="1869701" y="151438"/>
                  </a:lnTo>
                  <a:lnTo>
                    <a:pt x="1910718" y="171949"/>
                  </a:lnTo>
                  <a:lnTo>
                    <a:pt x="1949104" y="193482"/>
                  </a:lnTo>
                  <a:lnTo>
                    <a:pt x="1984747" y="215988"/>
                  </a:lnTo>
                  <a:lnTo>
                    <a:pt x="2017533" y="239415"/>
                  </a:lnTo>
                  <a:lnTo>
                    <a:pt x="2047348" y="263714"/>
                  </a:lnTo>
                  <a:lnTo>
                    <a:pt x="2097615" y="314722"/>
                  </a:lnTo>
                  <a:lnTo>
                    <a:pt x="2134641" y="368607"/>
                  </a:lnTo>
                  <a:lnTo>
                    <a:pt x="2157521" y="424966"/>
                  </a:lnTo>
                  <a:lnTo>
                    <a:pt x="2165350" y="483394"/>
                  </a:lnTo>
                  <a:lnTo>
                    <a:pt x="2163374" y="512841"/>
                  </a:lnTo>
                  <a:lnTo>
                    <a:pt x="2147906" y="570284"/>
                  </a:lnTo>
                  <a:lnTo>
                    <a:pt x="2117840" y="625457"/>
                  </a:lnTo>
                  <a:lnTo>
                    <a:pt x="2074080" y="677954"/>
                  </a:lnTo>
                  <a:lnTo>
                    <a:pt x="2017533" y="727372"/>
                  </a:lnTo>
                  <a:lnTo>
                    <a:pt x="1984747" y="750799"/>
                  </a:lnTo>
                  <a:lnTo>
                    <a:pt x="1949104" y="773305"/>
                  </a:lnTo>
                  <a:lnTo>
                    <a:pt x="1910718" y="794838"/>
                  </a:lnTo>
                  <a:lnTo>
                    <a:pt x="1869701" y="815349"/>
                  </a:lnTo>
                  <a:lnTo>
                    <a:pt x="1826167" y="834786"/>
                  </a:lnTo>
                  <a:lnTo>
                    <a:pt x="1780228" y="853099"/>
                  </a:lnTo>
                  <a:lnTo>
                    <a:pt x="1731999" y="870238"/>
                  </a:lnTo>
                  <a:lnTo>
                    <a:pt x="1681592" y="886152"/>
                  </a:lnTo>
                  <a:lnTo>
                    <a:pt x="1629121" y="900790"/>
                  </a:lnTo>
                  <a:lnTo>
                    <a:pt x="1574699" y="914102"/>
                  </a:lnTo>
                  <a:lnTo>
                    <a:pt x="1518439" y="926037"/>
                  </a:lnTo>
                  <a:lnTo>
                    <a:pt x="1460455" y="936545"/>
                  </a:lnTo>
                  <a:lnTo>
                    <a:pt x="1400859" y="945575"/>
                  </a:lnTo>
                  <a:lnTo>
                    <a:pt x="1339765" y="953077"/>
                  </a:lnTo>
                  <a:lnTo>
                    <a:pt x="1277287" y="958999"/>
                  </a:lnTo>
                  <a:lnTo>
                    <a:pt x="1213537" y="963292"/>
                  </a:lnTo>
                  <a:lnTo>
                    <a:pt x="1148628" y="965905"/>
                  </a:lnTo>
                  <a:lnTo>
                    <a:pt x="1082675" y="966788"/>
                  </a:lnTo>
                  <a:lnTo>
                    <a:pt x="1016721" y="965905"/>
                  </a:lnTo>
                  <a:lnTo>
                    <a:pt x="951812" y="963292"/>
                  </a:lnTo>
                  <a:lnTo>
                    <a:pt x="888062" y="958999"/>
                  </a:lnTo>
                  <a:lnTo>
                    <a:pt x="825584" y="953077"/>
                  </a:lnTo>
                  <a:lnTo>
                    <a:pt x="764490" y="945575"/>
                  </a:lnTo>
                  <a:lnTo>
                    <a:pt x="704894" y="936545"/>
                  </a:lnTo>
                  <a:lnTo>
                    <a:pt x="646910" y="926037"/>
                  </a:lnTo>
                  <a:lnTo>
                    <a:pt x="590650" y="914102"/>
                  </a:lnTo>
                  <a:lnTo>
                    <a:pt x="536228" y="900790"/>
                  </a:lnTo>
                  <a:lnTo>
                    <a:pt x="483757" y="886152"/>
                  </a:lnTo>
                  <a:lnTo>
                    <a:pt x="433350" y="870238"/>
                  </a:lnTo>
                  <a:lnTo>
                    <a:pt x="385121" y="853099"/>
                  </a:lnTo>
                  <a:lnTo>
                    <a:pt x="339182" y="834786"/>
                  </a:lnTo>
                  <a:lnTo>
                    <a:pt x="295648" y="815349"/>
                  </a:lnTo>
                  <a:lnTo>
                    <a:pt x="254631" y="794838"/>
                  </a:lnTo>
                  <a:lnTo>
                    <a:pt x="216245" y="773305"/>
                  </a:lnTo>
                  <a:lnTo>
                    <a:pt x="180602" y="750799"/>
                  </a:lnTo>
                  <a:lnTo>
                    <a:pt x="147816" y="727372"/>
                  </a:lnTo>
                  <a:lnTo>
                    <a:pt x="118001" y="703073"/>
                  </a:lnTo>
                  <a:lnTo>
                    <a:pt x="67734" y="652065"/>
                  </a:lnTo>
                  <a:lnTo>
                    <a:pt x="30708" y="598180"/>
                  </a:lnTo>
                  <a:lnTo>
                    <a:pt x="7828" y="541821"/>
                  </a:lnTo>
                  <a:lnTo>
                    <a:pt x="0" y="4833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040646" y="5022373"/>
            <a:ext cx="130619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sz="1800" spc="-10" dirty="0">
                <a:latin typeface="Calibri"/>
                <a:cs typeface="Calibri"/>
              </a:rPr>
              <a:t>Environment/ Experience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5400" y="4305300"/>
            <a:ext cx="2171700" cy="609600"/>
            <a:chOff x="5105400" y="4305300"/>
            <a:chExt cx="2171700" cy="609600"/>
          </a:xfrm>
        </p:grpSpPr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43500" y="4305300"/>
              <a:ext cx="2133600" cy="546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305300"/>
              <a:ext cx="1117600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3350" y="4349750"/>
              <a:ext cx="1993900" cy="4095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213350" y="4349750"/>
            <a:ext cx="1993900" cy="4095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alibri"/>
                <a:cs typeface="Calibri"/>
              </a:rPr>
              <a:t>Learner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4236" y="4522787"/>
            <a:ext cx="3352800" cy="1122680"/>
            <a:chOff x="3804236" y="4522787"/>
            <a:chExt cx="3352800" cy="1122680"/>
          </a:xfrm>
        </p:grpSpPr>
        <p:sp>
          <p:nvSpPr>
            <p:cNvPr id="14" name="object 14"/>
            <p:cNvSpPr/>
            <p:nvPr/>
          </p:nvSpPr>
          <p:spPr>
            <a:xfrm>
              <a:off x="3804236" y="4522787"/>
              <a:ext cx="1341120" cy="812800"/>
            </a:xfrm>
            <a:custGeom>
              <a:avLst/>
              <a:gdLst/>
              <a:ahLst/>
              <a:cxnLst/>
              <a:rect l="l" t="t" r="r" b="b"/>
              <a:pathLst>
                <a:path w="1341120" h="812800">
                  <a:moveTo>
                    <a:pt x="1340850" y="0"/>
                  </a:moveTo>
                  <a:lnTo>
                    <a:pt x="1245289" y="7350"/>
                  </a:lnTo>
                  <a:lnTo>
                    <a:pt x="1259992" y="31854"/>
                  </a:lnTo>
                  <a:lnTo>
                    <a:pt x="0" y="787849"/>
                  </a:lnTo>
                  <a:lnTo>
                    <a:pt x="14701" y="812351"/>
                  </a:lnTo>
                  <a:lnTo>
                    <a:pt x="1274693" y="56357"/>
                  </a:lnTo>
                  <a:lnTo>
                    <a:pt x="1289395" y="80859"/>
                  </a:lnTo>
                  <a:lnTo>
                    <a:pt x="1340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99075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925512" y="0"/>
                  </a:moveTo>
                  <a:lnTo>
                    <a:pt x="853184" y="807"/>
                  </a:lnTo>
                  <a:lnTo>
                    <a:pt x="782378" y="3188"/>
                  </a:lnTo>
                  <a:lnTo>
                    <a:pt x="713300" y="7085"/>
                  </a:lnTo>
                  <a:lnTo>
                    <a:pt x="646157" y="12437"/>
                  </a:lnTo>
                  <a:lnTo>
                    <a:pt x="581153" y="19185"/>
                  </a:lnTo>
                  <a:lnTo>
                    <a:pt x="518495" y="27269"/>
                  </a:lnTo>
                  <a:lnTo>
                    <a:pt x="458388" y="36629"/>
                  </a:lnTo>
                  <a:lnTo>
                    <a:pt x="401038" y="47205"/>
                  </a:lnTo>
                  <a:lnTo>
                    <a:pt x="346651" y="58939"/>
                  </a:lnTo>
                  <a:lnTo>
                    <a:pt x="295432" y="71771"/>
                  </a:lnTo>
                  <a:lnTo>
                    <a:pt x="247588" y="85640"/>
                  </a:lnTo>
                  <a:lnTo>
                    <a:pt x="203324" y="100487"/>
                  </a:lnTo>
                  <a:lnTo>
                    <a:pt x="162846" y="116253"/>
                  </a:lnTo>
                  <a:lnTo>
                    <a:pt x="126359" y="132877"/>
                  </a:lnTo>
                  <a:lnTo>
                    <a:pt x="66183" y="168464"/>
                  </a:lnTo>
                  <a:lnTo>
                    <a:pt x="24443" y="206771"/>
                  </a:lnTo>
                  <a:lnTo>
                    <a:pt x="2784" y="247321"/>
                  </a:lnTo>
                  <a:lnTo>
                    <a:pt x="0" y="268287"/>
                  </a:lnTo>
                  <a:lnTo>
                    <a:pt x="2784" y="289253"/>
                  </a:lnTo>
                  <a:lnTo>
                    <a:pt x="24443" y="329803"/>
                  </a:lnTo>
                  <a:lnTo>
                    <a:pt x="66183" y="368110"/>
                  </a:lnTo>
                  <a:lnTo>
                    <a:pt x="126359" y="403697"/>
                  </a:lnTo>
                  <a:lnTo>
                    <a:pt x="162846" y="420321"/>
                  </a:lnTo>
                  <a:lnTo>
                    <a:pt x="203324" y="436087"/>
                  </a:lnTo>
                  <a:lnTo>
                    <a:pt x="247588" y="450934"/>
                  </a:lnTo>
                  <a:lnTo>
                    <a:pt x="295432" y="464803"/>
                  </a:lnTo>
                  <a:lnTo>
                    <a:pt x="346651" y="477635"/>
                  </a:lnTo>
                  <a:lnTo>
                    <a:pt x="401038" y="489369"/>
                  </a:lnTo>
                  <a:lnTo>
                    <a:pt x="458388" y="499945"/>
                  </a:lnTo>
                  <a:lnTo>
                    <a:pt x="518495" y="509305"/>
                  </a:lnTo>
                  <a:lnTo>
                    <a:pt x="581153" y="517389"/>
                  </a:lnTo>
                  <a:lnTo>
                    <a:pt x="646157" y="524137"/>
                  </a:lnTo>
                  <a:lnTo>
                    <a:pt x="713300" y="529489"/>
                  </a:lnTo>
                  <a:lnTo>
                    <a:pt x="782378" y="533386"/>
                  </a:lnTo>
                  <a:lnTo>
                    <a:pt x="853184" y="535767"/>
                  </a:lnTo>
                  <a:lnTo>
                    <a:pt x="925512" y="536575"/>
                  </a:lnTo>
                  <a:lnTo>
                    <a:pt x="997840" y="535767"/>
                  </a:lnTo>
                  <a:lnTo>
                    <a:pt x="1068646" y="533386"/>
                  </a:lnTo>
                  <a:lnTo>
                    <a:pt x="1137724" y="529489"/>
                  </a:lnTo>
                  <a:lnTo>
                    <a:pt x="1204867" y="524137"/>
                  </a:lnTo>
                  <a:lnTo>
                    <a:pt x="1269871" y="517389"/>
                  </a:lnTo>
                  <a:lnTo>
                    <a:pt x="1332529" y="509305"/>
                  </a:lnTo>
                  <a:lnTo>
                    <a:pt x="1392636" y="499945"/>
                  </a:lnTo>
                  <a:lnTo>
                    <a:pt x="1449986" y="489369"/>
                  </a:lnTo>
                  <a:lnTo>
                    <a:pt x="1504373" y="477635"/>
                  </a:lnTo>
                  <a:lnTo>
                    <a:pt x="1555592" y="464803"/>
                  </a:lnTo>
                  <a:lnTo>
                    <a:pt x="1603436" y="450934"/>
                  </a:lnTo>
                  <a:lnTo>
                    <a:pt x="1647700" y="436087"/>
                  </a:lnTo>
                  <a:lnTo>
                    <a:pt x="1688178" y="420321"/>
                  </a:lnTo>
                  <a:lnTo>
                    <a:pt x="1724665" y="403697"/>
                  </a:lnTo>
                  <a:lnTo>
                    <a:pt x="1784841" y="368110"/>
                  </a:lnTo>
                  <a:lnTo>
                    <a:pt x="1826581" y="329803"/>
                  </a:lnTo>
                  <a:lnTo>
                    <a:pt x="1848240" y="289253"/>
                  </a:lnTo>
                  <a:lnTo>
                    <a:pt x="1851025" y="268287"/>
                  </a:lnTo>
                  <a:lnTo>
                    <a:pt x="1848240" y="247321"/>
                  </a:lnTo>
                  <a:lnTo>
                    <a:pt x="1826581" y="206771"/>
                  </a:lnTo>
                  <a:lnTo>
                    <a:pt x="1784841" y="168464"/>
                  </a:lnTo>
                  <a:lnTo>
                    <a:pt x="1724665" y="132877"/>
                  </a:lnTo>
                  <a:lnTo>
                    <a:pt x="1688178" y="116253"/>
                  </a:lnTo>
                  <a:lnTo>
                    <a:pt x="1647700" y="100487"/>
                  </a:lnTo>
                  <a:lnTo>
                    <a:pt x="1603436" y="85640"/>
                  </a:lnTo>
                  <a:lnTo>
                    <a:pt x="1555592" y="71771"/>
                  </a:lnTo>
                  <a:lnTo>
                    <a:pt x="1504373" y="58939"/>
                  </a:lnTo>
                  <a:lnTo>
                    <a:pt x="1449986" y="47205"/>
                  </a:lnTo>
                  <a:lnTo>
                    <a:pt x="1392636" y="36629"/>
                  </a:lnTo>
                  <a:lnTo>
                    <a:pt x="1332529" y="27269"/>
                  </a:lnTo>
                  <a:lnTo>
                    <a:pt x="1269871" y="19185"/>
                  </a:lnTo>
                  <a:lnTo>
                    <a:pt x="1204867" y="12437"/>
                  </a:lnTo>
                  <a:lnTo>
                    <a:pt x="1137724" y="7085"/>
                  </a:lnTo>
                  <a:lnTo>
                    <a:pt x="1068646" y="3188"/>
                  </a:lnTo>
                  <a:lnTo>
                    <a:pt x="997840" y="807"/>
                  </a:lnTo>
                  <a:lnTo>
                    <a:pt x="9255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299075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0" y="268287"/>
                  </a:moveTo>
                  <a:lnTo>
                    <a:pt x="11000" y="226795"/>
                  </a:lnTo>
                  <a:lnTo>
                    <a:pt x="42906" y="187308"/>
                  </a:lnTo>
                  <a:lnTo>
                    <a:pt x="94070" y="150301"/>
                  </a:lnTo>
                  <a:lnTo>
                    <a:pt x="162846" y="116253"/>
                  </a:lnTo>
                  <a:lnTo>
                    <a:pt x="203324" y="100487"/>
                  </a:lnTo>
                  <a:lnTo>
                    <a:pt x="247588" y="85640"/>
                  </a:lnTo>
                  <a:lnTo>
                    <a:pt x="295433" y="71771"/>
                  </a:lnTo>
                  <a:lnTo>
                    <a:pt x="346651" y="58939"/>
                  </a:lnTo>
                  <a:lnTo>
                    <a:pt x="401038" y="47205"/>
                  </a:lnTo>
                  <a:lnTo>
                    <a:pt x="458388" y="36629"/>
                  </a:lnTo>
                  <a:lnTo>
                    <a:pt x="518495" y="27269"/>
                  </a:lnTo>
                  <a:lnTo>
                    <a:pt x="581153" y="19185"/>
                  </a:lnTo>
                  <a:lnTo>
                    <a:pt x="646157" y="12437"/>
                  </a:lnTo>
                  <a:lnTo>
                    <a:pt x="713300" y="7085"/>
                  </a:lnTo>
                  <a:lnTo>
                    <a:pt x="782378" y="3188"/>
                  </a:lnTo>
                  <a:lnTo>
                    <a:pt x="853184" y="807"/>
                  </a:lnTo>
                  <a:lnTo>
                    <a:pt x="925512" y="0"/>
                  </a:lnTo>
                  <a:lnTo>
                    <a:pt x="997840" y="807"/>
                  </a:lnTo>
                  <a:lnTo>
                    <a:pt x="1068646" y="3188"/>
                  </a:lnTo>
                  <a:lnTo>
                    <a:pt x="1137724" y="7085"/>
                  </a:lnTo>
                  <a:lnTo>
                    <a:pt x="1204867" y="12437"/>
                  </a:lnTo>
                  <a:lnTo>
                    <a:pt x="1269871" y="19185"/>
                  </a:lnTo>
                  <a:lnTo>
                    <a:pt x="1332529" y="27269"/>
                  </a:lnTo>
                  <a:lnTo>
                    <a:pt x="1392636" y="36629"/>
                  </a:lnTo>
                  <a:lnTo>
                    <a:pt x="1449986" y="47205"/>
                  </a:lnTo>
                  <a:lnTo>
                    <a:pt x="1504373" y="58939"/>
                  </a:lnTo>
                  <a:lnTo>
                    <a:pt x="1555591" y="71771"/>
                  </a:lnTo>
                  <a:lnTo>
                    <a:pt x="1603436" y="85640"/>
                  </a:lnTo>
                  <a:lnTo>
                    <a:pt x="1647700" y="100487"/>
                  </a:lnTo>
                  <a:lnTo>
                    <a:pt x="1688178" y="116253"/>
                  </a:lnTo>
                  <a:lnTo>
                    <a:pt x="1724665" y="132877"/>
                  </a:lnTo>
                  <a:lnTo>
                    <a:pt x="1784841" y="168464"/>
                  </a:lnTo>
                  <a:lnTo>
                    <a:pt x="1826581" y="206771"/>
                  </a:lnTo>
                  <a:lnTo>
                    <a:pt x="1848240" y="247320"/>
                  </a:lnTo>
                  <a:lnTo>
                    <a:pt x="1851025" y="268287"/>
                  </a:lnTo>
                  <a:lnTo>
                    <a:pt x="1848240" y="289254"/>
                  </a:lnTo>
                  <a:lnTo>
                    <a:pt x="1826581" y="329803"/>
                  </a:lnTo>
                  <a:lnTo>
                    <a:pt x="1784841" y="368110"/>
                  </a:lnTo>
                  <a:lnTo>
                    <a:pt x="1724665" y="403697"/>
                  </a:lnTo>
                  <a:lnTo>
                    <a:pt x="1688178" y="420321"/>
                  </a:lnTo>
                  <a:lnTo>
                    <a:pt x="1647700" y="436087"/>
                  </a:lnTo>
                  <a:lnTo>
                    <a:pt x="1603436" y="450934"/>
                  </a:lnTo>
                  <a:lnTo>
                    <a:pt x="1555591" y="464803"/>
                  </a:lnTo>
                  <a:lnTo>
                    <a:pt x="1504373" y="477635"/>
                  </a:lnTo>
                  <a:lnTo>
                    <a:pt x="1449986" y="489369"/>
                  </a:lnTo>
                  <a:lnTo>
                    <a:pt x="1392636" y="499945"/>
                  </a:lnTo>
                  <a:lnTo>
                    <a:pt x="1332529" y="509305"/>
                  </a:lnTo>
                  <a:lnTo>
                    <a:pt x="1269871" y="517389"/>
                  </a:lnTo>
                  <a:lnTo>
                    <a:pt x="1204867" y="524137"/>
                  </a:lnTo>
                  <a:lnTo>
                    <a:pt x="1137724" y="529489"/>
                  </a:lnTo>
                  <a:lnTo>
                    <a:pt x="1068646" y="533386"/>
                  </a:lnTo>
                  <a:lnTo>
                    <a:pt x="997840" y="535767"/>
                  </a:lnTo>
                  <a:lnTo>
                    <a:pt x="925512" y="536575"/>
                  </a:lnTo>
                  <a:lnTo>
                    <a:pt x="853184" y="535767"/>
                  </a:lnTo>
                  <a:lnTo>
                    <a:pt x="782378" y="533386"/>
                  </a:lnTo>
                  <a:lnTo>
                    <a:pt x="713300" y="529489"/>
                  </a:lnTo>
                  <a:lnTo>
                    <a:pt x="646157" y="524137"/>
                  </a:lnTo>
                  <a:lnTo>
                    <a:pt x="581153" y="517389"/>
                  </a:lnTo>
                  <a:lnTo>
                    <a:pt x="518495" y="509305"/>
                  </a:lnTo>
                  <a:lnTo>
                    <a:pt x="458388" y="499945"/>
                  </a:lnTo>
                  <a:lnTo>
                    <a:pt x="401038" y="489369"/>
                  </a:lnTo>
                  <a:lnTo>
                    <a:pt x="346651" y="477635"/>
                  </a:lnTo>
                  <a:lnTo>
                    <a:pt x="295433" y="464803"/>
                  </a:lnTo>
                  <a:lnTo>
                    <a:pt x="247588" y="450934"/>
                  </a:lnTo>
                  <a:lnTo>
                    <a:pt x="203324" y="436087"/>
                  </a:lnTo>
                  <a:lnTo>
                    <a:pt x="162846" y="420321"/>
                  </a:lnTo>
                  <a:lnTo>
                    <a:pt x="126359" y="403697"/>
                  </a:lnTo>
                  <a:lnTo>
                    <a:pt x="66183" y="368110"/>
                  </a:lnTo>
                  <a:lnTo>
                    <a:pt x="24443" y="329803"/>
                  </a:lnTo>
                  <a:lnTo>
                    <a:pt x="2784" y="289254"/>
                  </a:lnTo>
                  <a:lnTo>
                    <a:pt x="0" y="2682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647451" y="5207952"/>
            <a:ext cx="1052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Knowledge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05400" y="5918200"/>
            <a:ext cx="2171700" cy="901700"/>
            <a:chOff x="5105400" y="5918200"/>
            <a:chExt cx="2171700" cy="90170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6200" y="5918200"/>
              <a:ext cx="2120900" cy="863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5400" y="5943600"/>
              <a:ext cx="1600200" cy="876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19700" y="5972175"/>
              <a:ext cx="1993900" cy="7143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219700" y="5972175"/>
            <a:ext cx="1993900" cy="7143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9535" marR="700405">
              <a:lnSpc>
                <a:spcPts val="2100"/>
              </a:lnSpc>
              <a:spcBef>
                <a:spcPts val="670"/>
              </a:spcBef>
            </a:pPr>
            <a:r>
              <a:rPr sz="1800" spc="-10" dirty="0">
                <a:latin typeface="Calibri"/>
                <a:cs typeface="Calibri"/>
              </a:rPr>
              <a:t>Performance Element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03269" y="4758740"/>
            <a:ext cx="2460625" cy="1570990"/>
          </a:xfrm>
          <a:custGeom>
            <a:avLst/>
            <a:gdLst/>
            <a:ahLst/>
            <a:cxnLst/>
            <a:rect l="l" t="t" r="r" b="b"/>
            <a:pathLst>
              <a:path w="2460625" h="1570989">
                <a:moveTo>
                  <a:pt x="1416431" y="1570634"/>
                </a:moveTo>
                <a:lnTo>
                  <a:pt x="1371612" y="1485912"/>
                </a:lnTo>
                <a:lnTo>
                  <a:pt x="1354988" y="1509153"/>
                </a:lnTo>
                <a:lnTo>
                  <a:pt x="16624" y="552526"/>
                </a:lnTo>
                <a:lnTo>
                  <a:pt x="0" y="575779"/>
                </a:lnTo>
                <a:lnTo>
                  <a:pt x="1338376" y="1532407"/>
                </a:lnTo>
                <a:lnTo>
                  <a:pt x="1321765" y="1555648"/>
                </a:lnTo>
                <a:lnTo>
                  <a:pt x="1416431" y="1570634"/>
                </a:lnTo>
                <a:close/>
              </a:path>
              <a:path w="2460625" h="1570989">
                <a:moveTo>
                  <a:pt x="2458262" y="1128763"/>
                </a:moveTo>
                <a:lnTo>
                  <a:pt x="2429700" y="1128077"/>
                </a:lnTo>
                <a:lnTo>
                  <a:pt x="2435593" y="880402"/>
                </a:lnTo>
                <a:lnTo>
                  <a:pt x="2407031" y="879729"/>
                </a:lnTo>
                <a:lnTo>
                  <a:pt x="2401138" y="1127404"/>
                </a:lnTo>
                <a:lnTo>
                  <a:pt x="2372563" y="1126718"/>
                </a:lnTo>
                <a:lnTo>
                  <a:pt x="2413381" y="1213434"/>
                </a:lnTo>
                <a:lnTo>
                  <a:pt x="2458262" y="1128763"/>
                </a:lnTo>
                <a:close/>
              </a:path>
              <a:path w="2460625" h="1570989">
                <a:moveTo>
                  <a:pt x="2460574" y="256057"/>
                </a:moveTo>
                <a:lnTo>
                  <a:pt x="2432024" y="257238"/>
                </a:lnTo>
                <a:lnTo>
                  <a:pt x="2421305" y="0"/>
                </a:lnTo>
                <a:lnTo>
                  <a:pt x="2392756" y="1181"/>
                </a:lnTo>
                <a:lnTo>
                  <a:pt x="2403475" y="258432"/>
                </a:lnTo>
                <a:lnTo>
                  <a:pt x="2374912" y="259626"/>
                </a:lnTo>
                <a:lnTo>
                  <a:pt x="2421318" y="343484"/>
                </a:lnTo>
                <a:lnTo>
                  <a:pt x="2460574" y="2560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8739" y="6569510"/>
            <a:ext cx="22174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83940" y="4423012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Training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61101" y="5876132"/>
            <a:ext cx="113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Testing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0">
              <a:lnSpc>
                <a:spcPct val="100000"/>
              </a:lnSpc>
              <a:spcBef>
                <a:spcPts val="100"/>
              </a:spcBef>
            </a:pPr>
            <a:r>
              <a:rPr b="0" spc="-35" dirty="0">
                <a:latin typeface="Calibri"/>
                <a:cs typeface="Calibri"/>
              </a:rPr>
              <a:t>Training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vs.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spc="-80" dirty="0">
                <a:latin typeface="Calibri"/>
                <a:cs typeface="Calibri"/>
              </a:rPr>
              <a:t>Test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Distribution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7856855" cy="24333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83185" indent="-3429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generally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assume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training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test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examples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independently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drawn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overall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distribution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755650" marR="5080" indent="-285750">
              <a:lnSpc>
                <a:spcPct val="101000"/>
              </a:lnSpc>
              <a:spcBef>
                <a:spcPts val="62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“i.i.d”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stands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“independent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identically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distributed”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919220"/>
            <a:ext cx="7740015" cy="288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165" indent="-342265">
              <a:lnSpc>
                <a:spcPts val="3820"/>
              </a:lnSpc>
              <a:spcBef>
                <a:spcPts val="100"/>
              </a:spcBef>
              <a:buFont typeface="Arial MT"/>
              <a:buChar char="•"/>
              <a:tabLst>
                <a:tab pos="812165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examples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independent,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requires</a:t>
            </a:r>
            <a:endParaRPr sz="3200">
              <a:latin typeface="Calibri"/>
              <a:cs typeface="Calibri"/>
            </a:endParaRPr>
          </a:p>
          <a:p>
            <a:pPr marL="812800">
              <a:lnSpc>
                <a:spcPts val="3820"/>
              </a:lnSpc>
            </a:pP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collective</a:t>
            </a:r>
            <a:r>
              <a:rPr sz="3200" b="1" i="1" spc="-1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i="1" spc="-10" dirty="0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 marL="812165" indent="-342265">
              <a:lnSpc>
                <a:spcPct val="100000"/>
              </a:lnSpc>
              <a:spcBef>
                <a:spcPts val="2360"/>
              </a:spcBef>
              <a:buFont typeface="Arial MT"/>
              <a:buChar char="•"/>
              <a:tabLst>
                <a:tab pos="812165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test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distribution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different,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requires</a:t>
            </a:r>
            <a:endParaRPr sz="3200">
              <a:latin typeface="Calibri"/>
              <a:cs typeface="Calibri"/>
            </a:endParaRPr>
          </a:p>
          <a:p>
            <a:pPr marL="812800">
              <a:lnSpc>
                <a:spcPct val="100000"/>
              </a:lnSpc>
              <a:spcBef>
                <a:spcPts val="60"/>
              </a:spcBef>
            </a:pP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transfer</a:t>
            </a:r>
            <a:r>
              <a:rPr sz="3200" b="1" i="1" spc="-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i="1" spc="-10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25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Learning Process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3777"/>
            <a:ext cx="9144000" cy="303044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722" y="1271201"/>
            <a:ext cx="4941078" cy="4855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2782669"/>
            <a:ext cx="2283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simplified spam filtering problem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Classifier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2782669"/>
            <a:ext cx="24323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simplified spam filtering problem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No Linear Classifier can cover all</a:t>
            </a:r>
            <a:endParaRPr lang="en-US" sz="2000" dirty="0"/>
          </a:p>
          <a:p>
            <a:r>
              <a:rPr lang="en-US" sz="2000" dirty="0"/>
              <a:t>instances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3920" y="1447800"/>
            <a:ext cx="4953266" cy="484181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397913"/>
            <a:ext cx="7994650" cy="430887"/>
          </a:xfrm>
        </p:spPr>
        <p:txBody>
          <a:bodyPr/>
          <a:lstStyle/>
          <a:p>
            <a:pPr algn="ctr"/>
            <a:r>
              <a:rPr lang="en-US" dirty="0"/>
              <a:t>Which one is better?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744" y="1981200"/>
            <a:ext cx="7886572" cy="46304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&amp; Underfitting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4" y="914400"/>
            <a:ext cx="8370570" cy="42244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5655" y="5343435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Overfitting</a:t>
            </a:r>
            <a:endParaRPr lang="en-US" b="1" dirty="0"/>
          </a:p>
          <a:p>
            <a:r>
              <a:rPr lang="en-US" dirty="0"/>
              <a:t>- Model too complex</a:t>
            </a:r>
            <a:endParaRPr lang="en-US" dirty="0"/>
          </a:p>
          <a:p>
            <a:r>
              <a:rPr lang="en-US" dirty="0"/>
              <a:t>- Performs excellent on training data, but poorly on test data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242705" y="5391583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Underfitting</a:t>
            </a:r>
            <a:endParaRPr lang="en-US" b="1" dirty="0"/>
          </a:p>
          <a:p>
            <a:r>
              <a:rPr lang="en-US" dirty="0"/>
              <a:t>- Model too simple</a:t>
            </a:r>
            <a:endParaRPr lang="en-US" dirty="0"/>
          </a:p>
          <a:p>
            <a:r>
              <a:rPr lang="en-US" dirty="0"/>
              <a:t>- Performs poorly on both training and test data 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2995">
              <a:lnSpc>
                <a:spcPct val="100000"/>
              </a:lnSpc>
              <a:spcBef>
                <a:spcPts val="100"/>
              </a:spcBef>
            </a:pPr>
            <a:r>
              <a:rPr dirty="0"/>
              <a:t>ML</a:t>
            </a:r>
            <a:r>
              <a:rPr spc="-4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Nutshell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7476490" cy="41478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757555" indent="-342900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0" dirty="0">
                <a:latin typeface="Calibri"/>
                <a:cs typeface="Calibri"/>
              </a:rPr>
              <a:t>Tens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thousands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learning algorithms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Hundreds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year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20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Every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components: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b="1" spc="-10" dirty="0">
                <a:latin typeface="Calibri"/>
                <a:cs typeface="Calibri"/>
              </a:rPr>
              <a:t>Representation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b="1" spc="-10" dirty="0">
                <a:latin typeface="Calibri"/>
                <a:cs typeface="Calibri"/>
              </a:rPr>
              <a:t>Optimization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b="1" spc="-10" dirty="0">
                <a:latin typeface="Calibri"/>
                <a:cs typeface="Calibri"/>
              </a:rPr>
              <a:t>Evaluation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2106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44</a:t>
            </a:r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Calibri"/>
                <a:cs typeface="Calibri"/>
              </a:rPr>
              <a:t>Various</a:t>
            </a:r>
            <a:r>
              <a:rPr b="0" spc="-1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Function</a:t>
            </a:r>
            <a:r>
              <a:rPr b="0" spc="-1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Representations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328420"/>
            <a:ext cx="4925060" cy="482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Numerical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vector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machines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Symbolic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propositional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first-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predicate</a:t>
            </a:r>
            <a:r>
              <a:rPr sz="1800" spc="-20" dirty="0">
                <a:latin typeface="Calibri"/>
                <a:cs typeface="Calibri"/>
              </a:rPr>
              <a:t> logic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latin typeface="Calibri"/>
                <a:cs typeface="Calibri"/>
              </a:rPr>
              <a:t>Instance-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spc="-25" dirty="0">
                <a:latin typeface="Calibri"/>
                <a:cs typeface="Calibri"/>
              </a:rPr>
              <a:t>Nearest-</a:t>
            </a:r>
            <a:r>
              <a:rPr sz="1800" spc="-10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Case-</a:t>
            </a:r>
            <a:r>
              <a:rPr sz="1800" spc="-20" dirty="0">
                <a:latin typeface="Calibri"/>
                <a:cs typeface="Calibri"/>
              </a:rPr>
              <a:t>based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Probabilistic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Bayes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Bayesian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Hidden-</a:t>
            </a:r>
            <a:r>
              <a:rPr sz="1800" dirty="0">
                <a:latin typeface="Calibri"/>
                <a:cs typeface="Calibri"/>
              </a:rPr>
              <a:t>Markov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(HMMs)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Probabilistic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Grammars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(PCFGs)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Markov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45</a:t>
            </a:r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7948" y="-28384"/>
            <a:ext cx="59086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0" marR="5080" indent="-1816735">
              <a:lnSpc>
                <a:spcPct val="100000"/>
              </a:lnSpc>
              <a:spcBef>
                <a:spcPts val="100"/>
              </a:spcBef>
            </a:pPr>
            <a:r>
              <a:rPr sz="4000" b="0" spc="-20" dirty="0">
                <a:latin typeface="Calibri"/>
                <a:cs typeface="Calibri"/>
              </a:rPr>
              <a:t>Various</a:t>
            </a:r>
            <a:r>
              <a:rPr sz="4000" b="0" spc="-16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Search/Optimization Algorithms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66292"/>
            <a:ext cx="3608070" cy="46437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Gradient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descent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Perceptron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Backpropagation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HMM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PCFG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Conquer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induction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Rule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Evolutionary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Computation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Genetic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(GAs)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Genetic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(GP)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5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spc="-20" dirty="0">
                <a:latin typeface="Calibri"/>
                <a:cs typeface="Calibri"/>
              </a:rPr>
              <a:t>Neuro-</a:t>
            </a:r>
            <a:r>
              <a:rPr sz="2000" spc="-10" dirty="0">
                <a:latin typeface="Calibri"/>
                <a:cs typeface="Calibri"/>
              </a:rPr>
              <a:t>evolution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5815" y="6429364"/>
            <a:ext cx="1809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2106295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657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Evaluation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49020"/>
            <a:ext cx="3317875" cy="430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Accuracy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Precision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recall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Squared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error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Likelihood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Posterior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probability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Utility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Margin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3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Entropy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35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divergence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20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445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504D"/>
                </a:solidFill>
              </a:rPr>
              <a:t>ML</a:t>
            </a:r>
            <a:r>
              <a:rPr spc="-45" dirty="0">
                <a:solidFill>
                  <a:srgbClr val="C0504D"/>
                </a:solidFill>
              </a:rPr>
              <a:t> </a:t>
            </a:r>
            <a:r>
              <a:rPr dirty="0">
                <a:solidFill>
                  <a:srgbClr val="C0504D"/>
                </a:solidFill>
              </a:rPr>
              <a:t>in</a:t>
            </a:r>
            <a:r>
              <a:rPr spc="-40" dirty="0">
                <a:solidFill>
                  <a:srgbClr val="C0504D"/>
                </a:solidFill>
              </a:rPr>
              <a:t> </a:t>
            </a:r>
            <a:r>
              <a:rPr spc="-10" dirty="0">
                <a:solidFill>
                  <a:srgbClr val="C0504D"/>
                </a:solidFill>
              </a:rPr>
              <a:t>Practice</a:t>
            </a:r>
            <a:endParaRPr spc="-10" dirty="0">
              <a:solidFill>
                <a:srgbClr val="C0504D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3339" y="1376680"/>
            <a:ext cx="7375525" cy="22352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cleaning,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processing,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Interpret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Consolidate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deploy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discovered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700" y="1435100"/>
            <a:ext cx="1168400" cy="2286000"/>
            <a:chOff x="139700" y="1435100"/>
            <a:chExt cx="1168400" cy="228600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9700" y="1435100"/>
              <a:ext cx="1168400" cy="2286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063" y="1476279"/>
              <a:ext cx="1041536" cy="21559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200" y="1476279"/>
              <a:ext cx="1041400" cy="2156460"/>
            </a:xfrm>
            <a:custGeom>
              <a:avLst/>
              <a:gdLst/>
              <a:ahLst/>
              <a:cxnLst/>
              <a:rect l="l" t="t" r="r" b="b"/>
              <a:pathLst>
                <a:path w="1041400" h="2156460">
                  <a:moveTo>
                    <a:pt x="0" y="1258983"/>
                  </a:moveTo>
                  <a:lnTo>
                    <a:pt x="1312" y="1213761"/>
                  </a:lnTo>
                  <a:lnTo>
                    <a:pt x="5213" y="1169028"/>
                  </a:lnTo>
                  <a:lnTo>
                    <a:pt x="11647" y="1124846"/>
                  </a:lnTo>
                  <a:lnTo>
                    <a:pt x="20558" y="1081275"/>
                  </a:lnTo>
                  <a:lnTo>
                    <a:pt x="31890" y="1038378"/>
                  </a:lnTo>
                  <a:lnTo>
                    <a:pt x="45587" y="996218"/>
                  </a:lnTo>
                  <a:lnTo>
                    <a:pt x="61595" y="954855"/>
                  </a:lnTo>
                  <a:lnTo>
                    <a:pt x="79857" y="914352"/>
                  </a:lnTo>
                  <a:lnTo>
                    <a:pt x="100317" y="874771"/>
                  </a:lnTo>
                  <a:lnTo>
                    <a:pt x="122920" y="836174"/>
                  </a:lnTo>
                  <a:lnTo>
                    <a:pt x="147610" y="798622"/>
                  </a:lnTo>
                  <a:lnTo>
                    <a:pt x="174331" y="762177"/>
                  </a:lnTo>
                  <a:lnTo>
                    <a:pt x="203029" y="726902"/>
                  </a:lnTo>
                  <a:lnTo>
                    <a:pt x="233646" y="692859"/>
                  </a:lnTo>
                  <a:lnTo>
                    <a:pt x="266127" y="660109"/>
                  </a:lnTo>
                  <a:lnTo>
                    <a:pt x="300417" y="628714"/>
                  </a:lnTo>
                  <a:lnTo>
                    <a:pt x="336461" y="598736"/>
                  </a:lnTo>
                  <a:lnTo>
                    <a:pt x="374201" y="570237"/>
                  </a:lnTo>
                  <a:lnTo>
                    <a:pt x="413583" y="543280"/>
                  </a:lnTo>
                  <a:lnTo>
                    <a:pt x="454550" y="517925"/>
                  </a:lnTo>
                  <a:lnTo>
                    <a:pt x="497048" y="494235"/>
                  </a:lnTo>
                  <a:lnTo>
                    <a:pt x="541021" y="472272"/>
                  </a:lnTo>
                  <a:lnTo>
                    <a:pt x="586412" y="452098"/>
                  </a:lnTo>
                  <a:lnTo>
                    <a:pt x="633166" y="433774"/>
                  </a:lnTo>
                  <a:lnTo>
                    <a:pt x="681227" y="417363"/>
                  </a:lnTo>
                  <a:lnTo>
                    <a:pt x="730541" y="402927"/>
                  </a:lnTo>
                  <a:lnTo>
                    <a:pt x="781050" y="390527"/>
                  </a:lnTo>
                  <a:lnTo>
                    <a:pt x="781051" y="520699"/>
                  </a:lnTo>
                  <a:lnTo>
                    <a:pt x="1041400" y="231868"/>
                  </a:lnTo>
                  <a:lnTo>
                    <a:pt x="781051" y="0"/>
                  </a:lnTo>
                  <a:lnTo>
                    <a:pt x="781051" y="130176"/>
                  </a:lnTo>
                  <a:lnTo>
                    <a:pt x="730542" y="142575"/>
                  </a:lnTo>
                  <a:lnTo>
                    <a:pt x="681228" y="157012"/>
                  </a:lnTo>
                  <a:lnTo>
                    <a:pt x="633167" y="173423"/>
                  </a:lnTo>
                  <a:lnTo>
                    <a:pt x="586413" y="191746"/>
                  </a:lnTo>
                  <a:lnTo>
                    <a:pt x="541022" y="211921"/>
                  </a:lnTo>
                  <a:lnTo>
                    <a:pt x="497049" y="233884"/>
                  </a:lnTo>
                  <a:lnTo>
                    <a:pt x="454551" y="257574"/>
                  </a:lnTo>
                  <a:lnTo>
                    <a:pt x="413584" y="282928"/>
                  </a:lnTo>
                  <a:lnTo>
                    <a:pt x="374202" y="309886"/>
                  </a:lnTo>
                  <a:lnTo>
                    <a:pt x="336461" y="338385"/>
                  </a:lnTo>
                  <a:lnTo>
                    <a:pt x="300418" y="368362"/>
                  </a:lnTo>
                  <a:lnTo>
                    <a:pt x="266128" y="399757"/>
                  </a:lnTo>
                  <a:lnTo>
                    <a:pt x="233647" y="432507"/>
                  </a:lnTo>
                  <a:lnTo>
                    <a:pt x="203029" y="466551"/>
                  </a:lnTo>
                  <a:lnTo>
                    <a:pt x="174332" y="501826"/>
                  </a:lnTo>
                  <a:lnTo>
                    <a:pt x="147611" y="538270"/>
                  </a:lnTo>
                  <a:lnTo>
                    <a:pt x="122921" y="575822"/>
                  </a:lnTo>
                  <a:lnTo>
                    <a:pt x="100318" y="614420"/>
                  </a:lnTo>
                  <a:lnTo>
                    <a:pt x="79858" y="654001"/>
                  </a:lnTo>
                  <a:lnTo>
                    <a:pt x="61596" y="694504"/>
                  </a:lnTo>
                  <a:lnTo>
                    <a:pt x="45588" y="735866"/>
                  </a:lnTo>
                  <a:lnTo>
                    <a:pt x="31891" y="778027"/>
                  </a:lnTo>
                  <a:lnTo>
                    <a:pt x="20559" y="820923"/>
                  </a:lnTo>
                  <a:lnTo>
                    <a:pt x="11648" y="864494"/>
                  </a:lnTo>
                  <a:lnTo>
                    <a:pt x="5214" y="908677"/>
                  </a:lnTo>
                  <a:lnTo>
                    <a:pt x="1313" y="953409"/>
                  </a:lnTo>
                  <a:lnTo>
                    <a:pt x="0" y="998631"/>
                  </a:lnTo>
                  <a:lnTo>
                    <a:pt x="0" y="1258983"/>
                  </a:lnTo>
                  <a:lnTo>
                    <a:pt x="1274" y="1303749"/>
                  </a:lnTo>
                  <a:lnTo>
                    <a:pt x="5058" y="1347947"/>
                  </a:lnTo>
                  <a:lnTo>
                    <a:pt x="11291" y="1391525"/>
                  </a:lnTo>
                  <a:lnTo>
                    <a:pt x="19914" y="1434433"/>
                  </a:lnTo>
                  <a:lnTo>
                    <a:pt x="30867" y="1476618"/>
                  </a:lnTo>
                  <a:lnTo>
                    <a:pt x="44091" y="1518030"/>
                  </a:lnTo>
                  <a:lnTo>
                    <a:pt x="59526" y="1558616"/>
                  </a:lnTo>
                  <a:lnTo>
                    <a:pt x="77112" y="1598326"/>
                  </a:lnTo>
                  <a:lnTo>
                    <a:pt x="96790" y="1637109"/>
                  </a:lnTo>
                  <a:lnTo>
                    <a:pt x="118499" y="1674911"/>
                  </a:lnTo>
                  <a:lnTo>
                    <a:pt x="142181" y="1711684"/>
                  </a:lnTo>
                  <a:lnTo>
                    <a:pt x="167775" y="1747374"/>
                  </a:lnTo>
                  <a:lnTo>
                    <a:pt x="195223" y="1781931"/>
                  </a:lnTo>
                  <a:lnTo>
                    <a:pt x="224463" y="1815303"/>
                  </a:lnTo>
                  <a:lnTo>
                    <a:pt x="255437" y="1847439"/>
                  </a:lnTo>
                  <a:lnTo>
                    <a:pt x="288085" y="1878287"/>
                  </a:lnTo>
                  <a:lnTo>
                    <a:pt x="322348" y="1907797"/>
                  </a:lnTo>
                  <a:lnTo>
                    <a:pt x="358165" y="1935916"/>
                  </a:lnTo>
                  <a:lnTo>
                    <a:pt x="395476" y="1962593"/>
                  </a:lnTo>
                  <a:lnTo>
                    <a:pt x="434224" y="1987778"/>
                  </a:lnTo>
                  <a:lnTo>
                    <a:pt x="474346" y="2011417"/>
                  </a:lnTo>
                  <a:lnTo>
                    <a:pt x="515785" y="2033461"/>
                  </a:lnTo>
                  <a:lnTo>
                    <a:pt x="558480" y="2053858"/>
                  </a:lnTo>
                  <a:lnTo>
                    <a:pt x="602372" y="2072556"/>
                  </a:lnTo>
                  <a:lnTo>
                    <a:pt x="647400" y="2089504"/>
                  </a:lnTo>
                  <a:lnTo>
                    <a:pt x="693506" y="2104650"/>
                  </a:lnTo>
                  <a:lnTo>
                    <a:pt x="740629" y="2117944"/>
                  </a:lnTo>
                  <a:lnTo>
                    <a:pt x="788711" y="2129334"/>
                  </a:lnTo>
                  <a:lnTo>
                    <a:pt x="837691" y="2138767"/>
                  </a:lnTo>
                  <a:lnTo>
                    <a:pt x="887509" y="2146194"/>
                  </a:lnTo>
                  <a:lnTo>
                    <a:pt x="938106" y="2151563"/>
                  </a:lnTo>
                  <a:lnTo>
                    <a:pt x="989423" y="2154822"/>
                  </a:lnTo>
                  <a:lnTo>
                    <a:pt x="1041400" y="2155920"/>
                  </a:lnTo>
                  <a:lnTo>
                    <a:pt x="1041400" y="1895569"/>
                  </a:lnTo>
                  <a:lnTo>
                    <a:pt x="989994" y="1894489"/>
                  </a:lnTo>
                  <a:lnTo>
                    <a:pt x="939172" y="1891280"/>
                  </a:lnTo>
                  <a:lnTo>
                    <a:pt x="888999" y="1885990"/>
                  </a:lnTo>
                  <a:lnTo>
                    <a:pt x="839537" y="1878665"/>
                  </a:lnTo>
                  <a:lnTo>
                    <a:pt x="790850" y="1869353"/>
                  </a:lnTo>
                  <a:lnTo>
                    <a:pt x="743001" y="1858101"/>
                  </a:lnTo>
                  <a:lnTo>
                    <a:pt x="696054" y="1844957"/>
                  </a:lnTo>
                  <a:lnTo>
                    <a:pt x="650072" y="1829967"/>
                  </a:lnTo>
                  <a:lnTo>
                    <a:pt x="605118" y="1813178"/>
                  </a:lnTo>
                  <a:lnTo>
                    <a:pt x="561256" y="1794639"/>
                  </a:lnTo>
                  <a:lnTo>
                    <a:pt x="518550" y="1774396"/>
                  </a:lnTo>
                  <a:lnTo>
                    <a:pt x="477063" y="1752496"/>
                  </a:lnTo>
                  <a:lnTo>
                    <a:pt x="436858" y="1728986"/>
                  </a:lnTo>
                  <a:lnTo>
                    <a:pt x="397999" y="1703914"/>
                  </a:lnTo>
                  <a:lnTo>
                    <a:pt x="360549" y="1677327"/>
                  </a:lnTo>
                  <a:lnTo>
                    <a:pt x="324571" y="1649272"/>
                  </a:lnTo>
                  <a:lnTo>
                    <a:pt x="290130" y="1619797"/>
                  </a:lnTo>
                  <a:lnTo>
                    <a:pt x="257287" y="1588947"/>
                  </a:lnTo>
                  <a:lnTo>
                    <a:pt x="226108" y="1556772"/>
                  </a:lnTo>
                  <a:lnTo>
                    <a:pt x="196655" y="1523318"/>
                  </a:lnTo>
                  <a:lnTo>
                    <a:pt x="168992" y="1488631"/>
                  </a:lnTo>
                  <a:lnTo>
                    <a:pt x="143182" y="1452760"/>
                  </a:lnTo>
                  <a:lnTo>
                    <a:pt x="119288" y="1415751"/>
                  </a:lnTo>
                  <a:lnTo>
                    <a:pt x="97375" y="1377653"/>
                  </a:lnTo>
                  <a:lnTo>
                    <a:pt x="77505" y="1338511"/>
                  </a:lnTo>
                  <a:lnTo>
                    <a:pt x="59741" y="1298373"/>
                  </a:lnTo>
                  <a:lnTo>
                    <a:pt x="44148" y="1257286"/>
                  </a:lnTo>
                  <a:lnTo>
                    <a:pt x="30789" y="1215298"/>
                  </a:lnTo>
                  <a:lnTo>
                    <a:pt x="19727" y="1172456"/>
                  </a:lnTo>
                  <a:lnTo>
                    <a:pt x="11026" y="1128807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6882" y="242911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Loop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25815" y="6429364"/>
            <a:ext cx="1809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6578018"/>
            <a:ext cx="263017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1512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Lessons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Learned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about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5600" marR="80010" indent="-342900">
              <a:lnSpc>
                <a:spcPct val="101000"/>
              </a:lnSpc>
              <a:spcBef>
                <a:spcPts val="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Learning</a:t>
            </a:r>
            <a:r>
              <a:rPr spc="-5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viewed</a:t>
            </a:r>
            <a:r>
              <a:rPr spc="-4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direct</a:t>
            </a:r>
            <a:r>
              <a:rPr spc="-50" dirty="0"/>
              <a:t> </a:t>
            </a:r>
            <a:r>
              <a:rPr dirty="0"/>
              <a:t>or</a:t>
            </a:r>
            <a:r>
              <a:rPr spc="-45" dirty="0"/>
              <a:t> </a:t>
            </a:r>
            <a:r>
              <a:rPr spc="-10" dirty="0"/>
              <a:t>indirect </a:t>
            </a:r>
            <a:r>
              <a:rPr dirty="0"/>
              <a:t>experience</a:t>
            </a:r>
            <a:r>
              <a:rPr spc="-85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spc="-10" dirty="0"/>
              <a:t>approximate</a:t>
            </a:r>
            <a:r>
              <a:rPr spc="-8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chosen</a:t>
            </a:r>
            <a:r>
              <a:rPr spc="-75" dirty="0"/>
              <a:t> </a:t>
            </a:r>
            <a:r>
              <a:rPr dirty="0"/>
              <a:t>target</a:t>
            </a:r>
            <a:r>
              <a:rPr spc="-80" dirty="0"/>
              <a:t> </a:t>
            </a:r>
            <a:r>
              <a:rPr spc="-10" dirty="0"/>
              <a:t>function.</a:t>
            </a:r>
            <a:endParaRPr spc="-10" dirty="0"/>
          </a:p>
          <a:p>
            <a:pPr>
              <a:lnSpc>
                <a:spcPct val="100000"/>
              </a:lnSpc>
              <a:spcBef>
                <a:spcPts val="1180"/>
              </a:spcBef>
              <a:buFont typeface="Arial MT"/>
              <a:buChar char="•"/>
            </a:pPr>
            <a:endParaRPr spc="-10" dirty="0"/>
          </a:p>
          <a:p>
            <a:pPr marL="355600" marR="11430" indent="-342900">
              <a:lnSpc>
                <a:spcPct val="101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/>
              <a:t>Function</a:t>
            </a:r>
            <a:r>
              <a:rPr spc="-50" dirty="0"/>
              <a:t> </a:t>
            </a:r>
            <a:r>
              <a:rPr spc="-10" dirty="0"/>
              <a:t>approximation</a:t>
            </a:r>
            <a:r>
              <a:rPr spc="-4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viewed</a:t>
            </a:r>
            <a:r>
              <a:rPr spc="-50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search </a:t>
            </a:r>
            <a:r>
              <a:rPr dirty="0"/>
              <a:t>through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space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hypotheses</a:t>
            </a:r>
            <a:r>
              <a:rPr spc="-60" dirty="0"/>
              <a:t> </a:t>
            </a:r>
            <a:r>
              <a:rPr spc="-10" dirty="0"/>
              <a:t>(representations</a:t>
            </a:r>
            <a:r>
              <a:rPr spc="-60" dirty="0"/>
              <a:t> </a:t>
            </a:r>
            <a:r>
              <a:rPr spc="-25" dirty="0"/>
              <a:t>of </a:t>
            </a:r>
            <a:r>
              <a:rPr dirty="0"/>
              <a:t>functions)</a:t>
            </a:r>
            <a:r>
              <a:rPr spc="-4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one</a:t>
            </a:r>
            <a:r>
              <a:rPr spc="-4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best</a:t>
            </a:r>
            <a:r>
              <a:rPr spc="-40" dirty="0"/>
              <a:t> </a:t>
            </a:r>
            <a:r>
              <a:rPr dirty="0"/>
              <a:t>fits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set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training</a:t>
            </a:r>
            <a:r>
              <a:rPr spc="-45" dirty="0"/>
              <a:t> </a:t>
            </a:r>
            <a:r>
              <a:rPr spc="-10" dirty="0"/>
              <a:t>data.</a:t>
            </a:r>
            <a:endParaRPr spc="-10" dirty="0"/>
          </a:p>
          <a:p>
            <a:pPr>
              <a:lnSpc>
                <a:spcPct val="100000"/>
              </a:lnSpc>
              <a:spcBef>
                <a:spcPts val="1230"/>
              </a:spcBef>
              <a:buFont typeface="Arial MT"/>
              <a:buChar char="•"/>
            </a:pPr>
            <a:endParaRPr spc="-10" dirty="0"/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pc="-10" dirty="0"/>
              <a:t>Different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90" dirty="0"/>
              <a:t> </a:t>
            </a:r>
            <a:r>
              <a:rPr dirty="0"/>
              <a:t>methods</a:t>
            </a:r>
            <a:r>
              <a:rPr spc="-80" dirty="0"/>
              <a:t> </a:t>
            </a:r>
            <a:r>
              <a:rPr dirty="0"/>
              <a:t>assume</a:t>
            </a:r>
            <a:r>
              <a:rPr spc="-90" dirty="0"/>
              <a:t> </a:t>
            </a:r>
            <a:r>
              <a:rPr spc="-10" dirty="0"/>
              <a:t>different </a:t>
            </a:r>
            <a:r>
              <a:rPr dirty="0"/>
              <a:t>hypothesis</a:t>
            </a:r>
            <a:r>
              <a:rPr spc="-105" dirty="0"/>
              <a:t> </a:t>
            </a:r>
            <a:r>
              <a:rPr dirty="0"/>
              <a:t>spaces</a:t>
            </a:r>
            <a:r>
              <a:rPr spc="-105" dirty="0"/>
              <a:t> </a:t>
            </a:r>
            <a:r>
              <a:rPr spc="-10" dirty="0"/>
              <a:t>(representation</a:t>
            </a:r>
            <a:r>
              <a:rPr spc="-105" dirty="0"/>
              <a:t> </a:t>
            </a:r>
            <a:r>
              <a:rPr dirty="0"/>
              <a:t>languages)</a:t>
            </a:r>
            <a:r>
              <a:rPr spc="-105" dirty="0"/>
              <a:t> </a:t>
            </a:r>
            <a:r>
              <a:rPr spc="-10" dirty="0"/>
              <a:t>and/or </a:t>
            </a:r>
            <a:r>
              <a:rPr dirty="0"/>
              <a:t>employ</a:t>
            </a:r>
            <a:r>
              <a:rPr spc="-95" dirty="0"/>
              <a:t> </a:t>
            </a:r>
            <a:r>
              <a:rPr spc="-10" dirty="0"/>
              <a:t>different</a:t>
            </a:r>
            <a:r>
              <a:rPr spc="-95" dirty="0"/>
              <a:t> </a:t>
            </a:r>
            <a:r>
              <a:rPr dirty="0"/>
              <a:t>search</a:t>
            </a:r>
            <a:r>
              <a:rPr spc="-85" dirty="0"/>
              <a:t> </a:t>
            </a:r>
            <a:r>
              <a:rPr spc="-10" dirty="0"/>
              <a:t>techniques.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6569510"/>
            <a:ext cx="1818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9520</Words>
  <Application>WPS Presentation</Application>
  <PresentationFormat>On-screen Show (4:3)</PresentationFormat>
  <Paragraphs>617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5" baseType="lpstr">
      <vt:lpstr>Arial</vt:lpstr>
      <vt:lpstr>SimSun</vt:lpstr>
      <vt:lpstr>Wingdings</vt:lpstr>
      <vt:lpstr>Calibri</vt:lpstr>
      <vt:lpstr>Helvetica Neue</vt:lpstr>
      <vt:lpstr>Garamond</vt:lpstr>
      <vt:lpstr>苹方-简</vt:lpstr>
      <vt:lpstr>Arial MT</vt:lpstr>
      <vt:lpstr>Georgia</vt:lpstr>
      <vt:lpstr>Times New Roman</vt:lpstr>
      <vt:lpstr>Microsoft YaHei</vt:lpstr>
      <vt:lpstr>汉仪旗黑</vt:lpstr>
      <vt:lpstr>Arial Unicode MS</vt:lpstr>
      <vt:lpstr>MS PGothic</vt:lpstr>
      <vt:lpstr>Wingdings</vt:lpstr>
      <vt:lpstr>Symbol</vt:lpstr>
      <vt:lpstr>Arial</vt:lpstr>
      <vt:lpstr>Thonburi</vt:lpstr>
      <vt:lpstr>Kingsoft Sign</vt:lpstr>
      <vt:lpstr>Office Theme</vt:lpstr>
      <vt:lpstr>    CSE 604	 Artificial Intelligence</vt:lpstr>
      <vt:lpstr>What is Machine Learning?</vt:lpstr>
      <vt:lpstr>Traditional Programming</vt:lpstr>
      <vt:lpstr>When Do We Use Machine Learning?</vt:lpstr>
      <vt:lpstr>A classic example of a task that requires machine learning: It is very hard to say what makes a 2</vt:lpstr>
      <vt:lpstr>Some more examples of tasks that are best solved by using a learning algorithm</vt:lpstr>
      <vt:lpstr>Sample Applications</vt:lpstr>
      <vt:lpstr>Samuel’s Checkers-Player</vt:lpstr>
      <vt:lpstr>Defining the Learning Task</vt:lpstr>
      <vt:lpstr>State of the Art Applications of Machine Learning</vt:lpstr>
      <vt:lpstr>Autonomous Cars</vt:lpstr>
      <vt:lpstr>Autonomous Car Technology</vt:lpstr>
      <vt:lpstr>Deep Learning in the Headlines</vt:lpstr>
      <vt:lpstr>Deep Belief Net on Face Images</vt:lpstr>
      <vt:lpstr>Scene Labeling via Deep Learning</vt:lpstr>
      <vt:lpstr>Machine Learning in Automatic Speech Recognition</vt:lpstr>
      <vt:lpstr>Impact of Deep Learning in Speech Technology</vt:lpstr>
      <vt:lpstr>Types of Learning</vt:lpstr>
      <vt:lpstr>Types of Learning</vt:lpstr>
      <vt:lpstr>Supervised Learning: Regression</vt:lpstr>
      <vt:lpstr>Supervised Learning: Classification</vt:lpstr>
      <vt:lpstr>Supervised Learning: Classification</vt:lpstr>
      <vt:lpstr>Supervised Learning: Classification</vt:lpstr>
      <vt:lpstr>Supervised Learning</vt:lpstr>
      <vt:lpstr>Unsupervised Learning</vt:lpstr>
      <vt:lpstr>Unsupervised Learning</vt:lpstr>
      <vt:lpstr>Unsupervised Learning</vt:lpstr>
      <vt:lpstr>Reinforcement Learning</vt:lpstr>
      <vt:lpstr>The Agent-Environment Interface</vt:lpstr>
      <vt:lpstr>Reinforcement Learning</vt:lpstr>
      <vt:lpstr>Inverse Reinforcement Learning</vt:lpstr>
      <vt:lpstr>Framing a Learning Problem</vt:lpstr>
      <vt:lpstr>Designing a Learning System</vt:lpstr>
      <vt:lpstr>Training vs. Test Distribution</vt:lpstr>
      <vt:lpstr>The Learning Process</vt:lpstr>
      <vt:lpstr>Linear Classifier</vt:lpstr>
      <vt:lpstr>Non-linear Classifier</vt:lpstr>
      <vt:lpstr>Generalization</vt:lpstr>
      <vt:lpstr>Overfitting &amp; Underfitting</vt:lpstr>
      <vt:lpstr>ML in a Nutshell</vt:lpstr>
      <vt:lpstr>Various Function Representations</vt:lpstr>
      <vt:lpstr>Various Search/Optimization Algorithms</vt:lpstr>
      <vt:lpstr>Evaluation</vt:lpstr>
      <vt:lpstr>ML in Practice</vt:lpstr>
      <vt:lpstr>Lessons Learned about Learning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CSE 604  Artificial Intelligence</dc:title>
  <dc:creator>Khaled</dc:creator>
  <cp:lastModifiedBy>Rakibul</cp:lastModifiedBy>
  <cp:revision>8</cp:revision>
  <dcterms:created xsi:type="dcterms:W3CDTF">2025-08-18T07:49:09Z</dcterms:created>
  <dcterms:modified xsi:type="dcterms:W3CDTF">2025-08-18T07:49:09Z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732E90F0ACD0FC8EF5DAA268FE0EC4D9_42</vt:lpwstr>
  </property>
  <property fmtid="{D5CDD505-2E9C-101B-9397-08002B2CF9AE}" pid="3" name="KSOProductBuildVer">
    <vt:lpwstr>1033-6.11.0.8608</vt:lpwstr>
  </property>
</Properties>
</file>