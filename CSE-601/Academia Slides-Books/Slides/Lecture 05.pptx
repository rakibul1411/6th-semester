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3"/>
    <p:sldId id="312" r:id="rId4"/>
    <p:sldId id="334" r:id="rId5"/>
    <p:sldId id="324" r:id="rId6"/>
    <p:sldId id="258" r:id="rId7"/>
    <p:sldId id="335" r:id="rId8"/>
    <p:sldId id="336" r:id="rId9"/>
    <p:sldId id="341" r:id="rId10"/>
    <p:sldId id="337" r:id="rId11"/>
    <p:sldId id="331" r:id="rId12"/>
    <p:sldId id="332" r:id="rId13"/>
    <p:sldId id="342" r:id="rId14"/>
    <p:sldId id="343" r:id="rId15"/>
    <p:sldId id="338" r:id="rId16"/>
    <p:sldId id="344" r:id="rId17"/>
    <p:sldId id="345" r:id="rId18"/>
    <p:sldId id="34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453B2A-649C-47D2-B149-313A8222923C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93E89F-D0F4-4845-90C4-681A217667A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Gill Sans MT" panose="020B05020201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Autofit/>
          </a:bodyPr>
          <a:lstStyle>
            <a:lvl1pPr marL="0" indent="0" algn="ctr">
              <a:buNone/>
              <a:defRPr sz="4000">
                <a:latin typeface="Gill Sans MT" panose="020B05020201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DADE2353-34E2-4DBF-AFB1-31497BAECD2D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8170D8CF-7E31-4249-BDB4-34EBE6CF332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2353-34E2-4DBF-AFB1-31497BAECD2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0D8CF-7E31-4249-BDB4-34EBE6CF33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2353-34E2-4DBF-AFB1-31497BAECD2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0D8CF-7E31-4249-BDB4-34EBE6CF33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2353-34E2-4DBF-AFB1-31497BAECD2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0D8CF-7E31-4249-BDB4-34EBE6CF33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2353-34E2-4DBF-AFB1-31497BAECD2D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0D8CF-7E31-4249-BDB4-34EBE6CF33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2353-34E2-4DBF-AFB1-31497BAECD2D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0D8CF-7E31-4249-BDB4-34EBE6CF33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2353-34E2-4DBF-AFB1-31497BAECD2D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0D8CF-7E31-4249-BDB4-34EBE6CF33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2353-34E2-4DBF-AFB1-31497BAECD2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0D8CF-7E31-4249-BDB4-34EBE6CF33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2353-34E2-4DBF-AFB1-31497BAECD2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0D8CF-7E31-4249-BDB4-34EBE6CF33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2353-34E2-4DBF-AFB1-31497BAECD2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0D8CF-7E31-4249-BDB4-34EBE6CF33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2353-34E2-4DBF-AFB1-31497BAECD2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0D8CF-7E31-4249-BDB4-34EBE6CF33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E2353-34E2-4DBF-AFB1-31497BAECD2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70D8CF-7E31-4249-BDB4-34EBE6CF332C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Gill Sans MT" panose="020B0502020104020203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s3.amazonaws.com/BucketName/ObjectName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CSE 601: Distributed Systems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Toukir Ahammed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Styles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40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Architectural Styles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Important styles of architecture for distributed systems:</a:t>
            </a:r>
            <a:endParaRPr lang="en-US" dirty="0"/>
          </a:p>
          <a:p>
            <a:r>
              <a:rPr lang="en-US" dirty="0"/>
              <a:t>Layered architectures</a:t>
            </a:r>
            <a:endParaRPr lang="en-US" dirty="0"/>
          </a:p>
          <a:p>
            <a:r>
              <a:rPr lang="en-US" dirty="0"/>
              <a:t>Object-based architectures</a:t>
            </a:r>
            <a:endParaRPr lang="en-US" dirty="0"/>
          </a:p>
          <a:p>
            <a:r>
              <a:rPr lang="en-US" dirty="0"/>
              <a:t>Data-centered architectures/</a:t>
            </a:r>
            <a:r>
              <a:rPr lang="en-US" dirty="0">
                <a:sym typeface="+mn-ea"/>
              </a:rPr>
              <a:t>Resource-based Architectures</a:t>
            </a:r>
            <a:endParaRPr lang="en-US" dirty="0"/>
          </a:p>
          <a:p>
            <a:r>
              <a:rPr lang="en-US" dirty="0"/>
              <a:t>Event-based architectures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Styles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tx1"/>
                </a:solidFill>
              </a:rPr>
              <a:t>Resource-based Architectures</a:t>
            </a:r>
            <a:endParaRPr lang="en-US" sz="40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Resource-based Architectures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View a distributed system as a huge collection of resources that are individually managed by components</a:t>
            </a:r>
            <a:endParaRPr lang="en-US" dirty="0"/>
          </a:p>
          <a:p>
            <a:r>
              <a:rPr lang="en-US" dirty="0"/>
              <a:t>Resources may be </a:t>
            </a:r>
            <a:r>
              <a:rPr lang="en-US" i="1" dirty="0"/>
              <a:t>added</a:t>
            </a:r>
            <a:r>
              <a:rPr lang="en-US" dirty="0"/>
              <a:t> or </a:t>
            </a:r>
            <a:r>
              <a:rPr lang="en-US" i="1" dirty="0"/>
              <a:t>removed</a:t>
            </a:r>
            <a:r>
              <a:rPr lang="en-US" dirty="0"/>
              <a:t> by (remote) applications, and likewise can be </a:t>
            </a:r>
            <a:r>
              <a:rPr lang="en-US" i="1" dirty="0"/>
              <a:t>retrieved</a:t>
            </a:r>
            <a:r>
              <a:rPr lang="en-US" dirty="0"/>
              <a:t> or </a:t>
            </a:r>
            <a:r>
              <a:rPr lang="en-US" i="1" dirty="0"/>
              <a:t>modified</a:t>
            </a:r>
            <a:endParaRPr lang="en-US" i="1" dirty="0"/>
          </a:p>
          <a:p>
            <a:r>
              <a:rPr lang="en-US" dirty="0"/>
              <a:t>This approach has now been widely adopted for the Web and is known as </a:t>
            </a:r>
            <a:r>
              <a:rPr lang="en-US" b="1" dirty="0">
                <a:solidFill>
                  <a:srgbClr val="FF0000"/>
                </a:solidFill>
              </a:rPr>
              <a:t>Representational State Transfer (REST)</a:t>
            </a:r>
            <a:endParaRPr lang="en-US" b="1" dirty="0"/>
          </a:p>
          <a:p>
            <a:r>
              <a:rPr lang="en-US" dirty="0"/>
              <a:t>REST is an architectural style based on </a:t>
            </a:r>
            <a:r>
              <a:rPr lang="en-US" dirty="0">
                <a:solidFill>
                  <a:srgbClr val="FF0000"/>
                </a:solidFill>
              </a:rPr>
              <a:t>transferring representations of resources from a server to a client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Resource-based Architectures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There are </a:t>
            </a:r>
            <a:r>
              <a:rPr lang="en-US" dirty="0">
                <a:solidFill>
                  <a:srgbClr val="FF0000"/>
                </a:solidFill>
              </a:rPr>
              <a:t>four key characteristics of RESTful architectures: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Resources are identified through a </a:t>
            </a:r>
            <a:r>
              <a:rPr lang="en-US" dirty="0">
                <a:solidFill>
                  <a:srgbClr val="FF0000"/>
                </a:solidFill>
              </a:rPr>
              <a:t>single naming scheme</a:t>
            </a:r>
            <a:endParaRPr lang="en-US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All services offer the </a:t>
            </a:r>
            <a:r>
              <a:rPr lang="en-US" dirty="0">
                <a:solidFill>
                  <a:srgbClr val="FF0000"/>
                </a:solidFill>
              </a:rPr>
              <a:t>same interface</a:t>
            </a:r>
            <a:r>
              <a:rPr lang="en-US" dirty="0"/>
              <a:t>, consisting of at most four operations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Messages sent to or from a service are fully </a:t>
            </a:r>
            <a:r>
              <a:rPr lang="en-US" dirty="0">
                <a:solidFill>
                  <a:srgbClr val="FF0000"/>
                </a:solidFill>
              </a:rPr>
              <a:t>self-described</a:t>
            </a:r>
            <a:endParaRPr lang="en-US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After executing an operation at a service, that component forgets everything about the caller (</a:t>
            </a:r>
            <a:r>
              <a:rPr lang="en-US" dirty="0">
                <a:solidFill>
                  <a:srgbClr val="FF0000"/>
                </a:solidFill>
              </a:rPr>
              <a:t>stateless execution</a:t>
            </a:r>
            <a:r>
              <a:rPr lang="en-US" dirty="0"/>
              <a:t>)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Resource-based Architectures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Basic Operations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010419" y="2396247"/>
          <a:ext cx="10171162" cy="248524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24846"/>
                <a:gridCol w="8146316"/>
              </a:tblGrid>
              <a:tr h="511799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2500" b="1" spc="-10" dirty="0">
                          <a:latin typeface="Arial" panose="020B0604020202090204"/>
                          <a:cs typeface="Arial" panose="020B0604020202090204"/>
                        </a:rPr>
                        <a:t>Operation</a:t>
                      </a:r>
                      <a:endParaRPr sz="2500" dirty="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2458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2500" b="1" spc="-10" dirty="0">
                          <a:latin typeface="Arial" panose="020B0604020202090204"/>
                          <a:cs typeface="Arial" panose="020B0604020202090204"/>
                        </a:rPr>
                        <a:t>Description</a:t>
                      </a:r>
                      <a:endParaRPr sz="25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2458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11799">
                <a:tc>
                  <a:txBody>
                    <a:bodyPr/>
                    <a:lstStyle/>
                    <a:p>
                      <a:pPr marL="71755">
                        <a:lnSpc>
                          <a:spcPts val="1010"/>
                        </a:lnSpc>
                      </a:pPr>
                      <a:endParaRPr lang="en-US" sz="3500" spc="-25" dirty="0">
                        <a:latin typeface="Times New Roman" panose="02020503050405090304"/>
                        <a:cs typeface="Times New Roman" panose="02020503050405090304"/>
                      </a:endParaRPr>
                    </a:p>
                    <a:p>
                      <a:pPr marL="71755">
                        <a:lnSpc>
                          <a:spcPts val="1010"/>
                        </a:lnSpc>
                      </a:pPr>
                      <a:endParaRPr lang="en-US" sz="3500" spc="-25" dirty="0">
                        <a:latin typeface="Times New Roman" panose="02020503050405090304"/>
                        <a:cs typeface="Times New Roman" panose="02020503050405090304"/>
                      </a:endParaRPr>
                    </a:p>
                    <a:p>
                      <a:pPr marL="71755">
                        <a:lnSpc>
                          <a:spcPts val="1010"/>
                        </a:lnSpc>
                      </a:pPr>
                      <a:r>
                        <a:rPr sz="3500" spc="-25" dirty="0">
                          <a:latin typeface="Times New Roman" panose="02020503050405090304"/>
                          <a:cs typeface="Times New Roman" panose="02020503050405090304"/>
                        </a:rPr>
                        <a:t>PUT</a:t>
                      </a:r>
                      <a:endParaRPr sz="3500" dirty="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2500" dirty="0">
                          <a:latin typeface="Arial" panose="020B0604020202090204"/>
                          <a:cs typeface="Arial" panose="020B0604020202090204"/>
                          <a:sym typeface="+mn-ea"/>
                        </a:rPr>
                        <a:t>Modify</a:t>
                      </a:r>
                      <a:r>
                        <a:rPr sz="2500" spc="-15" dirty="0">
                          <a:latin typeface="Arial" panose="020B0604020202090204"/>
                          <a:cs typeface="Arial" panose="020B0604020202090204"/>
                          <a:sym typeface="+mn-ea"/>
                        </a:rPr>
                        <a:t> </a:t>
                      </a:r>
                      <a:r>
                        <a:rPr sz="2500" dirty="0">
                          <a:latin typeface="Arial" panose="020B0604020202090204"/>
                          <a:cs typeface="Arial" panose="020B0604020202090204"/>
                          <a:sym typeface="+mn-ea"/>
                        </a:rPr>
                        <a:t>a</a:t>
                      </a:r>
                      <a:r>
                        <a:rPr sz="2500" spc="-10" dirty="0">
                          <a:latin typeface="Arial" panose="020B0604020202090204"/>
                          <a:cs typeface="Arial" panose="020B0604020202090204"/>
                          <a:sym typeface="+mn-ea"/>
                        </a:rPr>
                        <a:t> </a:t>
                      </a:r>
                      <a:r>
                        <a:rPr sz="2500" dirty="0">
                          <a:latin typeface="Arial" panose="020B0604020202090204"/>
                          <a:cs typeface="Arial" panose="020B0604020202090204"/>
                          <a:sym typeface="+mn-ea"/>
                        </a:rPr>
                        <a:t>resource</a:t>
                      </a:r>
                      <a:r>
                        <a:rPr sz="2500" spc="-10" dirty="0">
                          <a:latin typeface="Arial" panose="020B0604020202090204"/>
                          <a:cs typeface="Arial" panose="020B0604020202090204"/>
                          <a:sym typeface="+mn-ea"/>
                        </a:rPr>
                        <a:t> </a:t>
                      </a:r>
                      <a:r>
                        <a:rPr sz="2500" dirty="0">
                          <a:latin typeface="Arial" panose="020B0604020202090204"/>
                          <a:cs typeface="Arial" panose="020B0604020202090204"/>
                          <a:sym typeface="+mn-ea"/>
                        </a:rPr>
                        <a:t>by</a:t>
                      </a:r>
                      <a:r>
                        <a:rPr sz="2500" spc="-15" dirty="0">
                          <a:latin typeface="Arial" panose="020B0604020202090204"/>
                          <a:cs typeface="Arial" panose="020B0604020202090204"/>
                          <a:sym typeface="+mn-ea"/>
                        </a:rPr>
                        <a:t> </a:t>
                      </a:r>
                      <a:r>
                        <a:rPr sz="2500" spc="-10" dirty="0">
                          <a:latin typeface="Arial" panose="020B0604020202090204"/>
                          <a:cs typeface="Arial" panose="020B0604020202090204"/>
                          <a:sym typeface="+mn-ea"/>
                        </a:rPr>
                        <a:t>transferring </a:t>
                      </a:r>
                      <a:r>
                        <a:rPr sz="2500" dirty="0">
                          <a:latin typeface="Arial" panose="020B0604020202090204"/>
                          <a:cs typeface="Arial" panose="020B0604020202090204"/>
                          <a:sym typeface="+mn-ea"/>
                        </a:rPr>
                        <a:t>a</a:t>
                      </a:r>
                      <a:r>
                        <a:rPr sz="2500" spc="-10" dirty="0">
                          <a:latin typeface="Arial" panose="020B0604020202090204"/>
                          <a:cs typeface="Arial" panose="020B0604020202090204"/>
                          <a:sym typeface="+mn-ea"/>
                        </a:rPr>
                        <a:t> </a:t>
                      </a:r>
                      <a:r>
                        <a:rPr sz="2500" dirty="0">
                          <a:latin typeface="Arial" panose="020B0604020202090204"/>
                          <a:cs typeface="Arial" panose="020B0604020202090204"/>
                          <a:sym typeface="+mn-ea"/>
                        </a:rPr>
                        <a:t>new</a:t>
                      </a:r>
                      <a:r>
                        <a:rPr sz="2500" spc="-15" dirty="0">
                          <a:latin typeface="Arial" panose="020B0604020202090204"/>
                          <a:cs typeface="Arial" panose="020B0604020202090204"/>
                          <a:sym typeface="+mn-ea"/>
                        </a:rPr>
                        <a:t> </a:t>
                      </a:r>
                      <a:r>
                        <a:rPr sz="2500" spc="-20" dirty="0">
                          <a:latin typeface="Arial" panose="020B0604020202090204"/>
                          <a:cs typeface="Arial" panose="020B0604020202090204"/>
                          <a:sym typeface="+mn-ea"/>
                        </a:rPr>
                        <a:t>state</a:t>
                      </a:r>
                      <a:endParaRPr sz="25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4916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87215">
                <a:tc>
                  <a:txBody>
                    <a:bodyPr/>
                    <a:lstStyle/>
                    <a:p>
                      <a:pPr marL="71755">
                        <a:lnSpc>
                          <a:spcPts val="955"/>
                        </a:lnSpc>
                      </a:pPr>
                      <a:endParaRPr lang="en-US" sz="3500" spc="-25" dirty="0">
                        <a:latin typeface="Times New Roman" panose="02020503050405090304"/>
                        <a:cs typeface="Times New Roman" panose="02020503050405090304"/>
                      </a:endParaRPr>
                    </a:p>
                    <a:p>
                      <a:pPr marL="71755">
                        <a:lnSpc>
                          <a:spcPts val="955"/>
                        </a:lnSpc>
                      </a:pPr>
                      <a:endParaRPr lang="en-US" sz="3500" spc="-25" dirty="0">
                        <a:latin typeface="Times New Roman" panose="02020503050405090304"/>
                        <a:cs typeface="Times New Roman" panose="02020503050405090304"/>
                      </a:endParaRPr>
                    </a:p>
                    <a:p>
                      <a:pPr marL="71755">
                        <a:lnSpc>
                          <a:spcPts val="955"/>
                        </a:lnSpc>
                      </a:pPr>
                      <a:r>
                        <a:rPr sz="3500" spc="-25" dirty="0">
                          <a:latin typeface="Times New Roman" panose="02020503050405090304"/>
                          <a:cs typeface="Times New Roman" panose="02020503050405090304"/>
                        </a:rPr>
                        <a:t>GET</a:t>
                      </a:r>
                      <a:endParaRPr sz="3500" dirty="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2500" spc="-10" dirty="0">
                          <a:latin typeface="Arial" panose="020B0604020202090204"/>
                          <a:cs typeface="Arial" panose="020B0604020202090204"/>
                        </a:rPr>
                        <a:t>Retrieve</a:t>
                      </a:r>
                      <a:r>
                        <a:rPr sz="2500" spc="-15" dirty="0">
                          <a:latin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2500" dirty="0">
                          <a:latin typeface="Arial" panose="020B0604020202090204"/>
                          <a:cs typeface="Arial" panose="020B0604020202090204"/>
                        </a:rPr>
                        <a:t>the</a:t>
                      </a:r>
                      <a:r>
                        <a:rPr sz="2500" spc="-15" dirty="0">
                          <a:latin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2500" dirty="0">
                          <a:latin typeface="Arial" panose="020B0604020202090204"/>
                          <a:cs typeface="Arial" panose="020B0604020202090204"/>
                        </a:rPr>
                        <a:t>state</a:t>
                      </a:r>
                      <a:r>
                        <a:rPr sz="2500" spc="-10" dirty="0">
                          <a:latin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2500" dirty="0">
                          <a:latin typeface="Arial" panose="020B0604020202090204"/>
                          <a:cs typeface="Arial" panose="020B0604020202090204"/>
                        </a:rPr>
                        <a:t>of</a:t>
                      </a:r>
                      <a:r>
                        <a:rPr sz="2500" spc="-15" dirty="0">
                          <a:latin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2500" dirty="0">
                          <a:latin typeface="Arial" panose="020B0604020202090204"/>
                          <a:cs typeface="Arial" panose="020B0604020202090204"/>
                        </a:rPr>
                        <a:t>a</a:t>
                      </a:r>
                      <a:r>
                        <a:rPr sz="2500" spc="-15" dirty="0">
                          <a:latin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2500" dirty="0">
                          <a:latin typeface="Arial" panose="020B0604020202090204"/>
                          <a:cs typeface="Arial" panose="020B0604020202090204"/>
                        </a:rPr>
                        <a:t>resource</a:t>
                      </a:r>
                      <a:r>
                        <a:rPr sz="2500" spc="-10" dirty="0">
                          <a:latin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2500" dirty="0">
                          <a:latin typeface="Arial" panose="020B0604020202090204"/>
                          <a:cs typeface="Arial" panose="020B0604020202090204"/>
                        </a:rPr>
                        <a:t>in</a:t>
                      </a:r>
                      <a:r>
                        <a:rPr sz="2500" spc="-15" dirty="0">
                          <a:latin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2500" dirty="0">
                          <a:latin typeface="Arial" panose="020B0604020202090204"/>
                          <a:cs typeface="Arial" panose="020B0604020202090204"/>
                        </a:rPr>
                        <a:t>some</a:t>
                      </a:r>
                      <a:r>
                        <a:rPr sz="2500" spc="-15" dirty="0">
                          <a:latin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2500" spc="-10" dirty="0">
                          <a:latin typeface="Arial" panose="020B0604020202090204"/>
                          <a:cs typeface="Arial" panose="020B0604020202090204"/>
                        </a:rPr>
                        <a:t>representation</a:t>
                      </a:r>
                      <a:endParaRPr sz="25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2458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87215">
                <a:tc>
                  <a:txBody>
                    <a:bodyPr/>
                    <a:lstStyle/>
                    <a:p>
                      <a:pPr marL="71755">
                        <a:lnSpc>
                          <a:spcPts val="955"/>
                        </a:lnSpc>
                      </a:pPr>
                      <a:endParaRPr lang="en-US" sz="3500" spc="-10" dirty="0">
                        <a:latin typeface="Times New Roman" panose="02020503050405090304"/>
                        <a:cs typeface="Times New Roman" panose="02020503050405090304"/>
                      </a:endParaRPr>
                    </a:p>
                    <a:p>
                      <a:pPr marL="71755">
                        <a:lnSpc>
                          <a:spcPts val="955"/>
                        </a:lnSpc>
                      </a:pPr>
                      <a:endParaRPr lang="en-US" sz="3500" spc="-10" dirty="0">
                        <a:latin typeface="Times New Roman" panose="02020503050405090304"/>
                        <a:cs typeface="Times New Roman" panose="02020503050405090304"/>
                      </a:endParaRPr>
                    </a:p>
                    <a:p>
                      <a:pPr marL="71755">
                        <a:lnSpc>
                          <a:spcPts val="955"/>
                        </a:lnSpc>
                      </a:pPr>
                      <a:r>
                        <a:rPr sz="3500" spc="-10" dirty="0">
                          <a:latin typeface="Times New Roman" panose="02020503050405090304"/>
                          <a:cs typeface="Times New Roman" panose="02020503050405090304"/>
                        </a:rPr>
                        <a:t>DELETE</a:t>
                      </a:r>
                      <a:endParaRPr sz="3500" dirty="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2500" dirty="0">
                          <a:latin typeface="Arial" panose="020B0604020202090204"/>
                          <a:cs typeface="Arial" panose="020B0604020202090204"/>
                        </a:rPr>
                        <a:t>Delete</a:t>
                      </a:r>
                      <a:r>
                        <a:rPr sz="2500" spc="-20" dirty="0">
                          <a:latin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2500" dirty="0">
                          <a:latin typeface="Arial" panose="020B0604020202090204"/>
                          <a:cs typeface="Arial" panose="020B0604020202090204"/>
                        </a:rPr>
                        <a:t>a</a:t>
                      </a:r>
                      <a:r>
                        <a:rPr sz="2500" spc="-15" dirty="0">
                          <a:latin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2500" spc="-10" dirty="0">
                          <a:latin typeface="Arial" panose="020B0604020202090204"/>
                          <a:cs typeface="Arial" panose="020B0604020202090204"/>
                        </a:rPr>
                        <a:t>resource</a:t>
                      </a:r>
                      <a:endParaRPr sz="25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2458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87215">
                <a:tc>
                  <a:txBody>
                    <a:bodyPr/>
                    <a:lstStyle/>
                    <a:p>
                      <a:pPr marL="71755">
                        <a:lnSpc>
                          <a:spcPts val="955"/>
                        </a:lnSpc>
                      </a:pPr>
                      <a:endParaRPr lang="en-US" sz="3500" spc="-20" dirty="0">
                        <a:latin typeface="Times New Roman" panose="02020503050405090304"/>
                        <a:cs typeface="Times New Roman" panose="02020503050405090304"/>
                      </a:endParaRPr>
                    </a:p>
                    <a:p>
                      <a:pPr marL="71755">
                        <a:lnSpc>
                          <a:spcPts val="955"/>
                        </a:lnSpc>
                      </a:pPr>
                      <a:endParaRPr lang="en-US" sz="3500" spc="-20" dirty="0">
                        <a:latin typeface="Times New Roman" panose="02020503050405090304"/>
                        <a:cs typeface="Times New Roman" panose="02020503050405090304"/>
                      </a:endParaRPr>
                    </a:p>
                    <a:p>
                      <a:pPr marL="71755">
                        <a:lnSpc>
                          <a:spcPts val="955"/>
                        </a:lnSpc>
                      </a:pPr>
                      <a:r>
                        <a:rPr sz="3500" spc="-20" dirty="0">
                          <a:latin typeface="Times New Roman" panose="02020503050405090304"/>
                          <a:cs typeface="Times New Roman" panose="02020503050405090304"/>
                        </a:rPr>
                        <a:t>POST</a:t>
                      </a:r>
                      <a:endParaRPr sz="3500" dirty="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2500" dirty="0">
                          <a:latin typeface="Arial" panose="020B0604020202090204"/>
                          <a:cs typeface="Arial" panose="020B0604020202090204"/>
                          <a:sym typeface="+mn-ea"/>
                        </a:rPr>
                        <a:t>Create</a:t>
                      </a:r>
                      <a:r>
                        <a:rPr sz="2500" spc="-25" dirty="0">
                          <a:latin typeface="Arial" panose="020B0604020202090204"/>
                          <a:cs typeface="Arial" panose="020B0604020202090204"/>
                          <a:sym typeface="+mn-ea"/>
                        </a:rPr>
                        <a:t> </a:t>
                      </a:r>
                      <a:r>
                        <a:rPr sz="2500" dirty="0">
                          <a:latin typeface="Arial" panose="020B0604020202090204"/>
                          <a:cs typeface="Arial" panose="020B0604020202090204"/>
                          <a:sym typeface="+mn-ea"/>
                        </a:rPr>
                        <a:t>a</a:t>
                      </a:r>
                      <a:r>
                        <a:rPr sz="2500" spc="-25" dirty="0">
                          <a:latin typeface="Arial" panose="020B0604020202090204"/>
                          <a:cs typeface="Arial" panose="020B0604020202090204"/>
                          <a:sym typeface="+mn-ea"/>
                        </a:rPr>
                        <a:t> </a:t>
                      </a:r>
                      <a:r>
                        <a:rPr sz="2500" dirty="0">
                          <a:latin typeface="Arial" panose="020B0604020202090204"/>
                          <a:cs typeface="Arial" panose="020B0604020202090204"/>
                          <a:sym typeface="+mn-ea"/>
                        </a:rPr>
                        <a:t>new</a:t>
                      </a:r>
                      <a:r>
                        <a:rPr sz="2500" spc="-20" dirty="0">
                          <a:latin typeface="Arial" panose="020B0604020202090204"/>
                          <a:cs typeface="Arial" panose="020B0604020202090204"/>
                          <a:sym typeface="+mn-ea"/>
                        </a:rPr>
                        <a:t> </a:t>
                      </a:r>
                      <a:r>
                        <a:rPr sz="2500" spc="-10" dirty="0">
                          <a:latin typeface="Arial" panose="020B0604020202090204"/>
                          <a:cs typeface="Arial" panose="020B0604020202090204"/>
                          <a:sym typeface="+mn-ea"/>
                        </a:rPr>
                        <a:t>resource</a:t>
                      </a:r>
                      <a:endParaRPr sz="2500" dirty="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2458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Resource-based Architectures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Basic Operations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18.6 Resource operations.eps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3216" y="2458004"/>
            <a:ext cx="8685568" cy="371895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0815" y="1430020"/>
            <a:ext cx="4213860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Resource-based Architectures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Example: Amazon’s Simple Storage Service (Amazon S3)</a:t>
            </a:r>
            <a:endParaRPr lang="en-US" b="1" dirty="0"/>
          </a:p>
          <a:p>
            <a:r>
              <a:rPr lang="en-US" i="1" dirty="0"/>
              <a:t>Objects</a:t>
            </a:r>
            <a:r>
              <a:rPr lang="en-US" dirty="0"/>
              <a:t> (i.e., files) are placed into </a:t>
            </a:r>
            <a:r>
              <a:rPr lang="en-US" i="1" dirty="0"/>
              <a:t>buckets</a:t>
            </a:r>
            <a:r>
              <a:rPr lang="en-US" dirty="0"/>
              <a:t> (i.e., directories)</a:t>
            </a:r>
            <a:endParaRPr lang="en-US" dirty="0"/>
          </a:p>
          <a:p>
            <a:r>
              <a:rPr lang="en-US" i="1" dirty="0"/>
              <a:t>Buckets</a:t>
            </a:r>
            <a:r>
              <a:rPr lang="en-US" dirty="0"/>
              <a:t> cannot be placed into buckets</a:t>
            </a:r>
            <a:endParaRPr lang="en-US" dirty="0"/>
          </a:p>
          <a:p>
            <a:r>
              <a:rPr lang="en-US" dirty="0"/>
              <a:t>Operations on </a:t>
            </a:r>
            <a:r>
              <a:rPr lang="en-US" i="1" dirty="0" err="1"/>
              <a:t>ObjectName</a:t>
            </a:r>
            <a:r>
              <a:rPr lang="en-US" dirty="0"/>
              <a:t> in bucket </a:t>
            </a:r>
            <a:r>
              <a:rPr lang="en-US" i="1" dirty="0" err="1"/>
              <a:t>BucketName</a:t>
            </a:r>
            <a:r>
              <a:rPr lang="en-US" dirty="0"/>
              <a:t> require the following identifier: </a:t>
            </a:r>
            <a:r>
              <a:rPr lang="en-US" dirty="0">
                <a:hlinkClick r:id="rId1"/>
              </a:rPr>
              <a:t>https://s3.amazonaws.com/BucketName/ObjectName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Typical operations</a:t>
            </a:r>
            <a:endParaRPr lang="en-US" u="sng" dirty="0"/>
          </a:p>
          <a:p>
            <a:pPr marL="0" indent="0">
              <a:buNone/>
            </a:pPr>
            <a:r>
              <a:rPr lang="en-US" dirty="0"/>
              <a:t>All operations are carried out by sending HTTP requests:</a:t>
            </a:r>
            <a:endParaRPr lang="en-US" dirty="0"/>
          </a:p>
          <a:p>
            <a:r>
              <a:rPr lang="en-US" dirty="0"/>
              <a:t>Create a bucket/object: POST, along with the URI</a:t>
            </a:r>
            <a:endParaRPr lang="en-US" dirty="0"/>
          </a:p>
          <a:p>
            <a:r>
              <a:rPr lang="en-US" dirty="0"/>
              <a:t>Listing objects: GET on a bucket name</a:t>
            </a:r>
            <a:endParaRPr lang="en-US" dirty="0"/>
          </a:p>
          <a:p>
            <a:r>
              <a:rPr lang="en-US" dirty="0"/>
              <a:t>Reading an object: GET on a full URI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Styles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03531"/>
            <a:ext cx="10515600" cy="1500187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tx1"/>
                </a:solidFill>
              </a:rPr>
              <a:t>Event based architectures</a:t>
            </a:r>
            <a:endParaRPr lang="en-US" sz="40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based Architectures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As systems continue to grow and processes can more easily join or leave, it becomes important to have an architecture in which </a:t>
            </a:r>
            <a:r>
              <a:rPr lang="en-US" dirty="0">
                <a:solidFill>
                  <a:srgbClr val="FF0000"/>
                </a:solidFill>
              </a:rPr>
              <a:t>dependencies between processes become as loose as possible</a:t>
            </a:r>
            <a:endParaRPr lang="en-US" dirty="0"/>
          </a:p>
          <a:p>
            <a:r>
              <a:rPr lang="en-US" dirty="0"/>
              <a:t>An architecture is needed in which there is </a:t>
            </a:r>
            <a:r>
              <a:rPr lang="en-US" dirty="0">
                <a:solidFill>
                  <a:srgbClr val="FF0000"/>
                </a:solidFill>
              </a:rPr>
              <a:t>a strong separation between </a:t>
            </a:r>
            <a:r>
              <a:rPr lang="en-US" i="1" dirty="0">
                <a:solidFill>
                  <a:srgbClr val="FF0000"/>
                </a:solidFill>
              </a:rPr>
              <a:t>processing</a:t>
            </a:r>
            <a:r>
              <a:rPr lang="en-US" dirty="0">
                <a:solidFill>
                  <a:srgbClr val="FF0000"/>
                </a:solidFill>
              </a:rPr>
              <a:t> and </a:t>
            </a:r>
            <a:r>
              <a:rPr lang="en-US" i="1" dirty="0">
                <a:solidFill>
                  <a:srgbClr val="FF0000"/>
                </a:solidFill>
              </a:rPr>
              <a:t>coordination</a:t>
            </a:r>
            <a:endParaRPr lang="en-US" i="1" dirty="0"/>
          </a:p>
          <a:p>
            <a:r>
              <a:rPr lang="en-US" i="1" dirty="0">
                <a:solidFill>
                  <a:srgbClr val="FF0000"/>
                </a:solidFill>
              </a:rPr>
              <a:t>Coordination </a:t>
            </a:r>
            <a:r>
              <a:rPr lang="en-US" dirty="0"/>
              <a:t>can be discussed from </a:t>
            </a:r>
            <a:r>
              <a:rPr lang="en-US" dirty="0">
                <a:solidFill>
                  <a:srgbClr val="FF0000"/>
                </a:solidFill>
              </a:rPr>
              <a:t>two dimensions: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temporal and referential.</a:t>
            </a:r>
            <a:endParaRPr lang="en-US" i="1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based Architectures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Temporal coupling (</a:t>
            </a:r>
            <a:r>
              <a:rPr lang="en-US" altLang="en-US" b="1" dirty="0">
                <a:solidFill>
                  <a:srgbClr val="FF0000"/>
                </a:solidFill>
              </a:rPr>
              <a:t>"Time dependency" between systems</a:t>
            </a:r>
            <a:r>
              <a:rPr lang="en-US" b="1" dirty="0">
                <a:solidFill>
                  <a:srgbClr val="FF0000"/>
                </a:solidFill>
              </a:rPr>
              <a:t>)</a:t>
            </a:r>
            <a:r>
              <a:rPr lang="en-US" dirty="0">
                <a:solidFill>
                  <a:srgbClr val="FF0000"/>
                </a:solidFill>
              </a:rPr>
              <a:t> means</a:t>
            </a:r>
            <a:r>
              <a:rPr lang="en-US" dirty="0"/>
              <a:t> that </a:t>
            </a:r>
            <a:r>
              <a:rPr lang="en-US" dirty="0">
                <a:solidFill>
                  <a:srgbClr val="FF0000"/>
                </a:solidFill>
              </a:rPr>
              <a:t>processes</a:t>
            </a:r>
            <a:r>
              <a:rPr lang="en-US" dirty="0"/>
              <a:t> that are </a:t>
            </a:r>
            <a:r>
              <a:rPr lang="en-US" dirty="0">
                <a:solidFill>
                  <a:srgbClr val="FF0000"/>
                </a:solidFill>
              </a:rPr>
              <a:t>communicating</a:t>
            </a:r>
            <a:r>
              <a:rPr lang="en-US" dirty="0"/>
              <a:t> will both have </a:t>
            </a:r>
            <a:r>
              <a:rPr lang="en-US" dirty="0">
                <a:solidFill>
                  <a:srgbClr val="FF0000"/>
                </a:solidFill>
              </a:rPr>
              <a:t>to be up and running.</a:t>
            </a:r>
            <a:r>
              <a:rPr lang="en-US" dirty="0"/>
              <a:t> 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Referential coupling (</a:t>
            </a:r>
            <a:r>
              <a:rPr lang="en-US" altLang="en-US" b="1" dirty="0">
                <a:solidFill>
                  <a:srgbClr val="FF0000"/>
                </a:solidFill>
              </a:rPr>
              <a:t>"Address dependency" between systems</a:t>
            </a:r>
            <a:r>
              <a:rPr lang="en-US" b="1" dirty="0">
                <a:solidFill>
                  <a:srgbClr val="FF0000"/>
                </a:solidFill>
              </a:rPr>
              <a:t>)</a:t>
            </a:r>
            <a:r>
              <a:rPr lang="en-US" b="1" dirty="0"/>
              <a:t> </a:t>
            </a:r>
            <a:r>
              <a:rPr lang="en-US" dirty="0"/>
              <a:t>generally appears in the form of </a:t>
            </a:r>
            <a:r>
              <a:rPr lang="en-US" dirty="0">
                <a:solidFill>
                  <a:srgbClr val="FF0000"/>
                </a:solidFill>
              </a:rPr>
              <a:t>explicit referencing in communication.</a:t>
            </a:r>
            <a:r>
              <a:rPr lang="en-US" dirty="0"/>
              <a:t> </a:t>
            </a:r>
            <a:endParaRPr lang="en-US" dirty="0"/>
          </a:p>
          <a:p>
            <a:pPr lvl="1"/>
            <a:r>
              <a:rPr lang="en-US" dirty="0"/>
              <a:t>For example, a process can communicate only if it knows the name or identifier of the other processes it wants to exchange information with.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based Architectures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7938" y="1471554"/>
            <a:ext cx="8297433" cy="3115110"/>
          </a:xfr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7155" y="4586605"/>
            <a:ext cx="4984750" cy="17335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based Architectures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Direct coordination</a:t>
            </a:r>
            <a:r>
              <a:rPr lang="en-US" dirty="0"/>
              <a:t>: when processes are temporally and referentially coupled, coordination takes place directly.</a:t>
            </a:r>
            <a:endParaRPr lang="en-US" dirty="0"/>
          </a:p>
          <a:p>
            <a:pPr lvl="1"/>
            <a:r>
              <a:rPr lang="en-US" dirty="0"/>
              <a:t>In real life, talking over cell phones (and assuming that a cell phone has only one owner), is an example of direct communication.</a:t>
            </a:r>
            <a:endParaRPr lang="en-US" dirty="0"/>
          </a:p>
          <a:p>
            <a:r>
              <a:rPr lang="en-US" b="1" dirty="0"/>
              <a:t>Mailbox coordination</a:t>
            </a:r>
            <a:r>
              <a:rPr lang="en-US" dirty="0"/>
              <a:t>: when processes are temporally decoupled, but referentially coupled</a:t>
            </a:r>
            <a:endParaRPr lang="en-US" dirty="0"/>
          </a:p>
          <a:p>
            <a:pPr lvl="1"/>
            <a:r>
              <a:rPr lang="en-US" dirty="0"/>
              <a:t>there is no need for two communicating processes to be active at the same time to let communication take place.</a:t>
            </a:r>
            <a:endParaRPr lang="en-US" dirty="0"/>
          </a:p>
          <a:p>
            <a:pPr lvl="1"/>
            <a:r>
              <a:rPr lang="en-US" dirty="0"/>
              <a:t>Instead, communication takes place by putting messages in a (possibly shared) mailbox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based Architectures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Event-based coordination</a:t>
            </a:r>
            <a:r>
              <a:rPr lang="en-US" dirty="0"/>
              <a:t>: The combination of referentially decoupled and temporally coupled systems</a:t>
            </a:r>
            <a:endParaRPr lang="en-US" dirty="0"/>
          </a:p>
          <a:p>
            <a:pPr lvl="1"/>
            <a:r>
              <a:rPr lang="en-US" dirty="0"/>
              <a:t>processes do not know each other explicitly</a:t>
            </a:r>
            <a:endParaRPr lang="en-US" dirty="0"/>
          </a:p>
          <a:p>
            <a:pPr lvl="1"/>
            <a:r>
              <a:rPr lang="en-US" dirty="0"/>
              <a:t>a process </a:t>
            </a:r>
            <a:r>
              <a:rPr lang="en-US" b="1" dirty="0"/>
              <a:t>publish</a:t>
            </a:r>
            <a:r>
              <a:rPr lang="en-US" dirty="0"/>
              <a:t> a notification describing the occurrence of an event</a:t>
            </a:r>
            <a:endParaRPr lang="en-US" dirty="0"/>
          </a:p>
          <a:p>
            <a:pPr lvl="1"/>
            <a:r>
              <a:rPr lang="en-US" dirty="0"/>
              <a:t>processes may </a:t>
            </a:r>
            <a:r>
              <a:rPr lang="en-US" b="1" dirty="0"/>
              <a:t>subscribe</a:t>
            </a:r>
            <a:r>
              <a:rPr lang="en-US" dirty="0"/>
              <a:t> to a specific kind of notification</a:t>
            </a:r>
            <a:endParaRPr lang="en-US" dirty="0"/>
          </a:p>
          <a:p>
            <a:pPr lvl="1"/>
            <a:r>
              <a:rPr lang="en-US" dirty="0"/>
              <a:t>it is generally required that the subscriber is up-and-running at the time the</a:t>
            </a:r>
            <a:endParaRPr lang="en-US" dirty="0"/>
          </a:p>
          <a:p>
            <a:pPr lvl="1"/>
            <a:r>
              <a:rPr lang="en-US" dirty="0"/>
              <a:t>notification was published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based Architectures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Shared data space</a:t>
            </a:r>
            <a:r>
              <a:rPr lang="en-US" dirty="0"/>
              <a:t>: the combination of referentially and temporally decoupled processes</a:t>
            </a:r>
            <a:endParaRPr lang="en-US" dirty="0"/>
          </a:p>
          <a:p>
            <a:pPr lvl="1"/>
            <a:r>
              <a:rPr lang="en-US" dirty="0"/>
              <a:t>The key idea is that processes </a:t>
            </a:r>
            <a:r>
              <a:rPr lang="en-US" dirty="0">
                <a:solidFill>
                  <a:srgbClr val="FF0000"/>
                </a:solidFill>
              </a:rPr>
              <a:t>communicate entirely through tuples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which are structured data records consisting of several fields, very similar to a row in a database table</a:t>
            </a:r>
            <a:endParaRPr lang="en-US" dirty="0"/>
          </a:p>
          <a:p>
            <a:pPr lvl="1"/>
            <a:r>
              <a:rPr lang="en-US" dirty="0"/>
              <a:t>Processes can put any type of tuple into the shared data space. </a:t>
            </a:r>
            <a:endParaRPr lang="en-US" dirty="0"/>
          </a:p>
          <a:p>
            <a:pPr lvl="1"/>
            <a:r>
              <a:rPr lang="en-US" dirty="0"/>
              <a:t>To retrieve a tuple, a process provides a search pattern that is matched against the tuples. Any tuple that matches is returned</a:t>
            </a:r>
            <a:endParaRPr lang="en-US" dirty="0"/>
          </a:p>
          <a:p>
            <a:pPr lvl="1"/>
            <a:r>
              <a:rPr lang="en-US" dirty="0"/>
              <a:t>A process subscribes to certain tuples by providing a search pattern; when a process inserts a tuple into the data space, matching subscribers are notified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Publish-subscribe architectures</a:t>
            </a:r>
            <a:endParaRPr lang="en-US" dirty="0"/>
          </a:p>
        </p:txBody>
      </p:sp>
      <p:pic>
        <p:nvPicPr>
          <p:cNvPr id="5" name="object 8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12016" y="3024554"/>
            <a:ext cx="5307736" cy="2940148"/>
          </a:xfrm>
          <a:prstGeom prst="rect">
            <a:avLst/>
          </a:prstGeom>
        </p:spPr>
      </p:pic>
      <p:pic>
        <p:nvPicPr>
          <p:cNvPr id="6" name="object 9"/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475290" y="2894770"/>
            <a:ext cx="4268492" cy="30699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4422</Words>
  <Application>WPS Presentation</Application>
  <PresentationFormat>Widescreen</PresentationFormat>
  <Paragraphs>141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1" baseType="lpstr">
      <vt:lpstr>Arial</vt:lpstr>
      <vt:lpstr>SimSun</vt:lpstr>
      <vt:lpstr>Wingdings</vt:lpstr>
      <vt:lpstr>Gill Sans MT</vt:lpstr>
      <vt:lpstr>苹方-简</vt:lpstr>
      <vt:lpstr>Arial</vt:lpstr>
      <vt:lpstr>Times New Roman</vt:lpstr>
      <vt:lpstr>Microsoft YaHei</vt:lpstr>
      <vt:lpstr>汉仪旗黑</vt:lpstr>
      <vt:lpstr>Arial Unicode MS</vt:lpstr>
      <vt:lpstr>Calibri</vt:lpstr>
      <vt:lpstr>Helvetica Neue</vt:lpstr>
      <vt:lpstr>汉仪书宋二KW</vt:lpstr>
      <vt:lpstr>Office Theme</vt:lpstr>
      <vt:lpstr>CSE 601: Distributed Systems</vt:lpstr>
      <vt:lpstr>Architectural Styles</vt:lpstr>
      <vt:lpstr>Architectural Styles</vt:lpstr>
      <vt:lpstr>Architectural Styles</vt:lpstr>
      <vt:lpstr>Resource-based Architectures</vt:lpstr>
      <vt:lpstr>Resource-based Architectures</vt:lpstr>
      <vt:lpstr>Resource-based Architectures</vt:lpstr>
      <vt:lpstr>Resource-based Architectures</vt:lpstr>
      <vt:lpstr>Resource-based Architectures</vt:lpstr>
      <vt:lpstr>Architectural Styles</vt:lpstr>
      <vt:lpstr>Event based Architectures</vt:lpstr>
      <vt:lpstr>Event based Architectures</vt:lpstr>
      <vt:lpstr>Event based Architectures</vt:lpstr>
      <vt:lpstr>Event based Architectures</vt:lpstr>
      <vt:lpstr>Event based Architectures</vt:lpstr>
      <vt:lpstr>Event based Architectures</vt:lpstr>
      <vt:lpstr>Publish-subscribe architectures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Toukir Ahammed</dc:creator>
  <cp:lastModifiedBy>md.rakibulislam</cp:lastModifiedBy>
  <cp:revision>33</cp:revision>
  <dcterms:created xsi:type="dcterms:W3CDTF">2025-08-24T05:09:33Z</dcterms:created>
  <dcterms:modified xsi:type="dcterms:W3CDTF">2025-08-24T05:09:33Z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850E6459CD064A1A8D854E68C90FCC8B_42</vt:lpwstr>
  </property>
  <property fmtid="{D5CDD505-2E9C-101B-9397-08002B2CF9AE}" pid="3" name="KSOProductBuildVer">
    <vt:lpwstr>1033-6.11.0.8608</vt:lpwstr>
  </property>
</Properties>
</file>