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312" r:id="rId4"/>
    <p:sldId id="334" r:id="rId5"/>
    <p:sldId id="324" r:id="rId6"/>
    <p:sldId id="258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453B2A-649C-47D2-B149-313A8222923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3E89F-D0F4-4845-90C4-681A217667A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4000">
                <a:latin typeface="Gill Sans MT" panose="020B05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DADE2353-34E2-4DBF-AFB1-31497BAECD2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8170D8CF-7E31-4249-BDB4-34EBE6CF332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ill Sans MT" panose="020B05020201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CSE 601: Distributed Systems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Toukir Ahammed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Styles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Architectural Styles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Important styles of architecture for distributed systems: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Layered architectures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Object-based architectures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Data-centered architectures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Event-based architectures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Styles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Layered Architectures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Architectures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basic idea for the layered style is simple:</a:t>
            </a:r>
            <a:endParaRPr lang="en-US" dirty="0"/>
          </a:p>
          <a:p>
            <a:r>
              <a:rPr lang="en-US" dirty="0"/>
              <a:t>Components are organized in a layered fashion where a </a:t>
            </a:r>
            <a:r>
              <a:rPr lang="en-US" dirty="0">
                <a:solidFill>
                  <a:srgbClr val="FF0000"/>
                </a:solidFill>
              </a:rPr>
              <a:t>component at layer </a:t>
            </a:r>
            <a:r>
              <a:rPr lang="en-US" dirty="0" err="1">
                <a:solidFill>
                  <a:srgbClr val="FF0000"/>
                </a:solidFill>
              </a:rPr>
              <a:t>L</a:t>
            </a:r>
            <a:r>
              <a:rPr lang="en-US" baseline="-25000" dirty="0" err="1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can make a </a:t>
            </a:r>
            <a:r>
              <a:rPr lang="en-US" dirty="0" err="1">
                <a:solidFill>
                  <a:srgbClr val="FF0000"/>
                </a:solidFill>
              </a:rPr>
              <a:t>downcall</a:t>
            </a:r>
            <a:r>
              <a:rPr lang="en-US" dirty="0">
                <a:solidFill>
                  <a:srgbClr val="FF0000"/>
                </a:solidFill>
              </a:rPr>
              <a:t> to a component at a lower-level layer L</a:t>
            </a:r>
            <a:r>
              <a:rPr lang="en-US" baseline="-25000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(with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&lt; j)</a:t>
            </a:r>
            <a:r>
              <a:rPr lang="en-US" dirty="0"/>
              <a:t> and generally expects a response.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00627" y="2466080"/>
            <a:ext cx="1731070" cy="34867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8323" y="2618986"/>
            <a:ext cx="1733576" cy="330373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66122" y="3250656"/>
            <a:ext cx="2061135" cy="22559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800627" y="6116176"/>
            <a:ext cx="1731070" cy="573267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z="1785" spc="-50" dirty="0">
                <a:latin typeface="Arial" panose="020B0604020202090204"/>
                <a:cs typeface="Arial" panose="020B0604020202090204"/>
              </a:rPr>
              <a:t>(a)</a:t>
            </a:r>
            <a:r>
              <a:rPr lang="en-US" sz="1785" spc="-50" dirty="0">
                <a:latin typeface="Arial" panose="020B0604020202090204"/>
                <a:cs typeface="Arial" panose="020B0604020202090204"/>
              </a:rPr>
              <a:t> Pure layered organization</a:t>
            </a:r>
            <a:endParaRPr sz="1785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78323" y="6116176"/>
            <a:ext cx="1731070" cy="573267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z="1785" spc="-50" dirty="0">
                <a:latin typeface="Arial" panose="020B0604020202090204"/>
                <a:cs typeface="Arial" panose="020B0604020202090204"/>
              </a:rPr>
              <a:t>(b)</a:t>
            </a:r>
            <a:r>
              <a:rPr lang="en-US" sz="1785" spc="-50" dirty="0">
                <a:latin typeface="Arial" panose="020B0604020202090204"/>
                <a:cs typeface="Arial" panose="020B0604020202090204"/>
              </a:rPr>
              <a:t> Mixed layered organization</a:t>
            </a:r>
            <a:endParaRPr sz="1785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66122" y="6116176"/>
            <a:ext cx="2509397" cy="573267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z="1785" spc="-50" dirty="0">
                <a:latin typeface="Arial" panose="020B0604020202090204"/>
                <a:cs typeface="Arial" panose="020B0604020202090204"/>
              </a:rPr>
              <a:t>(c)</a:t>
            </a:r>
            <a:r>
              <a:rPr lang="en-US" sz="1785" spc="-50" dirty="0">
                <a:latin typeface="Arial" panose="020B0604020202090204"/>
                <a:cs typeface="Arial" panose="020B0604020202090204"/>
              </a:rPr>
              <a:t> Layered organization with upcalls</a:t>
            </a:r>
            <a:endParaRPr sz="1785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Architectures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Different Layered Architecture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Layered Architectures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Pure Layered Organization:</a:t>
            </a:r>
            <a:endParaRPr lang="en-US" b="1" dirty="0"/>
          </a:p>
          <a:p>
            <a:r>
              <a:rPr lang="en-US" dirty="0"/>
              <a:t>Only </a:t>
            </a:r>
            <a:r>
              <a:rPr lang="en-US" dirty="0" err="1"/>
              <a:t>downcalls</a:t>
            </a:r>
            <a:r>
              <a:rPr lang="en-US" dirty="0"/>
              <a:t> to the next lower layer are made.</a:t>
            </a:r>
            <a:endParaRPr lang="en-US" dirty="0"/>
          </a:p>
          <a:p>
            <a:r>
              <a:rPr lang="en-US" dirty="0"/>
              <a:t>This organization is commonly deployed in the case of </a:t>
            </a:r>
            <a:r>
              <a:rPr lang="en-US" dirty="0">
                <a:solidFill>
                  <a:srgbClr val="FF0000"/>
                </a:solidFill>
              </a:rPr>
              <a:t>network communication</a:t>
            </a:r>
            <a:r>
              <a:rPr lang="en-US" dirty="0"/>
              <a:t>.</a:t>
            </a:r>
            <a:endParaRPr lang="en-US" dirty="0"/>
          </a:p>
          <a:p>
            <a:pPr lvl="1"/>
            <a:r>
              <a:rPr lang="en-US" dirty="0"/>
              <a:t>In </a:t>
            </a:r>
            <a:r>
              <a:rPr lang="en-US" dirty="0">
                <a:solidFill>
                  <a:srgbClr val="FF0000"/>
                </a:solidFill>
              </a:rPr>
              <a:t>TCP IP, there are 5 layers. (application, transport, network, link, physical)</a:t>
            </a:r>
            <a:r>
              <a:rPr lang="en-US" dirty="0"/>
              <a:t> and you can only talk to the next one, not N-2.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Layer N-1 will provide an interface to N</a:t>
            </a:r>
            <a:r>
              <a:rPr lang="en-US" dirty="0"/>
              <a:t>, and all communications must be conducted exclusively through this interface.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Layered Architectures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Mixed Layered Organization:</a:t>
            </a:r>
            <a:endParaRPr lang="en-US" b="1" dirty="0"/>
          </a:p>
          <a:p>
            <a:r>
              <a:rPr lang="en-US" dirty="0"/>
              <a:t>Consider an application A (N-1) that makes use of a library L</a:t>
            </a:r>
            <a:r>
              <a:rPr lang="en-US" baseline="-25000" dirty="0"/>
              <a:t>OS</a:t>
            </a:r>
            <a:r>
              <a:rPr lang="en-US" dirty="0"/>
              <a:t> (N-3) to interface to an operating system. </a:t>
            </a:r>
            <a:endParaRPr lang="en-US" dirty="0"/>
          </a:p>
          <a:p>
            <a:r>
              <a:rPr lang="en-US" dirty="0"/>
              <a:t>At the same time, the application uses a specialized mathematical library </a:t>
            </a:r>
            <a:r>
              <a:rPr lang="en-US" dirty="0" err="1"/>
              <a:t>L</a:t>
            </a:r>
            <a:r>
              <a:rPr lang="en-US" baseline="-25000" dirty="0" err="1"/>
              <a:t>math</a:t>
            </a:r>
            <a:r>
              <a:rPr lang="en-US" dirty="0"/>
              <a:t> (N-2) that has been implemented by also making use of LOS (N-3)  </a:t>
            </a:r>
            <a:endParaRPr lang="en-US" dirty="0"/>
          </a:p>
          <a:p>
            <a:r>
              <a:rPr lang="en-US" dirty="0"/>
              <a:t>In this case,  A is implemented at layer N-1,  </a:t>
            </a:r>
            <a:r>
              <a:rPr lang="en-US" dirty="0" err="1"/>
              <a:t>L</a:t>
            </a:r>
            <a:r>
              <a:rPr lang="en-US" baseline="-25000" dirty="0" err="1"/>
              <a:t>math</a:t>
            </a:r>
            <a:r>
              <a:rPr lang="en-US" dirty="0"/>
              <a:t> at layer N-2, and L</a:t>
            </a:r>
            <a:r>
              <a:rPr lang="en-US" baseline="-25000" dirty="0"/>
              <a:t>OS</a:t>
            </a:r>
            <a:r>
              <a:rPr lang="en-US" dirty="0"/>
              <a:t> which is common to both of them at layer N-3.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Layered Architectures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Layered organization with upcalls:</a:t>
            </a:r>
            <a:endParaRPr lang="en-US" b="1" dirty="0"/>
          </a:p>
          <a:p>
            <a:r>
              <a:rPr lang="en-US" dirty="0"/>
              <a:t>A lower layer can make an upcall to its next higher layer.  </a:t>
            </a:r>
            <a:endParaRPr lang="en-US" dirty="0"/>
          </a:p>
          <a:p>
            <a:r>
              <a:rPr lang="en-US" dirty="0"/>
              <a:t>A typical example is when </a:t>
            </a:r>
            <a:r>
              <a:rPr lang="en-US" dirty="0">
                <a:solidFill>
                  <a:srgbClr val="FF0000"/>
                </a:solidFill>
              </a:rPr>
              <a:t>an operating system signals the occurrence of an event,</a:t>
            </a:r>
            <a:r>
              <a:rPr lang="en-US" dirty="0"/>
              <a:t> to which </a:t>
            </a:r>
            <a:r>
              <a:rPr lang="en-US" dirty="0">
                <a:solidFill>
                  <a:srgbClr val="FF0000"/>
                </a:solidFill>
              </a:rPr>
              <a:t>end it calls a user-defined operation</a:t>
            </a:r>
            <a:r>
              <a:rPr lang="en-US" dirty="0"/>
              <a:t> for which an application had previously passed a reference (typically referred to as a </a:t>
            </a:r>
            <a:r>
              <a:rPr lang="en-US" dirty="0">
                <a:solidFill>
                  <a:srgbClr val="FF0000"/>
                </a:solidFill>
              </a:rPr>
              <a:t>handle</a:t>
            </a:r>
            <a:r>
              <a:rPr lang="en-US" dirty="0"/>
              <a:t>).</a:t>
            </a:r>
            <a:endParaRPr lang="en-US" dirty="0"/>
          </a:p>
          <a:p>
            <a:r>
              <a:rPr lang="en-US" dirty="0"/>
              <a:t>N-1 is interested in event in N-2, so N-2 notifies N-1 that the event (handle) happened, using an upcall.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5145" y="0"/>
            <a:ext cx="4051935" cy="2284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Layering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b="1" dirty="0">
                <a:solidFill>
                  <a:srgbClr val="FF0000"/>
                </a:solidFill>
                <a:sym typeface="+mn-ea"/>
              </a:rPr>
              <a:t>Pure Layered Archit.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Traditional three-layered view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Application-interface layer (Presentation Layer)</a:t>
            </a:r>
            <a:r>
              <a:rPr lang="en-US" b="1" dirty="0"/>
              <a:t> </a:t>
            </a:r>
            <a:r>
              <a:rPr lang="en-US" dirty="0"/>
              <a:t>contains units for interfacing to users or external applications.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Processing layer</a:t>
            </a:r>
            <a:r>
              <a:rPr lang="en-US" b="1" dirty="0"/>
              <a:t> </a:t>
            </a:r>
            <a:r>
              <a:rPr lang="en-US" dirty="0"/>
              <a:t>contains the functions of an application, i.e., without specific data.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Data layer</a:t>
            </a:r>
            <a:r>
              <a:rPr lang="en-US" b="1" dirty="0"/>
              <a:t> </a:t>
            </a:r>
            <a:r>
              <a:rPr lang="en-US" dirty="0"/>
              <a:t>contains the data that a client wants to manipulate through the application components.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This layering is found in many distributed information systems, using traditional database technology and accompanying applications.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Application Layering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Example: A simple search engine</a:t>
            </a:r>
            <a:endParaRPr lang="en-US" dirty="0"/>
          </a:p>
          <a:p>
            <a:endParaRPr lang="en-US" dirty="0"/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585774" y="2557168"/>
            <a:ext cx="7020451" cy="39357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Styles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03531"/>
            <a:ext cx="10515600" cy="150018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Object-based architectures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Object-based Architectures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Components are objects, connected to each other through procedure calls.</a:t>
            </a:r>
            <a:r>
              <a:rPr lang="en-US" dirty="0"/>
              <a:t> Objects may be placed on different machines; calls can thus execute across a network.</a:t>
            </a:r>
            <a:endParaRPr lang="en-US" dirty="0"/>
          </a:p>
          <a:p>
            <a:r>
              <a:rPr lang="en-US" dirty="0"/>
              <a:t>Objects are said to encapsulate data and offer methods on that data without revealing the internal implementation.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076158" y="4349241"/>
            <a:ext cx="4648200" cy="1981222"/>
          </a:xfrm>
          <a:prstGeom prst="rect">
            <a:avLst/>
          </a:prstGeom>
        </p:spPr>
      </p:pic>
      <p:pic>
        <p:nvPicPr>
          <p:cNvPr id="5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9269" y="4321101"/>
            <a:ext cx="3088250" cy="19812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Object-based Architectures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65533" y="1825625"/>
            <a:ext cx="8460934" cy="4351338"/>
          </a:xfrm>
        </p:spPr>
      </p:pic>
      <p:sp>
        <p:nvSpPr>
          <p:cNvPr id="9" name="TextBox 8"/>
          <p:cNvSpPr txBox="1"/>
          <p:nvPr/>
        </p:nvSpPr>
        <p:spPr>
          <a:xfrm>
            <a:off x="2532185" y="6311900"/>
            <a:ext cx="70901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90204" pitchFamily="34" charset="0"/>
                <a:cs typeface="Arial" panose="020B0604020202090204" pitchFamily="34" charset="0"/>
              </a:rPr>
              <a:t>Common organization of a remote object with client-side proxy.</a:t>
            </a:r>
            <a:endParaRPr lang="en-US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2945</Words>
  <Application>WPS Presentation</Application>
  <PresentationFormat>Widescreen</PresentationFormat>
  <Paragraphs>86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Gill Sans MT</vt:lpstr>
      <vt:lpstr>苹方-简</vt:lpstr>
      <vt:lpstr>Arial</vt:lpstr>
      <vt:lpstr>Microsoft YaHei</vt:lpstr>
      <vt:lpstr>汉仪旗黑</vt:lpstr>
      <vt:lpstr>Arial Unicode MS</vt:lpstr>
      <vt:lpstr>Calibri</vt:lpstr>
      <vt:lpstr>Helvetica Neue</vt:lpstr>
      <vt:lpstr>汉仪书宋二KW</vt:lpstr>
      <vt:lpstr>Office Theme</vt:lpstr>
      <vt:lpstr>CSE 601: Distributed Systems</vt:lpstr>
      <vt:lpstr>Architectural Styles</vt:lpstr>
      <vt:lpstr>Architectural Styles</vt:lpstr>
      <vt:lpstr>Architectural Styles</vt:lpstr>
      <vt:lpstr>Layered Architectures</vt:lpstr>
      <vt:lpstr>Layered Architectures</vt:lpstr>
      <vt:lpstr>Layered Architectures</vt:lpstr>
      <vt:lpstr>Layered Architectures</vt:lpstr>
      <vt:lpstr>Layered Architectures</vt:lpstr>
      <vt:lpstr>Application Layering (Pure Layered Archit.)</vt:lpstr>
      <vt:lpstr>Application Layering</vt:lpstr>
      <vt:lpstr>Architectural Styles</vt:lpstr>
      <vt:lpstr>Object-based Architectures</vt:lpstr>
      <vt:lpstr>Object-based Architectures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Toukir Ahammed</dc:creator>
  <cp:lastModifiedBy>Rakibul</cp:lastModifiedBy>
  <cp:revision>29</cp:revision>
  <dcterms:created xsi:type="dcterms:W3CDTF">2025-08-22T04:48:35Z</dcterms:created>
  <dcterms:modified xsi:type="dcterms:W3CDTF">2025-08-22T04:48:35Z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F6969FC731B0DE1889854E6845629268_42</vt:lpwstr>
  </property>
  <property fmtid="{D5CDD505-2E9C-101B-9397-08002B2CF9AE}" pid="3" name="KSOProductBuildVer">
    <vt:lpwstr>1033-6.11.0.8608</vt:lpwstr>
  </property>
</Properties>
</file>