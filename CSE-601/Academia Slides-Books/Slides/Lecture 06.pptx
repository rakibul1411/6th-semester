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8" r:id="rId4"/>
    <p:sldId id="346" r:id="rId5"/>
    <p:sldId id="364" r:id="rId7"/>
    <p:sldId id="358" r:id="rId8"/>
    <p:sldId id="347" r:id="rId9"/>
    <p:sldId id="349" r:id="rId10"/>
    <p:sldId id="359" r:id="rId11"/>
    <p:sldId id="365" r:id="rId12"/>
    <p:sldId id="361" r:id="rId13"/>
    <p:sldId id="348" r:id="rId14"/>
    <p:sldId id="363" r:id="rId15"/>
    <p:sldId id="362" r:id="rId16"/>
    <p:sldId id="350" r:id="rId17"/>
    <p:sldId id="352" r:id="rId18"/>
    <p:sldId id="353" r:id="rId19"/>
    <p:sldId id="354" r:id="rId20"/>
    <p:sldId id="355" r:id="rId21"/>
    <p:sldId id="356" r:id="rId22"/>
    <p:sldId id="35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53B2A-649C-47D2-B149-313A8222923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3E89F-D0F4-4845-90C4-681A217667A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DF93E89F-D0F4-4845-90C4-681A217667AE}"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5"/>
          </p:nvPr>
        </p:nvSpPr>
        <p:spPr/>
        <p:txBody>
          <a:bodyPr/>
          <a:lstStyle/>
          <a:p>
            <a:fld id="{DF93E89F-D0F4-4845-90C4-681A217667AE}"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Autofit/>
          </a:bodyPr>
          <a:lstStyle>
            <a:lvl1pPr marL="0" indent="0" algn="ctr">
              <a:buNone/>
              <a:defRPr sz="40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lvl1pPr>
              <a:defRPr>
                <a:latin typeface="Gill Sans MT" panose="020B0502020104020203" pitchFamily="34" charset="0"/>
              </a:defRPr>
            </a:lvl1pPr>
          </a:lstStyle>
          <a:p>
            <a:fld id="{DADE2353-34E2-4DBF-AFB1-31497BAECD2D}" type="datetimeFigureOut">
              <a:rPr lang="en-US" smtClean="0"/>
            </a:fld>
            <a:endParaRPr lang="en-US" dirty="0"/>
          </a:p>
        </p:txBody>
      </p:sp>
      <p:sp>
        <p:nvSpPr>
          <p:cNvPr id="5" name="Footer Placeholder 4"/>
          <p:cNvSpPr>
            <a:spLocks noGrp="1"/>
          </p:cNvSpPr>
          <p:nvPr>
            <p:ph type="ftr" sz="quarter" idx="11"/>
          </p:nvPr>
        </p:nvSpPr>
        <p:spPr/>
        <p:txBody>
          <a:bodyPr/>
          <a:lstStyle>
            <a:lvl1pPr>
              <a:defRPr>
                <a:latin typeface="Gill Sans MT" panose="020B05020201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Gill Sans MT" panose="020B0502020104020203" pitchFamily="34" charset="0"/>
              </a:defRPr>
            </a:lvl1pPr>
          </a:lstStyle>
          <a:p>
            <a:fld id="{8170D8CF-7E31-4249-BDB4-34EBE6CF332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DADE2353-34E2-4DBF-AFB1-31497BAECD2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DADE2353-34E2-4DBF-AFB1-31497BAECD2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DE2353-34E2-4DBF-AFB1-31497BAECD2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ADE2353-34E2-4DBF-AFB1-31497BAECD2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ADE2353-34E2-4DBF-AFB1-31497BAECD2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70D8CF-7E31-4249-BDB4-34EBE6CF332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DE2353-34E2-4DBF-AFB1-31497BAECD2D}"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70D8CF-7E31-4249-BDB4-34EBE6CF332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CSE 601: Distributed Systems</a:t>
            </a:r>
            <a:endParaRPr lang="en-US" dirty="0"/>
          </a:p>
        </p:txBody>
      </p:sp>
      <p:sp>
        <p:nvSpPr>
          <p:cNvPr id="3" name="Subtitle 2"/>
          <p:cNvSpPr>
            <a:spLocks noGrp="1"/>
          </p:cNvSpPr>
          <p:nvPr>
            <p:ph type="subTitle" idx="1"/>
          </p:nvPr>
        </p:nvSpPr>
        <p:spPr/>
        <p:txBody>
          <a:bodyPr/>
          <a:lstStyle/>
          <a:p>
            <a:r>
              <a:rPr lang="en-US" dirty="0"/>
              <a:t>Toukir Ahammed</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a:xfrm>
            <a:off x="838200" y="365125"/>
            <a:ext cx="10515600" cy="1325563"/>
          </a:xfrm>
        </p:spPr>
        <p:txBody>
          <a:bodyPr/>
          <a:lstStyle/>
          <a:p>
            <a:r>
              <a:rPr lang="en-US" dirty="0"/>
              <a:t>System Architectures</a:t>
            </a:r>
            <a:endParaRPr lang="en-US" dirty="0"/>
          </a:p>
        </p:txBody>
      </p:sp>
      <p:sp>
        <p:nvSpPr>
          <p:cNvPr id="3" name="Content Placeholder 2"/>
          <p:cNvSpPr>
            <a:spLocks noGrp="1"/>
          </p:cNvSpPr>
          <p:nvPr>
            <p:ph idx="1"/>
          </p:nvPr>
        </p:nvSpPr>
        <p:spPr/>
        <p:txBody>
          <a:bodyPr>
            <a:normAutofit lnSpcReduction="20000"/>
          </a:bodyPr>
          <a:lstStyle/>
          <a:p>
            <a:r>
              <a:rPr lang="en-US" dirty="0"/>
              <a:t>Let us now take a look at how distributed systems are actually organized by considering where software components are placed.</a:t>
            </a:r>
            <a:endParaRPr lang="en-US" dirty="0"/>
          </a:p>
          <a:p>
            <a:r>
              <a:rPr lang="en-US" dirty="0"/>
              <a:t>Deciding on software components, their interaction, and their placement leads to an instance of a software architecture, also known as a </a:t>
            </a:r>
            <a:r>
              <a:rPr lang="en-US" b="1" dirty="0">
                <a:solidFill>
                  <a:srgbClr val="FF0000"/>
                </a:solidFill>
              </a:rPr>
              <a:t>system architecture</a:t>
            </a:r>
            <a:endParaRPr lang="en-US" b="1" dirty="0"/>
          </a:p>
          <a:p>
            <a:r>
              <a:rPr lang="en-US" dirty="0"/>
              <a:t>Thinking in terms of clients that request services from servers helps to understand and manage the complexity of distributed systems</a:t>
            </a:r>
            <a:endParaRPr lang="en-US" dirty="0"/>
          </a:p>
          <a:p>
            <a:r>
              <a:rPr lang="en-US" altLang="en-US" dirty="0">
                <a:solidFill>
                  <a:srgbClr val="FF0000"/>
                </a:solidFill>
              </a:rPr>
              <a:t>The blueprint of how software components are organized, how they interact, and where they are placed in a distributed system.</a:t>
            </a:r>
            <a:endParaRPr lang="en-US" altLang="en-US" dirty="0">
              <a:solidFill>
                <a:srgbClr val="FF0000"/>
              </a:solidFill>
            </a:endParaRPr>
          </a:p>
        </p:txBody>
      </p:sp>
      <p:cxnSp>
        <p:nvCxnSpPr>
          <p:cNvPr id="2" name="Curved Connector 1"/>
          <p:cNvCxnSpPr/>
          <p:nvPr/>
        </p:nvCxnSpPr>
        <p:spPr>
          <a:xfrm rot="5400000" flipV="1">
            <a:off x="9418955" y="3681095"/>
            <a:ext cx="1311275" cy="1134745"/>
          </a:xfrm>
          <a:prstGeom prst="curvedConnector3">
            <a:avLst>
              <a:gd name="adj1" fmla="val 12639"/>
            </a:avLst>
          </a:prstGeom>
          <a:ln w="9525">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a:xfrm>
            <a:off x="838200" y="365125"/>
            <a:ext cx="10515600" cy="1325563"/>
          </a:xfrm>
        </p:spPr>
        <p:txBody>
          <a:bodyPr/>
          <a:lstStyle/>
          <a:p>
            <a:r>
              <a:rPr lang="en-US" dirty="0"/>
              <a:t>Simple Client-server Architecture</a:t>
            </a:r>
            <a:endParaRPr lang="en-US" dirty="0"/>
          </a:p>
        </p:txBody>
      </p:sp>
      <p:sp>
        <p:nvSpPr>
          <p:cNvPr id="3" name="Content Placeholder 2"/>
          <p:cNvSpPr>
            <a:spLocks noGrp="1"/>
          </p:cNvSpPr>
          <p:nvPr>
            <p:ph idx="1"/>
          </p:nvPr>
        </p:nvSpPr>
        <p:spPr/>
        <p:txBody>
          <a:bodyPr/>
          <a:lstStyle/>
          <a:p>
            <a:r>
              <a:rPr lang="en-US" dirty="0"/>
              <a:t>A </a:t>
            </a:r>
            <a:r>
              <a:rPr lang="en-US" b="1" dirty="0"/>
              <a:t>server</a:t>
            </a:r>
            <a:r>
              <a:rPr lang="en-US" dirty="0"/>
              <a:t> is a process implementing a specific service, for example, a file system service or a database service</a:t>
            </a:r>
            <a:endParaRPr lang="en-US" dirty="0"/>
          </a:p>
          <a:p>
            <a:r>
              <a:rPr lang="en-US" dirty="0"/>
              <a:t>A </a:t>
            </a:r>
            <a:r>
              <a:rPr lang="en-US" b="1" dirty="0"/>
              <a:t>client</a:t>
            </a:r>
            <a:r>
              <a:rPr lang="en-US" dirty="0"/>
              <a:t> is a process that requests a service from a server by sending it a request and subsequently waiting for the server’s reply. </a:t>
            </a:r>
            <a:endParaRPr lang="en-US" dirty="0"/>
          </a:p>
          <a:p>
            <a:r>
              <a:rPr lang="en-US" dirty="0">
                <a:solidFill>
                  <a:srgbClr val="FF0000"/>
                </a:solidFill>
              </a:rPr>
              <a:t>This client-server interaction is also known as request-reply behavior</a:t>
            </a:r>
            <a:endParaRPr lang="en-US"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a:xfrm>
            <a:off x="838200" y="365125"/>
            <a:ext cx="10515600" cy="1325563"/>
          </a:xfrm>
        </p:spPr>
        <p:txBody>
          <a:bodyPr/>
          <a:lstStyle/>
          <a:p>
            <a:r>
              <a:rPr lang="en-US" dirty="0"/>
              <a:t>Simple Client-server Architecture</a:t>
            </a:r>
            <a:endParaRPr lang="en-US" dirty="0"/>
          </a:p>
        </p:txBody>
      </p:sp>
      <p:sp>
        <p:nvSpPr>
          <p:cNvPr id="3" name="Content Placeholder 2"/>
          <p:cNvSpPr>
            <a:spLocks noGrp="1"/>
          </p:cNvSpPr>
          <p:nvPr>
            <p:ph idx="1"/>
          </p:nvPr>
        </p:nvSpPr>
        <p:spPr/>
        <p:txBody>
          <a:bodyPr/>
          <a:lstStyle/>
          <a:p>
            <a:r>
              <a:rPr lang="en-US" dirty="0"/>
              <a:t>When a client requests a service, it simply packages a message for the server, identifying the service it wants, along with the necessary input data. </a:t>
            </a:r>
            <a:endParaRPr lang="en-US" dirty="0"/>
          </a:p>
          <a:p>
            <a:r>
              <a:rPr lang="en-US" dirty="0"/>
              <a:t>The message is then sent to the server which will always wait for an incoming request subsequently process it, and package the results in a reply message that is then sent to the client.</a:t>
            </a:r>
            <a:endParaRPr lang="en-US" dirty="0"/>
          </a:p>
          <a:p>
            <a:endParaRPr lang="en-US" dirty="0"/>
          </a:p>
        </p:txBody>
      </p:sp>
      <p:pic>
        <p:nvPicPr>
          <p:cNvPr id="2" name="Picture 1"/>
          <p:cNvPicPr>
            <a:picLocks noChangeAspect="1"/>
          </p:cNvPicPr>
          <p:nvPr/>
        </p:nvPicPr>
        <p:blipFill>
          <a:blip r:embed="rId1"/>
          <a:stretch>
            <a:fillRect/>
          </a:stretch>
        </p:blipFill>
        <p:spPr>
          <a:xfrm>
            <a:off x="1350645" y="4669155"/>
            <a:ext cx="9507220" cy="20294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Transmission Failures</a:t>
            </a:r>
            <a:endParaRPr lang="en-US" dirty="0"/>
          </a:p>
        </p:txBody>
      </p:sp>
      <p:sp>
        <p:nvSpPr>
          <p:cNvPr id="3" name="Content Placeholder 2"/>
          <p:cNvSpPr>
            <a:spLocks noGrp="1"/>
          </p:cNvSpPr>
          <p:nvPr>
            <p:ph idx="1"/>
          </p:nvPr>
        </p:nvSpPr>
        <p:spPr/>
        <p:txBody>
          <a:bodyPr>
            <a:normAutofit lnSpcReduction="10000"/>
          </a:bodyPr>
          <a:lstStyle/>
          <a:p>
            <a:r>
              <a:rPr lang="en-US" dirty="0"/>
              <a:t>The problem is that the client cannot detect whether the original request message was lost, or that transmission of the reply failed. </a:t>
            </a:r>
            <a:endParaRPr lang="en-US" dirty="0"/>
          </a:p>
          <a:p>
            <a:r>
              <a:rPr lang="en-US" dirty="0"/>
              <a:t>If the reply was lost, then resending a request may result in performing the operation twice</a:t>
            </a:r>
            <a:endParaRPr lang="en-US" dirty="0"/>
          </a:p>
          <a:p>
            <a:pPr lvl="1"/>
            <a:r>
              <a:rPr lang="en-US" dirty="0"/>
              <a:t>If the operation was something like “</a:t>
            </a:r>
            <a:r>
              <a:rPr lang="en-US" i="1" dirty="0"/>
              <a:t>transfer $10,000 from my bank account</a:t>
            </a:r>
            <a:r>
              <a:rPr lang="en-US" dirty="0"/>
              <a:t>,” then clearly, it would have been better that we simply reported an error instead</a:t>
            </a:r>
            <a:endParaRPr lang="en-US" dirty="0"/>
          </a:p>
          <a:p>
            <a:pPr lvl="1"/>
            <a:r>
              <a:rPr lang="en-US" dirty="0"/>
              <a:t>If the operation was “</a:t>
            </a:r>
            <a:r>
              <a:rPr lang="en-US" i="1" dirty="0"/>
              <a:t>tell me how much money I have left</a:t>
            </a:r>
            <a:r>
              <a:rPr lang="en-US" dirty="0"/>
              <a:t>,” it would be perfectly acceptable to resend the request. </a:t>
            </a:r>
            <a:endParaRPr lang="en-US" dirty="0"/>
          </a:p>
          <a:p>
            <a:r>
              <a:rPr lang="en-US" dirty="0">
                <a:solidFill>
                  <a:srgbClr val="FF0000"/>
                </a:solidFill>
              </a:rPr>
              <a:t>When an operation can be repeated multiple times without harm, it is said to be idempotent.</a:t>
            </a:r>
            <a:endParaRPr lang="en-US" dirty="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Multitiered Architectures</a:t>
            </a:r>
            <a:endParaRPr lang="en-US" dirty="0"/>
          </a:p>
        </p:txBody>
      </p:sp>
      <p:sp>
        <p:nvSpPr>
          <p:cNvPr id="3" name="Content Placeholder 2"/>
          <p:cNvSpPr>
            <a:spLocks noGrp="1"/>
          </p:cNvSpPr>
          <p:nvPr>
            <p:ph idx="1"/>
          </p:nvPr>
        </p:nvSpPr>
        <p:spPr>
          <a:xfrm>
            <a:off x="838200" y="1825625"/>
            <a:ext cx="10515600" cy="4351338"/>
          </a:xfrm>
        </p:spPr>
        <p:txBody>
          <a:bodyPr/>
          <a:lstStyle/>
          <a:p>
            <a:r>
              <a:rPr lang="en-US" dirty="0"/>
              <a:t>The distinction into three logical levels, </a:t>
            </a:r>
            <a:r>
              <a:rPr lang="en-US" dirty="0">
                <a:solidFill>
                  <a:srgbClr val="FF0000"/>
                </a:solidFill>
              </a:rPr>
              <a:t>(1) a user-interface layer, (2) a processing layer, and (3) a data layer,</a:t>
            </a:r>
            <a:r>
              <a:rPr lang="en-US" dirty="0"/>
              <a:t> suggests several possibilities for physically distributing a client-server application across several machines.</a:t>
            </a:r>
            <a:endParaRPr lang="en-US" dirty="0"/>
          </a:p>
          <a:p>
            <a:r>
              <a:rPr lang="en-US" dirty="0"/>
              <a:t>The simplest organization is to have only </a:t>
            </a:r>
            <a:r>
              <a:rPr lang="en-US" dirty="0">
                <a:solidFill>
                  <a:srgbClr val="FF0000"/>
                </a:solidFill>
              </a:rPr>
              <a:t>two types of machines:</a:t>
            </a:r>
            <a:endParaRPr lang="en-US" dirty="0">
              <a:solidFill>
                <a:srgbClr val="FF0000"/>
              </a:solidFill>
            </a:endParaRPr>
          </a:p>
          <a:p>
            <a:pPr lvl="1"/>
            <a:r>
              <a:rPr lang="en-US" dirty="0"/>
              <a:t>A client machine containing only the programs implementing (part of) the user-interface level</a:t>
            </a:r>
            <a:endParaRPr lang="en-US" dirty="0"/>
          </a:p>
          <a:p>
            <a:pPr lvl="1"/>
            <a:r>
              <a:rPr lang="en-US" dirty="0"/>
              <a:t>A server machine containing the rest, that is, the programs implementing the processing and data level</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Two-tiered Architectures</a:t>
            </a:r>
            <a:endParaRPr lang="en-US" dirty="0"/>
          </a:p>
        </p:txBody>
      </p:sp>
      <p:pic>
        <p:nvPicPr>
          <p:cNvPr id="5" name="Content Placeholder 4"/>
          <p:cNvPicPr>
            <a:picLocks noGrp="1" noChangeAspect="1"/>
          </p:cNvPicPr>
          <p:nvPr>
            <p:ph idx="1"/>
          </p:nvPr>
        </p:nvPicPr>
        <p:blipFill>
          <a:blip r:embed="rId1"/>
          <a:stretch>
            <a:fillRect/>
          </a:stretch>
        </p:blipFill>
        <p:spPr>
          <a:xfrm>
            <a:off x="1305221" y="1825625"/>
            <a:ext cx="10214017" cy="4351338"/>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Two-tiered Architectures</a:t>
            </a:r>
            <a:endParaRPr lang="en-US" dirty="0"/>
          </a:p>
        </p:txBody>
      </p:sp>
      <p:sp>
        <p:nvSpPr>
          <p:cNvPr id="3" name="Content Placeholder 2"/>
          <p:cNvSpPr>
            <a:spLocks noGrp="1"/>
          </p:cNvSpPr>
          <p:nvPr>
            <p:ph idx="1"/>
          </p:nvPr>
        </p:nvSpPr>
        <p:spPr/>
        <p:txBody>
          <a:bodyPr>
            <a:normAutofit/>
          </a:bodyPr>
          <a:lstStyle/>
          <a:p>
            <a:pPr marL="514350" indent="-514350">
              <a:buFont typeface="+mj-lt"/>
              <a:buAutoNum type="alphaLcParenR"/>
            </a:pPr>
            <a:r>
              <a:rPr lang="en-US" dirty="0"/>
              <a:t>Only the </a:t>
            </a:r>
            <a:r>
              <a:rPr lang="en-US" dirty="0">
                <a:solidFill>
                  <a:srgbClr val="FF0000"/>
                </a:solidFill>
              </a:rPr>
              <a:t>terminal-dependent part</a:t>
            </a:r>
            <a:r>
              <a:rPr lang="en-US" dirty="0"/>
              <a:t> of the user interface on the client machine, and give the applications remote control over the presentation of their data</a:t>
            </a:r>
            <a:endParaRPr lang="en-US" dirty="0"/>
          </a:p>
          <a:p>
            <a:pPr marL="514350" indent="-514350">
              <a:buFont typeface="+mj-lt"/>
              <a:buAutoNum type="alphaLcParenR"/>
            </a:pPr>
            <a:r>
              <a:rPr lang="en-US" dirty="0"/>
              <a:t>Place the entire user-interface software on the client side</a:t>
            </a:r>
            <a:endParaRPr lang="en-US" dirty="0"/>
          </a:p>
          <a:p>
            <a:pPr lvl="1"/>
            <a:r>
              <a:rPr lang="en-US" dirty="0"/>
              <a:t>divide the application into a graphical front end, which communicates with the rest of the application (residing at the server) </a:t>
            </a:r>
            <a:r>
              <a:rPr lang="en-US" dirty="0">
                <a:solidFill>
                  <a:srgbClr val="FF0000"/>
                </a:solidFill>
              </a:rPr>
              <a:t>through an application-specific protocol.</a:t>
            </a:r>
            <a:r>
              <a:rPr lang="en-US" dirty="0"/>
              <a:t> </a:t>
            </a:r>
            <a:endParaRPr lang="en-US" dirty="0"/>
          </a:p>
          <a:p>
            <a:pPr lvl="1"/>
            <a:r>
              <a:rPr lang="en-US" dirty="0"/>
              <a:t>the front end (the client software) does no processing other than necessary for presenting the application’s interface.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Two-tiered Architectures</a:t>
            </a:r>
            <a:endParaRPr lang="en-US" dirty="0"/>
          </a:p>
        </p:txBody>
      </p:sp>
      <p:sp>
        <p:nvSpPr>
          <p:cNvPr id="3" name="Content Placeholder 2"/>
          <p:cNvSpPr>
            <a:spLocks noGrp="1"/>
          </p:cNvSpPr>
          <p:nvPr>
            <p:ph idx="1"/>
          </p:nvPr>
        </p:nvSpPr>
        <p:spPr/>
        <p:txBody>
          <a:bodyPr>
            <a:normAutofit/>
          </a:bodyPr>
          <a:lstStyle/>
          <a:p>
            <a:pPr marL="514350" indent="-514350">
              <a:buFont typeface="+mj-lt"/>
              <a:buAutoNum type="alphaLcParenR" startAt="3"/>
            </a:pPr>
            <a:r>
              <a:rPr lang="en-US" dirty="0"/>
              <a:t>Move part of the application to the front end</a:t>
            </a:r>
            <a:endParaRPr lang="en-US" dirty="0"/>
          </a:p>
          <a:p>
            <a:pPr lvl="1"/>
            <a:r>
              <a:rPr lang="en-US" dirty="0"/>
              <a:t>For example, the application makes </a:t>
            </a:r>
            <a:r>
              <a:rPr lang="en-US" dirty="0">
                <a:solidFill>
                  <a:srgbClr val="FF0000"/>
                </a:solidFill>
              </a:rPr>
              <a:t>use of a form</a:t>
            </a:r>
            <a:r>
              <a:rPr lang="en-US" dirty="0"/>
              <a:t> that needs to be filled in entirely before it can be processed</a:t>
            </a:r>
            <a:endParaRPr lang="en-US" dirty="0"/>
          </a:p>
          <a:p>
            <a:pPr lvl="1"/>
            <a:r>
              <a:rPr lang="en-US" dirty="0"/>
              <a:t>The front end can then check the correctness and consistency of the form, and where necessary interact with the user.</a:t>
            </a:r>
            <a:endParaRPr lang="en-US" dirty="0"/>
          </a:p>
          <a:p>
            <a:pPr lvl="1"/>
            <a:r>
              <a:rPr lang="en-US" dirty="0"/>
              <a:t>A word processor in which the basic editing functions execute on the client side where they operate on locally cached, or in-memory data, but where the advanced support tools such as checking the spelling and grammar execute on the server side.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Two-tiered Architectures</a:t>
            </a:r>
            <a:endParaRPr lang="en-US" dirty="0"/>
          </a:p>
        </p:txBody>
      </p:sp>
      <p:sp>
        <p:nvSpPr>
          <p:cNvPr id="3" name="Content Placeholder 2"/>
          <p:cNvSpPr>
            <a:spLocks noGrp="1"/>
          </p:cNvSpPr>
          <p:nvPr>
            <p:ph idx="1"/>
          </p:nvPr>
        </p:nvSpPr>
        <p:spPr/>
        <p:txBody>
          <a:bodyPr>
            <a:normAutofit/>
          </a:bodyPr>
          <a:lstStyle/>
          <a:p>
            <a:pPr marL="514350" indent="-514350">
              <a:buFont typeface="+mj-lt"/>
              <a:buAutoNum type="alphaLcParenR" startAt="4"/>
            </a:pPr>
            <a:r>
              <a:rPr lang="en-US" dirty="0"/>
              <a:t>These organizations are used where the client machine is a PC or workstation, connected through a network to a distributed file system or database.</a:t>
            </a:r>
            <a:endParaRPr lang="en-US" dirty="0"/>
          </a:p>
          <a:p>
            <a:pPr lvl="1"/>
            <a:r>
              <a:rPr lang="en-US" dirty="0">
                <a:solidFill>
                  <a:srgbClr val="FF0000"/>
                </a:solidFill>
              </a:rPr>
              <a:t>Banking applications</a:t>
            </a:r>
            <a:r>
              <a:rPr lang="en-US" dirty="0"/>
              <a:t> run on an end-user’s machine, where the user prepares transactions and such. Once finished, the application contacts the database on the bank’s server and uploads the transactions for further processing</a:t>
            </a:r>
            <a:endParaRPr lang="en-US" dirty="0"/>
          </a:p>
          <a:p>
            <a:pPr marL="514350" indent="-514350">
              <a:buFont typeface="+mj-lt"/>
              <a:buAutoNum type="alphaLcParenR" startAt="4"/>
            </a:pPr>
            <a:r>
              <a:rPr lang="en-US" dirty="0"/>
              <a:t>Represents the situation where the client’s local disk contains part of the data. </a:t>
            </a:r>
            <a:endParaRPr lang="en-US" dirty="0"/>
          </a:p>
          <a:p>
            <a:pPr lvl="1"/>
            <a:r>
              <a:rPr lang="en-US" dirty="0"/>
              <a:t>For example, when browsing the Web, a client can gradually build a </a:t>
            </a:r>
            <a:r>
              <a:rPr lang="en-US" dirty="0">
                <a:solidFill>
                  <a:srgbClr val="FF0000"/>
                </a:solidFill>
              </a:rPr>
              <a:t>huge cache on local disk</a:t>
            </a:r>
            <a:r>
              <a:rPr lang="en-US" dirty="0"/>
              <a:t> of most recent inspected Web pages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Three-tiered Architecture</a:t>
            </a:r>
            <a:endParaRPr lang="en-US" dirty="0"/>
          </a:p>
        </p:txBody>
      </p:sp>
      <p:pic>
        <p:nvPicPr>
          <p:cNvPr id="5" name="Content Placeholder 4"/>
          <p:cNvPicPr>
            <a:picLocks noGrp="1" noChangeAspect="1"/>
          </p:cNvPicPr>
          <p:nvPr>
            <p:ph idx="1"/>
          </p:nvPr>
        </p:nvPicPr>
        <p:blipFill>
          <a:blip r:embed="rId1"/>
          <a:stretch>
            <a:fillRect/>
          </a:stretch>
        </p:blipFill>
        <p:spPr>
          <a:xfrm>
            <a:off x="838200" y="2479201"/>
            <a:ext cx="10515600" cy="4090626"/>
          </a:xfrm>
        </p:spPr>
      </p:pic>
      <p:sp>
        <p:nvSpPr>
          <p:cNvPr id="7" name="TextBox 6"/>
          <p:cNvSpPr txBox="1"/>
          <p:nvPr/>
        </p:nvSpPr>
        <p:spPr>
          <a:xfrm>
            <a:off x="930639" y="1955981"/>
            <a:ext cx="10330721" cy="523220"/>
          </a:xfrm>
          <a:prstGeom prst="rect">
            <a:avLst/>
          </a:prstGeom>
          <a:noFill/>
        </p:spPr>
        <p:txBody>
          <a:bodyPr wrap="square">
            <a:spAutoFit/>
          </a:bodyPr>
          <a:lstStyle/>
          <a:p>
            <a:r>
              <a:rPr lang="en-US" sz="2800" dirty="0">
                <a:solidFill>
                  <a:srgbClr val="FF0000"/>
                </a:solidFill>
                <a:latin typeface="Gill Sans MT" panose="020B0502020104020203" pitchFamily="34" charset="0"/>
              </a:rPr>
              <a:t>S</a:t>
            </a:r>
            <a:r>
              <a:rPr lang="en-US" sz="2800" b="0" i="0" u="none" strike="noStrike" baseline="0" dirty="0">
                <a:solidFill>
                  <a:srgbClr val="FF0000"/>
                </a:solidFill>
                <a:latin typeface="Gill Sans MT" panose="020B0502020104020203" pitchFamily="34" charset="0"/>
              </a:rPr>
              <a:t>erver may sometimes need to act as a client</a:t>
            </a:r>
            <a:endParaRPr lang="en-US" sz="2800" b="0" i="0" u="none" strike="noStrike" baseline="0" dirty="0">
              <a:solidFill>
                <a:srgbClr val="FF0000"/>
              </a:solidFill>
              <a:latin typeface="Gill Sans MT" panose="020B050202010402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Vertical vs Horizontal Distribution</a:t>
            </a:r>
            <a:endParaRPr lang="en-US" dirty="0"/>
          </a:p>
        </p:txBody>
      </p:sp>
      <p:sp>
        <p:nvSpPr>
          <p:cNvPr id="3" name="Content Placeholder 2"/>
          <p:cNvSpPr>
            <a:spLocks noGrp="1"/>
          </p:cNvSpPr>
          <p:nvPr>
            <p:ph idx="1"/>
          </p:nvPr>
        </p:nvSpPr>
        <p:spPr/>
        <p:txBody>
          <a:bodyPr>
            <a:normAutofit/>
          </a:bodyPr>
          <a:lstStyle/>
          <a:p>
            <a:r>
              <a:rPr lang="en-US" dirty="0"/>
              <a:t>In many business environments, distributed processing is equivalent to </a:t>
            </a:r>
            <a:r>
              <a:rPr lang="en-US" dirty="0">
                <a:solidFill>
                  <a:srgbClr val="FF0000"/>
                </a:solidFill>
              </a:rPr>
              <a:t>organizing a client-server application as a multitiered architecture.</a:t>
            </a:r>
            <a:r>
              <a:rPr lang="en-US" dirty="0"/>
              <a:t> This type of distribution is referred as </a:t>
            </a:r>
            <a:r>
              <a:rPr lang="en-US" b="1" dirty="0">
                <a:solidFill>
                  <a:srgbClr val="FF0000"/>
                </a:solidFill>
              </a:rPr>
              <a:t>vertical distribution</a:t>
            </a:r>
            <a:r>
              <a:rPr lang="en-US" dirty="0">
                <a:solidFill>
                  <a:srgbClr val="FF0000"/>
                </a:solidFill>
              </a:rPr>
              <a:t>.</a:t>
            </a:r>
            <a:r>
              <a:rPr lang="en-US" dirty="0"/>
              <a:t> It is </a:t>
            </a:r>
            <a:r>
              <a:rPr lang="en-US" dirty="0">
                <a:solidFill>
                  <a:srgbClr val="FF0000"/>
                </a:solidFill>
              </a:rPr>
              <a:t>achieved by placing logically different components on different machines</a:t>
            </a:r>
            <a:endParaRPr lang="en-US" dirty="0">
              <a:solidFill>
                <a:srgbClr val="FF0000"/>
              </a:solidFill>
            </a:endParaRPr>
          </a:p>
          <a:p>
            <a:r>
              <a:rPr lang="en-US" dirty="0"/>
              <a:t>In </a:t>
            </a:r>
            <a:r>
              <a:rPr lang="en-US" b="1" dirty="0"/>
              <a:t>horizontal distribution</a:t>
            </a:r>
            <a:r>
              <a:rPr lang="en-US" dirty="0"/>
              <a:t>, a client or server may be physically split up into logically equivalent parts, but each part is operating on its own share of the complete data set, thus balancing the load</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Peer-to-Peer (P2P) Architecture</a:t>
            </a:r>
            <a:endParaRPr lang="en-US" dirty="0"/>
          </a:p>
        </p:txBody>
      </p:sp>
      <p:sp>
        <p:nvSpPr>
          <p:cNvPr id="3" name="Content Placeholder 2"/>
          <p:cNvSpPr>
            <a:spLocks noGrp="1"/>
          </p:cNvSpPr>
          <p:nvPr>
            <p:ph idx="1"/>
          </p:nvPr>
        </p:nvSpPr>
        <p:spPr/>
        <p:txBody>
          <a:bodyPr/>
          <a:lstStyle/>
          <a:p>
            <a:r>
              <a:rPr lang="en-US" dirty="0">
                <a:solidFill>
                  <a:srgbClr val="FF0000"/>
                </a:solidFill>
              </a:rPr>
              <a:t>The processes that constitute a peer-to-peer system are all equal</a:t>
            </a:r>
            <a:endParaRPr lang="en-US" dirty="0">
              <a:solidFill>
                <a:srgbClr val="FF0000"/>
              </a:solidFill>
            </a:endParaRPr>
          </a:p>
          <a:p>
            <a:r>
              <a:rPr lang="en-US" dirty="0"/>
              <a:t>This means that the functions that need to be carried out are represented by every process that constitutes the distributed system</a:t>
            </a:r>
            <a:endParaRPr lang="en-US" dirty="0"/>
          </a:p>
          <a:p>
            <a:r>
              <a:rPr lang="en-US" dirty="0">
                <a:solidFill>
                  <a:srgbClr val="FF0000"/>
                </a:solidFill>
              </a:rPr>
              <a:t>Each process will act as a client and a server at the same time</a:t>
            </a:r>
            <a:endParaRPr lang="en-US"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Cloud Computing</a:t>
            </a:r>
            <a:endParaRPr lang="en-US" dirty="0"/>
          </a:p>
        </p:txBody>
      </p:sp>
      <p:sp>
        <p:nvSpPr>
          <p:cNvPr id="8" name="Content Placeholder 7"/>
          <p:cNvSpPr>
            <a:spLocks noGrp="1"/>
          </p:cNvSpPr>
          <p:nvPr>
            <p:ph idx="1"/>
          </p:nvPr>
        </p:nvSpPr>
        <p:spPr/>
        <p:txBody>
          <a:bodyPr>
            <a:normAutofit/>
          </a:bodyPr>
          <a:lstStyle/>
          <a:p>
            <a:r>
              <a:rPr lang="en-US" dirty="0"/>
              <a:t>Organizations in charge of running data centers have been seeking ways for opening up their resources to customers. </a:t>
            </a:r>
            <a:endParaRPr lang="en-US" dirty="0"/>
          </a:p>
          <a:p>
            <a:r>
              <a:rPr lang="en-US" dirty="0"/>
              <a:t>This led to the concept of </a:t>
            </a:r>
            <a:r>
              <a:rPr lang="en-US" b="1" dirty="0"/>
              <a:t>cloud computing </a:t>
            </a:r>
            <a:r>
              <a:rPr lang="en-US" dirty="0"/>
              <a:t>by which a customer could </a:t>
            </a:r>
            <a:r>
              <a:rPr lang="en-US" dirty="0">
                <a:solidFill>
                  <a:srgbClr val="FF0000"/>
                </a:solidFill>
              </a:rPr>
              <a:t>upload tasks to a data center and be charged on a per-resource basis.</a:t>
            </a:r>
            <a:r>
              <a:rPr lang="en-US" dirty="0"/>
              <a:t> </a:t>
            </a:r>
            <a:endParaRPr lang="en-US" dirty="0"/>
          </a:p>
          <a:p>
            <a:r>
              <a:rPr lang="en-US" dirty="0"/>
              <a:t>Cloud computing is characterized by an easily usable and accessible pool of virtualized resources.</a:t>
            </a:r>
            <a:endParaRPr lang="en-US" dirty="0"/>
          </a:p>
          <a:p>
            <a:r>
              <a:rPr lang="en-US" dirty="0">
                <a:solidFill>
                  <a:srgbClr val="FF0000"/>
                </a:solidFill>
              </a:rPr>
              <a:t>Clouds are organized into four layers: Hardware, Infrastructure, Platform and Application</a:t>
            </a:r>
            <a:endParaRPr lang="en-US"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Hardware</a:t>
            </a:r>
            <a:endParaRPr lang="en-US" dirty="0"/>
          </a:p>
        </p:txBody>
      </p:sp>
      <p:sp>
        <p:nvSpPr>
          <p:cNvPr id="5" name="Content Placeholder 4"/>
          <p:cNvSpPr>
            <a:spLocks noGrp="1"/>
          </p:cNvSpPr>
          <p:nvPr>
            <p:ph idx="1"/>
          </p:nvPr>
        </p:nvSpPr>
        <p:spPr/>
        <p:txBody>
          <a:bodyPr/>
          <a:lstStyle/>
          <a:p>
            <a:r>
              <a:rPr lang="en-US" dirty="0"/>
              <a:t>The lowest layer is formed by the means to manage the necessary hardware: </a:t>
            </a:r>
            <a:endParaRPr lang="en-US" dirty="0"/>
          </a:p>
          <a:p>
            <a:pPr lvl="1"/>
            <a:r>
              <a:rPr lang="en-US" dirty="0"/>
              <a:t>processors, routers, but also power and cooling systems. </a:t>
            </a:r>
            <a:endParaRPr lang="en-US" dirty="0"/>
          </a:p>
          <a:p>
            <a:r>
              <a:rPr lang="en-US" dirty="0"/>
              <a:t>It is generally </a:t>
            </a:r>
            <a:r>
              <a:rPr lang="en-US" dirty="0">
                <a:solidFill>
                  <a:srgbClr val="FF0000"/>
                </a:solidFill>
              </a:rPr>
              <a:t>implemented at data centers</a:t>
            </a:r>
            <a:r>
              <a:rPr lang="en-US" dirty="0"/>
              <a:t> and contains the resources that customers normally never get to see directly.</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Infrastructure</a:t>
            </a:r>
            <a:endParaRPr lang="en-US" dirty="0"/>
          </a:p>
        </p:txBody>
      </p:sp>
      <p:sp>
        <p:nvSpPr>
          <p:cNvPr id="3" name="Content Placeholder 2"/>
          <p:cNvSpPr>
            <a:spLocks noGrp="1"/>
          </p:cNvSpPr>
          <p:nvPr>
            <p:ph idx="1"/>
          </p:nvPr>
        </p:nvSpPr>
        <p:spPr/>
        <p:txBody>
          <a:bodyPr/>
          <a:lstStyle/>
          <a:p>
            <a:r>
              <a:rPr lang="en-US" dirty="0"/>
              <a:t>The infrastructure layer forms the </a:t>
            </a:r>
            <a:r>
              <a:rPr lang="en-US" dirty="0">
                <a:solidFill>
                  <a:srgbClr val="FF0000"/>
                </a:solidFill>
              </a:rPr>
              <a:t>backbone</a:t>
            </a:r>
            <a:r>
              <a:rPr lang="en-US" dirty="0"/>
              <a:t> for most cloud computing platforms.</a:t>
            </a:r>
            <a:endParaRPr lang="en-US" dirty="0"/>
          </a:p>
          <a:p>
            <a:r>
              <a:rPr lang="en-US" dirty="0"/>
              <a:t>It deploys virtualization techniques to provide customers an infrastructure consisting of </a:t>
            </a:r>
            <a:r>
              <a:rPr lang="en-US" dirty="0">
                <a:solidFill>
                  <a:srgbClr val="FF0000"/>
                </a:solidFill>
              </a:rPr>
              <a:t>virtual storage and computing resources.</a:t>
            </a:r>
            <a:endParaRPr lang="en-US" dirty="0">
              <a:solidFill>
                <a:srgbClr val="FF0000"/>
              </a:solidFill>
            </a:endParaRPr>
          </a:p>
          <a:p>
            <a:r>
              <a:rPr lang="en-US" dirty="0"/>
              <a:t>Indeed, nothing is what it seems: cloud computing evolves around allocating and managing virtual storage devices and virtual servers.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Platform</a:t>
            </a:r>
            <a:endParaRPr lang="en-US" dirty="0"/>
          </a:p>
        </p:txBody>
      </p:sp>
      <p:sp>
        <p:nvSpPr>
          <p:cNvPr id="3" name="Content Placeholder 2"/>
          <p:cNvSpPr>
            <a:spLocks noGrp="1"/>
          </p:cNvSpPr>
          <p:nvPr>
            <p:ph idx="1"/>
          </p:nvPr>
        </p:nvSpPr>
        <p:spPr/>
        <p:txBody>
          <a:bodyPr>
            <a:normAutofit/>
          </a:bodyPr>
          <a:lstStyle/>
          <a:p>
            <a:r>
              <a:rPr lang="en-US" dirty="0"/>
              <a:t>The platform layer provides to a cloud computing customer </a:t>
            </a:r>
            <a:r>
              <a:rPr lang="en-US" dirty="0">
                <a:solidFill>
                  <a:srgbClr val="FF0000"/>
                </a:solidFill>
              </a:rPr>
              <a:t>what an operating system provides to application developers, </a:t>
            </a:r>
            <a:r>
              <a:rPr lang="en-US" dirty="0"/>
              <a:t>namely the means to easily develop and deploy applications that need to run in a cloud.</a:t>
            </a:r>
            <a:endParaRPr lang="en-US" dirty="0"/>
          </a:p>
          <a:p>
            <a:r>
              <a:rPr lang="en-US" dirty="0"/>
              <a:t>For example, the Amazon S3 storage system is offered to the application developer in the form of an API allowing (locally created) files to be organized and stored in buckets. By storing a file in a bucket, that file is automatically uploaded to the Amazon cloud.</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a:t>
            </a:r>
            <a:endParaRPr lang="en-US" dirty="0"/>
          </a:p>
        </p:txBody>
      </p:sp>
      <p:sp>
        <p:nvSpPr>
          <p:cNvPr id="3" name="Content Placeholder 2"/>
          <p:cNvSpPr>
            <a:spLocks noGrp="1"/>
          </p:cNvSpPr>
          <p:nvPr>
            <p:ph idx="1"/>
          </p:nvPr>
        </p:nvSpPr>
        <p:spPr/>
        <p:txBody>
          <a:bodyPr>
            <a:normAutofit/>
          </a:bodyPr>
          <a:lstStyle/>
          <a:p>
            <a:r>
              <a:rPr lang="en-US" dirty="0"/>
              <a:t>Actual applications run in this layer and are offered to users for further customization.</a:t>
            </a:r>
            <a:endParaRPr lang="en-US" dirty="0"/>
          </a:p>
          <a:p>
            <a:r>
              <a:rPr lang="en-US" dirty="0"/>
              <a:t>Well-known examples include those found in office suites (text processors, spreadsheet applications, presentation applications, and so on). </a:t>
            </a:r>
            <a:endParaRPr lang="en-US" dirty="0"/>
          </a:p>
          <a:p>
            <a:r>
              <a:rPr lang="en-US" dirty="0"/>
              <a:t>It is important to realize that these applications are again executed in the vendor’s cloud. </a:t>
            </a:r>
            <a:endParaRPr lang="en-US" dirty="0"/>
          </a:p>
          <a:p>
            <a:r>
              <a:rPr lang="en-US" dirty="0"/>
              <a:t>As before, they can be compared to the traditional suite of applications that are shipped when installing an operating system.</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Cloud-computing Services</a:t>
            </a:r>
            <a:endParaRPr lang="en-US" dirty="0"/>
          </a:p>
        </p:txBody>
      </p:sp>
      <p:sp>
        <p:nvSpPr>
          <p:cNvPr id="3" name="Content Placeholder 2"/>
          <p:cNvSpPr>
            <a:spLocks noGrp="1"/>
          </p:cNvSpPr>
          <p:nvPr>
            <p:ph idx="1"/>
          </p:nvPr>
        </p:nvSpPr>
        <p:spPr/>
        <p:txBody>
          <a:bodyPr/>
          <a:lstStyle/>
          <a:p>
            <a:pPr marL="0" indent="0">
              <a:buNone/>
            </a:pPr>
            <a:r>
              <a:rPr lang="en-US" dirty="0"/>
              <a:t>Cloud-computing providers offer these layers to their customers through various interfaces (including command-line tools, programming interfaces, and Web interfaces), leading to </a:t>
            </a:r>
            <a:r>
              <a:rPr lang="en-US" dirty="0">
                <a:solidFill>
                  <a:srgbClr val="FF0000"/>
                </a:solidFill>
              </a:rPr>
              <a:t>three different types of services:</a:t>
            </a:r>
            <a:endParaRPr lang="en-US" dirty="0">
              <a:highlight>
                <a:srgbClr val="FFFF00"/>
              </a:highlight>
            </a:endParaRPr>
          </a:p>
          <a:p>
            <a:pPr marL="514350" indent="-514350">
              <a:buFont typeface="+mj-lt"/>
              <a:buAutoNum type="arabicPeriod"/>
            </a:pPr>
            <a:r>
              <a:rPr lang="en-US" b="1" dirty="0">
                <a:solidFill>
                  <a:srgbClr val="FF0000"/>
                </a:solidFill>
              </a:rPr>
              <a:t>Infrastructure-as-a-Service (IaaS)</a:t>
            </a:r>
            <a:r>
              <a:rPr lang="en-US" b="1" dirty="0"/>
              <a:t> </a:t>
            </a:r>
            <a:r>
              <a:rPr lang="en-US" dirty="0"/>
              <a:t>covering the hardware and infrastructure layer.</a:t>
            </a:r>
            <a:endParaRPr lang="en-US" dirty="0"/>
          </a:p>
          <a:p>
            <a:pPr marL="514350" indent="-514350">
              <a:buFont typeface="+mj-lt"/>
              <a:buAutoNum type="arabicPeriod"/>
            </a:pPr>
            <a:r>
              <a:rPr lang="en-US" b="1" dirty="0">
                <a:solidFill>
                  <a:srgbClr val="FF0000"/>
                </a:solidFill>
              </a:rPr>
              <a:t>Platform-as-a-Service (PaaS)</a:t>
            </a:r>
            <a:r>
              <a:rPr lang="en-US" b="1" dirty="0"/>
              <a:t> </a:t>
            </a:r>
            <a:r>
              <a:rPr lang="en-US" dirty="0"/>
              <a:t>covering the platform layer.</a:t>
            </a:r>
            <a:endParaRPr lang="en-US" dirty="0"/>
          </a:p>
          <a:p>
            <a:pPr marL="514350" indent="-514350">
              <a:buFont typeface="+mj-lt"/>
              <a:buAutoNum type="arabicPeriod"/>
            </a:pPr>
            <a:r>
              <a:rPr lang="en-US" b="1" dirty="0">
                <a:solidFill>
                  <a:srgbClr val="FF0000"/>
                </a:solidFill>
              </a:rPr>
              <a:t>Software-as-a-Service (SaaS) </a:t>
            </a:r>
            <a:r>
              <a:rPr lang="en-US" dirty="0"/>
              <a:t>in which their applications are covered.</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 of Clouds</a:t>
            </a:r>
            <a:endParaRPr lang="en-US" dirty="0"/>
          </a:p>
        </p:txBody>
      </p:sp>
      <p:pic>
        <p:nvPicPr>
          <p:cNvPr id="5" name="Content Placeholder 4"/>
          <p:cNvPicPr>
            <a:picLocks noGrp="1" noChangeAspect="1"/>
          </p:cNvPicPr>
          <p:nvPr>
            <p:ph idx="1"/>
          </p:nvPr>
        </p:nvPicPr>
        <p:blipFill>
          <a:blip r:embed="rId1"/>
          <a:stretch>
            <a:fillRect/>
          </a:stretch>
        </p:blipFill>
        <p:spPr>
          <a:xfrm>
            <a:off x="1310443" y="1825625"/>
            <a:ext cx="9571114" cy="4351338"/>
          </a:xfr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7482</Words>
  <Application>WPS Presentation</Application>
  <PresentationFormat>Widescreen</PresentationFormat>
  <Paragraphs>116</Paragraphs>
  <Slides>20</Slides>
  <Notes>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Gill Sans MT</vt:lpstr>
      <vt:lpstr>苹方-简</vt:lpstr>
      <vt:lpstr>Microsoft YaHei</vt:lpstr>
      <vt:lpstr>汉仪旗黑</vt:lpstr>
      <vt:lpstr>Arial Unicode MS</vt:lpstr>
      <vt:lpstr>Calibri</vt:lpstr>
      <vt:lpstr>Helvetica Neue</vt:lpstr>
      <vt:lpstr>汉仪书宋二KW</vt:lpstr>
      <vt:lpstr>Office Theme</vt:lpstr>
      <vt:lpstr>CSE 601: Distributed Systems</vt:lpstr>
      <vt:lpstr>System Architectures</vt:lpstr>
      <vt:lpstr>Simple Client-server Architecture</vt:lpstr>
      <vt:lpstr>Simple Client-server Architecture</vt:lpstr>
      <vt:lpstr>Transmission Failures</vt:lpstr>
      <vt:lpstr>Multitiered Architectures</vt:lpstr>
      <vt:lpstr>Two-tiered Architectures</vt:lpstr>
      <vt:lpstr>Two-tiered Architectures</vt:lpstr>
      <vt:lpstr>Two-tiered Architectures</vt:lpstr>
      <vt:lpstr>Two-tiered Architectures</vt:lpstr>
      <vt:lpstr>Three-tiered Architecture</vt:lpstr>
      <vt:lpstr>Vertical vs Horizontal Distribution</vt:lpstr>
      <vt:lpstr>Peer-to-Peer (P2P) Architecture</vt:lpstr>
      <vt:lpstr>Cloud Computing</vt:lpstr>
      <vt:lpstr>Hardware</vt:lpstr>
      <vt:lpstr>Infrastructure</vt:lpstr>
      <vt:lpstr>Platform</vt:lpstr>
      <vt:lpstr>Application</vt:lpstr>
      <vt:lpstr>Cloud-computing Services</vt:lpstr>
      <vt:lpstr>Organization of Clouds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Toukir Ahammed</dc:creator>
  <cp:lastModifiedBy>md.rakibulislam</cp:lastModifiedBy>
  <cp:revision>38</cp:revision>
  <dcterms:created xsi:type="dcterms:W3CDTF">2025-08-22T10:57:04Z</dcterms:created>
  <dcterms:modified xsi:type="dcterms:W3CDTF">2025-08-22T10:57:04Z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0896F398A7C9675C59F04E68DA0C34F5_42</vt:lpwstr>
  </property>
  <property fmtid="{D5CDD505-2E9C-101B-9397-08002B2CF9AE}" pid="3" name="KSOProductBuildVer">
    <vt:lpwstr>1033-6.11.0.8608</vt:lpwstr>
  </property>
</Properties>
</file>