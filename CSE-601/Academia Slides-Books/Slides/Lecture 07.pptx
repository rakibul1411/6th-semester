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3"/>
    <p:sldId id="257" r:id="rId4"/>
    <p:sldId id="264" r:id="rId5"/>
    <p:sldId id="263" r:id="rId6"/>
    <p:sldId id="258" r:id="rId7"/>
    <p:sldId id="266" r:id="rId8"/>
    <p:sldId id="265" r:id="rId9"/>
    <p:sldId id="267" r:id="rId10"/>
    <p:sldId id="268" r:id="rId11"/>
    <p:sldId id="269" r:id="rId12"/>
    <p:sldId id="272" r:id="rId13"/>
    <p:sldId id="259" r:id="rId14"/>
    <p:sldId id="260" r:id="rId15"/>
    <p:sldId id="273" r:id="rId16"/>
    <p:sldId id="274" r:id="rId17"/>
    <p:sldId id="275" r:id="rId18"/>
    <p:sldId id="276" r:id="rId19"/>
    <p:sldId id="277" r:id="rId20"/>
    <p:sldId id="278" r:id="rId21"/>
    <p:sldId id="279" r:id="rId22"/>
    <p:sldId id="280" r:id="rId23"/>
    <p:sldId id="281" r:id="rId24"/>
    <p:sldId id="270" r:id="rId25"/>
    <p:sldId id="261" r:id="rId26"/>
    <p:sldId id="27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notesMaster" Target="notesMasters/notesMaster1.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453B2A-649C-47D2-B149-313A8222923C}"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93E89F-D0F4-4845-90C4-681A217667A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Gill Sans MT" panose="020B0502020104020203" pitchFamily="34" charset="0"/>
              </a:defRPr>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Autofit/>
          </a:bodyPr>
          <a:lstStyle>
            <a:lvl1pPr marL="0" indent="0" algn="ctr">
              <a:buNone/>
              <a:defRPr sz="4000">
                <a:latin typeface="Gill Sans MT" panose="020B05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lvl1pPr>
              <a:defRPr>
                <a:latin typeface="Gill Sans MT" panose="020B0502020104020203" pitchFamily="34" charset="0"/>
              </a:defRPr>
            </a:lvl1pPr>
          </a:lstStyle>
          <a:p>
            <a:fld id="{DADE2353-34E2-4DBF-AFB1-31497BAECD2D}" type="datetimeFigureOut">
              <a:rPr lang="en-US" smtClean="0"/>
            </a:fld>
            <a:endParaRPr lang="en-US" dirty="0"/>
          </a:p>
        </p:txBody>
      </p:sp>
      <p:sp>
        <p:nvSpPr>
          <p:cNvPr id="5" name="Footer Placeholder 4"/>
          <p:cNvSpPr>
            <a:spLocks noGrp="1"/>
          </p:cNvSpPr>
          <p:nvPr>
            <p:ph type="ftr" sz="quarter" idx="11"/>
          </p:nvPr>
        </p:nvSpPr>
        <p:spPr/>
        <p:txBody>
          <a:bodyPr/>
          <a:lstStyle>
            <a:lvl1pPr>
              <a:defRPr>
                <a:latin typeface="Gill Sans MT" panose="020B05020201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Gill Sans MT" panose="020B0502020104020203" pitchFamily="34" charset="0"/>
              </a:defRPr>
            </a:lvl1pPr>
          </a:lstStyle>
          <a:p>
            <a:fld id="{8170D8CF-7E31-4249-BDB4-34EBE6CF332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DADE2353-34E2-4DBF-AFB1-31497BAECD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DADE2353-34E2-4DBF-AFB1-31497BAECD2D}"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DADE2353-34E2-4DBF-AFB1-31497BAECD2D}"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DE2353-34E2-4DBF-AFB1-31497BAECD2D}"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ADE2353-34E2-4DBF-AFB1-31497BAECD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ADE2353-34E2-4DBF-AFB1-31497BAECD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DE2353-34E2-4DBF-AFB1-31497BAECD2D}"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70D8CF-7E31-4249-BDB4-34EBE6CF332C}"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Gill Sans MT" panose="020B05020201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CSE 601: Distributed Systems</a:t>
            </a:r>
            <a:endParaRPr lang="en-US" dirty="0"/>
          </a:p>
        </p:txBody>
      </p:sp>
      <p:sp>
        <p:nvSpPr>
          <p:cNvPr id="3" name="Subtitle 2"/>
          <p:cNvSpPr>
            <a:spLocks noGrp="1"/>
          </p:cNvSpPr>
          <p:nvPr>
            <p:ph type="subTitle" idx="1"/>
          </p:nvPr>
        </p:nvSpPr>
        <p:spPr/>
        <p:txBody>
          <a:bodyPr/>
          <a:lstStyle/>
          <a:p>
            <a:r>
              <a:rPr lang="en-US" dirty="0"/>
              <a:t>Toukir Ahammed</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Communication</a:t>
            </a:r>
            <a:endParaRPr lang="en-US" dirty="0"/>
          </a:p>
        </p:txBody>
      </p:sp>
      <p:sp>
        <p:nvSpPr>
          <p:cNvPr id="3" name="Content Placeholder 2"/>
          <p:cNvSpPr>
            <a:spLocks noGrp="1"/>
          </p:cNvSpPr>
          <p:nvPr>
            <p:ph idx="1"/>
          </p:nvPr>
        </p:nvSpPr>
        <p:spPr/>
        <p:txBody>
          <a:bodyPr/>
          <a:lstStyle/>
          <a:p>
            <a:r>
              <a:rPr lang="en-US" dirty="0" err="1"/>
              <a:t>Interprocess</a:t>
            </a:r>
            <a:r>
              <a:rPr lang="en-US" dirty="0"/>
              <a:t> communication is at the heart of all distributed systems</a:t>
            </a:r>
            <a:endParaRPr lang="en-US" dirty="0"/>
          </a:p>
          <a:p>
            <a:r>
              <a:rPr lang="en-US" dirty="0"/>
              <a:t>Communication in distributed systems</a:t>
            </a:r>
            <a:endParaRPr lang="en-US" dirty="0"/>
          </a:p>
          <a:p>
            <a:pPr lvl="1"/>
            <a:r>
              <a:rPr lang="en-US" dirty="0"/>
              <a:t>ways that processes on different machines can exchange information</a:t>
            </a:r>
            <a:endParaRPr lang="en-US" dirty="0"/>
          </a:p>
          <a:p>
            <a:r>
              <a:rPr lang="en-US" dirty="0"/>
              <a:t>Two widely used models for communication: </a:t>
            </a:r>
            <a:endParaRPr lang="en-US" dirty="0"/>
          </a:p>
          <a:p>
            <a:pPr lvl="1"/>
            <a:r>
              <a:rPr lang="en-US" dirty="0"/>
              <a:t>Remote Procedure Call (RPC), and </a:t>
            </a:r>
            <a:endParaRPr lang="en-US" dirty="0"/>
          </a:p>
          <a:p>
            <a:pPr lvl="1"/>
            <a:r>
              <a:rPr lang="en-US" dirty="0"/>
              <a:t>Message-Oriented Middleware (MOM)</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Middleware</a:t>
            </a:r>
            <a:endParaRPr lang="en-US" dirty="0"/>
          </a:p>
        </p:txBody>
      </p:sp>
      <p:sp>
        <p:nvSpPr>
          <p:cNvPr id="3" name="Content Placeholder 2"/>
          <p:cNvSpPr>
            <a:spLocks noGrp="1"/>
          </p:cNvSpPr>
          <p:nvPr>
            <p:ph idx="1"/>
          </p:nvPr>
        </p:nvSpPr>
        <p:spPr/>
        <p:txBody>
          <a:bodyPr>
            <a:normAutofit lnSpcReduction="10000"/>
          </a:bodyPr>
          <a:lstStyle/>
          <a:p>
            <a:r>
              <a:rPr lang="en-US" dirty="0">
                <a:solidFill>
                  <a:srgbClr val="FF0000"/>
                </a:solidFill>
              </a:rPr>
              <a:t>Middleware is invented to provide common services and protocols that can be used by many different applications</a:t>
            </a:r>
            <a:endParaRPr lang="en-US" dirty="0"/>
          </a:p>
          <a:p>
            <a:pPr lvl="1"/>
            <a:r>
              <a:rPr lang="en-US" dirty="0">
                <a:solidFill>
                  <a:srgbClr val="FF0000"/>
                </a:solidFill>
              </a:rPr>
              <a:t>A rich set of communication protocols</a:t>
            </a:r>
            <a:endParaRPr lang="en-US" dirty="0"/>
          </a:p>
          <a:p>
            <a:pPr lvl="1"/>
            <a:r>
              <a:rPr lang="en-US" dirty="0">
                <a:solidFill>
                  <a:srgbClr val="FF0000"/>
                </a:solidFill>
              </a:rPr>
              <a:t>(Un)marshaling of data, necessary for integrated systems</a:t>
            </a:r>
            <a:endParaRPr lang="en-US" dirty="0">
              <a:solidFill>
                <a:srgbClr val="FF0000"/>
              </a:solidFill>
            </a:endParaRPr>
          </a:p>
          <a:p>
            <a:pPr lvl="1"/>
            <a:r>
              <a:rPr lang="en-US" dirty="0">
                <a:solidFill>
                  <a:srgbClr val="FF0000"/>
                </a:solidFill>
              </a:rPr>
              <a:t>Naming protocols, to allow easy sharing of resources</a:t>
            </a:r>
            <a:endParaRPr lang="en-US" dirty="0">
              <a:solidFill>
                <a:srgbClr val="FF0000"/>
              </a:solidFill>
            </a:endParaRPr>
          </a:p>
          <a:p>
            <a:pPr lvl="1"/>
            <a:r>
              <a:rPr lang="en-US" dirty="0">
                <a:solidFill>
                  <a:srgbClr val="FF0000"/>
                </a:solidFill>
              </a:rPr>
              <a:t>Security protocols for secure communication</a:t>
            </a:r>
            <a:endParaRPr lang="en-US" dirty="0">
              <a:solidFill>
                <a:srgbClr val="FF0000"/>
              </a:solidFill>
            </a:endParaRPr>
          </a:p>
          <a:p>
            <a:pPr lvl="1"/>
            <a:r>
              <a:rPr lang="en-US" dirty="0">
                <a:solidFill>
                  <a:srgbClr val="FF0000"/>
                </a:solidFill>
              </a:rPr>
              <a:t>Scaling mechanisms, such as for replication and caching</a:t>
            </a:r>
            <a:endParaRPr lang="en-US" dirty="0">
              <a:solidFill>
                <a:srgbClr val="FF0000"/>
              </a:solidFill>
            </a:endParaRPr>
          </a:p>
          <a:p>
            <a:r>
              <a:rPr lang="en-US" dirty="0"/>
              <a:t>Middleware can offer various alternatives in communication to applications</a:t>
            </a:r>
            <a:endParaRPr lang="en-US" dirty="0"/>
          </a:p>
          <a:p>
            <a:r>
              <a:rPr lang="en-US" dirty="0"/>
              <a:t>Middleware can be viewed as an additional service in client-server computing</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Middleware</a:t>
            </a:r>
            <a:endParaRPr lang="en-US" dirty="0"/>
          </a:p>
        </p:txBody>
      </p:sp>
      <p:sp>
        <p:nvSpPr>
          <p:cNvPr id="3" name="Content Placeholder 2"/>
          <p:cNvSpPr>
            <a:spLocks noGrp="1"/>
          </p:cNvSpPr>
          <p:nvPr>
            <p:ph idx="1"/>
          </p:nvPr>
        </p:nvSpPr>
        <p:spPr/>
        <p:txBody>
          <a:bodyPr>
            <a:normAutofit lnSpcReduction="10000"/>
          </a:bodyPr>
          <a:lstStyle/>
          <a:p>
            <a:r>
              <a:rPr lang="en-US" dirty="0"/>
              <a:t>Consider an e-mail system, the core of the mail delivery system can be seen as a middleware communication service. </a:t>
            </a:r>
            <a:endParaRPr lang="en-US" dirty="0"/>
          </a:p>
          <a:p>
            <a:r>
              <a:rPr lang="en-US" dirty="0"/>
              <a:t>Each host runs a user agent allowing users to compose, send, and receive e-mail. </a:t>
            </a:r>
            <a:endParaRPr lang="en-US" dirty="0"/>
          </a:p>
          <a:p>
            <a:r>
              <a:rPr lang="en-US" dirty="0"/>
              <a:t>A sending user agent passes such mail to the mail delivery system, expecting it, in turn, to eventually deliver the mail to the intended recipient.</a:t>
            </a:r>
            <a:endParaRPr lang="en-US" dirty="0"/>
          </a:p>
          <a:p>
            <a:r>
              <a:rPr lang="en-US" dirty="0"/>
              <a:t>Likewise, the user agent at the receiver’s side connects to the mail delivery system to see whether any mail has come in. If so, the messages are transferred to the user agent so that they can be read by the user.</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Communication</a:t>
            </a:r>
            <a:endParaRPr lang="en-US" dirty="0"/>
          </a:p>
        </p:txBody>
      </p:sp>
      <p:pic>
        <p:nvPicPr>
          <p:cNvPr id="8" name="object 6"/>
          <p:cNvPicPr>
            <a:picLocks noGrp="1"/>
          </p:cNvPicPr>
          <p:nvPr>
            <p:ph idx="1"/>
          </p:nvPr>
        </p:nvPicPr>
        <p:blipFill>
          <a:blip r:embed="rId1" cstate="print"/>
          <a:stretch>
            <a:fillRect/>
          </a:stretch>
        </p:blipFill>
        <p:spPr>
          <a:xfrm>
            <a:off x="838200" y="1945547"/>
            <a:ext cx="7770506" cy="4351338"/>
          </a:xfrm>
          <a:prstGeom prst="rect">
            <a:avLst/>
          </a:prstGeom>
        </p:spPr>
      </p:pic>
      <p:sp>
        <p:nvSpPr>
          <p:cNvPr id="12" name="TextBox 11"/>
          <p:cNvSpPr txBox="1"/>
          <p:nvPr/>
        </p:nvSpPr>
        <p:spPr>
          <a:xfrm>
            <a:off x="8758004" y="2802284"/>
            <a:ext cx="2595796" cy="2893100"/>
          </a:xfrm>
          <a:prstGeom prst="rect">
            <a:avLst/>
          </a:prstGeom>
          <a:noFill/>
        </p:spPr>
        <p:txBody>
          <a:bodyPr wrap="square">
            <a:spAutoFit/>
          </a:bodyPr>
          <a:lstStyle/>
          <a:p>
            <a:pPr algn="ctr"/>
            <a:r>
              <a:rPr lang="fr-FR" sz="2600" dirty="0">
                <a:latin typeface="Gill Sans MT" panose="020B0502020104020203" pitchFamily="34" charset="0"/>
              </a:rPr>
              <a:t>Transient</a:t>
            </a:r>
            <a:endParaRPr lang="fr-FR" sz="2600" dirty="0">
              <a:latin typeface="Gill Sans MT" panose="020B0502020104020203" pitchFamily="34" charset="0"/>
            </a:endParaRPr>
          </a:p>
          <a:p>
            <a:pPr algn="ctr"/>
            <a:r>
              <a:rPr lang="fr-FR" sz="2600" dirty="0">
                <a:latin typeface="Gill Sans MT" panose="020B0502020104020203" pitchFamily="34" charset="0"/>
              </a:rPr>
              <a:t>vs </a:t>
            </a:r>
            <a:endParaRPr lang="fr-FR" sz="2600" dirty="0">
              <a:latin typeface="Gill Sans MT" panose="020B0502020104020203" pitchFamily="34" charset="0"/>
            </a:endParaRPr>
          </a:p>
          <a:p>
            <a:pPr algn="ctr"/>
            <a:r>
              <a:rPr lang="fr-FR" sz="2600" dirty="0">
                <a:latin typeface="Gill Sans MT" panose="020B0502020104020203" pitchFamily="34" charset="0"/>
              </a:rPr>
              <a:t>Persistent</a:t>
            </a:r>
            <a:endParaRPr lang="fr-FR" sz="2600" dirty="0">
              <a:latin typeface="Gill Sans MT" panose="020B0502020104020203" pitchFamily="34" charset="0"/>
            </a:endParaRPr>
          </a:p>
          <a:p>
            <a:pPr algn="ctr"/>
            <a:endParaRPr lang="fr-FR" sz="2600" dirty="0">
              <a:latin typeface="Gill Sans MT" panose="020B0502020104020203" pitchFamily="34" charset="0"/>
            </a:endParaRPr>
          </a:p>
          <a:p>
            <a:pPr algn="ctr"/>
            <a:r>
              <a:rPr lang="fr-FR" sz="2600" dirty="0" err="1">
                <a:latin typeface="Gill Sans MT" panose="020B0502020104020203" pitchFamily="34" charset="0"/>
              </a:rPr>
              <a:t>Asynchronous</a:t>
            </a:r>
            <a:r>
              <a:rPr lang="fr-FR" sz="2600" dirty="0">
                <a:latin typeface="Gill Sans MT" panose="020B0502020104020203" pitchFamily="34" charset="0"/>
              </a:rPr>
              <a:t> </a:t>
            </a:r>
            <a:endParaRPr lang="fr-FR" sz="2600" dirty="0">
              <a:latin typeface="Gill Sans MT" panose="020B0502020104020203" pitchFamily="34" charset="0"/>
            </a:endParaRPr>
          </a:p>
          <a:p>
            <a:pPr algn="ctr"/>
            <a:r>
              <a:rPr lang="fr-FR" sz="2600" dirty="0">
                <a:latin typeface="Gill Sans MT" panose="020B0502020104020203" pitchFamily="34" charset="0"/>
              </a:rPr>
              <a:t>vs </a:t>
            </a:r>
            <a:endParaRPr lang="fr-FR" sz="2600" dirty="0">
              <a:latin typeface="Gill Sans MT" panose="020B0502020104020203" pitchFamily="34" charset="0"/>
            </a:endParaRPr>
          </a:p>
          <a:p>
            <a:pPr algn="ctr"/>
            <a:r>
              <a:rPr lang="fr-FR" sz="2600" dirty="0" err="1">
                <a:latin typeface="Gill Sans MT" panose="020B0502020104020203" pitchFamily="34" charset="0"/>
              </a:rPr>
              <a:t>synchronous</a:t>
            </a:r>
            <a:endParaRPr lang="fr-FR" sz="2600" dirty="0">
              <a:latin typeface="Gill Sans MT" panose="020B0502020104020203" pitchFamily="34" charset="0"/>
            </a:endParaRPr>
          </a:p>
        </p:txBody>
      </p:sp>
      <p:sp>
        <p:nvSpPr>
          <p:cNvPr id="3" name="Text Box 2"/>
          <p:cNvSpPr txBox="1"/>
          <p:nvPr/>
        </p:nvSpPr>
        <p:spPr>
          <a:xfrm>
            <a:off x="8907780" y="2091690"/>
            <a:ext cx="2595880" cy="829945"/>
          </a:xfrm>
          <a:prstGeom prst="rect">
            <a:avLst/>
          </a:prstGeom>
        </p:spPr>
        <p:txBody>
          <a:bodyPr wrap="square">
            <a:spAutoFit/>
          </a:bodyPr>
          <a:p>
            <a:r>
              <a:rPr sz="1600"/>
              <a:t>Message exists only while both client and server are running/connected</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Persistent Communication</a:t>
            </a:r>
            <a:endParaRPr lang="en-US" dirty="0"/>
          </a:p>
        </p:txBody>
      </p:sp>
      <p:sp>
        <p:nvSpPr>
          <p:cNvPr id="3" name="Content Placeholder 2"/>
          <p:cNvSpPr>
            <a:spLocks noGrp="1"/>
          </p:cNvSpPr>
          <p:nvPr>
            <p:ph idx="1"/>
          </p:nvPr>
        </p:nvSpPr>
        <p:spPr/>
        <p:txBody>
          <a:bodyPr>
            <a:normAutofit fontScale="92500"/>
          </a:bodyPr>
          <a:lstStyle/>
          <a:p>
            <a:r>
              <a:rPr lang="en-US" dirty="0">
                <a:solidFill>
                  <a:srgbClr val="FF0000"/>
                </a:solidFill>
              </a:rPr>
              <a:t>A message that has been submitted for transmission is stored by the communication middleware as long as it takes to deliver it to the receiver.</a:t>
            </a:r>
            <a:r>
              <a:rPr lang="en-US" dirty="0"/>
              <a:t> </a:t>
            </a:r>
            <a:endParaRPr lang="en-US" dirty="0"/>
          </a:p>
          <a:p>
            <a:r>
              <a:rPr lang="en-US" dirty="0"/>
              <a:t>The middleware will store the message at one or several of the storage facilities </a:t>
            </a:r>
            <a:endParaRPr lang="en-US" dirty="0"/>
          </a:p>
          <a:p>
            <a:r>
              <a:rPr lang="en-US" dirty="0"/>
              <a:t>As a consequence, it is not necessary for the sending application to continue execution after submitting the message</a:t>
            </a:r>
            <a:endParaRPr lang="en-US" dirty="0"/>
          </a:p>
          <a:p>
            <a:r>
              <a:rPr lang="en-US" dirty="0"/>
              <a:t>Likewise, the receiving application need not be executing when the message is submitted.</a:t>
            </a:r>
            <a:endParaRPr lang="en-US" dirty="0"/>
          </a:p>
          <a:p>
            <a:r>
              <a:rPr lang="en-US" dirty="0"/>
              <a:t>An e-mail system is a typical example in which communication is persistent.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Transient Communication</a:t>
            </a:r>
            <a:endParaRPr lang="en-US" dirty="0"/>
          </a:p>
        </p:txBody>
      </p:sp>
      <p:sp>
        <p:nvSpPr>
          <p:cNvPr id="3" name="Content Placeholder 2"/>
          <p:cNvSpPr>
            <a:spLocks noGrp="1"/>
          </p:cNvSpPr>
          <p:nvPr>
            <p:ph idx="1"/>
          </p:nvPr>
        </p:nvSpPr>
        <p:spPr/>
        <p:txBody>
          <a:bodyPr>
            <a:normAutofit/>
          </a:bodyPr>
          <a:lstStyle/>
          <a:p>
            <a:r>
              <a:rPr lang="en-US" dirty="0">
                <a:solidFill>
                  <a:srgbClr val="FF0000"/>
                </a:solidFill>
              </a:rPr>
              <a:t>A message is stored by the communication system only as long as the sending and receiving application are executing</a:t>
            </a:r>
            <a:endParaRPr lang="en-US" dirty="0">
              <a:solidFill>
                <a:srgbClr val="FF0000"/>
              </a:solidFill>
            </a:endParaRPr>
          </a:p>
          <a:p>
            <a:r>
              <a:rPr lang="en-US" dirty="0"/>
              <a:t>If the middleware cannot deliver a message due to a transmission interrupt, or because the recipient is currently not active, it will simply be discarded</a:t>
            </a:r>
            <a:endParaRPr lang="en-US" dirty="0"/>
          </a:p>
          <a:p>
            <a:r>
              <a:rPr lang="en-US" dirty="0">
                <a:solidFill>
                  <a:srgbClr val="FF0000"/>
                </a:solidFill>
              </a:rPr>
              <a:t>All transport-level communication services offer only transient communication</a:t>
            </a:r>
            <a:endParaRPr lang="en-US" dirty="0"/>
          </a:p>
          <a:p>
            <a:r>
              <a:rPr lang="en-US" dirty="0"/>
              <a:t>If a router cannot deliver a message to the next one or the destination host, it will simply drop the message.</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Asynchronous Communication</a:t>
            </a:r>
            <a:endParaRPr lang="en-US" dirty="0"/>
          </a:p>
        </p:txBody>
      </p:sp>
      <p:sp>
        <p:nvSpPr>
          <p:cNvPr id="3" name="Content Placeholder 2"/>
          <p:cNvSpPr>
            <a:spLocks noGrp="1"/>
          </p:cNvSpPr>
          <p:nvPr>
            <p:ph idx="1"/>
          </p:nvPr>
        </p:nvSpPr>
        <p:spPr/>
        <p:txBody>
          <a:bodyPr/>
          <a:lstStyle/>
          <a:p>
            <a:r>
              <a:rPr lang="en-US" dirty="0">
                <a:solidFill>
                  <a:srgbClr val="FF0000"/>
                </a:solidFill>
              </a:rPr>
              <a:t>A sender continues immediately after it has submitted its message for transmission</a:t>
            </a:r>
            <a:endParaRPr lang="en-US" dirty="0">
              <a:solidFill>
                <a:srgbClr val="FF0000"/>
              </a:solidFill>
            </a:endParaRPr>
          </a:p>
          <a:p>
            <a:r>
              <a:rPr lang="en-US" dirty="0">
                <a:solidFill>
                  <a:srgbClr val="FF0000"/>
                </a:solidFill>
              </a:rPr>
              <a:t>This means that the message is (temporarily) stored immediately by the middleware upon submission</a:t>
            </a:r>
            <a:endParaRPr lang="en-US" dirty="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Synchronous Communication</a:t>
            </a:r>
            <a:endParaRPr lang="en-US" dirty="0"/>
          </a:p>
        </p:txBody>
      </p:sp>
      <p:sp>
        <p:nvSpPr>
          <p:cNvPr id="3" name="Content Placeholder 2"/>
          <p:cNvSpPr>
            <a:spLocks noGrp="1"/>
          </p:cNvSpPr>
          <p:nvPr>
            <p:ph idx="1"/>
          </p:nvPr>
        </p:nvSpPr>
        <p:spPr/>
        <p:txBody>
          <a:bodyPr/>
          <a:lstStyle/>
          <a:p>
            <a:r>
              <a:rPr lang="en-US" dirty="0">
                <a:solidFill>
                  <a:srgbClr val="FF0000"/>
                </a:solidFill>
              </a:rPr>
              <a:t>A sender is blocked until its request is known to be accepted</a:t>
            </a:r>
            <a:endParaRPr lang="en-US" dirty="0">
              <a:solidFill>
                <a:srgbClr val="FF0000"/>
              </a:solidFill>
            </a:endParaRPr>
          </a:p>
          <a:p>
            <a:r>
              <a:rPr lang="en-US" dirty="0"/>
              <a:t>There are essentially </a:t>
            </a:r>
            <a:r>
              <a:rPr lang="en-US" dirty="0">
                <a:solidFill>
                  <a:srgbClr val="FF0000"/>
                </a:solidFill>
              </a:rPr>
              <a:t>three points where synchronization can take place</a:t>
            </a:r>
            <a:endParaRPr lang="en-US" dirty="0"/>
          </a:p>
          <a:p>
            <a:pPr lvl="1"/>
            <a:r>
              <a:rPr lang="en-US" dirty="0"/>
              <a:t>until the middleware notifies that it will take over </a:t>
            </a:r>
            <a:r>
              <a:rPr lang="en-US" dirty="0">
                <a:solidFill>
                  <a:srgbClr val="FF0000"/>
                </a:solidFill>
              </a:rPr>
              <a:t>transmission of the request</a:t>
            </a:r>
            <a:endParaRPr lang="en-US" dirty="0">
              <a:solidFill>
                <a:srgbClr val="FF0000"/>
              </a:solidFill>
            </a:endParaRPr>
          </a:p>
          <a:p>
            <a:pPr lvl="1"/>
            <a:r>
              <a:rPr lang="en-US" dirty="0"/>
              <a:t>until its request has been delivered to </a:t>
            </a:r>
            <a:r>
              <a:rPr lang="en-US" dirty="0">
                <a:solidFill>
                  <a:srgbClr val="FF0000"/>
                </a:solidFill>
              </a:rPr>
              <a:t>the intended recipient</a:t>
            </a:r>
            <a:endParaRPr lang="en-US" dirty="0">
              <a:solidFill>
                <a:srgbClr val="FF0000"/>
              </a:solidFill>
            </a:endParaRPr>
          </a:p>
          <a:p>
            <a:pPr lvl="1"/>
            <a:r>
              <a:rPr lang="en-US" dirty="0"/>
              <a:t>until its request has been fully processed, that is, up to the time that the </a:t>
            </a:r>
            <a:r>
              <a:rPr lang="en-US" dirty="0">
                <a:solidFill>
                  <a:srgbClr val="FF0000"/>
                </a:solidFill>
              </a:rPr>
              <a:t>recipient returns a response</a:t>
            </a:r>
            <a:endParaRPr lang="en-US" dirty="0">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Communication</a:t>
            </a:r>
            <a:endParaRPr lang="en-US" dirty="0"/>
          </a:p>
        </p:txBody>
      </p:sp>
      <p:sp>
        <p:nvSpPr>
          <p:cNvPr id="3" name="Content Placeholder 2"/>
          <p:cNvSpPr>
            <a:spLocks noGrp="1"/>
          </p:cNvSpPr>
          <p:nvPr>
            <p:ph idx="1"/>
          </p:nvPr>
        </p:nvSpPr>
        <p:spPr/>
        <p:txBody>
          <a:bodyPr>
            <a:normAutofit/>
          </a:bodyPr>
          <a:lstStyle/>
          <a:p>
            <a:r>
              <a:rPr lang="en-US" dirty="0"/>
              <a:t>Various combinations of persistence and synchronization occur in practice.</a:t>
            </a:r>
            <a:endParaRPr lang="en-US" dirty="0"/>
          </a:p>
          <a:p>
            <a:r>
              <a:rPr lang="en-US" dirty="0"/>
              <a:t>Popular ones are persistence in combination with synchronization at request submission, which is a common scheme for many message-queuing systems. </a:t>
            </a:r>
            <a:endParaRPr lang="en-US" dirty="0"/>
          </a:p>
          <a:p>
            <a:r>
              <a:rPr lang="en-US" dirty="0"/>
              <a:t>Likewise, transient communication with synchronization after the request has been fully processed is also widely used. This scheme corresponds with remote procedure calls.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Remote Procedure Call</a:t>
            </a:r>
            <a:endParaRPr lang="en-US" dirty="0"/>
          </a:p>
        </p:txBody>
      </p:sp>
      <p:sp>
        <p:nvSpPr>
          <p:cNvPr id="3" name="Content Placeholder 2"/>
          <p:cNvSpPr>
            <a:spLocks noGrp="1"/>
          </p:cNvSpPr>
          <p:nvPr>
            <p:ph idx="1"/>
          </p:nvPr>
        </p:nvSpPr>
        <p:spPr/>
        <p:txBody>
          <a:bodyPr>
            <a:normAutofit/>
          </a:bodyPr>
          <a:lstStyle/>
          <a:p>
            <a:r>
              <a:rPr lang="en-US" dirty="0">
                <a:solidFill>
                  <a:srgbClr val="FF0000"/>
                </a:solidFill>
              </a:rPr>
              <a:t>When a process on a machine A calls a procedure on a machine B, the calling process on A is suspended, and execution of the called procedure takes place on B.</a:t>
            </a:r>
            <a:r>
              <a:rPr lang="en-US" dirty="0"/>
              <a:t> </a:t>
            </a:r>
            <a:endParaRPr lang="en-US" dirty="0"/>
          </a:p>
          <a:p>
            <a:r>
              <a:rPr lang="en-US" dirty="0"/>
              <a:t>Information can be transported from the caller to the callee in the parameters and can come back in the procedure result. </a:t>
            </a:r>
            <a:endParaRPr lang="en-US" dirty="0"/>
          </a:p>
          <a:p>
            <a:r>
              <a:rPr lang="en-US" dirty="0"/>
              <a:t>No message passing at all is visible to the programmer. This method is known as </a:t>
            </a:r>
            <a:r>
              <a:rPr lang="en-US" b="1" dirty="0"/>
              <a:t>remote procedure call</a:t>
            </a:r>
            <a:r>
              <a:rPr lang="en-US" dirty="0"/>
              <a:t>, or often just </a:t>
            </a:r>
            <a:r>
              <a:rPr lang="en-US" b="1" dirty="0"/>
              <a:t>RPC</a:t>
            </a:r>
            <a:r>
              <a:rPr lang="en-US" dirty="0"/>
              <a:t>.</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RPC between a client and server program.</a:t>
            </a:r>
            <a:endParaRPr lang="en-US" dirty="0"/>
          </a:p>
        </p:txBody>
      </p:sp>
      <p:pic>
        <p:nvPicPr>
          <p:cNvPr id="4" name="object 5"/>
          <p:cNvPicPr>
            <a:picLocks noGrp="1"/>
          </p:cNvPicPr>
          <p:nvPr>
            <p:ph idx="1"/>
          </p:nvPr>
        </p:nvPicPr>
        <p:blipFill>
          <a:blip r:embed="rId1" cstate="print"/>
          <a:stretch>
            <a:fillRect/>
          </a:stretch>
        </p:blipFill>
        <p:spPr>
          <a:xfrm>
            <a:off x="2319367" y="1825625"/>
            <a:ext cx="7553266" cy="43513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RPC Operation</a:t>
            </a:r>
            <a:endParaRPr lang="en-US" dirty="0"/>
          </a:p>
        </p:txBody>
      </p:sp>
      <p:pic>
        <p:nvPicPr>
          <p:cNvPr id="4" name="object 6"/>
          <p:cNvPicPr>
            <a:picLocks noGrp="1"/>
          </p:cNvPicPr>
          <p:nvPr>
            <p:ph idx="1"/>
          </p:nvPr>
        </p:nvPicPr>
        <p:blipFill>
          <a:blip r:embed="rId1" cstate="print"/>
          <a:stretch>
            <a:fillRect/>
          </a:stretch>
        </p:blipFill>
        <p:spPr>
          <a:xfrm>
            <a:off x="1471360" y="1825625"/>
            <a:ext cx="9249280" cy="4351338"/>
          </a:xfrm>
          <a:prstGeom prst="rect">
            <a:avLst/>
          </a:prstGeom>
        </p:spPr>
      </p:pic>
      <p:sp>
        <p:nvSpPr>
          <p:cNvPr id="8" name="TextBox 7"/>
          <p:cNvSpPr txBox="1"/>
          <p:nvPr/>
        </p:nvSpPr>
        <p:spPr>
          <a:xfrm>
            <a:off x="1471361" y="6176963"/>
            <a:ext cx="9249279" cy="461665"/>
          </a:xfrm>
          <a:prstGeom prst="rect">
            <a:avLst/>
          </a:prstGeom>
          <a:noFill/>
        </p:spPr>
        <p:txBody>
          <a:bodyPr wrap="square">
            <a:spAutoFit/>
          </a:bodyPr>
          <a:lstStyle/>
          <a:p>
            <a:r>
              <a:rPr lang="en-US" sz="2400" dirty="0">
                <a:latin typeface="Gill Sans MT" panose="020B0502020104020203" pitchFamily="34" charset="0"/>
              </a:rPr>
              <a:t>1. The client procedure calls the client stub in the normal way.</a:t>
            </a:r>
            <a:endParaRPr lang="en-US" sz="2400" dirty="0">
              <a:latin typeface="Gill Sans MT" panose="020B0502020104020203" pitchFamily="34" charset="0"/>
            </a:endParaRPr>
          </a:p>
        </p:txBody>
      </p:sp>
      <p:sp>
        <p:nvSpPr>
          <p:cNvPr id="3" name="Text Box 2"/>
          <p:cNvSpPr txBox="1"/>
          <p:nvPr/>
        </p:nvSpPr>
        <p:spPr>
          <a:xfrm>
            <a:off x="2940685" y="1415098"/>
            <a:ext cx="5080000" cy="337185"/>
          </a:xfrm>
          <a:prstGeom prst="rect">
            <a:avLst/>
          </a:prstGeom>
        </p:spPr>
        <p:txBody>
          <a:bodyPr>
            <a:spAutoFit/>
          </a:bodyPr>
          <a:p>
            <a:r>
              <a:rPr sz="1600"/>
              <a:t>Stub = translator/helper (packs and unpacks).</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RPC Operation</a:t>
            </a:r>
            <a:endParaRPr lang="en-US" dirty="0"/>
          </a:p>
        </p:txBody>
      </p:sp>
      <p:pic>
        <p:nvPicPr>
          <p:cNvPr id="4" name="object 6"/>
          <p:cNvPicPr>
            <a:picLocks noGrp="1"/>
          </p:cNvPicPr>
          <p:nvPr>
            <p:ph idx="1"/>
          </p:nvPr>
        </p:nvPicPr>
        <p:blipFill>
          <a:blip r:embed="rId1" cstate="print"/>
          <a:stretch>
            <a:fillRect/>
          </a:stretch>
        </p:blipFill>
        <p:spPr>
          <a:xfrm>
            <a:off x="1471360" y="1825625"/>
            <a:ext cx="9249280" cy="4351338"/>
          </a:xfrm>
          <a:prstGeom prst="rect">
            <a:avLst/>
          </a:prstGeom>
        </p:spPr>
      </p:pic>
      <p:sp>
        <p:nvSpPr>
          <p:cNvPr id="8" name="TextBox 7"/>
          <p:cNvSpPr txBox="1"/>
          <p:nvPr/>
        </p:nvSpPr>
        <p:spPr>
          <a:xfrm>
            <a:off x="1471361" y="6176963"/>
            <a:ext cx="9249279" cy="398780"/>
          </a:xfrm>
          <a:prstGeom prst="rect">
            <a:avLst/>
          </a:prstGeom>
          <a:noFill/>
        </p:spPr>
        <p:txBody>
          <a:bodyPr wrap="square">
            <a:spAutoFit/>
          </a:bodyPr>
          <a:lstStyle/>
          <a:p>
            <a:r>
              <a:rPr lang="en-US" sz="2000" dirty="0">
                <a:latin typeface="Gill Sans MT" panose="020B0502020104020203" pitchFamily="34" charset="0"/>
              </a:rPr>
              <a:t>2. The client stub builds a message and calls the local operating system.</a:t>
            </a:r>
            <a:endParaRPr lang="en-US" sz="2000" dirty="0">
              <a:latin typeface="Gill Sans MT" panose="020B0502020104020203"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RPC Operation</a:t>
            </a:r>
            <a:endParaRPr lang="en-US" dirty="0"/>
          </a:p>
        </p:txBody>
      </p:sp>
      <p:pic>
        <p:nvPicPr>
          <p:cNvPr id="4" name="object 6"/>
          <p:cNvPicPr>
            <a:picLocks noGrp="1"/>
          </p:cNvPicPr>
          <p:nvPr>
            <p:ph idx="1"/>
          </p:nvPr>
        </p:nvPicPr>
        <p:blipFill>
          <a:blip r:embed="rId1" cstate="print"/>
          <a:stretch>
            <a:fillRect/>
          </a:stretch>
        </p:blipFill>
        <p:spPr>
          <a:xfrm>
            <a:off x="1471360" y="1825625"/>
            <a:ext cx="9249280" cy="4351338"/>
          </a:xfrm>
          <a:prstGeom prst="rect">
            <a:avLst/>
          </a:prstGeom>
        </p:spPr>
      </p:pic>
      <p:sp>
        <p:nvSpPr>
          <p:cNvPr id="8" name="TextBox 7"/>
          <p:cNvSpPr txBox="1"/>
          <p:nvPr/>
        </p:nvSpPr>
        <p:spPr>
          <a:xfrm>
            <a:off x="1471361" y="6176963"/>
            <a:ext cx="9249279" cy="461665"/>
          </a:xfrm>
          <a:prstGeom prst="rect">
            <a:avLst/>
          </a:prstGeom>
          <a:noFill/>
        </p:spPr>
        <p:txBody>
          <a:bodyPr wrap="square">
            <a:spAutoFit/>
          </a:bodyPr>
          <a:lstStyle/>
          <a:p>
            <a:r>
              <a:rPr lang="en-US" sz="2400" dirty="0">
                <a:latin typeface="Gill Sans MT" panose="020B0502020104020203" pitchFamily="34" charset="0"/>
              </a:rPr>
              <a:t>3. The client’s OS sends the message to the remote OS.</a:t>
            </a:r>
            <a:endParaRPr lang="en-US" sz="2400" dirty="0">
              <a:latin typeface="Gill Sans MT" panose="020B0502020104020203"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RPC Operation</a:t>
            </a:r>
            <a:endParaRPr lang="en-US" dirty="0"/>
          </a:p>
        </p:txBody>
      </p:sp>
      <p:pic>
        <p:nvPicPr>
          <p:cNvPr id="4" name="object 6"/>
          <p:cNvPicPr>
            <a:picLocks noGrp="1"/>
          </p:cNvPicPr>
          <p:nvPr>
            <p:ph idx="1"/>
          </p:nvPr>
        </p:nvPicPr>
        <p:blipFill>
          <a:blip r:embed="rId1" cstate="print"/>
          <a:stretch>
            <a:fillRect/>
          </a:stretch>
        </p:blipFill>
        <p:spPr>
          <a:xfrm>
            <a:off x="1471360" y="1825625"/>
            <a:ext cx="9249280" cy="4351338"/>
          </a:xfrm>
          <a:prstGeom prst="rect">
            <a:avLst/>
          </a:prstGeom>
        </p:spPr>
      </p:pic>
      <p:sp>
        <p:nvSpPr>
          <p:cNvPr id="8" name="TextBox 7"/>
          <p:cNvSpPr txBox="1"/>
          <p:nvPr/>
        </p:nvSpPr>
        <p:spPr>
          <a:xfrm>
            <a:off x="1471361" y="6176963"/>
            <a:ext cx="9249279" cy="461665"/>
          </a:xfrm>
          <a:prstGeom prst="rect">
            <a:avLst/>
          </a:prstGeom>
          <a:noFill/>
        </p:spPr>
        <p:txBody>
          <a:bodyPr wrap="square">
            <a:spAutoFit/>
          </a:bodyPr>
          <a:lstStyle/>
          <a:p>
            <a:r>
              <a:rPr lang="en-US" sz="2400" dirty="0">
                <a:latin typeface="Gill Sans MT" panose="020B0502020104020203" pitchFamily="34" charset="0"/>
              </a:rPr>
              <a:t>4. The remote OS gives the message to the server stub.</a:t>
            </a:r>
            <a:endParaRPr lang="en-US" sz="2400" dirty="0">
              <a:latin typeface="Gill Sans MT" panose="020B0502020104020203"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RPC Operation</a:t>
            </a:r>
            <a:endParaRPr lang="en-US" dirty="0"/>
          </a:p>
        </p:txBody>
      </p:sp>
      <p:pic>
        <p:nvPicPr>
          <p:cNvPr id="4" name="object 6"/>
          <p:cNvPicPr>
            <a:picLocks noGrp="1"/>
          </p:cNvPicPr>
          <p:nvPr>
            <p:ph idx="1"/>
          </p:nvPr>
        </p:nvPicPr>
        <p:blipFill>
          <a:blip r:embed="rId1" cstate="print"/>
          <a:stretch>
            <a:fillRect/>
          </a:stretch>
        </p:blipFill>
        <p:spPr>
          <a:xfrm>
            <a:off x="1471360" y="1825625"/>
            <a:ext cx="9249280" cy="4351338"/>
          </a:xfrm>
          <a:prstGeom prst="rect">
            <a:avLst/>
          </a:prstGeom>
        </p:spPr>
      </p:pic>
      <p:sp>
        <p:nvSpPr>
          <p:cNvPr id="8" name="TextBox 7"/>
          <p:cNvSpPr txBox="1"/>
          <p:nvPr/>
        </p:nvSpPr>
        <p:spPr>
          <a:xfrm>
            <a:off x="1471361" y="6176963"/>
            <a:ext cx="9249279" cy="398780"/>
          </a:xfrm>
          <a:prstGeom prst="rect">
            <a:avLst/>
          </a:prstGeom>
          <a:noFill/>
        </p:spPr>
        <p:txBody>
          <a:bodyPr wrap="square">
            <a:spAutoFit/>
          </a:bodyPr>
          <a:lstStyle/>
          <a:p>
            <a:r>
              <a:rPr lang="en-US" sz="2000" dirty="0">
                <a:latin typeface="Gill Sans MT" panose="020B0502020104020203" pitchFamily="34" charset="0"/>
              </a:rPr>
              <a:t>5. The server stub unpacks the parameter(s) and calls the server.</a:t>
            </a:r>
            <a:endParaRPr lang="en-US" sz="2000" dirty="0">
              <a:latin typeface="Gill Sans MT" panose="020B0502020104020203"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RPC Operation</a:t>
            </a:r>
            <a:endParaRPr lang="en-US" dirty="0"/>
          </a:p>
        </p:txBody>
      </p:sp>
      <p:pic>
        <p:nvPicPr>
          <p:cNvPr id="4" name="object 6"/>
          <p:cNvPicPr>
            <a:picLocks noGrp="1"/>
          </p:cNvPicPr>
          <p:nvPr>
            <p:ph idx="1"/>
          </p:nvPr>
        </p:nvPicPr>
        <p:blipFill>
          <a:blip r:embed="rId1" cstate="print"/>
          <a:stretch>
            <a:fillRect/>
          </a:stretch>
        </p:blipFill>
        <p:spPr>
          <a:xfrm>
            <a:off x="1471360" y="1825625"/>
            <a:ext cx="9249280" cy="4351338"/>
          </a:xfrm>
          <a:prstGeom prst="rect">
            <a:avLst/>
          </a:prstGeom>
        </p:spPr>
      </p:pic>
      <p:sp>
        <p:nvSpPr>
          <p:cNvPr id="8" name="TextBox 7"/>
          <p:cNvSpPr txBox="1"/>
          <p:nvPr/>
        </p:nvSpPr>
        <p:spPr>
          <a:xfrm>
            <a:off x="1471361" y="6176963"/>
            <a:ext cx="9249279" cy="461665"/>
          </a:xfrm>
          <a:prstGeom prst="rect">
            <a:avLst/>
          </a:prstGeom>
          <a:noFill/>
        </p:spPr>
        <p:txBody>
          <a:bodyPr wrap="square">
            <a:spAutoFit/>
          </a:bodyPr>
          <a:lstStyle/>
          <a:p>
            <a:r>
              <a:rPr lang="en-US" sz="2400" dirty="0">
                <a:latin typeface="Gill Sans MT" panose="020B0502020104020203" pitchFamily="34" charset="0"/>
              </a:rPr>
              <a:t>6. The server does the work and returns the result to the stub.</a:t>
            </a:r>
            <a:endParaRPr lang="en-US" sz="2400" dirty="0">
              <a:latin typeface="Gill Sans MT" panose="020B0502020104020203"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RPC Operation</a:t>
            </a:r>
            <a:endParaRPr lang="en-US" dirty="0"/>
          </a:p>
        </p:txBody>
      </p:sp>
      <p:pic>
        <p:nvPicPr>
          <p:cNvPr id="4" name="object 6"/>
          <p:cNvPicPr>
            <a:picLocks noGrp="1"/>
          </p:cNvPicPr>
          <p:nvPr>
            <p:ph idx="1"/>
          </p:nvPr>
        </p:nvPicPr>
        <p:blipFill>
          <a:blip r:embed="rId1" cstate="print"/>
          <a:stretch>
            <a:fillRect/>
          </a:stretch>
        </p:blipFill>
        <p:spPr>
          <a:xfrm>
            <a:off x="1471360" y="1825625"/>
            <a:ext cx="9249280" cy="4351338"/>
          </a:xfrm>
          <a:prstGeom prst="rect">
            <a:avLst/>
          </a:prstGeom>
        </p:spPr>
      </p:pic>
      <p:sp>
        <p:nvSpPr>
          <p:cNvPr id="8" name="TextBox 7"/>
          <p:cNvSpPr txBox="1"/>
          <p:nvPr/>
        </p:nvSpPr>
        <p:spPr>
          <a:xfrm>
            <a:off x="1471361" y="6176963"/>
            <a:ext cx="9249279" cy="398780"/>
          </a:xfrm>
          <a:prstGeom prst="rect">
            <a:avLst/>
          </a:prstGeom>
          <a:noFill/>
        </p:spPr>
        <p:txBody>
          <a:bodyPr wrap="square">
            <a:spAutoFit/>
          </a:bodyPr>
          <a:lstStyle/>
          <a:p>
            <a:r>
              <a:rPr lang="en-US" sz="2000" dirty="0">
                <a:latin typeface="Gill Sans MT" panose="020B0502020104020203" pitchFamily="34" charset="0"/>
              </a:rPr>
              <a:t>7. The server stub packs the result in a message and calls its local OS.</a:t>
            </a:r>
            <a:endParaRPr lang="en-US" sz="2000" dirty="0">
              <a:latin typeface="Gill Sans MT" panose="020B0502020104020203"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RPC Operation</a:t>
            </a:r>
            <a:endParaRPr lang="en-US" dirty="0"/>
          </a:p>
        </p:txBody>
      </p:sp>
      <p:pic>
        <p:nvPicPr>
          <p:cNvPr id="4" name="object 6"/>
          <p:cNvPicPr>
            <a:picLocks noGrp="1"/>
          </p:cNvPicPr>
          <p:nvPr>
            <p:ph idx="1"/>
          </p:nvPr>
        </p:nvPicPr>
        <p:blipFill>
          <a:blip r:embed="rId1" cstate="print"/>
          <a:stretch>
            <a:fillRect/>
          </a:stretch>
        </p:blipFill>
        <p:spPr>
          <a:xfrm>
            <a:off x="1471360" y="1825625"/>
            <a:ext cx="9249280" cy="4351338"/>
          </a:xfrm>
          <a:prstGeom prst="rect">
            <a:avLst/>
          </a:prstGeom>
        </p:spPr>
      </p:pic>
      <p:sp>
        <p:nvSpPr>
          <p:cNvPr id="8" name="TextBox 7"/>
          <p:cNvSpPr txBox="1"/>
          <p:nvPr/>
        </p:nvSpPr>
        <p:spPr>
          <a:xfrm>
            <a:off x="1471361" y="6176963"/>
            <a:ext cx="9249279" cy="461665"/>
          </a:xfrm>
          <a:prstGeom prst="rect">
            <a:avLst/>
          </a:prstGeom>
          <a:noFill/>
        </p:spPr>
        <p:txBody>
          <a:bodyPr wrap="square">
            <a:spAutoFit/>
          </a:bodyPr>
          <a:lstStyle/>
          <a:p>
            <a:r>
              <a:rPr lang="en-US" sz="2400" dirty="0">
                <a:latin typeface="Gill Sans MT" panose="020B0502020104020203" pitchFamily="34" charset="0"/>
              </a:rPr>
              <a:t>8. The server’s OS sends the message to the client’s OS.</a:t>
            </a:r>
            <a:endParaRPr lang="en-US" sz="2400" dirty="0">
              <a:latin typeface="Gill Sans MT" panose="020B0502020104020203"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RPC Operation</a:t>
            </a:r>
            <a:endParaRPr lang="en-US" dirty="0"/>
          </a:p>
        </p:txBody>
      </p:sp>
      <p:pic>
        <p:nvPicPr>
          <p:cNvPr id="4" name="object 6"/>
          <p:cNvPicPr>
            <a:picLocks noGrp="1"/>
          </p:cNvPicPr>
          <p:nvPr>
            <p:ph idx="1"/>
          </p:nvPr>
        </p:nvPicPr>
        <p:blipFill>
          <a:blip r:embed="rId1" cstate="print"/>
          <a:stretch>
            <a:fillRect/>
          </a:stretch>
        </p:blipFill>
        <p:spPr>
          <a:xfrm>
            <a:off x="1471360" y="1825625"/>
            <a:ext cx="9249280" cy="4351338"/>
          </a:xfrm>
          <a:prstGeom prst="rect">
            <a:avLst/>
          </a:prstGeom>
        </p:spPr>
      </p:pic>
      <p:sp>
        <p:nvSpPr>
          <p:cNvPr id="8" name="TextBox 7"/>
          <p:cNvSpPr txBox="1"/>
          <p:nvPr/>
        </p:nvSpPr>
        <p:spPr>
          <a:xfrm>
            <a:off x="1471361" y="6176963"/>
            <a:ext cx="9249279" cy="461665"/>
          </a:xfrm>
          <a:prstGeom prst="rect">
            <a:avLst/>
          </a:prstGeom>
          <a:noFill/>
        </p:spPr>
        <p:txBody>
          <a:bodyPr wrap="square">
            <a:spAutoFit/>
          </a:bodyPr>
          <a:lstStyle/>
          <a:p>
            <a:r>
              <a:rPr lang="en-US" sz="2400" dirty="0">
                <a:latin typeface="Gill Sans MT" panose="020B0502020104020203" pitchFamily="34" charset="0"/>
              </a:rPr>
              <a:t>9. The client’s OS gives the message to the client stub.</a:t>
            </a:r>
            <a:endParaRPr lang="en-US" sz="2400" dirty="0">
              <a:latin typeface="Gill Sans MT" panose="020B0502020104020203"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RPC Operation</a:t>
            </a:r>
            <a:endParaRPr lang="en-US" dirty="0"/>
          </a:p>
        </p:txBody>
      </p:sp>
      <p:pic>
        <p:nvPicPr>
          <p:cNvPr id="4" name="object 6"/>
          <p:cNvPicPr>
            <a:picLocks noGrp="1"/>
          </p:cNvPicPr>
          <p:nvPr>
            <p:ph idx="1"/>
          </p:nvPr>
        </p:nvPicPr>
        <p:blipFill>
          <a:blip r:embed="rId1" cstate="print"/>
          <a:stretch>
            <a:fillRect/>
          </a:stretch>
        </p:blipFill>
        <p:spPr>
          <a:xfrm>
            <a:off x="1471360" y="1825625"/>
            <a:ext cx="9249280" cy="4351338"/>
          </a:xfrm>
          <a:prstGeom prst="rect">
            <a:avLst/>
          </a:prstGeom>
        </p:spPr>
      </p:pic>
      <p:sp>
        <p:nvSpPr>
          <p:cNvPr id="8" name="TextBox 7"/>
          <p:cNvSpPr txBox="1"/>
          <p:nvPr/>
        </p:nvSpPr>
        <p:spPr>
          <a:xfrm>
            <a:off x="1471361" y="6176963"/>
            <a:ext cx="9249279" cy="461665"/>
          </a:xfrm>
          <a:prstGeom prst="rect">
            <a:avLst/>
          </a:prstGeom>
          <a:noFill/>
        </p:spPr>
        <p:txBody>
          <a:bodyPr wrap="square">
            <a:spAutoFit/>
          </a:bodyPr>
          <a:lstStyle/>
          <a:p>
            <a:r>
              <a:rPr lang="en-US" sz="2400" dirty="0">
                <a:latin typeface="Gill Sans MT" panose="020B0502020104020203" pitchFamily="34" charset="0"/>
              </a:rPr>
              <a:t>10. The stub unpacks the result and returns it to the client.</a:t>
            </a:r>
            <a:endParaRPr lang="en-US" sz="2400" dirty="0">
              <a:latin typeface="Gill Sans MT" panose="020B0502020104020203"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Variations on RPC</a:t>
            </a:r>
            <a:endParaRPr lang="en-US" dirty="0"/>
          </a:p>
        </p:txBody>
      </p:sp>
      <p:sp>
        <p:nvSpPr>
          <p:cNvPr id="3" name="Content Placeholder 2"/>
          <p:cNvSpPr>
            <a:spLocks noGrp="1"/>
          </p:cNvSpPr>
          <p:nvPr>
            <p:ph idx="1"/>
          </p:nvPr>
        </p:nvSpPr>
        <p:spPr/>
        <p:txBody>
          <a:bodyPr/>
          <a:lstStyle/>
          <a:p>
            <a:r>
              <a:rPr lang="en-US" dirty="0"/>
              <a:t>As in conventional procedure calls, when a client calls a remote procedure, the client will block until a reply is returned. </a:t>
            </a:r>
            <a:endParaRPr lang="en-US" dirty="0"/>
          </a:p>
          <a:p>
            <a:r>
              <a:rPr lang="en-US" dirty="0">
                <a:solidFill>
                  <a:srgbClr val="FF0000"/>
                </a:solidFill>
              </a:rPr>
              <a:t>This strict request-reply behavior is unnecessary when there is no result to return, or may hinder efficiency when multiple RPCs need to be performed.</a:t>
            </a:r>
            <a:endParaRPr lang="en-US" dirty="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Asynchronous RPC</a:t>
            </a:r>
            <a:endParaRPr lang="en-US" dirty="0"/>
          </a:p>
        </p:txBody>
      </p:sp>
      <p:pic>
        <p:nvPicPr>
          <p:cNvPr id="10" name="Content Placeholder 9"/>
          <p:cNvPicPr>
            <a:picLocks noGrp="1" noChangeAspect="1"/>
          </p:cNvPicPr>
          <p:nvPr>
            <p:ph idx="1"/>
          </p:nvPr>
        </p:nvPicPr>
        <p:blipFill>
          <a:blip r:embed="rId1"/>
          <a:stretch>
            <a:fillRect/>
          </a:stretch>
        </p:blipFill>
        <p:spPr>
          <a:xfrm>
            <a:off x="3018995" y="2015054"/>
            <a:ext cx="6154009" cy="3972479"/>
          </a:xfr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Deferred Synchronous RPC</a:t>
            </a:r>
            <a:endParaRPr lang="en-US" dirty="0"/>
          </a:p>
        </p:txBody>
      </p:sp>
      <p:pic>
        <p:nvPicPr>
          <p:cNvPr id="4" name="object 5"/>
          <p:cNvPicPr>
            <a:picLocks noGrp="1"/>
          </p:cNvPicPr>
          <p:nvPr>
            <p:ph idx="1"/>
          </p:nvPr>
        </p:nvPicPr>
        <p:blipFill>
          <a:blip r:embed="rId1" cstate="print"/>
          <a:stretch>
            <a:fillRect/>
          </a:stretch>
        </p:blipFill>
        <p:spPr>
          <a:xfrm>
            <a:off x="1680672" y="1825625"/>
            <a:ext cx="8830656" cy="435133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5233</Words>
  <Application>WPS Presentation</Application>
  <PresentationFormat>Widescreen</PresentationFormat>
  <Paragraphs>136</Paragraphs>
  <Slides>25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25</vt:i4>
      </vt:variant>
    </vt:vector>
  </HeadingPairs>
  <TitlesOfParts>
    <vt:vector size="37" baseType="lpstr">
      <vt:lpstr>Arial</vt:lpstr>
      <vt:lpstr>SimSun</vt:lpstr>
      <vt:lpstr>Wingdings</vt:lpstr>
      <vt:lpstr>Gill Sans MT</vt:lpstr>
      <vt:lpstr>苹方-简</vt:lpstr>
      <vt:lpstr>Microsoft YaHei</vt:lpstr>
      <vt:lpstr>汉仪旗黑</vt:lpstr>
      <vt:lpstr>Arial Unicode MS</vt:lpstr>
      <vt:lpstr>Calibri</vt:lpstr>
      <vt:lpstr>Helvetica Neue</vt:lpstr>
      <vt:lpstr>汉仪书宋二KW</vt:lpstr>
      <vt:lpstr>Office Theme</vt:lpstr>
      <vt:lpstr>CSE 601: Distributed Systems</vt:lpstr>
      <vt:lpstr>Communication</vt:lpstr>
      <vt:lpstr>Middleware</vt:lpstr>
      <vt:lpstr>Middleware</vt:lpstr>
      <vt:lpstr>Types of Communication</vt:lpstr>
      <vt:lpstr>Persistent Communication</vt:lpstr>
      <vt:lpstr>Transient Communication</vt:lpstr>
      <vt:lpstr>Asynchronous Communication</vt:lpstr>
      <vt:lpstr>Synchronous Communication</vt:lpstr>
      <vt:lpstr>Types of Communication</vt:lpstr>
      <vt:lpstr>Remote Procedure Call</vt:lpstr>
      <vt:lpstr>RPC between a client and server program.</vt:lpstr>
      <vt:lpstr>Basic RPC Operation</vt:lpstr>
      <vt:lpstr>Basic RPC Operation</vt:lpstr>
      <vt:lpstr>Basic RPC Operation</vt:lpstr>
      <vt:lpstr>Basic RPC Operation</vt:lpstr>
      <vt:lpstr>Basic RPC Operation</vt:lpstr>
      <vt:lpstr>Basic RPC Operation</vt:lpstr>
      <vt:lpstr>Basic RPC Operation</vt:lpstr>
      <vt:lpstr>Basic RPC Operation</vt:lpstr>
      <vt:lpstr>Basic RPC Operation</vt:lpstr>
      <vt:lpstr>Basic RPC Operation</vt:lpstr>
      <vt:lpstr>Variations on RPC</vt:lpstr>
      <vt:lpstr>Asynchronous RPC</vt:lpstr>
      <vt:lpstr>Deferred Synchronous RPC</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Toukir Ahammed</dc:creator>
  <cp:lastModifiedBy>md.rakibulislam</cp:lastModifiedBy>
  <cp:revision>42</cp:revision>
  <dcterms:created xsi:type="dcterms:W3CDTF">2025-08-23T04:10:26Z</dcterms:created>
  <dcterms:modified xsi:type="dcterms:W3CDTF">2025-08-23T04:10:26Z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278BF0A0B7760933F2C6A668D357D16C_42</vt:lpwstr>
  </property>
  <property fmtid="{D5CDD505-2E9C-101B-9397-08002B2CF9AE}" pid="3" name="KSOProductBuildVer">
    <vt:lpwstr>1033-6.11.0.8608</vt:lpwstr>
  </property>
</Properties>
</file>