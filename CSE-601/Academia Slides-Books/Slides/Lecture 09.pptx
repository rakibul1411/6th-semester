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63" r:id="rId5"/>
    <p:sldId id="260" r:id="rId6"/>
    <p:sldId id="268" r:id="rId7"/>
    <p:sldId id="258" r:id="rId8"/>
    <p:sldId id="264" r:id="rId9"/>
    <p:sldId id="265" r:id="rId10"/>
    <p:sldId id="276" r:id="rId11"/>
    <p:sldId id="261" r:id="rId12"/>
    <p:sldId id="266" r:id="rId13"/>
    <p:sldId id="262" r:id="rId14"/>
    <p:sldId id="269" r:id="rId15"/>
    <p:sldId id="277" r:id="rId16"/>
    <p:sldId id="270" r:id="rId17"/>
    <p:sldId id="272" r:id="rId18"/>
    <p:sldId id="273" r:id="rId19"/>
    <p:sldId id="274" r:id="rId20"/>
    <p:sldId id="275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53B2A-649C-47D2-B149-313A822292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E89F-D0F4-4845-90C4-681A217667A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601: Distributed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Toukir Ahammed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deals with extending or replacing an existing interface so as to mimic the behavior of another system,</a:t>
            </a:r>
            <a:endParaRPr lang="en-US" dirty="0"/>
          </a:p>
        </p:txBody>
      </p:sp>
      <p:pic>
        <p:nvPicPr>
          <p:cNvPr id="4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8201" y="3153743"/>
            <a:ext cx="3411050" cy="2359961"/>
          </a:xfrm>
          <a:prstGeom prst="rect">
            <a:avLst/>
          </a:prstGeom>
        </p:spPr>
      </p:pic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42751" y="2806398"/>
            <a:ext cx="3411050" cy="3686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Traditional and Virtualized Environment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552" y="1690688"/>
            <a:ext cx="8160895" cy="435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172200" cy="466725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400" dirty="0"/>
              <a:t>Four different types of interfaces, at four different levels: 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between the hardware and software, consisting of </a:t>
            </a:r>
            <a:r>
              <a:rPr lang="en-US" sz="2400" b="1" dirty="0"/>
              <a:t>machine instructions </a:t>
            </a:r>
            <a:r>
              <a:rPr lang="en-US" sz="2400" dirty="0"/>
              <a:t>that can be invoked by any program.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between the hardware and software, consisting of machine instructions that can be invoked only by </a:t>
            </a:r>
            <a:r>
              <a:rPr lang="en-US" sz="2400" b="1" dirty="0"/>
              <a:t>privileged programs</a:t>
            </a:r>
            <a:r>
              <a:rPr lang="en-US" sz="2400" dirty="0"/>
              <a:t>, such as an operating system.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An interface consisting of </a:t>
            </a:r>
            <a:r>
              <a:rPr lang="en-US" sz="2400" b="1" dirty="0"/>
              <a:t>system calls </a:t>
            </a:r>
            <a:r>
              <a:rPr lang="en-US" sz="2400" dirty="0"/>
              <a:t>as offered by an operating system.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 An interface consisting of library calls, generally forming what is known as an </a:t>
            </a:r>
            <a:r>
              <a:rPr lang="en-US" sz="2400" b="1" dirty="0"/>
              <a:t>application programming interface </a:t>
            </a:r>
            <a:r>
              <a:rPr lang="en-US" sz="2400" dirty="0"/>
              <a:t>(</a:t>
            </a:r>
            <a:r>
              <a:rPr lang="en-US" sz="2400" b="1" dirty="0"/>
              <a:t>API</a:t>
            </a:r>
            <a:r>
              <a:rPr lang="en-US" sz="2400" dirty="0"/>
              <a:t>). </a:t>
            </a:r>
            <a:endParaRPr lang="en-US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010400" y="3196037"/>
            <a:ext cx="5181600" cy="2031833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Virtualization is a process of creating an abstraction layer over hardware, allowing a single computer to be divided into multiple virtual computers.</a:t>
            </a:r>
            <a:r>
              <a:rPr lang="en-US" dirty="0"/>
              <a:t> 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Each of those virtual computers (known as “guests”) uses part of the hardware resources of the main computer (known as a “host”).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The software used to achieve this is a hypervisor. </a:t>
            </a:r>
            <a:r>
              <a:rPr lang="en-US" dirty="0"/>
              <a:t>Hypervisors run on a host operating system and enable multiple guest operating systems to run on top of it, sharing the same physical computing resources managed by the host operating system.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Virtualization is important:</a:t>
            </a:r>
            <a:endParaRPr lang="en-US" dirty="0"/>
          </a:p>
          <a:p>
            <a:r>
              <a:rPr lang="en-US" dirty="0"/>
              <a:t>Hardware changes faster than software</a:t>
            </a:r>
            <a:endParaRPr lang="en-US" dirty="0"/>
          </a:p>
          <a:p>
            <a:r>
              <a:rPr lang="en-US" dirty="0"/>
              <a:t>Ease of portability and code migration</a:t>
            </a:r>
            <a:endParaRPr lang="en-US" dirty="0"/>
          </a:p>
          <a:p>
            <a:r>
              <a:rPr lang="en-US" dirty="0"/>
              <a:t>Isolation of failing or attacked components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a Hypervisor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63587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Virtualization wouldn’t be possible without a hypervisor (also known as a virtual machine monitor)</a:t>
            </a:r>
            <a:r>
              <a:rPr lang="en-US" dirty="0"/>
              <a:t> – a software layer enabling multiple operating systems to co-exist while sharing the resources of a single hardware host. </a:t>
            </a: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The hypervisor acts as an intermediary between virtual machines and the underlying hardware, allocating host resources such as memory, CPU, and storage.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787" y="2817442"/>
            <a:ext cx="5181600" cy="236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a hypervisor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Type 1 hypervisors</a:t>
            </a:r>
            <a:r>
              <a:rPr lang="en-US" dirty="0">
                <a:solidFill>
                  <a:srgbClr val="FF0000"/>
                </a:solidFill>
              </a:rPr>
              <a:t>, also known as bare-metal hypervisors</a:t>
            </a:r>
            <a:r>
              <a:rPr lang="en-US" dirty="0"/>
              <a:t>, run directly on the </a:t>
            </a:r>
            <a:r>
              <a:rPr lang="en-US" dirty="0">
                <a:solidFill>
                  <a:srgbClr val="FF0000"/>
                </a:solidFill>
              </a:rPr>
              <a:t>host’s hardware</a:t>
            </a:r>
            <a:r>
              <a:rPr lang="en-US" dirty="0"/>
              <a:t> and are responsible for managing the hardware resources and running the virtual machines. </a:t>
            </a:r>
            <a:endParaRPr lang="en-US" dirty="0"/>
          </a:p>
          <a:p>
            <a:pPr algn="just"/>
            <a:r>
              <a:rPr lang="en-US" dirty="0"/>
              <a:t>Examples of Type 1 hypervisors include VMware </a:t>
            </a:r>
            <a:r>
              <a:rPr lang="en-US" dirty="0" err="1"/>
              <a:t>ESXi</a:t>
            </a:r>
            <a:r>
              <a:rPr lang="en-US" dirty="0"/>
              <a:t>, Microsoft Hyper-V, and Citrix </a:t>
            </a:r>
            <a:r>
              <a:rPr lang="en-US" dirty="0" err="1"/>
              <a:t>XenServer</a:t>
            </a:r>
            <a:r>
              <a:rPr lang="en-US" dirty="0"/>
              <a:t>. </a:t>
            </a:r>
            <a:endParaRPr lang="en-US" dirty="0"/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Type 2 hypervisors</a:t>
            </a:r>
            <a:r>
              <a:rPr lang="en-US" dirty="0">
                <a:solidFill>
                  <a:srgbClr val="FF0000"/>
                </a:solidFill>
              </a:rPr>
              <a:t>, also known as hosted hypervisors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run on top of a host operating system</a:t>
            </a:r>
            <a:r>
              <a:rPr lang="en-US" dirty="0"/>
              <a:t> and rely on it to provide the necessary hardware resources and support. </a:t>
            </a:r>
            <a:endParaRPr lang="en-US" dirty="0"/>
          </a:p>
          <a:p>
            <a:pPr algn="just"/>
            <a:r>
              <a:rPr lang="en-US" dirty="0"/>
              <a:t>Examples of Type 2 hypervisors include VMware Workstation and Oracle VirtualBox.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Virtualization</a:t>
            </a:r>
            <a:endParaRPr lang="en-US" dirty="0"/>
          </a:p>
          <a:p>
            <a:r>
              <a:rPr lang="en-US" dirty="0"/>
              <a:t>Storage Virtualization</a:t>
            </a:r>
            <a:endParaRPr lang="en-US" dirty="0"/>
          </a:p>
          <a:p>
            <a:r>
              <a:rPr lang="en-US" dirty="0"/>
              <a:t>Network Virtualization</a:t>
            </a:r>
            <a:endParaRPr lang="en-US" dirty="0"/>
          </a:p>
          <a:p>
            <a:r>
              <a:rPr lang="en-US" dirty="0"/>
              <a:t>Application Virtualization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container can be thought of a collection of binaries (also called images) that jointly constitute the software environment for running applications.</a:t>
            </a:r>
            <a:endParaRPr lang="en-US" dirty="0"/>
          </a:p>
          <a:p>
            <a:pPr algn="just"/>
            <a:r>
              <a:rPr lang="en-US" dirty="0"/>
              <a:t>A container is a lightweight alternative to full machine virtualization, which involves encapsulating an application in an isolated operating environment, with all the files and libraries it needs to operate. </a:t>
            </a:r>
            <a:endParaRPr lang="en-US" dirty="0"/>
          </a:p>
          <a:p>
            <a:pPr algn="just"/>
            <a:r>
              <a:rPr lang="en-US" dirty="0"/>
              <a:t>Every containerized application can share the host system’s user space, while still maintaining its individual system processes, environment variables, and libraries.</a:t>
            </a:r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containerization?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Containerization also allows users to run many instances on a single physical host, but it does so without needing the hypervisor to act as an intermediary. 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Instead, the functionality of </a:t>
            </a:r>
            <a:r>
              <a:rPr lang="en-US" dirty="0">
                <a:solidFill>
                  <a:srgbClr val="FF0000"/>
                </a:solidFill>
              </a:rPr>
              <a:t>the host system kernel</a:t>
            </a:r>
            <a:r>
              <a:rPr lang="en-US" dirty="0"/>
              <a:t> is used to isolate multiple independent instances (containers). </a:t>
            </a:r>
            <a:endParaRPr lang="en-US" dirty="0"/>
          </a:p>
          <a:p>
            <a:pPr algn="just"/>
            <a:r>
              <a:rPr lang="en-US" dirty="0"/>
              <a:t>By sharing the host kernel and operating system, containers avoid the overhead of virtualization, as there’s no need to provide a separate virtual kernel and OS for each instance.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Application Containers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372069" cy="4351338"/>
          </a:xfrm>
        </p:spPr>
        <p:txBody>
          <a:bodyPr/>
          <a:lstStyle/>
          <a:p>
            <a:pPr algn="just"/>
            <a:r>
              <a:rPr lang="en-US" dirty="0"/>
              <a:t>Application containers (such as Docker), also known as process containers, package and run a single process or a service per container. </a:t>
            </a:r>
            <a:endParaRPr lang="en-US" dirty="0"/>
          </a:p>
          <a:p>
            <a:pPr algn="just"/>
            <a:r>
              <a:rPr lang="en-US" dirty="0"/>
              <a:t>They are packaged along with all the libraries, dependencies, and configuration files they need, allowing them to be run consistently across different environments. 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3076" name="Picture 4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37"/>
          <a:stretch>
            <a:fillRect/>
          </a:stretch>
        </p:blipFill>
        <p:spPr bwMode="auto">
          <a:xfrm>
            <a:off x="7563743" y="1381785"/>
            <a:ext cx="4269742" cy="511109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pic>
        <p:nvPicPr>
          <p:cNvPr id="4098" name="Picture 2" descr="Containerization vs. virtualization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6"/>
          <a:stretch>
            <a:fillRect/>
          </a:stretch>
        </p:blipFill>
        <p:spPr bwMode="auto">
          <a:xfrm>
            <a:off x="2683239" y="2602073"/>
            <a:ext cx="6825522" cy="389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38200" y="1549777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Virtualization and containerization are the two most frequently used mechanisms to host applications in a computer system.</a:t>
            </a:r>
            <a:endParaRPr lang="en-US" sz="28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Resource Overhead</a:t>
            </a:r>
            <a:endParaRPr lang="en-US" b="1" dirty="0"/>
          </a:p>
          <a:p>
            <a:pPr algn="just"/>
            <a:r>
              <a:rPr lang="en-US" dirty="0"/>
              <a:t>When comparing containerization vs virtualization in terms of resource overhead, containerization is the clear winner. </a:t>
            </a:r>
            <a:endParaRPr lang="en-US" dirty="0"/>
          </a:p>
          <a:p>
            <a:pPr algn="just"/>
            <a:r>
              <a:rPr lang="en-US" dirty="0"/>
              <a:t>Because containers share the host system’s operating system, and do not need to run a full operating system, they are significantly more lightweight and consume fewer resources. </a:t>
            </a:r>
            <a:endParaRPr lang="en-US" dirty="0"/>
          </a:p>
          <a:p>
            <a:pPr algn="just"/>
            <a:r>
              <a:rPr lang="en-US" dirty="0"/>
              <a:t>Virtual machines, on the other hand, each require their own OS, which increases the overhead.</a:t>
            </a:r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Startup Time</a:t>
            </a:r>
            <a:endParaRPr lang="en-US" b="1" dirty="0"/>
          </a:p>
          <a:p>
            <a:pPr algn="just"/>
            <a:r>
              <a:rPr lang="en-US" dirty="0"/>
              <a:t>In general, containers start up more quickly than VMs, because they don’t have to start up an entire operating system. </a:t>
            </a:r>
            <a:endParaRPr lang="en-US" dirty="0"/>
          </a:p>
          <a:p>
            <a:pPr algn="just"/>
            <a:r>
              <a:rPr lang="en-US" dirty="0"/>
              <a:t>Virtual machines take much longer to boot up. </a:t>
            </a:r>
            <a:endParaRPr lang="en-US" dirty="0"/>
          </a:p>
          <a:p>
            <a:pPr algn="just"/>
            <a:r>
              <a:rPr lang="en-US" dirty="0"/>
              <a:t>This means containers are more flexible and can be torn down and restarted whenever needed, supporting immutability, which means that a resource never changes after being deployed.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Portability</a:t>
            </a:r>
            <a:endParaRPr lang="en-US" b="1" dirty="0"/>
          </a:p>
          <a:p>
            <a:pPr algn="just"/>
            <a:r>
              <a:rPr lang="en-US" dirty="0"/>
              <a:t>Both containers and virtual machines offer a high degree of portability.</a:t>
            </a:r>
            <a:endParaRPr lang="en-US" dirty="0"/>
          </a:p>
          <a:p>
            <a:pPr algn="just"/>
            <a:r>
              <a:rPr lang="en-US" dirty="0"/>
              <a:t>However, containers have a slight edge because they package the application and all of its dependencies together into a single unit, which can be run on any system that supports the container platform.</a:t>
            </a:r>
            <a:endParaRPr lang="en-US" dirty="0"/>
          </a:p>
          <a:p>
            <a:pPr algn="just"/>
            <a:r>
              <a:rPr lang="en-US" dirty="0"/>
              <a:t>Virtual machines, while also portable, are more dependent on the underlying hardware.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Security Isolation</a:t>
            </a:r>
            <a:endParaRPr lang="en-US" b="1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In terms of security isolation, virtual machines have the advantage.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Because each VM is completely isolated from the host system and other VMs, a security breach in one VM typically does not affect the others (although it is possible to compromise the hypervisor and take control of all VMs on the device). </a:t>
            </a:r>
            <a:endParaRPr lang="en-US" dirty="0"/>
          </a:p>
          <a:p>
            <a:pPr algn="just"/>
            <a:r>
              <a:rPr lang="en-US" dirty="0"/>
              <a:t>Containers, while isolated from each other, still share the host system’s OS, so a breach in one container could possibly leak to other containers.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Containerization vs. Virtualization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Scalability and Management</a:t>
            </a:r>
            <a:endParaRPr lang="en-US" b="1" dirty="0"/>
          </a:p>
          <a:p>
            <a:pPr algn="just"/>
            <a:r>
              <a:rPr lang="en-US" dirty="0"/>
              <a:t>The lightweight nature and rapid startup time offered by containers make them ideal for scaling applications quickly and efficiently. </a:t>
            </a:r>
            <a:endParaRPr lang="en-US" dirty="0"/>
          </a:p>
          <a:p>
            <a:pPr algn="just"/>
            <a:r>
              <a:rPr lang="en-US" dirty="0"/>
              <a:t>They also lend themselves well to the microservices architecture, which can simplify the management of complex applications. </a:t>
            </a:r>
            <a:endParaRPr lang="en-US" dirty="0"/>
          </a:p>
          <a:p>
            <a:pPr algn="just"/>
            <a:r>
              <a:rPr lang="en-US" dirty="0"/>
              <a:t>Virtual machines, while also scalable, are more resource-intensive and take longer to start, making them less suitable for microservices and distributed applications.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Virtualization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Legacy Applications</a:t>
            </a:r>
            <a:endParaRPr lang="en-US" dirty="0"/>
          </a:p>
          <a:p>
            <a:r>
              <a:rPr lang="en-US" dirty="0"/>
              <a:t>Environments Needing Strong Isolation</a:t>
            </a:r>
            <a:endParaRPr lang="en-US" dirty="0"/>
          </a:p>
          <a:p>
            <a:r>
              <a:rPr lang="en-US" dirty="0"/>
              <a:t>IaaS Scenarios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Containerization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Architectures</a:t>
            </a:r>
            <a:endParaRPr lang="en-US" dirty="0"/>
          </a:p>
          <a:p>
            <a:r>
              <a:rPr lang="en-US" dirty="0"/>
              <a:t>CI/CD</a:t>
            </a:r>
            <a:endParaRPr lang="en-US" dirty="0"/>
          </a:p>
          <a:p>
            <a:r>
              <a:rPr lang="en-US" dirty="0"/>
              <a:t>PaaS Scenarios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6413</Words>
  <Application>WPS Presentation</Application>
  <PresentationFormat>Widescreen</PresentationFormat>
  <Paragraphs>123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Gill Sans MT</vt:lpstr>
      <vt:lpstr>苹方-简</vt:lpstr>
      <vt:lpstr>Microsoft YaHei</vt:lpstr>
      <vt:lpstr>汉仪旗黑</vt:lpstr>
      <vt:lpstr>Arial Unicode MS</vt:lpstr>
      <vt:lpstr>Calibri</vt:lpstr>
      <vt:lpstr>Helvetica Neue</vt:lpstr>
      <vt:lpstr>汉仪书宋二KW</vt:lpstr>
      <vt:lpstr>Office Theme</vt:lpstr>
      <vt:lpstr>CSE 601: Distributed Systems</vt:lpstr>
      <vt:lpstr>Virtualization</vt:lpstr>
      <vt:lpstr> Traditional and Virtualized Environment</vt:lpstr>
      <vt:lpstr>Virtualization</vt:lpstr>
      <vt:lpstr>Virtualization</vt:lpstr>
      <vt:lpstr>Virtualization</vt:lpstr>
      <vt:lpstr>The role of a Hypervisor</vt:lpstr>
      <vt:lpstr>The role of a hypervisor</vt:lpstr>
      <vt:lpstr>Types of Virtualization</vt:lpstr>
      <vt:lpstr>Containers</vt:lpstr>
      <vt:lpstr>What is containerization?</vt:lpstr>
      <vt:lpstr>Application Containers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Containerization vs. Virtualization</vt:lpstr>
      <vt:lpstr>Use Cases for Virtualization </vt:lpstr>
      <vt:lpstr>Use Cases for Containerization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Toukir Ahammed</dc:creator>
  <cp:lastModifiedBy>Rakibul</cp:lastModifiedBy>
  <cp:revision>45</cp:revision>
  <dcterms:created xsi:type="dcterms:W3CDTF">2025-08-21T15:21:47Z</dcterms:created>
  <dcterms:modified xsi:type="dcterms:W3CDTF">2025-08-21T15:21:47Z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9CE530C734AA06648B39A76810309D2E_42</vt:lpwstr>
  </property>
  <property fmtid="{D5CDD505-2E9C-101B-9397-08002B2CF9AE}" pid="3" name="KSOProductBuildVer">
    <vt:lpwstr>1033-6.11.0.8608</vt:lpwstr>
  </property>
</Properties>
</file>