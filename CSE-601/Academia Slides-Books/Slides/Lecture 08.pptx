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3"/>
    <p:sldId id="260" r:id="rId4"/>
    <p:sldId id="279" r:id="rId5"/>
    <p:sldId id="280" r:id="rId6"/>
    <p:sldId id="266" r:id="rId7"/>
    <p:sldId id="267" r:id="rId8"/>
    <p:sldId id="277" r:id="rId9"/>
    <p:sldId id="278" r:id="rId10"/>
    <p:sldId id="276" r:id="rId11"/>
    <p:sldId id="272" r:id="rId12"/>
    <p:sldId id="262" r:id="rId13"/>
    <p:sldId id="263" r:id="rId14"/>
    <p:sldId id="281" r:id="rId15"/>
    <p:sldId id="273" r:id="rId16"/>
    <p:sldId id="264" r:id="rId17"/>
    <p:sldId id="282" r:id="rId18"/>
    <p:sldId id="271"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53B2A-649C-47D2-B149-313A8222923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3E89F-D0F4-4845-90C4-681A217667A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Autofit/>
          </a:bodyPr>
          <a:lstStyle>
            <a:lvl1pPr marL="0" indent="0" algn="ctr">
              <a:buNone/>
              <a:defRPr sz="40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lvl1pPr>
              <a:defRPr>
                <a:latin typeface="Gill Sans MT" panose="020B0502020104020203" pitchFamily="34" charset="0"/>
              </a:defRPr>
            </a:lvl1pPr>
          </a:lstStyle>
          <a:p>
            <a:fld id="{DADE2353-34E2-4DBF-AFB1-31497BAECD2D}" type="datetimeFigureOut">
              <a:rPr lang="en-US" smtClean="0"/>
            </a:fld>
            <a:endParaRPr lang="en-US" dirty="0"/>
          </a:p>
        </p:txBody>
      </p:sp>
      <p:sp>
        <p:nvSpPr>
          <p:cNvPr id="5" name="Footer Placeholder 4"/>
          <p:cNvSpPr>
            <a:spLocks noGrp="1"/>
          </p:cNvSpPr>
          <p:nvPr>
            <p:ph type="ftr" sz="quarter" idx="11"/>
          </p:nvPr>
        </p:nvSpPr>
        <p:spPr/>
        <p:txBody>
          <a:bodyPr/>
          <a:lstStyle>
            <a:lvl1pPr>
              <a:defRPr>
                <a:latin typeface="Gill Sans MT" panose="020B05020201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Gill Sans MT" panose="020B0502020104020203" pitchFamily="34" charset="0"/>
              </a:defRPr>
            </a:lvl1pPr>
          </a:lstStyle>
          <a:p>
            <a:fld id="{8170D8CF-7E31-4249-BDB4-34EBE6CF332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DADE2353-34E2-4DBF-AFB1-31497BAECD2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DADE2353-34E2-4DBF-AFB1-31497BAECD2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DE2353-34E2-4DBF-AFB1-31497BAECD2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DE2353-34E2-4DBF-AFB1-31497BAECD2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70D8CF-7E31-4249-BDB4-34EBE6CF332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CSE 601: Distributed Systems</a:t>
            </a:r>
            <a:endParaRPr lang="en-US" dirty="0"/>
          </a:p>
        </p:txBody>
      </p:sp>
      <p:sp>
        <p:nvSpPr>
          <p:cNvPr id="3" name="Subtitle 2"/>
          <p:cNvSpPr>
            <a:spLocks noGrp="1"/>
          </p:cNvSpPr>
          <p:nvPr>
            <p:ph type="subTitle" idx="1"/>
          </p:nvPr>
        </p:nvSpPr>
        <p:spPr/>
        <p:txBody>
          <a:bodyPr/>
          <a:lstStyle/>
          <a:p>
            <a:r>
              <a:rPr lang="en-US" dirty="0"/>
              <a:t>Toukir Ahammed</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threads</a:t>
            </a:r>
            <a:endParaRPr lang="en-US" dirty="0"/>
          </a:p>
        </p:txBody>
      </p:sp>
      <p:sp>
        <p:nvSpPr>
          <p:cNvPr id="3" name="Content Placeholder 2"/>
          <p:cNvSpPr>
            <a:spLocks noGrp="1"/>
          </p:cNvSpPr>
          <p:nvPr>
            <p:ph idx="1"/>
          </p:nvPr>
        </p:nvSpPr>
        <p:spPr>
          <a:xfrm>
            <a:off x="838200" y="1855605"/>
            <a:ext cx="10515600" cy="4351338"/>
          </a:xfrm>
        </p:spPr>
        <p:txBody>
          <a:bodyPr>
            <a:normAutofit/>
          </a:bodyPr>
          <a:lstStyle/>
          <a:p>
            <a:pPr algn="just"/>
            <a:r>
              <a:rPr lang="en-US" dirty="0"/>
              <a:t>Although processes form a building block in distributed systems, practice indicates that the granularity of processes as provided by the operating systems on which distributed systems are built is not sufficient.</a:t>
            </a:r>
            <a:endParaRPr lang="en-US" dirty="0"/>
          </a:p>
          <a:p>
            <a:pPr algn="just"/>
            <a:r>
              <a:rPr lang="en-US" dirty="0"/>
              <a:t>Instead, it turns out that having a finer granularity in the form of multiple threads of control per process makes it much easier to build distributed applications and to attain better performance.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8455"/>
            <a:ext cx="10515600" cy="904875"/>
          </a:xfrm>
        </p:spPr>
        <p:txBody>
          <a:bodyPr/>
          <a:lstStyle/>
          <a:p>
            <a:r>
              <a:rPr lang="en-US" dirty="0"/>
              <a:t>Process</a:t>
            </a:r>
            <a:endParaRPr lang="en-US" dirty="0"/>
          </a:p>
        </p:txBody>
      </p:sp>
      <p:sp>
        <p:nvSpPr>
          <p:cNvPr id="3" name="Content Placeholder 2"/>
          <p:cNvSpPr>
            <a:spLocks noGrp="1"/>
          </p:cNvSpPr>
          <p:nvPr>
            <p:ph idx="1"/>
          </p:nvPr>
        </p:nvSpPr>
        <p:spPr>
          <a:xfrm>
            <a:off x="838200" y="1324610"/>
            <a:ext cx="10515600" cy="4351338"/>
          </a:xfrm>
        </p:spPr>
        <p:txBody>
          <a:bodyPr>
            <a:normAutofit/>
          </a:bodyPr>
          <a:lstStyle/>
          <a:p>
            <a:pPr algn="just"/>
            <a:r>
              <a:rPr lang="en-US" dirty="0"/>
              <a:t>To execute a program, an operating system creates a number of virtual processors, each one for running a different program. </a:t>
            </a:r>
            <a:endParaRPr lang="en-US" dirty="0"/>
          </a:p>
          <a:p>
            <a:pPr algn="just"/>
            <a:r>
              <a:rPr lang="en-US" dirty="0"/>
              <a:t>To keep track of these virtual processors, the operating system has a </a:t>
            </a:r>
            <a:r>
              <a:rPr lang="en-US" b="1" dirty="0">
                <a:solidFill>
                  <a:srgbClr val="FF0000"/>
                </a:solidFill>
              </a:rPr>
              <a:t>process table</a:t>
            </a:r>
            <a:r>
              <a:rPr lang="en-US" dirty="0"/>
              <a:t>, containing entries to store CPU register values, memory maps, open files, accounting information, privileges, etc. </a:t>
            </a:r>
            <a:endParaRPr lang="en-US" dirty="0"/>
          </a:p>
          <a:p>
            <a:pPr algn="just"/>
            <a:r>
              <a:rPr lang="en-US" dirty="0">
                <a:solidFill>
                  <a:srgbClr val="FF0000"/>
                </a:solidFill>
              </a:rPr>
              <a:t>A </a:t>
            </a:r>
            <a:r>
              <a:rPr lang="en-US" b="1" dirty="0">
                <a:solidFill>
                  <a:srgbClr val="FF0000"/>
                </a:solidFill>
              </a:rPr>
              <a:t>process </a:t>
            </a:r>
            <a:r>
              <a:rPr lang="en-US" dirty="0">
                <a:solidFill>
                  <a:srgbClr val="FF0000"/>
                </a:solidFill>
              </a:rPr>
              <a:t>is often defined as a program in execution, that is, a program that is currently being executed on one of the operating system’s virtual processors.</a:t>
            </a:r>
            <a:endParaRPr lang="en-US" dirty="0">
              <a:solidFill>
                <a:srgbClr val="FF0000"/>
              </a:solidFill>
            </a:endParaRPr>
          </a:p>
          <a:p>
            <a:pPr algn="just"/>
            <a:r>
              <a:rPr lang="en-US" dirty="0"/>
              <a:t>The fact that multiple processes may be concurrently sharing the same CPU and other hardware resources is made transparent.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Threads</a:t>
            </a:r>
            <a:endParaRPr lang="en-US" dirty="0"/>
          </a:p>
        </p:txBody>
      </p:sp>
      <p:sp>
        <p:nvSpPr>
          <p:cNvPr id="3" name="Content Placeholder 2"/>
          <p:cNvSpPr>
            <a:spLocks noGrp="1"/>
          </p:cNvSpPr>
          <p:nvPr>
            <p:ph idx="1"/>
          </p:nvPr>
        </p:nvSpPr>
        <p:spPr/>
        <p:txBody>
          <a:bodyPr>
            <a:normAutofit/>
          </a:bodyPr>
          <a:lstStyle/>
          <a:p>
            <a:pPr algn="just"/>
            <a:r>
              <a:rPr lang="en-US" dirty="0">
                <a:solidFill>
                  <a:srgbClr val="FF0000"/>
                </a:solidFill>
              </a:rPr>
              <a:t>Thread means a segment of a process.</a:t>
            </a:r>
            <a:endParaRPr lang="en-US" dirty="0">
              <a:solidFill>
                <a:srgbClr val="FF0000"/>
              </a:solidFill>
            </a:endParaRPr>
          </a:p>
          <a:p>
            <a:pPr algn="just"/>
            <a:r>
              <a:rPr lang="en-US" dirty="0"/>
              <a:t>Like a process, </a:t>
            </a:r>
            <a:r>
              <a:rPr lang="en-US" dirty="0">
                <a:solidFill>
                  <a:srgbClr val="FF0000"/>
                </a:solidFill>
              </a:rPr>
              <a:t>a thread executes its own piece of code, independently from other threads.</a:t>
            </a:r>
            <a:r>
              <a:rPr lang="en-US" dirty="0"/>
              <a:t> </a:t>
            </a:r>
            <a:endParaRPr lang="en-US" dirty="0"/>
          </a:p>
          <a:p>
            <a:pPr algn="just"/>
            <a:r>
              <a:rPr lang="en-US" dirty="0"/>
              <a:t>However, in contrast to processes, no attempt is made to achieve a high degree of concurrency transparency if this would result in performance degradation. </a:t>
            </a:r>
            <a:endParaRPr lang="en-US" dirty="0"/>
          </a:p>
          <a:p>
            <a:pPr algn="just"/>
            <a:r>
              <a:rPr lang="en-US" dirty="0"/>
              <a:t>Therefore, a thread system generally maintains only the minimum information to allow a CPU to be shared by several threads.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threads?</a:t>
            </a:r>
            <a:endParaRPr lang="en-US" dirty="0"/>
          </a:p>
        </p:txBody>
      </p:sp>
      <p:sp>
        <p:nvSpPr>
          <p:cNvPr id="3" name="Content Placeholder 2"/>
          <p:cNvSpPr>
            <a:spLocks noGrp="1"/>
          </p:cNvSpPr>
          <p:nvPr>
            <p:ph idx="1"/>
          </p:nvPr>
        </p:nvSpPr>
        <p:spPr/>
        <p:txBody>
          <a:bodyPr>
            <a:normAutofit/>
          </a:bodyPr>
          <a:lstStyle/>
          <a:p>
            <a:pPr algn="just"/>
            <a:r>
              <a:rPr lang="en-US" dirty="0"/>
              <a:t>Process switching is generally (somewhat) more expensive as it involves the OS.</a:t>
            </a:r>
            <a:endParaRPr lang="en-US" dirty="0"/>
          </a:p>
          <a:p>
            <a:pPr algn="just"/>
            <a:r>
              <a:rPr lang="en-US" dirty="0"/>
              <a:t>Thread context switching can be done entirely independent of the operating system.</a:t>
            </a:r>
            <a:endParaRPr lang="en-US" dirty="0"/>
          </a:p>
          <a:p>
            <a:pPr algn="just"/>
            <a:r>
              <a:rPr lang="en-US" dirty="0"/>
              <a:t>Creating and destroying threads is much cheaper than doing so for processes.</a:t>
            </a:r>
            <a:endParaRPr lang="en-US" dirty="0"/>
          </a:p>
          <a:p>
            <a:pPr algn="just"/>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threads?</a:t>
            </a:r>
            <a:endParaRPr lang="en-US" dirty="0"/>
          </a:p>
        </p:txBody>
      </p:sp>
      <p:sp>
        <p:nvSpPr>
          <p:cNvPr id="3" name="Content Placeholder 2"/>
          <p:cNvSpPr>
            <a:spLocks noGrp="1"/>
          </p:cNvSpPr>
          <p:nvPr>
            <p:ph idx="1"/>
          </p:nvPr>
        </p:nvSpPr>
        <p:spPr/>
        <p:txBody>
          <a:bodyPr/>
          <a:lstStyle/>
          <a:p>
            <a:pPr algn="just"/>
            <a:r>
              <a:rPr lang="en-US" dirty="0">
                <a:solidFill>
                  <a:srgbClr val="FF0000"/>
                </a:solidFill>
              </a:rPr>
              <a:t>Avoid needless blocking:</a:t>
            </a:r>
            <a:r>
              <a:rPr lang="en-US" dirty="0"/>
              <a:t> a single-threaded process will block when doing I/O; in a multithreaded process, the operating system can switch the CPU to another thread in that process.</a:t>
            </a:r>
            <a:endParaRPr lang="en-US" dirty="0"/>
          </a:p>
          <a:p>
            <a:pPr algn="just"/>
            <a:r>
              <a:rPr lang="en-US" dirty="0">
                <a:solidFill>
                  <a:srgbClr val="FF0000"/>
                </a:solidFill>
              </a:rPr>
              <a:t>Exploit parallelism:</a:t>
            </a:r>
            <a:r>
              <a:rPr lang="en-US" dirty="0"/>
              <a:t> the threads in a multithreaded process can be scheduled to run in parallel on a multiprocessor or multicore processor.</a:t>
            </a:r>
            <a:endParaRPr lang="en-US" dirty="0"/>
          </a:p>
          <a:p>
            <a:pPr algn="just"/>
            <a:r>
              <a:rPr lang="en-US" dirty="0">
                <a:solidFill>
                  <a:srgbClr val="FF0000"/>
                </a:solidFill>
              </a:rPr>
              <a:t>Avoid process switching:</a:t>
            </a:r>
            <a:r>
              <a:rPr lang="en-US" dirty="0"/>
              <a:t> structure large applications not as a collection of processes, but through multiple threads.</a:t>
            </a:r>
            <a:endParaRPr lang="en-US" dirty="0"/>
          </a:p>
          <a:p>
            <a:pPr algn="just"/>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threads?</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a:t>There is also a pure </a:t>
            </a:r>
            <a:r>
              <a:rPr lang="en-US" dirty="0">
                <a:solidFill>
                  <a:srgbClr val="FF0000"/>
                </a:solidFill>
              </a:rPr>
              <a:t>software engineering</a:t>
            </a:r>
            <a:r>
              <a:rPr lang="en-US" dirty="0"/>
              <a:t> reason to use threads:</a:t>
            </a:r>
            <a:endParaRPr lang="en-US" dirty="0"/>
          </a:p>
          <a:p>
            <a:pPr algn="just"/>
            <a:r>
              <a:rPr lang="en-US" dirty="0"/>
              <a:t>Many applications are simply easier to structure as a collection of cooperating threads. </a:t>
            </a:r>
            <a:endParaRPr lang="en-US" dirty="0"/>
          </a:p>
          <a:p>
            <a:pPr algn="just"/>
            <a:r>
              <a:rPr lang="en-US" dirty="0"/>
              <a:t>Think of applications that need to perform several (more or less independent) tasks. </a:t>
            </a:r>
            <a:endParaRPr lang="en-US" dirty="0"/>
          </a:p>
          <a:p>
            <a:pPr algn="just"/>
            <a:r>
              <a:rPr lang="en-US" dirty="0"/>
              <a:t>For example, in the case of a word processor, separate threads can be used for handling user input, spelling and grammar checking, document layout, index generation, etc.</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threads?</a:t>
            </a:r>
            <a:endParaRPr lang="en-US" dirty="0"/>
          </a:p>
        </p:txBody>
      </p:sp>
      <p:sp>
        <p:nvSpPr>
          <p:cNvPr id="3" name="Content Placeholder 2"/>
          <p:cNvSpPr>
            <a:spLocks noGrp="1"/>
          </p:cNvSpPr>
          <p:nvPr>
            <p:ph idx="1"/>
          </p:nvPr>
        </p:nvSpPr>
        <p:spPr/>
        <p:txBody>
          <a:bodyPr>
            <a:normAutofit/>
          </a:bodyPr>
          <a:lstStyle/>
          <a:p>
            <a:r>
              <a:rPr lang="en-US" dirty="0"/>
              <a:t>Instead of using processes, an application can also be constructed such that different parts are executed by separate threads.</a:t>
            </a:r>
            <a:endParaRPr lang="en-US" dirty="0"/>
          </a:p>
          <a:p>
            <a:r>
              <a:rPr lang="en-US" dirty="0"/>
              <a:t>Communication between those parts is entirely dealt with by using shared data. </a:t>
            </a:r>
            <a:endParaRPr lang="en-US" dirty="0"/>
          </a:p>
          <a:p>
            <a:r>
              <a:rPr lang="en-US" dirty="0"/>
              <a:t>Thread switching can sometimes be done entirely in user space. </a:t>
            </a:r>
            <a:endParaRPr lang="en-US" dirty="0"/>
          </a:p>
          <a:p>
            <a:r>
              <a:rPr lang="en-US" dirty="0"/>
              <a:t>The effect can be a dramatic improvement in performance.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usage in </a:t>
            </a:r>
            <a:r>
              <a:rPr lang="en-US" dirty="0" err="1"/>
              <a:t>nondistributed</a:t>
            </a:r>
            <a:r>
              <a:rPr lang="en-US" dirty="0"/>
              <a:t> systems</a:t>
            </a:r>
            <a:endParaRPr lang="en-US" dirty="0"/>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Ø"/>
            </a:pPr>
            <a:r>
              <a:rPr lang="en-US" dirty="0"/>
              <a:t>Consider an application such as a spreadsheet program, and assume that a user continuously and interactively wants to change values. </a:t>
            </a:r>
            <a:endParaRPr lang="en-US" dirty="0"/>
          </a:p>
          <a:p>
            <a:pPr algn="just">
              <a:buFont typeface="Wingdings" panose="05000000000000000000" pitchFamily="2" charset="2"/>
              <a:buChar char="Ø"/>
            </a:pPr>
            <a:r>
              <a:rPr lang="en-US" dirty="0"/>
              <a:t>An important property of a spreadsheet program is that it maintains the functional dependencies between different cells, often from different spreadsheets. </a:t>
            </a:r>
            <a:endParaRPr lang="en-US" dirty="0"/>
          </a:p>
          <a:p>
            <a:pPr algn="just">
              <a:buFont typeface="Wingdings" panose="05000000000000000000" pitchFamily="2" charset="2"/>
              <a:buChar char="Ø"/>
            </a:pPr>
            <a:r>
              <a:rPr lang="en-US" dirty="0"/>
              <a:t>Therefore, whenever a cell is modified, all dependent cells are automatically updated. </a:t>
            </a:r>
            <a:endParaRPr lang="en-US" dirty="0"/>
          </a:p>
          <a:p>
            <a:pPr algn="just">
              <a:buFont typeface="Wingdings" panose="05000000000000000000" pitchFamily="2" charset="2"/>
              <a:buChar char="Ø"/>
            </a:pPr>
            <a:r>
              <a:rPr lang="en-US" dirty="0"/>
              <a:t>When a user changes the value in a single cell, such a modification can trigger a large series of computations.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usage in </a:t>
            </a:r>
            <a:r>
              <a:rPr lang="en-US" dirty="0" err="1"/>
              <a:t>nondistributed</a:t>
            </a:r>
            <a:r>
              <a:rPr lang="en-US" dirty="0"/>
              <a:t> systems</a:t>
            </a:r>
            <a:endParaRPr lang="en-US" dirty="0"/>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Ø"/>
            </a:pPr>
            <a:r>
              <a:rPr lang="en-US" dirty="0"/>
              <a:t>If there is only a single thread of control, computation cannot proceed while the program is waiting for input. </a:t>
            </a:r>
            <a:endParaRPr lang="en-US" dirty="0"/>
          </a:p>
          <a:p>
            <a:pPr algn="just">
              <a:buFont typeface="Wingdings" panose="05000000000000000000" pitchFamily="2" charset="2"/>
              <a:buChar char="Ø"/>
            </a:pPr>
            <a:r>
              <a:rPr lang="en-US" dirty="0"/>
              <a:t>Likewise, it is not easy to provide input while dependencies are being calculated.  </a:t>
            </a:r>
            <a:endParaRPr lang="en-US" dirty="0"/>
          </a:p>
          <a:p>
            <a:pPr algn="just">
              <a:buFont typeface="Wingdings" panose="05000000000000000000" pitchFamily="2" charset="2"/>
              <a:buChar char="Ø"/>
            </a:pPr>
            <a:r>
              <a:rPr lang="en-US" dirty="0"/>
              <a:t>The easy solution is to have at least two threads of control: </a:t>
            </a:r>
            <a:endParaRPr lang="en-US" dirty="0"/>
          </a:p>
          <a:p>
            <a:pPr lvl="1" algn="just"/>
            <a:r>
              <a:rPr lang="en-US" dirty="0"/>
              <a:t>one for handling interaction with the user and </a:t>
            </a:r>
            <a:endParaRPr lang="en-US" dirty="0"/>
          </a:p>
          <a:p>
            <a:pPr lvl="1" algn="just"/>
            <a:r>
              <a:rPr lang="en-US" dirty="0"/>
              <a:t>one for updating the spreadsheet. </a:t>
            </a:r>
            <a:endParaRPr lang="en-US" dirty="0"/>
          </a:p>
          <a:p>
            <a:pPr algn="just">
              <a:buFont typeface="Wingdings" panose="05000000000000000000" pitchFamily="2" charset="2"/>
              <a:buChar char="Ø"/>
            </a:pPr>
            <a:r>
              <a:rPr lang="en-US" dirty="0"/>
              <a:t>In the mean time, a third thread could be used for backing up the spreadsheet to disk while the other two are doing their work.</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Threads in distributed systems</a:t>
            </a:r>
            <a:endParaRPr lang="en-US" dirty="0"/>
          </a:p>
        </p:txBody>
      </p:sp>
      <p:sp>
        <p:nvSpPr>
          <p:cNvPr id="3" name="Content Placeholder 2"/>
          <p:cNvSpPr>
            <a:spLocks noGrp="1"/>
          </p:cNvSpPr>
          <p:nvPr>
            <p:ph idx="1"/>
          </p:nvPr>
        </p:nvSpPr>
        <p:spPr/>
        <p:txBody>
          <a:bodyPr>
            <a:normAutofit/>
          </a:bodyPr>
          <a:lstStyle/>
          <a:p>
            <a:pPr algn="just"/>
            <a:r>
              <a:rPr lang="en-US" dirty="0"/>
              <a:t>An important property of threads is that they can provide a convenient means of </a:t>
            </a:r>
            <a:r>
              <a:rPr lang="en-US" dirty="0">
                <a:solidFill>
                  <a:srgbClr val="FF0000"/>
                </a:solidFill>
              </a:rPr>
              <a:t>allowing blocking system calls without blocking the entire process in which the thread is running.</a:t>
            </a:r>
            <a:r>
              <a:rPr lang="en-US" dirty="0"/>
              <a:t> </a:t>
            </a:r>
            <a:endParaRPr lang="en-US" dirty="0"/>
          </a:p>
          <a:p>
            <a:pPr algn="just"/>
            <a:r>
              <a:rPr lang="en-US" dirty="0"/>
              <a:t>This property makes threads particularly attractive to use in distributed systems as it makes it much easier to express communication in the form of maintaining multiple logical connections at the same time.</a:t>
            </a:r>
            <a:endParaRPr lang="en-US" dirty="0"/>
          </a:p>
        </p:txBody>
      </p:sp>
      <p:sp>
        <p:nvSpPr>
          <p:cNvPr id="4" name="Text Box 3"/>
          <p:cNvSpPr txBox="1"/>
          <p:nvPr/>
        </p:nvSpPr>
        <p:spPr>
          <a:xfrm>
            <a:off x="3556000" y="5026660"/>
            <a:ext cx="4332605" cy="706755"/>
          </a:xfrm>
          <a:prstGeom prst="rect">
            <a:avLst/>
          </a:prstGeom>
        </p:spPr>
        <p:txBody>
          <a:bodyPr wrap="square">
            <a:spAutoFit/>
          </a:bodyPr>
          <a:p>
            <a:r>
              <a:rPr sz="2000">
                <a:solidFill>
                  <a:srgbClr val="FF0000"/>
                </a:solidFill>
              </a:rPr>
              <a:t>threads allow waiting for I/O without freezing the entire application.</a:t>
            </a:r>
            <a:endParaRPr sz="200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Multithreaded clients</a:t>
            </a:r>
            <a:endParaRPr lang="en-US" dirty="0"/>
          </a:p>
        </p:txBody>
      </p:sp>
      <p:sp>
        <p:nvSpPr>
          <p:cNvPr id="3" name="Content Placeholder 2"/>
          <p:cNvSpPr>
            <a:spLocks noGrp="1"/>
          </p:cNvSpPr>
          <p:nvPr>
            <p:ph idx="1"/>
          </p:nvPr>
        </p:nvSpPr>
        <p:spPr/>
        <p:txBody>
          <a:bodyPr>
            <a:normAutofit/>
          </a:bodyPr>
          <a:lstStyle/>
          <a:p>
            <a:pPr algn="just"/>
            <a:r>
              <a:rPr lang="en-US" dirty="0"/>
              <a:t>A typical example where this happens is in </a:t>
            </a:r>
            <a:r>
              <a:rPr lang="en-US" dirty="0">
                <a:solidFill>
                  <a:srgbClr val="FF0000"/>
                </a:solidFill>
              </a:rPr>
              <a:t>Web browsers.</a:t>
            </a:r>
            <a:r>
              <a:rPr lang="en-US" dirty="0"/>
              <a:t> </a:t>
            </a:r>
            <a:endParaRPr lang="en-US" dirty="0"/>
          </a:p>
          <a:p>
            <a:pPr algn="just"/>
            <a:r>
              <a:rPr lang="en-US" dirty="0"/>
              <a:t>In many cases, a Web document consists of an HTML file containing plain text along with a collection of images, icons, etc. </a:t>
            </a:r>
            <a:endParaRPr lang="en-US" dirty="0"/>
          </a:p>
          <a:p>
            <a:pPr algn="just"/>
            <a:r>
              <a:rPr lang="en-US" dirty="0"/>
              <a:t>To fetch each element of a Web document, the browser has to set up a TCP/IP connection, read the incoming data, and pass it to a display component. </a:t>
            </a:r>
            <a:endParaRPr lang="en-US" dirty="0"/>
          </a:p>
          <a:p>
            <a:pPr algn="just"/>
            <a:r>
              <a:rPr lang="en-US" dirty="0"/>
              <a:t>Setting up a connection as well as reading incoming data are inherently blocking operations. </a:t>
            </a:r>
            <a:endParaRPr lang="en-US" dirty="0"/>
          </a:p>
          <a:p>
            <a:pPr algn="just"/>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Multithreaded clients</a:t>
            </a:r>
            <a:endParaRPr lang="en-US" dirty="0"/>
          </a:p>
        </p:txBody>
      </p:sp>
      <p:sp>
        <p:nvSpPr>
          <p:cNvPr id="3" name="Content Placeholder 2"/>
          <p:cNvSpPr>
            <a:spLocks noGrp="1"/>
          </p:cNvSpPr>
          <p:nvPr>
            <p:ph idx="1"/>
          </p:nvPr>
        </p:nvSpPr>
        <p:spPr/>
        <p:txBody>
          <a:bodyPr>
            <a:normAutofit/>
          </a:bodyPr>
          <a:lstStyle/>
          <a:p>
            <a:pPr algn="just"/>
            <a:r>
              <a:rPr lang="en-US" dirty="0"/>
              <a:t>When dealing with long-haul communication, we also have the disadvantage that the time for each operation to complete may be relatively long.</a:t>
            </a:r>
            <a:endParaRPr lang="en-US" dirty="0"/>
          </a:p>
          <a:p>
            <a:pPr algn="just"/>
            <a:r>
              <a:rPr lang="en-US" dirty="0"/>
              <a:t>A Web browser often starts with fetching the HTML page and subsequently displays it. </a:t>
            </a:r>
            <a:endParaRPr lang="en-US" dirty="0"/>
          </a:p>
          <a:p>
            <a:pPr algn="just"/>
            <a:r>
              <a:rPr lang="en-US" dirty="0"/>
              <a:t>To hide communication latencies as much as possible, some browsers start displaying data while it is still coming in. </a:t>
            </a:r>
            <a:endParaRPr lang="en-US" dirty="0"/>
          </a:p>
          <a:p>
            <a:pPr algn="just"/>
            <a:endParaRPr lang="en-US" dirty="0"/>
          </a:p>
          <a:p>
            <a:pPr algn="just"/>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Multithreaded clients</a:t>
            </a:r>
            <a:endParaRPr lang="en-US" dirty="0"/>
          </a:p>
        </p:txBody>
      </p:sp>
      <p:sp>
        <p:nvSpPr>
          <p:cNvPr id="3" name="Content Placeholder 2"/>
          <p:cNvSpPr>
            <a:spLocks noGrp="1"/>
          </p:cNvSpPr>
          <p:nvPr>
            <p:ph idx="1"/>
          </p:nvPr>
        </p:nvSpPr>
        <p:spPr/>
        <p:txBody>
          <a:bodyPr>
            <a:normAutofit/>
          </a:bodyPr>
          <a:lstStyle/>
          <a:p>
            <a:pPr algn="just"/>
            <a:r>
              <a:rPr lang="en-US" dirty="0"/>
              <a:t>While the text is made available to the user, including the facilities for scrolling and such, the browser continues with fetching other files that make up the page, such as the images. </a:t>
            </a:r>
            <a:endParaRPr lang="en-US" dirty="0"/>
          </a:p>
          <a:p>
            <a:pPr algn="just"/>
            <a:r>
              <a:rPr lang="en-US" dirty="0"/>
              <a:t>The latter are displayed as they are brought in. </a:t>
            </a:r>
            <a:endParaRPr lang="en-US" dirty="0"/>
          </a:p>
          <a:p>
            <a:pPr algn="just"/>
            <a:r>
              <a:rPr lang="en-US" dirty="0"/>
              <a:t>The user need thus not wait until all the components of the entire page are fetched before the page is made available.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Multithreaded servers</a:t>
            </a:r>
            <a:endParaRPr lang="en-US" dirty="0"/>
          </a:p>
        </p:txBody>
      </p:sp>
      <p:sp>
        <p:nvSpPr>
          <p:cNvPr id="3" name="Content Placeholder 2"/>
          <p:cNvSpPr>
            <a:spLocks noGrp="1"/>
          </p:cNvSpPr>
          <p:nvPr>
            <p:ph idx="1"/>
          </p:nvPr>
        </p:nvSpPr>
        <p:spPr/>
        <p:txBody>
          <a:bodyPr>
            <a:normAutofit/>
          </a:bodyPr>
          <a:lstStyle/>
          <a:p>
            <a:pPr algn="just"/>
            <a:r>
              <a:rPr lang="en-US" dirty="0"/>
              <a:t>Consider the organization of a file server that occasionally has to block waiting for the disk. </a:t>
            </a:r>
            <a:endParaRPr lang="en-US" dirty="0"/>
          </a:p>
          <a:p>
            <a:pPr algn="just"/>
            <a:r>
              <a:rPr lang="en-US" dirty="0"/>
              <a:t>The file server normally waits for an incoming request for a file operation, subsequently carries out the request, and then sends back the reply.</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Multithreaded servers</a:t>
            </a:r>
            <a:endParaRPr lang="en-US" dirty="0"/>
          </a:p>
        </p:txBody>
      </p:sp>
      <p:sp>
        <p:nvSpPr>
          <p:cNvPr id="8" name="Content Placeholder 7"/>
          <p:cNvSpPr>
            <a:spLocks noGrp="1"/>
          </p:cNvSpPr>
          <p:nvPr>
            <p:ph sz="half" idx="1"/>
          </p:nvPr>
        </p:nvSpPr>
        <p:spPr>
          <a:xfrm>
            <a:off x="838199" y="1825625"/>
            <a:ext cx="4543270" cy="4351338"/>
          </a:xfrm>
        </p:spPr>
        <p:txBody>
          <a:bodyPr>
            <a:normAutofit lnSpcReduction="10000"/>
          </a:bodyPr>
          <a:lstStyle/>
          <a:p>
            <a:pPr algn="just"/>
            <a:r>
              <a:rPr lang="en-US" dirty="0"/>
              <a:t>Here one thread, the </a:t>
            </a:r>
            <a:r>
              <a:rPr lang="en-US" b="1" dirty="0"/>
              <a:t>dispatcher</a:t>
            </a:r>
            <a:r>
              <a:rPr lang="en-US" dirty="0"/>
              <a:t>, reads incoming requests for a file operation. </a:t>
            </a:r>
            <a:endParaRPr lang="en-US" dirty="0"/>
          </a:p>
          <a:p>
            <a:pPr algn="just"/>
            <a:r>
              <a:rPr lang="en-US" dirty="0"/>
              <a:t>The requests are sent by clients to a well-known end point for this server.</a:t>
            </a:r>
            <a:endParaRPr lang="en-US" dirty="0"/>
          </a:p>
          <a:p>
            <a:pPr algn="just"/>
            <a:r>
              <a:rPr lang="en-US" dirty="0"/>
              <a:t>After examining the request, the server chooses an idle (i.e., blocked) </a:t>
            </a:r>
            <a:r>
              <a:rPr lang="en-US" b="1" dirty="0"/>
              <a:t>worker thread </a:t>
            </a:r>
            <a:r>
              <a:rPr lang="en-US" dirty="0"/>
              <a:t>and hands it the request.</a:t>
            </a:r>
            <a:endParaRPr lang="en-US" dirty="0"/>
          </a:p>
          <a:p>
            <a:pPr algn="just"/>
            <a:endParaRPr lang="en-US" dirty="0"/>
          </a:p>
        </p:txBody>
      </p:sp>
      <p:pic>
        <p:nvPicPr>
          <p:cNvPr id="9" name="Content Placeholder 4"/>
          <p:cNvPicPr>
            <a:picLocks noGrp="1" noChangeAspect="1"/>
          </p:cNvPicPr>
          <p:nvPr>
            <p:ph sz="half" idx="2"/>
          </p:nvPr>
        </p:nvPicPr>
        <p:blipFill>
          <a:blip r:embed="rId1"/>
          <a:srcRect l="6218" r="6614" b="7301"/>
          <a:stretch>
            <a:fillRect/>
          </a:stretch>
        </p:blipFill>
        <p:spPr>
          <a:xfrm>
            <a:off x="5424995" y="1892509"/>
            <a:ext cx="6473451" cy="347397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US" dirty="0"/>
          </a:p>
        </p:txBody>
      </p:sp>
      <p:sp>
        <p:nvSpPr>
          <p:cNvPr id="3" name="Content Placeholder 2"/>
          <p:cNvSpPr>
            <a:spLocks noGrp="1"/>
          </p:cNvSpPr>
          <p:nvPr>
            <p:ph idx="1"/>
          </p:nvPr>
        </p:nvSpPr>
        <p:spPr/>
        <p:txBody>
          <a:bodyPr>
            <a:normAutofit/>
          </a:bodyPr>
          <a:lstStyle/>
          <a:p>
            <a:pPr algn="just"/>
            <a:r>
              <a:rPr lang="en-US" dirty="0"/>
              <a:t>In this problem you are to compare reading a file using a single-threaded file server and a multithreaded server. It takes 15 msec to get a request for work, dispatch it, and do the rest of the necessary processing, assuming that the data needed are in a cache in main memory. If a disk operation is needed, as is the case one-third of the time, an additional 75 msec is required, during which time the thread sleeps. How many requests/sec can the server handle if it is single threaded? If it is multithreaded?</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US" dirty="0"/>
          </a:p>
        </p:txBody>
      </p:sp>
      <p:sp>
        <p:nvSpPr>
          <p:cNvPr id="3" name="Content Placeholder 2"/>
          <p:cNvSpPr>
            <a:spLocks noGrp="1"/>
          </p:cNvSpPr>
          <p:nvPr>
            <p:ph idx="1"/>
          </p:nvPr>
        </p:nvSpPr>
        <p:spPr/>
        <p:txBody>
          <a:bodyPr/>
          <a:lstStyle/>
          <a:p>
            <a:r>
              <a:rPr lang="en-US" dirty="0"/>
              <a:t>In the single-threaded case, the cache hits take 15 msec and cache misses take 90 msec. The weighted average is: </a:t>
            </a:r>
            <a:endParaRPr lang="en-US" dirty="0"/>
          </a:p>
          <a:p>
            <a:pPr marL="0" indent="0" algn="ctr">
              <a:buNone/>
            </a:pPr>
            <a:r>
              <a:rPr lang="en-US" dirty="0"/>
              <a:t>2/3 x 15 + 1/3 x 90 = 40 </a:t>
            </a:r>
            <a:endParaRPr lang="en-US" dirty="0"/>
          </a:p>
          <a:p>
            <a:r>
              <a:rPr lang="en-US" dirty="0"/>
              <a:t>Thus, the mean request takes 40 msec and the server can do 1000/40 = 25 request per second. </a:t>
            </a:r>
            <a:endParaRPr lang="en-US" dirty="0"/>
          </a:p>
          <a:p>
            <a:r>
              <a:rPr lang="en-US" dirty="0"/>
              <a:t>For a multithreaded server, all the waiting for the disk is overlapped, so every request takes 15 msec, and the server can handle 1000/15 = 66.67 requests per second.</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7136</Words>
  <Application>WPS Presentation</Application>
  <PresentationFormat>Widescreen</PresentationFormat>
  <Paragraphs>119</Paragraphs>
  <Slides>18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SimSun</vt:lpstr>
      <vt:lpstr>Wingdings</vt:lpstr>
      <vt:lpstr>Gill Sans MT</vt:lpstr>
      <vt:lpstr>苹方-简</vt:lpstr>
      <vt:lpstr>Microsoft YaHei</vt:lpstr>
      <vt:lpstr>汉仪旗黑</vt:lpstr>
      <vt:lpstr>Arial Unicode MS</vt:lpstr>
      <vt:lpstr>Calibri</vt:lpstr>
      <vt:lpstr>Helvetica Neue</vt:lpstr>
      <vt:lpstr>汉仪书宋二KW</vt:lpstr>
      <vt:lpstr>Office Theme</vt:lpstr>
      <vt:lpstr>CSE 601: Distributed Systems</vt:lpstr>
      <vt:lpstr>Introduction to threads</vt:lpstr>
      <vt:lpstr>Process</vt:lpstr>
      <vt:lpstr>Threads</vt:lpstr>
      <vt:lpstr>Why use threads?</vt:lpstr>
      <vt:lpstr>Why use threads?</vt:lpstr>
      <vt:lpstr>Why use threads?</vt:lpstr>
      <vt:lpstr>Why use threads?</vt:lpstr>
      <vt:lpstr>Thread usage in nondistributed systems</vt:lpstr>
      <vt:lpstr>Thread usage in nondistributed systems</vt:lpstr>
      <vt:lpstr>Threads in distributed systems</vt:lpstr>
      <vt:lpstr>Multithreaded clients</vt:lpstr>
      <vt:lpstr>Multithreaded clients</vt:lpstr>
      <vt:lpstr>Multithreaded clients</vt:lpstr>
      <vt:lpstr>Multithreaded servers</vt:lpstr>
      <vt:lpstr>Multithreaded servers</vt:lpstr>
      <vt:lpstr>Exercise</vt:lpstr>
      <vt:lpstr>Solution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Toukir Ahammed</dc:creator>
  <cp:lastModifiedBy>Rakibul</cp:lastModifiedBy>
  <cp:revision>43</cp:revision>
  <dcterms:created xsi:type="dcterms:W3CDTF">2025-08-21T10:10:48Z</dcterms:created>
  <dcterms:modified xsi:type="dcterms:W3CDTF">2025-08-21T10:10:48Z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A8548F5428F32330A8F0A668FB4A58DB_42</vt:lpwstr>
  </property>
  <property fmtid="{D5CDD505-2E9C-101B-9397-08002B2CF9AE}" pid="3" name="KSOProductBuildVer">
    <vt:lpwstr>1033-6.11.0.8608</vt:lpwstr>
  </property>
</Properties>
</file>