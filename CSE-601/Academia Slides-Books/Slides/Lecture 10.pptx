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sldIdLst>
    <p:sldId id="256" r:id="rId3"/>
    <p:sldId id="313" r:id="rId4"/>
    <p:sldId id="338" r:id="rId5"/>
    <p:sldId id="314" r:id="rId6"/>
    <p:sldId id="324" r:id="rId7"/>
    <p:sldId id="315" r:id="rId8"/>
    <p:sldId id="346" r:id="rId9"/>
    <p:sldId id="347" r:id="rId10"/>
    <p:sldId id="325" r:id="rId11"/>
    <p:sldId id="339" r:id="rId12"/>
    <p:sldId id="318" r:id="rId13"/>
    <p:sldId id="326" r:id="rId14"/>
    <p:sldId id="319" r:id="rId15"/>
    <p:sldId id="320" r:id="rId16"/>
    <p:sldId id="328" r:id="rId17"/>
    <p:sldId id="329" r:id="rId18"/>
    <p:sldId id="340" r:id="rId19"/>
    <p:sldId id="321" r:id="rId20"/>
    <p:sldId id="341" r:id="rId21"/>
    <p:sldId id="342" r:id="rId22"/>
    <p:sldId id="322" r:id="rId23"/>
    <p:sldId id="343" r:id="rId24"/>
    <p:sldId id="323" r:id="rId25"/>
    <p:sldId id="327" r:id="rId26"/>
    <p:sldId id="344" r:id="rId27"/>
    <p:sldId id="345" r:id="rId28"/>
    <p:sldId id="330" r:id="rId29"/>
    <p:sldId id="331" r:id="rId30"/>
    <p:sldId id="335" r:id="rId31"/>
    <p:sldId id="336" r:id="rId32"/>
    <p:sldId id="332" r:id="rId33"/>
    <p:sldId id="333" r:id="rId34"/>
    <p:sldId id="334" r:id="rId35"/>
    <p:sldId id="337"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oukir Ahammed" initials="T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1" Type="http://schemas.openxmlformats.org/officeDocument/2006/relationships/commentAuthors" Target="commentAuthors.xml"/><Relationship Id="rId40" Type="http://schemas.openxmlformats.org/officeDocument/2006/relationships/tableStyles" Target="tableStyles.xml"/><Relationship Id="rId4" Type="http://schemas.openxmlformats.org/officeDocument/2006/relationships/slide" Target="slides/slide2.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notesMaster" Target="notesMasters/notesMaster1.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453B2A-649C-47D2-B149-313A8222923C}"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93E89F-D0F4-4845-90C4-681A217667AE}"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Gill Sans MT" panose="020B0502020104020203" pitchFamily="34" charset="0"/>
              </a:defRPr>
            </a:lvl1pPr>
          </a:lstStyle>
          <a:p>
            <a:r>
              <a:rPr lang="en-US" dirty="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noAutofit/>
          </a:bodyPr>
          <a:lstStyle>
            <a:lvl1pPr marL="0" indent="0" algn="ctr">
              <a:buNone/>
              <a:defRPr sz="4000">
                <a:latin typeface="Gill Sans MT" panose="020B05020201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4" name="Date Placeholder 3"/>
          <p:cNvSpPr>
            <a:spLocks noGrp="1"/>
          </p:cNvSpPr>
          <p:nvPr>
            <p:ph type="dt" sz="half" idx="10"/>
          </p:nvPr>
        </p:nvSpPr>
        <p:spPr/>
        <p:txBody>
          <a:bodyPr/>
          <a:lstStyle>
            <a:lvl1pPr>
              <a:defRPr>
                <a:latin typeface="Gill Sans MT" panose="020B0502020104020203" pitchFamily="34" charset="0"/>
              </a:defRPr>
            </a:lvl1pPr>
          </a:lstStyle>
          <a:p>
            <a:fld id="{DADE2353-34E2-4DBF-AFB1-31497BAECD2D}" type="datetimeFigureOut">
              <a:rPr lang="en-US" smtClean="0"/>
            </a:fld>
            <a:endParaRPr lang="en-US" dirty="0"/>
          </a:p>
        </p:txBody>
      </p:sp>
      <p:sp>
        <p:nvSpPr>
          <p:cNvPr id="5" name="Footer Placeholder 4"/>
          <p:cNvSpPr>
            <a:spLocks noGrp="1"/>
          </p:cNvSpPr>
          <p:nvPr>
            <p:ph type="ftr" sz="quarter" idx="11"/>
          </p:nvPr>
        </p:nvSpPr>
        <p:spPr/>
        <p:txBody>
          <a:bodyPr/>
          <a:lstStyle>
            <a:lvl1pPr>
              <a:defRPr>
                <a:latin typeface="Gill Sans MT" panose="020B05020201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Gill Sans MT" panose="020B0502020104020203" pitchFamily="34" charset="0"/>
              </a:defRPr>
            </a:lvl1pPr>
          </a:lstStyle>
          <a:p>
            <a:fld id="{8170D8CF-7E31-4249-BDB4-34EBE6CF332C}"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lvl1pPr algn="just">
              <a:defRPr/>
            </a:lvl1pPr>
            <a:lvl2pPr algn="just">
              <a:defRPr/>
            </a:lvl2pPr>
            <a:lvl3pPr algn="just">
              <a:defRPr/>
            </a:lvl3pPr>
            <a:lvl4pPr algn="just">
              <a:defRPr/>
            </a:lvl4pPr>
            <a:lvl5pPr algn="just">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DADE2353-34E2-4DBF-AFB1-31497BAECD2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DADE2353-34E2-4DBF-AFB1-31497BAECD2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DADE2353-34E2-4DBF-AFB1-31497BAECD2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DADE2353-34E2-4DBF-AFB1-31497BAECD2D}"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DADE2353-34E2-4DBF-AFB1-31497BAECD2D}"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DE2353-34E2-4DBF-AFB1-31497BAECD2D}"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DADE2353-34E2-4DBF-AFB1-31497BAECD2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DADE2353-34E2-4DBF-AFB1-31497BAECD2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DADE2353-34E2-4DBF-AFB1-31497BAECD2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DADE2353-34E2-4DBF-AFB1-31497BAECD2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DE2353-34E2-4DBF-AFB1-31497BAECD2D}"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70D8CF-7E31-4249-BDB4-34EBE6CF332C}"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Gill Sans MT" panose="020B0502020104020203"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CSE 601: Distributed Systems</a:t>
            </a:r>
            <a:endParaRPr lang="en-US" dirty="0"/>
          </a:p>
        </p:txBody>
      </p:sp>
      <p:sp>
        <p:nvSpPr>
          <p:cNvPr id="3" name="Subtitle 2"/>
          <p:cNvSpPr>
            <a:spLocks noGrp="1"/>
          </p:cNvSpPr>
          <p:nvPr>
            <p:ph type="subTitle" idx="1"/>
          </p:nvPr>
        </p:nvSpPr>
        <p:spPr/>
        <p:txBody>
          <a:bodyPr/>
          <a:lstStyle/>
          <a:p>
            <a:r>
              <a:rPr lang="en-US" dirty="0"/>
              <a:t>Toukir Ahammed</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Fault Tolerance</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Fault Tolerance</a:t>
            </a:r>
            <a:endParaRPr lang="en-US" dirty="0"/>
          </a:p>
        </p:txBody>
      </p:sp>
      <p:sp>
        <p:nvSpPr>
          <p:cNvPr id="3" name="Content Placeholder 2"/>
          <p:cNvSpPr>
            <a:spLocks noGrp="1"/>
          </p:cNvSpPr>
          <p:nvPr>
            <p:ph idx="1"/>
          </p:nvPr>
        </p:nvSpPr>
        <p:spPr/>
        <p:txBody>
          <a:bodyPr>
            <a:normAutofit/>
          </a:bodyPr>
          <a:lstStyle/>
          <a:p>
            <a:r>
              <a:rPr lang="en-US" dirty="0"/>
              <a:t>An important goal in distributed systems design is to construct the system in such a way that it can automatically recover from partial failures without seriously affecting the overall performance.</a:t>
            </a:r>
            <a:endParaRPr lang="en-US" dirty="0"/>
          </a:p>
          <a:p>
            <a:r>
              <a:rPr lang="en-US" dirty="0"/>
              <a:t>In particular, whenever a failure occurs, the distributed system should continue to operate in an acceptable way while repairs are being made, that is, it should tolerate faults and continue to operate to some extent even in their presence.</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12495"/>
          </a:xfrm>
        </p:spPr>
        <p:txBody>
          <a:bodyPr/>
          <a:lstStyle/>
          <a:p>
            <a:r>
              <a:rPr lang="en-US" dirty="0"/>
              <a:t>Definition of Fault Tolerance</a:t>
            </a:r>
            <a:endParaRPr lang="en-US" dirty="0"/>
          </a:p>
        </p:txBody>
      </p:sp>
      <p:sp>
        <p:nvSpPr>
          <p:cNvPr id="3" name="Content Placeholder 2"/>
          <p:cNvSpPr>
            <a:spLocks noGrp="1"/>
          </p:cNvSpPr>
          <p:nvPr>
            <p:ph idx="1"/>
          </p:nvPr>
        </p:nvSpPr>
        <p:spPr>
          <a:xfrm>
            <a:off x="838200" y="1386205"/>
            <a:ext cx="10515600" cy="4713605"/>
          </a:xfrm>
        </p:spPr>
        <p:txBody>
          <a:bodyPr>
            <a:normAutofit lnSpcReduction="10000"/>
          </a:bodyPr>
          <a:lstStyle/>
          <a:p>
            <a:r>
              <a:rPr lang="en-US" b="1" dirty="0"/>
              <a:t>Fault tolerance</a:t>
            </a:r>
            <a:r>
              <a:rPr lang="en-US" dirty="0"/>
              <a:t>, </a:t>
            </a:r>
            <a:r>
              <a:rPr lang="en-US" dirty="0">
                <a:solidFill>
                  <a:srgbClr val="FF0000"/>
                </a:solidFill>
              </a:rPr>
              <a:t>meaning that a system can provide its services even in the presence of faults. In other words, the system can tolerate faults and continue to operate normally.</a:t>
            </a:r>
            <a:endParaRPr lang="en-US" dirty="0"/>
          </a:p>
          <a:p>
            <a:pPr algn="just"/>
            <a:r>
              <a:rPr lang="en-US" dirty="0"/>
              <a:t>Fault tolerance is the ability of a system to continue performing its intended functions in presence of faults.</a:t>
            </a:r>
            <a:endParaRPr lang="en-US" dirty="0"/>
          </a:p>
          <a:p>
            <a:pPr algn="just"/>
            <a:r>
              <a:rPr lang="en-US" dirty="0">
                <a:solidFill>
                  <a:srgbClr val="FF0000"/>
                </a:solidFill>
              </a:rPr>
              <a:t>In a broad sense, fault tolerance is associated with reliability, </a:t>
            </a:r>
            <a:r>
              <a:rPr lang="en-US" dirty="0"/>
              <a:t>with successful operation, and with the absence of breakdowns. </a:t>
            </a:r>
            <a:endParaRPr lang="en-US" dirty="0"/>
          </a:p>
          <a:p>
            <a:pPr algn="just"/>
            <a:r>
              <a:rPr lang="en-US" dirty="0"/>
              <a:t>A fault-tolerant system should be able to handle faults in individual hardware or software components, power failures, or other kinds of unexpected problems and still meet its specification.</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of Fault Tolerance</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a:t>Fault tolerance is necessary because it is practically impossible to build a perfect system. </a:t>
            </a:r>
            <a:endParaRPr lang="en-US" dirty="0"/>
          </a:p>
          <a:p>
            <a:pPr algn="just"/>
            <a:r>
              <a:rPr lang="en-US" dirty="0"/>
              <a:t>The fundamental problem is that, as the complexity of a system grows, its reliability drastically decreases, unless compensatory measures are taken. </a:t>
            </a:r>
            <a:endParaRPr lang="en-US" dirty="0"/>
          </a:p>
          <a:p>
            <a:pPr algn="just"/>
            <a:r>
              <a:rPr lang="en-US" dirty="0"/>
              <a:t>For example, if the reliability of individual components is 99.99%, then the reliability of a system consisting of 100 non-redundant components is 99.01%, whereas the reliability of a system consisting of 10,000 non-redundant components is just 36.79%.</a:t>
            </a:r>
            <a:endParaRPr lang="en-US" dirty="0"/>
          </a:p>
          <a:p>
            <a:pPr algn="just"/>
            <a:r>
              <a:rPr lang="en-US" dirty="0"/>
              <a:t>Such a low reliability is unacceptable in most applications. If a 99% reliability is required for a 10,000-component system, individual components with a reliability of at least 99.999% should be used, implying a sharp increase in cost.</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Fault Tolerance and Redundancy</a:t>
            </a:r>
            <a:endParaRPr lang="en-US" dirty="0"/>
          </a:p>
        </p:txBody>
      </p:sp>
      <p:sp>
        <p:nvSpPr>
          <p:cNvPr id="3" name="Content Placeholder 2"/>
          <p:cNvSpPr>
            <a:spLocks noGrp="1"/>
          </p:cNvSpPr>
          <p:nvPr>
            <p:ph idx="1"/>
          </p:nvPr>
        </p:nvSpPr>
        <p:spPr>
          <a:xfrm>
            <a:off x="767715" y="1464945"/>
            <a:ext cx="10515600" cy="4351338"/>
          </a:xfrm>
        </p:spPr>
        <p:txBody>
          <a:bodyPr/>
          <a:lstStyle/>
          <a:p>
            <a:r>
              <a:rPr lang="en-US" dirty="0"/>
              <a:t>There are various approaches to achieving fault tolerance. Common to all these approaches is a certain amount of redundancy. </a:t>
            </a:r>
            <a:endParaRPr lang="en-US" dirty="0"/>
          </a:p>
          <a:p>
            <a:r>
              <a:rPr lang="en-US" dirty="0"/>
              <a:t>For our purposes, </a:t>
            </a:r>
            <a:r>
              <a:rPr lang="en-US" i="1" dirty="0"/>
              <a:t>redundancy </a:t>
            </a:r>
            <a:r>
              <a:rPr lang="en-US" dirty="0"/>
              <a:t>is the provision of functional capabilities that would be unnecessary in a fault-free environment.</a:t>
            </a:r>
            <a:endParaRPr lang="en-US" dirty="0"/>
          </a:p>
          <a:p>
            <a:r>
              <a:rPr lang="en-US" dirty="0"/>
              <a:t>This can be a replicated hardware component, an additional check bit attached to a string of digital data, or a few lines of program code verifying the correctness of the program’s results.</a:t>
            </a:r>
            <a:endParaRPr lang="en-US" dirty="0"/>
          </a:p>
          <a:p>
            <a:r>
              <a:rPr lang="en-US" dirty="0"/>
              <a:t>Two kinds of redundancy are possible: space redundancy and time redundancy.</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Failure masking by redundancy</a:t>
            </a:r>
            <a:endParaRPr lang="en-US" dirty="0"/>
          </a:p>
        </p:txBody>
      </p:sp>
      <p:sp>
        <p:nvSpPr>
          <p:cNvPr id="3" name="Content Placeholder 2"/>
          <p:cNvSpPr>
            <a:spLocks noGrp="1"/>
          </p:cNvSpPr>
          <p:nvPr>
            <p:ph idx="1"/>
          </p:nvPr>
        </p:nvSpPr>
        <p:spPr/>
        <p:txBody>
          <a:bodyPr/>
          <a:lstStyle/>
          <a:p>
            <a:r>
              <a:rPr lang="en-US" dirty="0"/>
              <a:t>If a system is to be fault tolerant, the best it can do is to try to hide the occurrence of failures from other processes. </a:t>
            </a:r>
            <a:r>
              <a:rPr lang="en-US" dirty="0">
                <a:solidFill>
                  <a:srgbClr val="FF0000"/>
                </a:solidFill>
              </a:rPr>
              <a:t>The key technique for masking faults is to use redundancy. </a:t>
            </a:r>
            <a:endParaRPr lang="en-US" dirty="0">
              <a:solidFill>
                <a:srgbClr val="FF0000"/>
              </a:solidFill>
            </a:endParaRPr>
          </a:p>
          <a:p>
            <a:r>
              <a:rPr lang="en-US" dirty="0"/>
              <a:t>Three kinds are possible: </a:t>
            </a:r>
            <a:endParaRPr lang="en-US" dirty="0"/>
          </a:p>
          <a:p>
            <a:pPr marL="514350" indent="-514350">
              <a:buFont typeface="+mj-lt"/>
              <a:buAutoNum type="arabicPeriod"/>
            </a:pPr>
            <a:r>
              <a:rPr lang="en-US" dirty="0"/>
              <a:t>Information redundancy,</a:t>
            </a:r>
            <a:endParaRPr lang="en-US" dirty="0"/>
          </a:p>
          <a:p>
            <a:pPr marL="514350" indent="-514350">
              <a:buFont typeface="+mj-lt"/>
              <a:buAutoNum type="arabicPeriod"/>
            </a:pPr>
            <a:r>
              <a:rPr lang="en-US" dirty="0"/>
              <a:t>Time redundancy, and </a:t>
            </a:r>
            <a:endParaRPr lang="en-US" dirty="0"/>
          </a:p>
          <a:p>
            <a:pPr marL="514350" indent="-514350">
              <a:buFont typeface="+mj-lt"/>
              <a:buAutoNum type="arabicPeriod"/>
            </a:pPr>
            <a:r>
              <a:rPr lang="en-US" dirty="0"/>
              <a:t>Physical redundancy</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Failure masking by redundancy</a:t>
            </a:r>
            <a:endParaRPr lang="en-US" dirty="0"/>
          </a:p>
        </p:txBody>
      </p:sp>
      <p:sp>
        <p:nvSpPr>
          <p:cNvPr id="3" name="Content Placeholder 2"/>
          <p:cNvSpPr>
            <a:spLocks noGrp="1"/>
          </p:cNvSpPr>
          <p:nvPr>
            <p:ph idx="1"/>
          </p:nvPr>
        </p:nvSpPr>
        <p:spPr/>
        <p:txBody>
          <a:bodyPr>
            <a:normAutofit/>
          </a:bodyPr>
          <a:lstStyle/>
          <a:p>
            <a:r>
              <a:rPr lang="en-US" dirty="0"/>
              <a:t>With </a:t>
            </a:r>
            <a:r>
              <a:rPr lang="en-US" b="1" dirty="0"/>
              <a:t>information redundancy</a:t>
            </a:r>
            <a:r>
              <a:rPr lang="en-US" dirty="0"/>
              <a:t>, extra bits are added to allow recovery from garbled bits. For example, a Hamming code can be added to transmitted data to recover from noise on the transmission line.</a:t>
            </a:r>
            <a:endParaRPr lang="en-US" dirty="0"/>
          </a:p>
          <a:p>
            <a:r>
              <a:rPr lang="en-US" dirty="0"/>
              <a:t>Physical redundancy is a well-known technique for providing fault tolerance. It is used in biology (mammals have two eyes, two ears, two lungs, etc.), aircraft (747s have four engines but can fly on three), and sports (multiple referees in case one misses an event).</a:t>
            </a:r>
            <a:endParaRPr lang="en-US" dirty="0"/>
          </a:p>
          <a:p>
            <a:r>
              <a:rPr lang="en-US" b="1" dirty="0"/>
              <a:t>Physical redundancy </a:t>
            </a:r>
            <a:r>
              <a:rPr lang="en-US" dirty="0"/>
              <a:t>provides additional components, functions, or data items that are unnecessary for fault-free operation. </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Fault Tolerance and Redundancy</a:t>
            </a:r>
            <a:endParaRPr lang="en-US" dirty="0"/>
          </a:p>
        </p:txBody>
      </p:sp>
      <p:sp>
        <p:nvSpPr>
          <p:cNvPr id="3" name="Content Placeholder 2"/>
          <p:cNvSpPr>
            <a:spLocks noGrp="1"/>
          </p:cNvSpPr>
          <p:nvPr>
            <p:ph idx="1"/>
          </p:nvPr>
        </p:nvSpPr>
        <p:spPr>
          <a:xfrm>
            <a:off x="838200" y="1377315"/>
            <a:ext cx="10515600" cy="4351338"/>
          </a:xfrm>
        </p:spPr>
        <p:txBody>
          <a:bodyPr>
            <a:normAutofit lnSpcReduction="10000"/>
          </a:bodyPr>
          <a:lstStyle/>
          <a:p>
            <a:r>
              <a:rPr lang="en-US" dirty="0"/>
              <a:t>With physical redundancy, extra equipment or processes are added to make it possible for the system as a whole to tolerate the loss or malfunctioning of some components. Physical redundancy can thus be done either in hardware or in software. For example, extra processes can be added to the system so that if a small number of them crash, the system can still function correctly. In other words, by replicating processes, a high degree of fault tolerance may be achieved.</a:t>
            </a:r>
            <a:endParaRPr lang="en-US" dirty="0"/>
          </a:p>
          <a:p>
            <a:r>
              <a:rPr lang="en-US" dirty="0">
                <a:solidFill>
                  <a:srgbClr val="FF0000"/>
                </a:solidFill>
              </a:rPr>
              <a:t>With </a:t>
            </a:r>
            <a:r>
              <a:rPr lang="en-US" b="1" dirty="0">
                <a:solidFill>
                  <a:srgbClr val="FF0000"/>
                </a:solidFill>
              </a:rPr>
              <a:t>time redundancy</a:t>
            </a:r>
            <a:r>
              <a:rPr lang="en-US" dirty="0">
                <a:solidFill>
                  <a:srgbClr val="FF0000"/>
                </a:solidFill>
              </a:rPr>
              <a:t>, an action is performed, and then, if need be, it is performed again.</a:t>
            </a:r>
            <a:r>
              <a:rPr lang="en-US" dirty="0"/>
              <a:t> The computation or data transmission is repeated and the result is compared to a stored copy of the previous result. </a:t>
            </a:r>
            <a:r>
              <a:rPr lang="en-US" dirty="0">
                <a:solidFill>
                  <a:srgbClr val="FF0000"/>
                </a:solidFill>
              </a:rPr>
              <a:t>Transactions use this approach.</a:t>
            </a:r>
            <a:r>
              <a:rPr lang="en-US" dirty="0"/>
              <a:t> If a transaction aborts, it can be redone with no harm. </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Dependable Systems</a:t>
            </a:r>
            <a:endParaRPr lang="en-US" dirty="0"/>
          </a:p>
        </p:txBody>
      </p:sp>
      <p:sp>
        <p:nvSpPr>
          <p:cNvPr id="3" name="Content Placeholder 2"/>
          <p:cNvSpPr>
            <a:spLocks noGrp="1"/>
          </p:cNvSpPr>
          <p:nvPr>
            <p:ph idx="1"/>
          </p:nvPr>
        </p:nvSpPr>
        <p:spPr/>
        <p:txBody>
          <a:bodyPr>
            <a:normAutofit/>
          </a:bodyPr>
          <a:lstStyle/>
          <a:p>
            <a:r>
              <a:rPr lang="en-US" dirty="0"/>
              <a:t>Being fault tolerant is strongly related to what are called </a:t>
            </a:r>
            <a:r>
              <a:rPr lang="en-US" b="1" dirty="0"/>
              <a:t>dependable systems</a:t>
            </a:r>
            <a:r>
              <a:rPr lang="en-US" dirty="0"/>
              <a:t>.</a:t>
            </a:r>
            <a:endParaRPr lang="en-US" dirty="0"/>
          </a:p>
          <a:p>
            <a:r>
              <a:rPr lang="en-US" dirty="0"/>
              <a:t>The ultimate goal of fault tolerance is the development of a dependable system. </a:t>
            </a:r>
            <a:endParaRPr lang="en-US" dirty="0"/>
          </a:p>
          <a:p>
            <a:r>
              <a:rPr lang="en-US" dirty="0"/>
              <a:t>In broad terms, </a:t>
            </a:r>
            <a:r>
              <a:rPr lang="en-US" i="1" dirty="0"/>
              <a:t>dependability </a:t>
            </a:r>
            <a:r>
              <a:rPr lang="en-US" dirty="0"/>
              <a:t>is the ability of a system to deliver its intended level of service to its users.</a:t>
            </a:r>
            <a:endParaRPr lang="en-US" dirty="0"/>
          </a:p>
          <a:p>
            <a:r>
              <a:rPr lang="en-US" dirty="0"/>
              <a:t>This term covers a number of useful requirements which are expected from a distributed system.</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Dependability Attributes</a:t>
            </a:r>
            <a:endParaRPr lang="en-US" dirty="0"/>
          </a:p>
        </p:txBody>
      </p:sp>
      <p:sp>
        <p:nvSpPr>
          <p:cNvPr id="3" name="Content Placeholder 2"/>
          <p:cNvSpPr>
            <a:spLocks noGrp="1"/>
          </p:cNvSpPr>
          <p:nvPr>
            <p:ph idx="1"/>
          </p:nvPr>
        </p:nvSpPr>
        <p:spPr/>
        <p:txBody>
          <a:bodyPr>
            <a:normAutofit lnSpcReduction="10000"/>
          </a:bodyPr>
          <a:lstStyle/>
          <a:p>
            <a:r>
              <a:rPr lang="en-US" dirty="0"/>
              <a:t>Major dependability attributes are </a:t>
            </a:r>
            <a:endParaRPr lang="en-US" dirty="0"/>
          </a:p>
          <a:p>
            <a:pPr marL="971550" lvl="1" indent="-514350">
              <a:buFont typeface="+mj-lt"/>
              <a:buAutoNum type="arabicPeriod"/>
            </a:pPr>
            <a:r>
              <a:rPr lang="en-US" i="1" dirty="0">
                <a:solidFill>
                  <a:srgbClr val="FF0000"/>
                </a:solidFill>
              </a:rPr>
              <a:t>Reliability</a:t>
            </a:r>
            <a:endParaRPr lang="en-US" i="1" dirty="0">
              <a:solidFill>
                <a:srgbClr val="FF0000"/>
              </a:solidFill>
            </a:endParaRPr>
          </a:p>
          <a:p>
            <a:pPr marL="971550" lvl="1" indent="-514350">
              <a:buFont typeface="+mj-lt"/>
              <a:buAutoNum type="arabicPeriod"/>
            </a:pPr>
            <a:r>
              <a:rPr lang="en-US" i="1" dirty="0">
                <a:solidFill>
                  <a:srgbClr val="FF0000"/>
                </a:solidFill>
              </a:rPr>
              <a:t>Availability</a:t>
            </a:r>
            <a:endParaRPr lang="en-US" i="1" dirty="0">
              <a:solidFill>
                <a:srgbClr val="FF0000"/>
              </a:solidFill>
            </a:endParaRPr>
          </a:p>
          <a:p>
            <a:pPr marL="971550" lvl="1" indent="-514350">
              <a:buFont typeface="+mj-lt"/>
              <a:buAutoNum type="arabicPeriod"/>
            </a:pPr>
            <a:r>
              <a:rPr lang="en-US" i="1" dirty="0">
                <a:solidFill>
                  <a:srgbClr val="FF0000"/>
                </a:solidFill>
              </a:rPr>
              <a:t>Safety</a:t>
            </a:r>
            <a:endParaRPr lang="en-US" i="1" dirty="0">
              <a:solidFill>
                <a:srgbClr val="FF0000"/>
              </a:solidFill>
            </a:endParaRPr>
          </a:p>
          <a:p>
            <a:pPr marL="971550" lvl="1" indent="-514350">
              <a:buFont typeface="+mj-lt"/>
              <a:buAutoNum type="arabicPeriod"/>
            </a:pPr>
            <a:r>
              <a:rPr lang="en-US" i="1" dirty="0">
                <a:solidFill>
                  <a:srgbClr val="FF0000"/>
                </a:solidFill>
              </a:rPr>
              <a:t>Maintainability</a:t>
            </a:r>
            <a:endParaRPr lang="en-US" dirty="0">
              <a:solidFill>
                <a:srgbClr val="FF0000"/>
              </a:solidFill>
            </a:endParaRPr>
          </a:p>
          <a:p>
            <a:pPr algn="just"/>
            <a:r>
              <a:rPr lang="en-US" dirty="0"/>
              <a:t>Other possible attributes include </a:t>
            </a:r>
            <a:endParaRPr lang="en-US" dirty="0"/>
          </a:p>
          <a:p>
            <a:pPr lvl="1"/>
            <a:r>
              <a:rPr lang="en-US" i="1" dirty="0"/>
              <a:t>testability</a:t>
            </a:r>
            <a:r>
              <a:rPr lang="en-US" dirty="0"/>
              <a:t>, </a:t>
            </a:r>
            <a:endParaRPr lang="en-US" dirty="0"/>
          </a:p>
          <a:p>
            <a:pPr lvl="1"/>
            <a:r>
              <a:rPr lang="en-US" i="1" dirty="0"/>
              <a:t>performability</a:t>
            </a:r>
            <a:endParaRPr lang="en-US" i="1" dirty="0"/>
          </a:p>
          <a:p>
            <a:pPr lvl="1"/>
            <a:r>
              <a:rPr lang="en-US" i="1" dirty="0"/>
              <a:t>security</a:t>
            </a:r>
            <a:r>
              <a:rPr lang="en-US" dirty="0"/>
              <a:t>.</a:t>
            </a:r>
            <a:endParaRPr lang="en-US" dirty="0"/>
          </a:p>
          <a:p>
            <a:r>
              <a:rPr lang="en-US" dirty="0"/>
              <a:t>Depending on the application, one or more of these attributes may be needed to appropriately evaluate a system behavior. </a:t>
            </a:r>
            <a:endParaRPr lang="en-US" dirty="0"/>
          </a:p>
          <a:p>
            <a:pPr marL="0" indent="0" algn="just">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Dependability Attributes</a:t>
            </a:r>
            <a:endParaRPr lang="en-US" dirty="0"/>
          </a:p>
        </p:txBody>
      </p:sp>
      <p:sp>
        <p:nvSpPr>
          <p:cNvPr id="3" name="Content Placeholder 2"/>
          <p:cNvSpPr>
            <a:spLocks noGrp="1"/>
          </p:cNvSpPr>
          <p:nvPr>
            <p:ph idx="1"/>
          </p:nvPr>
        </p:nvSpPr>
        <p:spPr/>
        <p:txBody>
          <a:bodyPr>
            <a:normAutofit/>
          </a:bodyPr>
          <a:lstStyle/>
          <a:p>
            <a:pPr algn="just"/>
            <a:r>
              <a:rPr lang="en-US" dirty="0"/>
              <a:t>For example, in an Automatic Teller Machine (ATM), the proportion of time in which the system is able to deliver its intended level of service (system availability) is an important measure. </a:t>
            </a:r>
            <a:endParaRPr lang="en-US" dirty="0"/>
          </a:p>
          <a:p>
            <a:pPr algn="just"/>
            <a:r>
              <a:rPr lang="en-US" dirty="0"/>
              <a:t>For a cardiac patient with a pacemaker, continuous functioning of the device is a matter of life and death. Thus, the ability of the system to deliver its service without interruption (system reliability) is crucial. </a:t>
            </a:r>
            <a:endParaRPr lang="en-US" dirty="0"/>
          </a:p>
          <a:p>
            <a:pPr algn="just"/>
            <a:r>
              <a:rPr lang="en-US" dirty="0"/>
              <a:t>In a nuclear power plant control system, the ability of the system to perform its functions correctly or to discontinue its function in a safe manner (system safety) is of uppermost importance.</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Reliability</a:t>
            </a:r>
            <a:endParaRPr lang="en-US" dirty="0"/>
          </a:p>
        </p:txBody>
      </p:sp>
      <p:sp>
        <p:nvSpPr>
          <p:cNvPr id="3" name="Content Placeholder 2"/>
          <p:cNvSpPr>
            <a:spLocks noGrp="1"/>
          </p:cNvSpPr>
          <p:nvPr>
            <p:ph idx="1"/>
          </p:nvPr>
        </p:nvSpPr>
        <p:spPr/>
        <p:txBody>
          <a:bodyPr>
            <a:normAutofit fontScale="92500" lnSpcReduction="10000"/>
          </a:bodyPr>
          <a:lstStyle/>
          <a:p>
            <a:r>
              <a:rPr lang="en-US" b="1" dirty="0">
                <a:solidFill>
                  <a:srgbClr val="FF0000"/>
                </a:solidFill>
              </a:rPr>
              <a:t>Reliability </a:t>
            </a:r>
            <a:r>
              <a:rPr lang="en-US" dirty="0">
                <a:solidFill>
                  <a:srgbClr val="FF0000"/>
                </a:solidFill>
              </a:rPr>
              <a:t>refers to the property that a system can run continuously without failure.</a:t>
            </a:r>
            <a:endParaRPr lang="en-US" i="1" dirty="0">
              <a:solidFill>
                <a:srgbClr val="FF0000"/>
              </a:solidFill>
            </a:endParaRPr>
          </a:p>
          <a:p>
            <a:pPr algn="just"/>
            <a:r>
              <a:rPr lang="en-US" i="1" dirty="0"/>
              <a:t>Reliability R(t) </a:t>
            </a:r>
            <a:r>
              <a:rPr lang="en-US" dirty="0"/>
              <a:t>of a system at time </a:t>
            </a:r>
            <a:r>
              <a:rPr lang="en-US" i="1" dirty="0"/>
              <a:t>t </a:t>
            </a:r>
            <a:r>
              <a:rPr lang="en-US" dirty="0"/>
              <a:t>is the probability that the system operates without a failure in the interval [0</a:t>
            </a:r>
            <a:r>
              <a:rPr lang="en-US" i="1" dirty="0"/>
              <a:t>, t</a:t>
            </a:r>
            <a:r>
              <a:rPr lang="en-US" dirty="0"/>
              <a:t>], given that the system was performing correctly at time 0.</a:t>
            </a:r>
            <a:endParaRPr lang="en-US" dirty="0"/>
          </a:p>
          <a:p>
            <a:pPr algn="just"/>
            <a:r>
              <a:rPr lang="en-US" dirty="0"/>
              <a:t>Reliability is a measure of the continuous delivery of correct service. High reliability is required in situations when a system is expected to operate without interruptions.</a:t>
            </a:r>
            <a:endParaRPr lang="en-US" dirty="0"/>
          </a:p>
          <a:p>
            <a:pPr algn="just"/>
            <a:r>
              <a:rPr lang="en-US" dirty="0"/>
              <a:t>For example, a spacecraft mission control system is expected to provide uninterrupted service. A flaw in the system is likely to cause the destruction of the spacecraft.</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Availability</a:t>
            </a:r>
            <a:endParaRPr lang="en-US" dirty="0"/>
          </a:p>
        </p:txBody>
      </p:sp>
      <p:sp>
        <p:nvSpPr>
          <p:cNvPr id="3" name="Content Placeholder 2"/>
          <p:cNvSpPr>
            <a:spLocks noGrp="1"/>
          </p:cNvSpPr>
          <p:nvPr>
            <p:ph idx="1"/>
          </p:nvPr>
        </p:nvSpPr>
        <p:spPr/>
        <p:txBody>
          <a:bodyPr>
            <a:normAutofit lnSpcReduction="10000"/>
          </a:bodyPr>
          <a:lstStyle/>
          <a:p>
            <a:pPr algn="just"/>
            <a:r>
              <a:rPr lang="en-US" dirty="0"/>
              <a:t>Relatively few systems are designed to operate continuously without interruption and without maintenance of any kind. In many cases, we are interested not only in the probability of failure, but also in the number of failures and, in particular, in the time required to make repairs. For such applications, the attribute which we would like to maximize is the fraction of time that the system is in the operational state, expressed by availability.</a:t>
            </a:r>
            <a:endParaRPr lang="en-US" dirty="0"/>
          </a:p>
          <a:p>
            <a:r>
              <a:rPr lang="en-US" b="1" dirty="0">
                <a:solidFill>
                  <a:srgbClr val="FF0000"/>
                </a:solidFill>
              </a:rPr>
              <a:t>Availability </a:t>
            </a:r>
            <a:r>
              <a:rPr lang="en-US" dirty="0">
                <a:solidFill>
                  <a:srgbClr val="FF0000"/>
                </a:solidFill>
              </a:rPr>
              <a:t>is defined as the property that a system is ready to be used immediately.</a:t>
            </a:r>
            <a:endParaRPr lang="en-US" dirty="0">
              <a:solidFill>
                <a:srgbClr val="FF0000"/>
              </a:solidFill>
            </a:endParaRPr>
          </a:p>
          <a:p>
            <a:pPr algn="just"/>
            <a:r>
              <a:rPr lang="en-US" i="1" dirty="0"/>
              <a:t>Availability A(t) </a:t>
            </a:r>
            <a:r>
              <a:rPr lang="en-US" dirty="0"/>
              <a:t>of a system at time </a:t>
            </a:r>
            <a:r>
              <a:rPr lang="en-US" i="1" dirty="0"/>
              <a:t>t </a:t>
            </a:r>
            <a:r>
              <a:rPr lang="en-US" dirty="0"/>
              <a:t>is the probability that the system is functioning correctly at the instant of time </a:t>
            </a:r>
            <a:r>
              <a:rPr lang="en-US" i="1" dirty="0"/>
              <a:t>t</a:t>
            </a:r>
            <a:r>
              <a:rPr lang="en-US" dirty="0"/>
              <a:t>.</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Availability</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dirty="0"/>
              <a:t>A highly available system is one that will most likely be working at a given instant in time.</a:t>
            </a:r>
            <a:endParaRPr lang="en-US" dirty="0"/>
          </a:p>
          <a:p>
            <a:pPr marL="0" indent="0">
              <a:buNone/>
            </a:pPr>
            <a:r>
              <a:rPr lang="en-US" dirty="0"/>
              <a:t>	</a:t>
            </a:r>
            <a:r>
              <a:rPr lang="en-US" b="1" u="sng" dirty="0"/>
              <a:t>Availability</a:t>
            </a:r>
            <a:r>
              <a:rPr lang="en-US" dirty="0"/>
              <a:t> 		</a:t>
            </a:r>
            <a:r>
              <a:rPr lang="en-US" b="1" u="sng" dirty="0"/>
              <a:t>(%) Downtime</a:t>
            </a:r>
            <a:endParaRPr lang="en-US" b="1" u="sng" dirty="0"/>
          </a:p>
          <a:p>
            <a:pPr marL="0" indent="0">
              <a:buNone/>
            </a:pPr>
            <a:r>
              <a:rPr lang="en-US" dirty="0"/>
              <a:t>	90 				36.5 days/year</a:t>
            </a:r>
            <a:endParaRPr lang="en-US" dirty="0"/>
          </a:p>
          <a:p>
            <a:pPr marL="0" indent="0">
              <a:buNone/>
            </a:pPr>
            <a:r>
              <a:rPr lang="en-US" dirty="0"/>
              <a:t>	99 				3.65 days/year</a:t>
            </a:r>
            <a:endParaRPr lang="en-US" dirty="0"/>
          </a:p>
          <a:p>
            <a:pPr marL="0" indent="0">
              <a:buNone/>
            </a:pPr>
            <a:r>
              <a:rPr lang="en-US" dirty="0"/>
              <a:t>	99.9 				8.76 h/year</a:t>
            </a:r>
            <a:endParaRPr lang="en-US" dirty="0"/>
          </a:p>
          <a:p>
            <a:pPr marL="0" indent="0">
              <a:buNone/>
            </a:pPr>
            <a:r>
              <a:rPr lang="en-US" dirty="0"/>
              <a:t>	99.99 				52 min/year</a:t>
            </a:r>
            <a:endParaRPr lang="en-US" dirty="0"/>
          </a:p>
          <a:p>
            <a:pPr marL="0" indent="0">
              <a:buNone/>
            </a:pPr>
            <a:r>
              <a:rPr lang="en-US" dirty="0"/>
              <a:t>	99.999 			5min/year</a:t>
            </a:r>
            <a:endParaRPr lang="en-US" dirty="0"/>
          </a:p>
          <a:p>
            <a:pPr marL="0" indent="0">
              <a:buNone/>
            </a:pPr>
            <a:r>
              <a:rPr lang="en-US" dirty="0"/>
              <a:t>	99.9999 			31 s/year</a:t>
            </a:r>
            <a:endParaRPr lang="en-US" dirty="0"/>
          </a:p>
        </p:txBody>
      </p:sp>
      <p:pic>
        <p:nvPicPr>
          <p:cNvPr id="4" name="Picture 3"/>
          <p:cNvPicPr>
            <a:picLocks noChangeAspect="1"/>
          </p:cNvPicPr>
          <p:nvPr/>
        </p:nvPicPr>
        <p:blipFill>
          <a:blip r:embed="rId1"/>
          <a:stretch>
            <a:fillRect/>
          </a:stretch>
        </p:blipFill>
        <p:spPr>
          <a:xfrm>
            <a:off x="5334635" y="139700"/>
            <a:ext cx="4660900" cy="168656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Availability Examples</a:t>
            </a:r>
            <a:endParaRPr lang="en-US" dirty="0"/>
          </a:p>
        </p:txBody>
      </p:sp>
      <p:sp>
        <p:nvSpPr>
          <p:cNvPr id="3" name="Content Placeholder 2"/>
          <p:cNvSpPr>
            <a:spLocks noGrp="1"/>
          </p:cNvSpPr>
          <p:nvPr>
            <p:ph idx="1"/>
          </p:nvPr>
        </p:nvSpPr>
        <p:spPr/>
        <p:txBody>
          <a:bodyPr>
            <a:normAutofit lnSpcReduction="10000"/>
          </a:bodyPr>
          <a:lstStyle/>
          <a:p>
            <a:pPr algn="just"/>
            <a:r>
              <a:rPr lang="en-US" dirty="0"/>
              <a:t>A telephone subscriber expects to complete a call without interruptions. However, a downtime of a few minutes a year is typically considered acceptable. </a:t>
            </a:r>
            <a:endParaRPr lang="en-US" dirty="0"/>
          </a:p>
          <a:p>
            <a:pPr algn="just"/>
            <a:r>
              <a:rPr lang="en-US" dirty="0"/>
              <a:t>Surveys show that the average expectation of an online shopper for a web page to load is 2 s. This means that e-commerce web sites should be available all the time and should respond quickly even when a large number of shoppers access them simultaneously. </a:t>
            </a:r>
            <a:endParaRPr lang="en-US" dirty="0"/>
          </a:p>
          <a:p>
            <a:pPr algn="just"/>
            <a:r>
              <a:rPr lang="en-US" dirty="0"/>
              <a:t>Another example is the electrical power control system. Customers expect power to be available 24 h a day, every day, in any weather condition.  A prolonged power failure may lead to health hazards and financial loss.</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Availability vs Reliability</a:t>
            </a:r>
            <a:endParaRPr lang="en-US" dirty="0"/>
          </a:p>
        </p:txBody>
      </p:sp>
      <p:sp>
        <p:nvSpPr>
          <p:cNvPr id="3" name="Content Placeholder 2"/>
          <p:cNvSpPr>
            <a:spLocks noGrp="1"/>
          </p:cNvSpPr>
          <p:nvPr>
            <p:ph idx="1"/>
          </p:nvPr>
        </p:nvSpPr>
        <p:spPr/>
        <p:txBody>
          <a:bodyPr>
            <a:noAutofit/>
          </a:bodyPr>
          <a:lstStyle/>
          <a:p>
            <a:r>
              <a:rPr lang="en-US" sz="2600" dirty="0">
                <a:solidFill>
                  <a:srgbClr val="FF0000"/>
                </a:solidFill>
              </a:rPr>
              <a:t>In contrast to availability, reliability is defined in terms of a time interval instead of an instant in time. </a:t>
            </a:r>
            <a:endParaRPr lang="en-US" sz="2600" dirty="0">
              <a:solidFill>
                <a:srgbClr val="FF0000"/>
              </a:solidFill>
            </a:endParaRPr>
          </a:p>
          <a:p>
            <a:r>
              <a:rPr lang="en-US" sz="2600" dirty="0"/>
              <a:t>A highly-reliable system is one that will most likely continue to work without interruption during a relatively long period of time. </a:t>
            </a:r>
            <a:endParaRPr lang="en-US" sz="2600" dirty="0"/>
          </a:p>
          <a:p>
            <a:r>
              <a:rPr lang="en-US" sz="2600" dirty="0"/>
              <a:t>This is a subtle but important difference when compared to availability. If a system goes down for one millisecond every hour, it has an availability of over 99.9999 percent, but is still highly unreliable. </a:t>
            </a:r>
            <a:endParaRPr lang="en-US" sz="2600" dirty="0"/>
          </a:p>
          <a:p>
            <a:r>
              <a:rPr lang="en-US" sz="2600" dirty="0"/>
              <a:t>Similarly, a system that never crashes but is shut down for two weeks every August has high reliability but only 96 percent availability. </a:t>
            </a:r>
            <a:endParaRPr lang="en-US" sz="2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Safety</a:t>
            </a:r>
            <a:endParaRPr lang="en-US" dirty="0"/>
          </a:p>
        </p:txBody>
      </p:sp>
      <p:sp>
        <p:nvSpPr>
          <p:cNvPr id="3" name="Content Placeholder 2"/>
          <p:cNvSpPr>
            <a:spLocks noGrp="1"/>
          </p:cNvSpPr>
          <p:nvPr>
            <p:ph idx="1"/>
          </p:nvPr>
        </p:nvSpPr>
        <p:spPr/>
        <p:txBody>
          <a:bodyPr>
            <a:normAutofit lnSpcReduction="20000"/>
          </a:bodyPr>
          <a:lstStyle/>
          <a:p>
            <a:r>
              <a:rPr lang="en-US" b="1" dirty="0">
                <a:solidFill>
                  <a:srgbClr val="FF0000"/>
                </a:solidFill>
              </a:rPr>
              <a:t>Safety </a:t>
            </a:r>
            <a:r>
              <a:rPr lang="en-US" dirty="0">
                <a:solidFill>
                  <a:srgbClr val="FF0000"/>
                </a:solidFill>
              </a:rPr>
              <a:t>refers to the situation that when a system temporarily fails to operate correctly, nothing catastrophic(</a:t>
            </a:r>
            <a:r>
              <a:rPr lang="" altLang="en-US" dirty="0">
                <a:solidFill>
                  <a:srgbClr val="FF0000"/>
                </a:solidFill>
              </a:rPr>
              <a:t>বিপর্যয়কর</a:t>
            </a:r>
            <a:r>
              <a:rPr lang="en-US" dirty="0">
                <a:solidFill>
                  <a:srgbClr val="FF0000"/>
                </a:solidFill>
              </a:rPr>
              <a:t>) happens.</a:t>
            </a:r>
            <a:endParaRPr lang="en-US" dirty="0">
              <a:solidFill>
                <a:srgbClr val="FF0000"/>
              </a:solidFill>
            </a:endParaRPr>
          </a:p>
          <a:p>
            <a:r>
              <a:rPr lang="en-US" dirty="0"/>
              <a:t>For example, many process control systems, such as those used for controlling nuclear power plants or sending people into space, are required to provide a high degree of safety. If such control systems temporarily fail for only a very brief moment, the effects could be disastrous.</a:t>
            </a:r>
            <a:endParaRPr lang="en-US" dirty="0"/>
          </a:p>
          <a:p>
            <a:pPr algn="just"/>
            <a:r>
              <a:rPr lang="en-US" i="1" dirty="0"/>
              <a:t>Safety S(t) </a:t>
            </a:r>
            <a:r>
              <a:rPr lang="en-US" dirty="0"/>
              <a:t>of a system at time </a:t>
            </a:r>
            <a:r>
              <a:rPr lang="en-US" i="1" dirty="0"/>
              <a:t>t </a:t>
            </a:r>
            <a:r>
              <a:rPr lang="en-US" dirty="0"/>
              <a:t>is the probability that the system either performs its function correctly or discontinues its operation in a </a:t>
            </a:r>
            <a:r>
              <a:rPr lang="en-US" dirty="0">
                <a:solidFill>
                  <a:srgbClr val="FF0000"/>
                </a:solidFill>
              </a:rPr>
              <a:t>fail-safe manner </a:t>
            </a:r>
            <a:r>
              <a:rPr lang="en-US" dirty="0"/>
              <a:t>in the interval [0</a:t>
            </a:r>
            <a:r>
              <a:rPr lang="en-US" i="1" dirty="0"/>
              <a:t>, t</a:t>
            </a:r>
            <a:r>
              <a:rPr lang="en-US" dirty="0"/>
              <a:t>], given that the system was operating correctly at time 0.</a:t>
            </a:r>
            <a:endParaRPr lang="en-US" dirty="0"/>
          </a:p>
        </p:txBody>
      </p:sp>
      <p:sp>
        <p:nvSpPr>
          <p:cNvPr id="4" name="Text Box 3"/>
          <p:cNvSpPr txBox="1"/>
          <p:nvPr/>
        </p:nvSpPr>
        <p:spPr>
          <a:xfrm>
            <a:off x="3556000" y="5932170"/>
            <a:ext cx="5614035" cy="337185"/>
          </a:xfrm>
          <a:prstGeom prst="rect">
            <a:avLst/>
          </a:prstGeom>
        </p:spPr>
        <p:txBody>
          <a:bodyPr wrap="square">
            <a:spAutoFit/>
          </a:bodyPr>
          <a:p>
            <a:r>
              <a:rPr sz="1600" b="1">
                <a:solidFill>
                  <a:srgbClr val="FF0000"/>
                </a:solidFill>
              </a:rPr>
              <a:t>S(t)=P(System operates correctly OR fails safely in [0,t])</a:t>
            </a:r>
            <a:endParaRPr sz="1600" b="1">
              <a:solidFill>
                <a:srgbClr val="FF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Safety</a:t>
            </a:r>
            <a:endParaRPr lang="en-US" dirty="0"/>
          </a:p>
        </p:txBody>
      </p:sp>
      <p:sp>
        <p:nvSpPr>
          <p:cNvPr id="3" name="Content Placeholder 2"/>
          <p:cNvSpPr>
            <a:spLocks noGrp="1"/>
          </p:cNvSpPr>
          <p:nvPr>
            <p:ph idx="1"/>
          </p:nvPr>
        </p:nvSpPr>
        <p:spPr/>
        <p:txBody>
          <a:bodyPr>
            <a:normAutofit/>
          </a:bodyPr>
          <a:lstStyle/>
          <a:p>
            <a:pPr algn="just"/>
            <a:r>
              <a:rPr lang="en-US" dirty="0">
                <a:solidFill>
                  <a:srgbClr val="FF0000"/>
                </a:solidFill>
              </a:rPr>
              <a:t>Safety can be considered as an extension of reliability,</a:t>
            </a:r>
            <a:r>
              <a:rPr lang="en-US" dirty="0"/>
              <a:t> namely reliability with respect to failures that may create safety hazards. </a:t>
            </a:r>
            <a:endParaRPr lang="en-US" dirty="0"/>
          </a:p>
          <a:p>
            <a:pPr algn="just"/>
            <a:r>
              <a:rPr lang="en-US" dirty="0"/>
              <a:t>From the reliability point of view, all failures are equal. </a:t>
            </a:r>
            <a:r>
              <a:rPr lang="en-US" dirty="0">
                <a:solidFill>
                  <a:srgbClr val="FF0000"/>
                </a:solidFill>
              </a:rPr>
              <a:t>For safety considerations, failures are partitioned into </a:t>
            </a:r>
            <a:r>
              <a:rPr lang="en-US" i="1" dirty="0">
                <a:solidFill>
                  <a:srgbClr val="FF0000"/>
                </a:solidFill>
              </a:rPr>
              <a:t>fail-safe </a:t>
            </a:r>
            <a:r>
              <a:rPr lang="en-US" dirty="0">
                <a:solidFill>
                  <a:srgbClr val="FF0000"/>
                </a:solidFill>
              </a:rPr>
              <a:t>and </a:t>
            </a:r>
            <a:r>
              <a:rPr lang="en-US" i="1" dirty="0">
                <a:solidFill>
                  <a:srgbClr val="FF0000"/>
                </a:solidFill>
              </a:rPr>
              <a:t>fail-unsafe </a:t>
            </a:r>
            <a:r>
              <a:rPr lang="en-US" dirty="0">
                <a:solidFill>
                  <a:srgbClr val="FF0000"/>
                </a:solidFill>
              </a:rPr>
              <a:t>ones.</a:t>
            </a:r>
            <a:endParaRPr lang="en-US" dirty="0">
              <a:solidFill>
                <a:srgbClr val="FF0000"/>
              </a:solidFill>
            </a:endParaRPr>
          </a:p>
          <a:p>
            <a:pPr algn="just"/>
            <a:r>
              <a:rPr lang="en-US" dirty="0"/>
              <a:t>As an example, consider an alarm system. The alarm may either fail to function correctly even though a danger exists, or it may give a false alarm when no danger is present. The former is classified as a fail-unsafe failure. The latter is considered a fail-safe one.</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Maintainability</a:t>
            </a:r>
            <a:endParaRPr lang="en-US" dirty="0"/>
          </a:p>
        </p:txBody>
      </p:sp>
      <p:sp>
        <p:nvSpPr>
          <p:cNvPr id="3" name="Content Placeholder 2"/>
          <p:cNvSpPr>
            <a:spLocks noGrp="1"/>
          </p:cNvSpPr>
          <p:nvPr>
            <p:ph idx="1"/>
          </p:nvPr>
        </p:nvSpPr>
        <p:spPr/>
        <p:txBody>
          <a:bodyPr/>
          <a:lstStyle/>
          <a:p>
            <a:r>
              <a:rPr lang="en-US" b="1" dirty="0">
                <a:solidFill>
                  <a:srgbClr val="FF0000"/>
                </a:solidFill>
              </a:rPr>
              <a:t>Maintainability </a:t>
            </a:r>
            <a:r>
              <a:rPr lang="en-US" dirty="0">
                <a:solidFill>
                  <a:srgbClr val="FF0000"/>
                </a:solidFill>
              </a:rPr>
              <a:t>refers to how easy a failed system can be repaired.</a:t>
            </a:r>
            <a:endParaRPr lang="en-US" dirty="0">
              <a:solidFill>
                <a:srgbClr val="FF0000"/>
              </a:solidFill>
            </a:endParaRPr>
          </a:p>
          <a:p>
            <a:r>
              <a:rPr lang="en-US" dirty="0">
                <a:solidFill>
                  <a:srgbClr val="FF0000"/>
                </a:solidFill>
              </a:rPr>
              <a:t>A highly maintainable system may also show a high degree of availability,</a:t>
            </a:r>
            <a:r>
              <a:rPr lang="en-US" dirty="0"/>
              <a:t> especially if failures can be detected and repaired automatically.</a:t>
            </a:r>
            <a:endParaRPr lang="en-US" dirty="0"/>
          </a:p>
          <a:p>
            <a:r>
              <a:rPr lang="en-US" dirty="0"/>
              <a:t>However, automatically recovering from failures is easier said than done.</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Dependability Impairments(</a:t>
            </a:r>
            <a:r>
              <a:rPr lang="" altLang="en-US" dirty="0"/>
              <a:t>প্রতিবন্ধকতা</a:t>
            </a:r>
            <a:r>
              <a:rPr lang="en-US" dirty="0"/>
              <a:t>)</a:t>
            </a:r>
            <a:endParaRPr lang="en-US" dirty="0"/>
          </a:p>
        </p:txBody>
      </p:sp>
      <p:sp>
        <p:nvSpPr>
          <p:cNvPr id="3" name="Content Placeholder 2"/>
          <p:cNvSpPr>
            <a:spLocks noGrp="1"/>
          </p:cNvSpPr>
          <p:nvPr>
            <p:ph idx="1"/>
          </p:nvPr>
        </p:nvSpPr>
        <p:spPr/>
        <p:txBody>
          <a:bodyPr/>
          <a:lstStyle/>
          <a:p>
            <a:pPr algn="just"/>
            <a:r>
              <a:rPr lang="en-US" dirty="0"/>
              <a:t>Dependability impairments are usually defined in terms of faults, errors, or failures.</a:t>
            </a:r>
            <a:endParaRPr lang="en-US" dirty="0"/>
          </a:p>
          <a:p>
            <a:pPr algn="just"/>
            <a:r>
              <a:rPr lang="en-US" dirty="0"/>
              <a:t>A common feature of the three terms is that they give us a message that something went wrong. </a:t>
            </a:r>
            <a:endParaRPr lang="en-US" dirty="0"/>
          </a:p>
          <a:p>
            <a:pPr algn="just"/>
            <a:r>
              <a:rPr lang="en-US" dirty="0">
                <a:solidFill>
                  <a:srgbClr val="FF0000"/>
                </a:solidFill>
              </a:rPr>
              <a:t>The difference is that, in the case of a fault, the problem occurred on the physical level; in the case of an error, the problem occurred on the computational level; in the case of a failure, the problem occurred on a system level.</a:t>
            </a:r>
            <a:endParaRPr lang="en-US" dirty="0">
              <a:solidFill>
                <a:srgbClr val="FF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Faults, Errors, and Failures</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a:t>A </a:t>
            </a:r>
            <a:r>
              <a:rPr lang="en-US" i="1" dirty="0"/>
              <a:t>fault </a:t>
            </a:r>
            <a:r>
              <a:rPr lang="en-US" dirty="0"/>
              <a:t>is a physical defect, imperfection, or flaw that occurs in some hardware or software component. Examples are a short circuit between two adjacent interconnects, a broken pin, or a software bug.</a:t>
            </a:r>
            <a:endParaRPr lang="en-US" dirty="0"/>
          </a:p>
          <a:p>
            <a:pPr algn="just"/>
            <a:r>
              <a:rPr lang="en-US" dirty="0"/>
              <a:t>An </a:t>
            </a:r>
            <a:r>
              <a:rPr lang="en-US" i="1" dirty="0"/>
              <a:t>error </a:t>
            </a:r>
            <a:r>
              <a:rPr lang="en-US" dirty="0"/>
              <a:t>is a deviation from correctness or accuracy in computation, which occurs as a result of a fault. Errors are usually associated with incorrect values in the system state. For example, a circuit or a program computed an incorrect value, or incorrect information was received while transmitting data.</a:t>
            </a:r>
            <a:endParaRPr lang="en-US" dirty="0"/>
          </a:p>
          <a:p>
            <a:pPr algn="just"/>
            <a:r>
              <a:rPr lang="en-US" dirty="0"/>
              <a:t>A </a:t>
            </a:r>
            <a:r>
              <a:rPr lang="en-US" i="1" dirty="0"/>
              <a:t>failure </a:t>
            </a:r>
            <a:r>
              <a:rPr lang="en-US" dirty="0"/>
              <a:t>is a nonperformance of some action which is due or expected. A system is said to have a failure if the service it delivers to the user deviates from compliance with the system specification for a specified period of time.</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Faults, Errors, and Failures</a:t>
            </a:r>
            <a:endParaRPr lang="en-US" dirty="0"/>
          </a:p>
        </p:txBody>
      </p:sp>
      <p:sp>
        <p:nvSpPr>
          <p:cNvPr id="3" name="Content Placeholder 2"/>
          <p:cNvSpPr>
            <a:spLocks noGrp="1"/>
          </p:cNvSpPr>
          <p:nvPr>
            <p:ph idx="1"/>
          </p:nvPr>
        </p:nvSpPr>
        <p:spPr/>
        <p:txBody>
          <a:bodyPr>
            <a:normAutofit fontScale="85000" lnSpcReduction="20000"/>
          </a:bodyPr>
          <a:lstStyle/>
          <a:p>
            <a:r>
              <a:rPr lang="en-US" dirty="0"/>
              <a:t>A system is said to </a:t>
            </a:r>
            <a:r>
              <a:rPr lang="en-US" b="1" dirty="0"/>
              <a:t>fail </a:t>
            </a:r>
            <a:r>
              <a:rPr lang="en-US" dirty="0"/>
              <a:t>when it cannot meet its promises. </a:t>
            </a:r>
            <a:endParaRPr lang="en-US" dirty="0"/>
          </a:p>
          <a:p>
            <a:r>
              <a:rPr lang="en-US" dirty="0"/>
              <a:t>In particular, if a distributed system is designed to provide its users with a number of services, the system has failed when one or more of those services cannot be (completely) provided. </a:t>
            </a:r>
            <a:endParaRPr lang="en-US" dirty="0"/>
          </a:p>
          <a:p>
            <a:r>
              <a:rPr lang="en-US" dirty="0"/>
              <a:t>An </a:t>
            </a:r>
            <a:r>
              <a:rPr lang="en-US" b="1" dirty="0"/>
              <a:t>error </a:t>
            </a:r>
            <a:r>
              <a:rPr lang="en-US" dirty="0"/>
              <a:t>is a part of a system’s state that may lead to a failure. </a:t>
            </a:r>
            <a:endParaRPr lang="en-US" dirty="0"/>
          </a:p>
          <a:p>
            <a:r>
              <a:rPr lang="en-US" dirty="0"/>
              <a:t>For example, when transmitting packets across a network, it is to be expected that some packets have been damaged when they arrive at the receiver. Damaged in this context means that the receiver may incorrectly sense a bit value (e.g., reading a 1 instead of a 0), or may even be unable to detect that something has arrived.</a:t>
            </a:r>
            <a:endParaRPr lang="en-US" dirty="0"/>
          </a:p>
          <a:p>
            <a:r>
              <a:rPr lang="en-US" dirty="0"/>
              <a:t>The cause of an error is called a </a:t>
            </a:r>
            <a:r>
              <a:rPr lang="en-US" b="1" dirty="0"/>
              <a:t>fault</a:t>
            </a:r>
            <a:r>
              <a:rPr lang="en-US" dirty="0"/>
              <a:t>. Clearly, finding out what caused an error is important. For example, a wrong or bad transmission medium may easily cause packets to be damaged</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Faults, Errors, and Failures</a:t>
            </a:r>
            <a:endParaRPr lang="en-US" dirty="0"/>
          </a:p>
        </p:txBody>
      </p:sp>
      <p:sp>
        <p:nvSpPr>
          <p:cNvPr id="3" name="Content Placeholder 2"/>
          <p:cNvSpPr>
            <a:spLocks noGrp="1"/>
          </p:cNvSpPr>
          <p:nvPr>
            <p:ph idx="1"/>
          </p:nvPr>
        </p:nvSpPr>
        <p:spPr>
          <a:xfrm>
            <a:off x="838200" y="1527175"/>
            <a:ext cx="10515600" cy="4351338"/>
          </a:xfrm>
        </p:spPr>
        <p:txBody>
          <a:bodyPr>
            <a:noAutofit/>
          </a:bodyPr>
          <a:lstStyle/>
          <a:p>
            <a:pPr algn="just"/>
            <a:r>
              <a:rPr lang="en-US" sz="2600" dirty="0">
                <a:solidFill>
                  <a:srgbClr val="FF0000"/>
                </a:solidFill>
              </a:rPr>
              <a:t>Faults are reasons for errors and errors are reasons for failures.</a:t>
            </a:r>
            <a:r>
              <a:rPr lang="en-US" sz="2600" dirty="0"/>
              <a:t> </a:t>
            </a:r>
            <a:endParaRPr lang="en-US" sz="2600" dirty="0"/>
          </a:p>
          <a:p>
            <a:pPr algn="just"/>
            <a:r>
              <a:rPr lang="en-US" sz="2600" dirty="0"/>
              <a:t>For example, consider a power plant in which a computer-controlled system is responsible for monitoring various plant temperatures, pressures, and other physical characteristics. The sensor reporting the speed at which the main turbine is spinning breaks. This fault causes the system to send more steam to the turbine than is required (error), over-speeding the turbine, and resulting in the mechanical safety system shutting down the turbine to prevent it being damaged. The system is no longer generating power (system failure, fail-safe).</a:t>
            </a:r>
            <a:endParaRPr lang="en-US" sz="2600" dirty="0"/>
          </a:p>
          <a:p>
            <a:pPr algn="just"/>
            <a:r>
              <a:rPr lang="en-US" sz="2600" dirty="0">
                <a:solidFill>
                  <a:srgbClr val="FF0000"/>
                </a:solidFill>
              </a:rPr>
              <a:t>Not every fault causes an error and not every error causes a failure.</a:t>
            </a:r>
            <a:endParaRPr lang="en-US" sz="2600" dirty="0">
              <a:solidFill>
                <a:srgbClr val="FF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Faults Classification</a:t>
            </a:r>
            <a:endParaRPr lang="en-US" dirty="0"/>
          </a:p>
        </p:txBody>
      </p:sp>
      <p:sp>
        <p:nvSpPr>
          <p:cNvPr id="3" name="Content Placeholder 2"/>
          <p:cNvSpPr>
            <a:spLocks noGrp="1"/>
          </p:cNvSpPr>
          <p:nvPr>
            <p:ph idx="1"/>
          </p:nvPr>
        </p:nvSpPr>
        <p:spPr/>
        <p:txBody>
          <a:bodyPr>
            <a:normAutofit fontScale="92500" lnSpcReduction="20000"/>
          </a:bodyPr>
          <a:lstStyle/>
          <a:p>
            <a:r>
              <a:rPr lang="en-US" b="1" dirty="0"/>
              <a:t>Transient faults </a:t>
            </a:r>
            <a:r>
              <a:rPr lang="en-US" dirty="0"/>
              <a:t>occur once and then disappear. If the operation is repeated, the fault goes away. A bird flying through the beam of a microwave transmitter may cause lost bits on some network. If the transmission times out and is retried, it will probably work the second time.</a:t>
            </a:r>
            <a:endParaRPr lang="en-US" dirty="0"/>
          </a:p>
          <a:p>
            <a:r>
              <a:rPr lang="en-US" dirty="0"/>
              <a:t>An </a:t>
            </a:r>
            <a:r>
              <a:rPr lang="en-US" b="1" dirty="0"/>
              <a:t>intermittent fault </a:t>
            </a:r>
            <a:r>
              <a:rPr lang="en-US" dirty="0"/>
              <a:t>occurs, then vanishes of its own accord, then reappears, and so on. A loose contact on a connector will often cause an intermittent fault. Intermittent faults cause a great deal of aggravation because they are difficult to diagnose. Typically, when the fault doctor shows up, the system works fine.</a:t>
            </a:r>
            <a:endParaRPr lang="en-US" dirty="0"/>
          </a:p>
          <a:p>
            <a:r>
              <a:rPr lang="en-US" dirty="0"/>
              <a:t>A </a:t>
            </a:r>
            <a:r>
              <a:rPr lang="en-US" b="1" dirty="0"/>
              <a:t>permanent fault </a:t>
            </a:r>
            <a:r>
              <a:rPr lang="en-US" dirty="0"/>
              <a:t>is one that continues to exist until the faulty component is replaced. Burnt-out chips, software bugs, and disk head crashes are examples of permanent faults.</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Failure Models</a:t>
            </a:r>
            <a:endParaRPr lang="en-US" dirty="0"/>
          </a:p>
        </p:txBody>
      </p:sp>
      <p:pic>
        <p:nvPicPr>
          <p:cNvPr id="5" name="Content Placeholder 4"/>
          <p:cNvPicPr>
            <a:picLocks noGrp="1" noChangeAspect="1"/>
          </p:cNvPicPr>
          <p:nvPr>
            <p:ph idx="1"/>
          </p:nvPr>
        </p:nvPicPr>
        <p:blipFill>
          <a:blip r:embed="rId1"/>
          <a:stretch>
            <a:fillRect/>
          </a:stretch>
        </p:blipFill>
        <p:spPr>
          <a:xfrm>
            <a:off x="838200" y="1968684"/>
            <a:ext cx="10515600" cy="406521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Dependability Means</a:t>
            </a:r>
            <a:endParaRPr lang="en-US" dirty="0"/>
          </a:p>
        </p:txBody>
      </p:sp>
      <p:sp>
        <p:nvSpPr>
          <p:cNvPr id="3" name="Content Placeholder 2"/>
          <p:cNvSpPr>
            <a:spLocks noGrp="1"/>
          </p:cNvSpPr>
          <p:nvPr>
            <p:ph idx="1"/>
          </p:nvPr>
        </p:nvSpPr>
        <p:spPr/>
        <p:txBody>
          <a:bodyPr/>
          <a:lstStyle/>
          <a:p>
            <a:r>
              <a:rPr lang="en-US" i="1" dirty="0"/>
              <a:t>Dependability means </a:t>
            </a:r>
            <a:r>
              <a:rPr lang="en-US" dirty="0"/>
              <a:t>are the methods and techniques enabling the development of a dependable system. </a:t>
            </a:r>
            <a:endParaRPr lang="en-US" dirty="0"/>
          </a:p>
          <a:p>
            <a:r>
              <a:rPr lang="en-US" dirty="0"/>
              <a:t>Fault tolerance is one of these methods that is used in combination with other methods to attain dependability, such as fault prevention, fault removal, and fault forecasting.</a:t>
            </a:r>
            <a:endParaRPr lang="en-US" dirty="0"/>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Fault Tolerance</a:t>
            </a:r>
            <a:endParaRPr lang="en-US" dirty="0"/>
          </a:p>
        </p:txBody>
      </p:sp>
      <p:sp>
        <p:nvSpPr>
          <p:cNvPr id="3" name="Content Placeholder 2"/>
          <p:cNvSpPr>
            <a:spLocks noGrp="1"/>
          </p:cNvSpPr>
          <p:nvPr>
            <p:ph idx="1"/>
          </p:nvPr>
        </p:nvSpPr>
        <p:spPr/>
        <p:txBody>
          <a:bodyPr>
            <a:normAutofit/>
          </a:bodyPr>
          <a:lstStyle/>
          <a:p>
            <a:r>
              <a:rPr lang="en-US" dirty="0"/>
              <a:t>Fault tolerance targets the development of systems which function correctly in the presence of faults. Fault tolerance is achieved by using some kind of redundancy. The redundancy allows a fault either to be </a:t>
            </a:r>
            <a:r>
              <a:rPr lang="en-US" i="1" dirty="0"/>
              <a:t>masked</a:t>
            </a:r>
            <a:r>
              <a:rPr lang="en-US" dirty="0"/>
              <a:t>, or </a:t>
            </a:r>
            <a:r>
              <a:rPr lang="en-US" i="1" dirty="0"/>
              <a:t>detected</a:t>
            </a:r>
            <a:r>
              <a:rPr lang="en-US" dirty="0"/>
              <a:t>, with subsequent location, containment, and recovery. </a:t>
            </a:r>
            <a:endParaRPr lang="en-US" dirty="0"/>
          </a:p>
          <a:p>
            <a:r>
              <a:rPr lang="en-US" dirty="0"/>
              <a:t>Redundancy is necessary, but not sufficient for fault tolerance. For example, two duplicated components connected in parallel do not make a system fault-tolerant, unless some form of monitoring is provided, which analyzes the results and selects the correct one.</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Fault Tolerance</a:t>
            </a:r>
            <a:endParaRPr lang="en-US" dirty="0"/>
          </a:p>
        </p:txBody>
      </p:sp>
      <p:sp>
        <p:nvSpPr>
          <p:cNvPr id="3" name="Content Placeholder 2"/>
          <p:cNvSpPr>
            <a:spLocks noGrp="1"/>
          </p:cNvSpPr>
          <p:nvPr>
            <p:ph idx="1"/>
          </p:nvPr>
        </p:nvSpPr>
        <p:spPr/>
        <p:txBody>
          <a:bodyPr>
            <a:normAutofit fontScale="92500" lnSpcReduction="10000"/>
          </a:bodyPr>
          <a:lstStyle/>
          <a:p>
            <a:r>
              <a:rPr lang="en-US" i="1" dirty="0"/>
              <a:t>Fault masking </a:t>
            </a:r>
            <a:r>
              <a:rPr lang="en-US" dirty="0"/>
              <a:t>is the process of insuring that only correct values get passed to the system output in spite of the presence of a fault.</a:t>
            </a:r>
            <a:endParaRPr lang="en-US" dirty="0"/>
          </a:p>
          <a:p>
            <a:pPr lvl="1"/>
            <a:r>
              <a:rPr lang="en-US" dirty="0"/>
              <a:t>For example, a memory protected by an error-correcting code corrects the faulty bits before the system uses the data. </a:t>
            </a:r>
            <a:endParaRPr lang="en-US" dirty="0"/>
          </a:p>
          <a:p>
            <a:pPr lvl="1"/>
            <a:r>
              <a:rPr lang="en-US" dirty="0"/>
              <a:t>Another example of fault masking is triple modular redundancy with the majority voting.</a:t>
            </a:r>
            <a:endParaRPr lang="en-US" dirty="0"/>
          </a:p>
          <a:p>
            <a:r>
              <a:rPr lang="en-US" i="1" dirty="0"/>
              <a:t>Fault detection </a:t>
            </a:r>
            <a:r>
              <a:rPr lang="en-US" dirty="0"/>
              <a:t>is the process of determining that a fault has occurred within a system.</a:t>
            </a:r>
            <a:endParaRPr lang="en-US" dirty="0"/>
          </a:p>
          <a:p>
            <a:pPr lvl="1"/>
            <a:r>
              <a:rPr lang="en-US" i="1" dirty="0"/>
              <a:t>Acceptance tests </a:t>
            </a:r>
            <a:r>
              <a:rPr lang="en-US" dirty="0"/>
              <a:t>is a fault detecting mechanism that can be used for systems having no replicated components.</a:t>
            </a:r>
            <a:endParaRPr lang="en-US" dirty="0"/>
          </a:p>
          <a:p>
            <a:pPr lvl="1"/>
            <a:r>
              <a:rPr lang="en-US" i="1" dirty="0"/>
              <a:t>Comparison </a:t>
            </a:r>
            <a:r>
              <a:rPr lang="en-US" dirty="0"/>
              <a:t>is an alternative technique for detecting faults, used for systems with duplicated components. The output results of two components are compared. A disagreement in the results indicates a fault.</a:t>
            </a:r>
            <a:endParaRPr lang="en-US" dirty="0"/>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Fault Tolerance</a:t>
            </a:r>
            <a:endParaRPr lang="en-US" dirty="0"/>
          </a:p>
        </p:txBody>
      </p:sp>
      <p:sp>
        <p:nvSpPr>
          <p:cNvPr id="3" name="Content Placeholder 2"/>
          <p:cNvSpPr>
            <a:spLocks noGrp="1"/>
          </p:cNvSpPr>
          <p:nvPr>
            <p:ph idx="1"/>
          </p:nvPr>
        </p:nvSpPr>
        <p:spPr/>
        <p:txBody>
          <a:bodyPr>
            <a:normAutofit lnSpcReduction="10000"/>
          </a:bodyPr>
          <a:lstStyle/>
          <a:p>
            <a:r>
              <a:rPr lang="en-US" sz="2400" i="1" dirty="0"/>
              <a:t>Fault location </a:t>
            </a:r>
            <a:r>
              <a:rPr lang="en-US" sz="2400" dirty="0"/>
              <a:t>is the process of determining where a fault has occurred.</a:t>
            </a:r>
            <a:endParaRPr lang="en-US" sz="2400" dirty="0"/>
          </a:p>
          <a:p>
            <a:pPr lvl="1"/>
            <a:r>
              <a:rPr lang="en-US" sz="2000" dirty="0"/>
              <a:t>A failed acceptance test cannot generally be used to locate a fault. It can only tell that something has gone wrong. Similarly, when a disagreement occurs during the comparison of two modules, it is not possible to tell which of the two has failed.</a:t>
            </a:r>
            <a:endParaRPr lang="en-US" sz="2000" dirty="0"/>
          </a:p>
          <a:p>
            <a:r>
              <a:rPr lang="en-US" sz="2400" i="1" dirty="0"/>
              <a:t>Fault containment </a:t>
            </a:r>
            <a:r>
              <a:rPr lang="en-US" sz="2400" dirty="0"/>
              <a:t>is the process of isolating a fault and preventing the propagation of its effect throughout the system.</a:t>
            </a:r>
            <a:endParaRPr lang="en-US" sz="2400" dirty="0"/>
          </a:p>
          <a:p>
            <a:pPr lvl="1"/>
            <a:r>
              <a:rPr lang="en-US" sz="2000" dirty="0"/>
              <a:t>Once a faulty component has been identified, a system </a:t>
            </a:r>
            <a:r>
              <a:rPr lang="en-US" sz="2000" i="1" dirty="0"/>
              <a:t>recovers </a:t>
            </a:r>
            <a:r>
              <a:rPr lang="en-US" sz="2000" dirty="0"/>
              <a:t>by reconfiguring itself to isolate the faulty component from the rest of the system and regain operational status. This might be accomplished by having the faulty component replaced by a redundant backup component. Alternatively, the system could switch the faulty component off and continue operation with a degraded capability. This is known as </a:t>
            </a:r>
            <a:r>
              <a:rPr lang="en-US" sz="2000" i="1" dirty="0"/>
              <a:t>graceful degradation</a:t>
            </a:r>
            <a:r>
              <a:rPr lang="en-US" sz="2000" dirty="0"/>
              <a:t>.</a:t>
            </a:r>
            <a:endParaRPr lang="en-US" sz="2000" dirty="0"/>
          </a:p>
          <a:p>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Fault Prevention</a:t>
            </a:r>
            <a:endParaRPr lang="en-US" dirty="0"/>
          </a:p>
        </p:txBody>
      </p:sp>
      <p:sp>
        <p:nvSpPr>
          <p:cNvPr id="3" name="Content Placeholder 2"/>
          <p:cNvSpPr>
            <a:spLocks noGrp="1"/>
          </p:cNvSpPr>
          <p:nvPr>
            <p:ph idx="1"/>
          </p:nvPr>
        </p:nvSpPr>
        <p:spPr/>
        <p:txBody>
          <a:bodyPr>
            <a:normAutofit/>
          </a:bodyPr>
          <a:lstStyle/>
          <a:p>
            <a:r>
              <a:rPr lang="en-US" i="1" dirty="0">
                <a:solidFill>
                  <a:srgbClr val="FF0000"/>
                </a:solidFill>
              </a:rPr>
              <a:t>Fault prevention </a:t>
            </a:r>
            <a:r>
              <a:rPr lang="en-US" dirty="0">
                <a:solidFill>
                  <a:srgbClr val="FF0000"/>
                </a:solidFill>
              </a:rPr>
              <a:t>is a set of techniques attempting to prevent the introduction or occurrence of faults in the system in the first place.</a:t>
            </a:r>
            <a:r>
              <a:rPr lang="en-US" dirty="0"/>
              <a:t> Fault prevention is achieved by quality control techniques during the specification, implementation, and fabrication stages of the design process. </a:t>
            </a:r>
            <a:endParaRPr lang="en-US" dirty="0"/>
          </a:p>
          <a:p>
            <a:r>
              <a:rPr lang="en-US" dirty="0"/>
              <a:t>For hardware, this includes design reviews, component screening, and testing. </a:t>
            </a:r>
            <a:endParaRPr lang="en-US" dirty="0"/>
          </a:p>
          <a:p>
            <a:r>
              <a:rPr lang="en-US" dirty="0"/>
              <a:t>For software, this includes structural programming, modularization, and formal verification techniques.</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Fault Removal</a:t>
            </a:r>
            <a:endParaRPr lang="en-US" dirty="0"/>
          </a:p>
        </p:txBody>
      </p:sp>
      <p:sp>
        <p:nvSpPr>
          <p:cNvPr id="3" name="Content Placeholder 2"/>
          <p:cNvSpPr>
            <a:spLocks noGrp="1"/>
          </p:cNvSpPr>
          <p:nvPr>
            <p:ph idx="1"/>
          </p:nvPr>
        </p:nvSpPr>
        <p:spPr/>
        <p:txBody>
          <a:bodyPr>
            <a:normAutofit fontScale="92500"/>
          </a:bodyPr>
          <a:lstStyle/>
          <a:p>
            <a:pPr algn="just"/>
            <a:r>
              <a:rPr lang="en-US" i="1" dirty="0"/>
              <a:t>Fault removal </a:t>
            </a:r>
            <a:r>
              <a:rPr lang="en-US" dirty="0"/>
              <a:t>is a set of techniques targeting the reduction of the number of faults which are present in the system.</a:t>
            </a:r>
            <a:endParaRPr lang="en-US" dirty="0"/>
          </a:p>
          <a:p>
            <a:r>
              <a:rPr lang="en-US" dirty="0"/>
              <a:t>During the development phase, fault removal involves three steps: </a:t>
            </a:r>
            <a:r>
              <a:rPr lang="en-US" i="1" dirty="0"/>
              <a:t>Verification </a:t>
            </a:r>
            <a:r>
              <a:rPr lang="en-US" dirty="0"/>
              <a:t>is the process of checking whether the system meets a set of given conditions. If it does not, the other two steps follow: the fault that prevents the conditions from being fulfilled is </a:t>
            </a:r>
            <a:r>
              <a:rPr lang="en-US" i="1" dirty="0"/>
              <a:t>diagnosed</a:t>
            </a:r>
            <a:r>
              <a:rPr lang="en-US" dirty="0"/>
              <a:t> and the necessary </a:t>
            </a:r>
            <a:r>
              <a:rPr lang="en-US" i="1" dirty="0"/>
              <a:t>corrections</a:t>
            </a:r>
            <a:r>
              <a:rPr lang="en-US" dirty="0"/>
              <a:t> are performed.</a:t>
            </a:r>
            <a:endParaRPr lang="en-US" dirty="0"/>
          </a:p>
          <a:p>
            <a:r>
              <a:rPr lang="en-US" dirty="0"/>
              <a:t>During the operational life of the system consists </a:t>
            </a:r>
            <a:r>
              <a:rPr lang="en-US" i="1" dirty="0"/>
              <a:t>preventive maintenance (</a:t>
            </a:r>
            <a:r>
              <a:rPr lang="en-US" dirty="0"/>
              <a:t>parts are replaced, or adjustments are made before failure occurs) and </a:t>
            </a:r>
            <a:r>
              <a:rPr lang="en-US" i="1" dirty="0"/>
              <a:t>corrective maintenance (</a:t>
            </a:r>
            <a:r>
              <a:rPr lang="en-US" dirty="0"/>
              <a:t>performed after the failure has occurred in order to return the system to service as soon as possible).</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Fault Forecasting</a:t>
            </a:r>
            <a:endParaRPr lang="en-US" dirty="0"/>
          </a:p>
        </p:txBody>
      </p:sp>
      <p:sp>
        <p:nvSpPr>
          <p:cNvPr id="3" name="Content Placeholder 2"/>
          <p:cNvSpPr>
            <a:spLocks noGrp="1"/>
          </p:cNvSpPr>
          <p:nvPr>
            <p:ph idx="1"/>
          </p:nvPr>
        </p:nvSpPr>
        <p:spPr/>
        <p:txBody>
          <a:bodyPr>
            <a:normAutofit/>
          </a:bodyPr>
          <a:lstStyle/>
          <a:p>
            <a:pPr algn="just"/>
            <a:r>
              <a:rPr lang="en-US" i="1" dirty="0"/>
              <a:t>Fault forecasting </a:t>
            </a:r>
            <a:r>
              <a:rPr lang="en-US" dirty="0"/>
              <a:t>is a set of techniques aiming to estimate how many faults are present in the system, possible future occurrences of faults, and the consequences of faults.</a:t>
            </a:r>
            <a:endParaRPr lang="en-US" dirty="0"/>
          </a:p>
          <a:p>
            <a:pPr algn="just"/>
            <a:r>
              <a:rPr lang="en-US" dirty="0"/>
              <a:t>Fault forecasting is done by performing an evaluation of the system behavior with respect to fault occurrences or activation. </a:t>
            </a:r>
            <a:endParaRPr lang="en-US" dirty="0"/>
          </a:p>
          <a:p>
            <a:pPr algn="just"/>
            <a:r>
              <a:rPr lang="en-US" dirty="0"/>
              <a:t>The evaluation can be </a:t>
            </a:r>
            <a:r>
              <a:rPr lang="en-US" i="1" dirty="0"/>
              <a:t>qualitative</a:t>
            </a:r>
            <a:r>
              <a:rPr lang="en-US" dirty="0"/>
              <a:t>, which aims to rank the failure modes or event combinations that lead to system failure, or </a:t>
            </a:r>
            <a:r>
              <a:rPr lang="en-US" i="1" dirty="0"/>
              <a:t>quantitative</a:t>
            </a:r>
            <a:r>
              <a:rPr lang="en-US" dirty="0"/>
              <a:t>, which aims to evaluate in terms of probabilities the extent to which some attributes of dependability are satisfied.</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Exercises</a:t>
            </a:r>
            <a:endParaRPr lang="en-US" dirty="0"/>
          </a:p>
        </p:txBody>
      </p:sp>
      <p:sp>
        <p:nvSpPr>
          <p:cNvPr id="3" name="Content Placeholder 2"/>
          <p:cNvSpPr>
            <a:spLocks noGrp="1"/>
          </p:cNvSpPr>
          <p:nvPr>
            <p:ph idx="1"/>
          </p:nvPr>
        </p:nvSpPr>
        <p:spPr/>
        <p:txBody>
          <a:bodyPr/>
          <a:lstStyle/>
          <a:p>
            <a:r>
              <a:rPr lang="en-US" dirty="0"/>
              <a:t>Compute the downtime per year for availability</a:t>
            </a:r>
            <a:r>
              <a:rPr lang="en-US" i="1" dirty="0"/>
              <a:t> </a:t>
            </a:r>
            <a:r>
              <a:rPr lang="en-US" dirty="0"/>
              <a:t>= 90</a:t>
            </a:r>
            <a:r>
              <a:rPr lang="en-US" i="1" dirty="0"/>
              <a:t>, </a:t>
            </a:r>
            <a:r>
              <a:rPr lang="en-US" dirty="0"/>
              <a:t>75, and 50%.</a:t>
            </a:r>
            <a:endParaRPr lang="en-US" dirty="0"/>
          </a:p>
          <a:p>
            <a:r>
              <a:rPr lang="en-US" dirty="0"/>
              <a:t>A telephone system has less than 3min per year downtime. What is </a:t>
            </a:r>
            <a:r>
              <a:rPr lang="en-US"/>
              <a:t>its  </a:t>
            </a:r>
            <a:r>
              <a:rPr lang="en-US" dirty="0"/>
              <a:t>availability?</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17867</Words>
  <Application>WPS Presentation</Application>
  <PresentationFormat>Widescreen</PresentationFormat>
  <Paragraphs>221</Paragraphs>
  <Slides>34</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34</vt:i4>
      </vt:variant>
    </vt:vector>
  </HeadingPairs>
  <TitlesOfParts>
    <vt:vector size="46" baseType="lpstr">
      <vt:lpstr>Arial</vt:lpstr>
      <vt:lpstr>SimSun</vt:lpstr>
      <vt:lpstr>Wingdings</vt:lpstr>
      <vt:lpstr>Gill Sans MT</vt:lpstr>
      <vt:lpstr>苹方-简</vt:lpstr>
      <vt:lpstr>Microsoft YaHei</vt:lpstr>
      <vt:lpstr>汉仪旗黑</vt:lpstr>
      <vt:lpstr>Arial Unicode MS</vt:lpstr>
      <vt:lpstr>Calibri</vt:lpstr>
      <vt:lpstr>Helvetica Neue</vt:lpstr>
      <vt:lpstr>汉仪书宋二KW</vt:lpstr>
      <vt:lpstr>Office Theme</vt:lpstr>
      <vt:lpstr>CSE 601: Distributed Systems</vt:lpstr>
      <vt:lpstr>Fault Tolerance</vt:lpstr>
      <vt:lpstr>Introduction to Fault Tolerance</vt:lpstr>
      <vt:lpstr>Definition of Fault Tolerance</vt:lpstr>
      <vt:lpstr>Definition of Fault Tolerance</vt:lpstr>
      <vt:lpstr>Fault Tolerance and Redundancy</vt:lpstr>
      <vt:lpstr>Failure masking by redundancy</vt:lpstr>
      <vt:lpstr>Failure masking by redundancy</vt:lpstr>
      <vt:lpstr>Fault Tolerance and Redundancy</vt:lpstr>
      <vt:lpstr>Dependable Systems</vt:lpstr>
      <vt:lpstr>Dependability Attributes</vt:lpstr>
      <vt:lpstr>Dependability Attributes</vt:lpstr>
      <vt:lpstr>Reliability</vt:lpstr>
      <vt:lpstr>Availability</vt:lpstr>
      <vt:lpstr>Availability</vt:lpstr>
      <vt:lpstr>Availability Examples</vt:lpstr>
      <vt:lpstr>Availability vs Reliability</vt:lpstr>
      <vt:lpstr>Safety</vt:lpstr>
      <vt:lpstr>Safety</vt:lpstr>
      <vt:lpstr>Maintainability</vt:lpstr>
      <vt:lpstr>Dependability Impairments</vt:lpstr>
      <vt:lpstr>Faults, Errors, and Failures</vt:lpstr>
      <vt:lpstr>Faults, Errors, and Failures</vt:lpstr>
      <vt:lpstr>Faults, Errors, and Failures</vt:lpstr>
      <vt:lpstr>Faults Classification</vt:lpstr>
      <vt:lpstr>Failure Models</vt:lpstr>
      <vt:lpstr>Dependability Means</vt:lpstr>
      <vt:lpstr>Fault Tolerance</vt:lpstr>
      <vt:lpstr>Fault Tolerance</vt:lpstr>
      <vt:lpstr>Fault Tolerance</vt:lpstr>
      <vt:lpstr>Fault Prevention</vt:lpstr>
      <vt:lpstr>Fault Removal</vt:lpstr>
      <vt:lpstr>Fault Forecasting</vt:lpstr>
      <vt:lpstr>Exercises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Toukir Ahammed</dc:creator>
  <cp:lastModifiedBy>Rakibul</cp:lastModifiedBy>
  <cp:revision>66</cp:revision>
  <dcterms:created xsi:type="dcterms:W3CDTF">2025-08-21T17:31:38Z</dcterms:created>
  <dcterms:modified xsi:type="dcterms:W3CDTF">2025-08-21T17:31:38Z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7527EFECEF76FACFFA57A7680526C6D3_42</vt:lpwstr>
  </property>
  <property fmtid="{D5CDD505-2E9C-101B-9397-08002B2CF9AE}" pid="3" name="KSOProductBuildVer">
    <vt:lpwstr>1033-6.11.0.8608</vt:lpwstr>
  </property>
</Properties>
</file>