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74" r:id="rId4"/>
    <p:sldId id="275" r:id="rId5"/>
    <p:sldId id="258" r:id="rId6"/>
    <p:sldId id="259" r:id="rId7"/>
    <p:sldId id="276" r:id="rId8"/>
    <p:sldId id="260" r:id="rId9"/>
    <p:sldId id="277" r:id="rId10"/>
    <p:sldId id="261" r:id="rId11"/>
    <p:sldId id="262" r:id="rId12"/>
    <p:sldId id="278" r:id="rId13"/>
    <p:sldId id="264" r:id="rId14"/>
    <p:sldId id="265" r:id="rId15"/>
    <p:sldId id="266" r:id="rId16"/>
    <p:sldId id="267" r:id="rId17"/>
    <p:sldId id="268" r:id="rId18"/>
    <p:sldId id="269" r:id="rId19"/>
    <p:sldId id="273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bc228bc0ad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bc228bc0ad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bc228bc0ad_0_9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bc228bc0ad_0_9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start our discussion with monolithic architectures.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They are very tightly coupled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If any one feature of the app had not worked, the complete system would go down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Also, if only one feature had to be updated then the complete system had to be built again.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bc228bc0ad_0_9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bc228bc0ad_0_9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5F6368"/>
                </a:solidFill>
                <a:highlight>
                  <a:srgbClr val="FFFFFF"/>
                </a:highlight>
              </a:rPr>
              <a:t>Wordpress, the worlds most popular website builder.</a:t>
            </a:r>
            <a:endParaRPr sz="1050">
              <a:solidFill>
                <a:srgbClr val="5F6368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 b="1">
                <a:solidFill>
                  <a:srgbClr val="5F6368"/>
                </a:solidFill>
                <a:highlight>
                  <a:srgbClr val="FFFFFF"/>
                </a:highlight>
              </a:rPr>
              <a:t>Routers</a:t>
            </a:r>
            <a:r>
              <a:rPr lang="en" sz="1050">
                <a:solidFill>
                  <a:srgbClr val="4D5156"/>
                </a:solidFill>
                <a:highlight>
                  <a:srgbClr val="FFFFFF"/>
                </a:highlight>
              </a:rPr>
              <a:t> typically employ </a:t>
            </a:r>
            <a:r>
              <a:rPr lang="en" sz="1050" b="1">
                <a:solidFill>
                  <a:srgbClr val="5F6368"/>
                </a:solidFill>
                <a:highlight>
                  <a:srgbClr val="FFFFFF"/>
                </a:highlight>
              </a:rPr>
              <a:t>monolithic</a:t>
            </a:r>
            <a:r>
              <a:rPr lang="en" sz="1050">
                <a:solidFill>
                  <a:srgbClr val="4D5156"/>
                </a:solidFill>
                <a:highlight>
                  <a:srgbClr val="FFFFFF"/>
                </a:highlight>
              </a:rPr>
              <a:t> operating systems that are not easily upgradable and extensible.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bc228bc22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bc228bc223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Large &amp; Complex</a:t>
            </a:r>
            <a:endParaRPr b="1"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 Complex to understand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 Difficult to modify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 Development slows down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 Modularity decreases over time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 Difficult to understand how to correctly implement a change 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 Quality of code declines over time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Slow development</a:t>
            </a:r>
            <a:endParaRPr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Application becomes difficult to understand and modify since they are huge and multiple teams work on it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Large codebase slows down IDE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If a small component had to be changed the entire application had to be repackaged together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Blocks continuous development</a:t>
            </a:r>
            <a:endParaRPr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Top update one component you have to update the entire application, which interrupts background tasks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Background tasks interrupted means interruption of all components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Risk associated with redeployment increase discouraging frequent updates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Unscalable</a:t>
            </a:r>
            <a:endParaRPr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Caching less effective coz Increased memory consumption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Different applications have different resource requirements, some are memory intensive some are cpu intensive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Cannot scale each component independently</a:t>
            </a:r>
            <a:endParaRPr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Unreliable, since tightly coupled, if one component goes down the entire system will fail to run.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Unreliable</a:t>
            </a:r>
            <a:endParaRPr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If one component fails, entire system collapses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</a:rPr>
              <a:t>Inflexible</a:t>
            </a:r>
            <a:endParaRPr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Difficult to adopt new frameworks and languages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bc228bc0ad_0_10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bc228bc0ad_0_10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bc228bc0ad_0_9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bc228bc0ad_0_9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Small autonomous services modeled around a business Domain.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Self contained and implements a single business capability</a:t>
            </a:r>
            <a:endParaRPr/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/>
              <a:t>Separate teams handle separate features. Thus easier to deploy new features again and again whenever it is required.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bc228bc0ad_0_1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bc228bc0ad_0_1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bc228bc0ad_0_23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bc228bc0ad_0_23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Services can be scaled independently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bc228bc0ad_0_2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bc228bc0ad_0_2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bc228bc0ad_0_2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bc228bc0ad_0_23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bc228bc223_0_3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bc228bc223_0_3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bc228bc0ad_0_23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bc228bc0ad_0_23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bc228bc0ad_0_2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bc228bc0ad_0_2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FEF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18250" y="1020100"/>
            <a:ext cx="5922000" cy="119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291325"/>
            <a:ext cx="5828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32" dirty="0"/>
              <a:t>created by</a:t>
            </a:r>
            <a:endParaRPr sz="1832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Rafed Muhammad Yasir</a:t>
            </a:r>
            <a:endParaRPr dirty="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3825" y="1404963"/>
            <a:ext cx="2280300" cy="263836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422575" y="2219200"/>
            <a:ext cx="5606950" cy="6422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rgbClr val="1155CC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rgbClr val="1155CC"/>
                </a:solidFill>
                <a:latin typeface="Arial"/>
              </a:rPr>
              <a:t>Microservices</a:t>
            </a:r>
          </a:p>
        </p:txBody>
      </p:sp>
      <p:sp>
        <p:nvSpPr>
          <p:cNvPr id="2" name="Google Shape;55;p13">
            <a:extLst>
              <a:ext uri="{FF2B5EF4-FFF2-40B4-BE49-F238E27FC236}">
                <a16:creationId xmlns:a16="http://schemas.microsoft.com/office/drawing/2014/main" id="{20310160-53D4-C7F6-7933-C4BF5BB4ED96}"/>
              </a:ext>
            </a:extLst>
          </p:cNvPr>
          <p:cNvSpPr txBox="1">
            <a:spLocks/>
          </p:cNvSpPr>
          <p:nvPr/>
        </p:nvSpPr>
        <p:spPr>
          <a:xfrm>
            <a:off x="264900" y="4263140"/>
            <a:ext cx="5828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en-US" sz="1832" dirty="0"/>
              <a:t>edited by</a:t>
            </a:r>
          </a:p>
          <a:p>
            <a:pPr marL="0" indent="0"/>
            <a:r>
              <a:rPr lang="en-US" dirty="0"/>
              <a:t>Toukir Ahammed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Things We Will Discuss</a:t>
            </a:r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Monolithic Architecture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Examples of Monolithic Architectures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Challenges of a monolithic architecture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Microservices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Monoliths vs Microservices (example)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Advantages of Microservices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Companies Using Microservices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Best practices to design a monolithic architecture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Problems with Microservices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What to know next?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70D26-34C5-1E73-BFC8-FC0D87FDB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dirty="0"/>
              <a:t>Monolithic Architecture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28B255-F3EC-1746-A688-6DD27FBE7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A monolithic architecture is a traditional model of a software program, which is built as a unified unit that is self-contained and independent from other applications.</a:t>
            </a:r>
          </a:p>
          <a:p>
            <a:pPr>
              <a:spcAft>
                <a:spcPts val="600"/>
              </a:spcAft>
            </a:pPr>
            <a:r>
              <a:rPr lang="en-US" dirty="0"/>
              <a:t>A monolithic architecture is a singular, large computing network with one code base that couples all of the business concerns together.</a:t>
            </a:r>
          </a:p>
          <a:p>
            <a:pPr>
              <a:spcAft>
                <a:spcPts val="600"/>
              </a:spcAft>
            </a:pPr>
            <a:r>
              <a:rPr lang="en-US" dirty="0"/>
              <a:t>To make a change to this sort of application requires updating the entire stack by accessing the code base and building and deploying an updated version of the service-side interface.</a:t>
            </a:r>
          </a:p>
        </p:txBody>
      </p:sp>
    </p:spTree>
    <p:extLst>
      <p:ext uri="{BB962C8B-B14F-4D97-AF65-F5344CB8AC3E}">
        <p14:creationId xmlns:p14="http://schemas.microsoft.com/office/powerpoint/2010/main" val="3154497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EE67C-F702-7F7F-5B77-29809FFE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" dirty="0"/>
              <a:t>Monolithic Architecture</a:t>
            </a:r>
            <a:endParaRPr lang="en-US" dirty="0"/>
          </a:p>
        </p:txBody>
      </p:sp>
      <p:pic>
        <p:nvPicPr>
          <p:cNvPr id="1030" name="Picture 6" descr="monolithic architecture image">
            <a:extLst>
              <a:ext uri="{FF2B5EF4-FFF2-40B4-BE49-F238E27FC236}">
                <a16:creationId xmlns:a16="http://schemas.microsoft.com/office/drawing/2014/main" id="{46BD768E-1E47-B2F7-BEEE-EE9FA0ABA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007" y="893135"/>
            <a:ext cx="4883985" cy="4250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6470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Monolithic Architecture</a:t>
            </a:r>
            <a:endParaRPr dirty="0"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1805400" y="4174400"/>
            <a:ext cx="5533200" cy="5727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 b="1" dirty="0"/>
              <a:t>Monolithic architecture is like a big container where </a:t>
            </a:r>
            <a:br>
              <a:rPr lang="en" sz="1200" b="1" dirty="0"/>
            </a:br>
            <a:r>
              <a:rPr lang="en" sz="1200" b="1" dirty="0"/>
              <a:t>all the software components of an application are packaged together.</a:t>
            </a:r>
            <a:endParaRPr sz="1200" b="1" dirty="0"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0913" y="1170115"/>
            <a:ext cx="5462174" cy="285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Monolithic Architectures</a:t>
            </a:r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026" y="2121751"/>
            <a:ext cx="2066653" cy="128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2099" y="1431463"/>
            <a:ext cx="1754950" cy="228057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6"/>
          <p:cNvSpPr/>
          <p:nvPr/>
        </p:nvSpPr>
        <p:spPr>
          <a:xfrm>
            <a:off x="3396250" y="3894275"/>
            <a:ext cx="2066655" cy="37389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2"/>
                </a:solidFill>
                <a:latin typeface="Arial"/>
              </a:rPr>
              <a:t>Router OS</a:t>
            </a:r>
          </a:p>
        </p:txBody>
      </p:sp>
      <p:sp>
        <p:nvSpPr>
          <p:cNvPr id="80" name="Google Shape;80;p16"/>
          <p:cNvSpPr/>
          <p:nvPr/>
        </p:nvSpPr>
        <p:spPr>
          <a:xfrm>
            <a:off x="6229427" y="2121749"/>
            <a:ext cx="2237902" cy="112492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rgbClr val="F3F3F3"/>
                </a:solidFill>
                <a:latin typeface="Arial"/>
              </a:rPr>
              <a:t>MVP</a:t>
            </a:r>
          </a:p>
        </p:txBody>
      </p:sp>
      <p:sp>
        <p:nvSpPr>
          <p:cNvPr id="81" name="Google Shape;81;p16"/>
          <p:cNvSpPr txBox="1"/>
          <p:nvPr/>
        </p:nvSpPr>
        <p:spPr>
          <a:xfrm>
            <a:off x="6098125" y="3405275"/>
            <a:ext cx="250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Minimum Viable Products</a:t>
            </a:r>
            <a:endParaRPr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60382-E684-E75F-C367-78FC23087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Advantages of a monolithic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7A350-AF60-34ED-DB6C-5DC41BFB8B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Easy deployment – One executable file or directory makes deployment easier.</a:t>
            </a:r>
          </a:p>
          <a:p>
            <a:endParaRPr lang="en-US" dirty="0"/>
          </a:p>
          <a:p>
            <a:r>
              <a:rPr lang="en-US" dirty="0"/>
              <a:t>Development – When an application is built with one code base, it is easier to develop.</a:t>
            </a:r>
          </a:p>
          <a:p>
            <a:endParaRPr lang="en-US" dirty="0"/>
          </a:p>
          <a:p>
            <a:r>
              <a:rPr lang="en-US" dirty="0"/>
              <a:t>Performance – In a centralized code base and repository, one API can often perform the same function that numerous APIs perform with microservices.</a:t>
            </a:r>
          </a:p>
          <a:p>
            <a:endParaRPr lang="en-US" dirty="0"/>
          </a:p>
          <a:p>
            <a:r>
              <a:rPr lang="en-US" dirty="0"/>
              <a:t>Simplified testing – Since a monolithic application is a single, centralized unit, end-to-end testing can be performed faster than with a distributed application. </a:t>
            </a:r>
          </a:p>
          <a:p>
            <a:endParaRPr lang="en-US" dirty="0"/>
          </a:p>
          <a:p>
            <a:r>
              <a:rPr lang="en-US" dirty="0"/>
              <a:t>Easy debugging – With all code located in one place, it’s easier to follow a request and find an issue.</a:t>
            </a:r>
          </a:p>
        </p:txBody>
      </p:sp>
    </p:spTree>
    <p:extLst>
      <p:ext uri="{BB962C8B-B14F-4D97-AF65-F5344CB8AC3E}">
        <p14:creationId xmlns:p14="http://schemas.microsoft.com/office/powerpoint/2010/main" val="2294423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Monolithic Architecture - Challenges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body" idx="1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311700" y="1304875"/>
            <a:ext cx="2473800" cy="1308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Large &amp; Complex Applications</a:t>
            </a:r>
            <a:endParaRPr sz="2200"/>
          </a:p>
        </p:txBody>
      </p:sp>
      <p:sp>
        <p:nvSpPr>
          <p:cNvPr id="89" name="Google Shape;89;p17"/>
          <p:cNvSpPr/>
          <p:nvPr/>
        </p:nvSpPr>
        <p:spPr>
          <a:xfrm>
            <a:off x="3182550" y="1304875"/>
            <a:ext cx="2473800" cy="1308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Slow Development</a:t>
            </a:r>
            <a:endParaRPr sz="2200"/>
          </a:p>
        </p:txBody>
      </p:sp>
      <p:sp>
        <p:nvSpPr>
          <p:cNvPr id="90" name="Google Shape;90;p17"/>
          <p:cNvSpPr/>
          <p:nvPr/>
        </p:nvSpPr>
        <p:spPr>
          <a:xfrm>
            <a:off x="6053400" y="1304875"/>
            <a:ext cx="2473800" cy="1308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Blocks Continuous Deployment</a:t>
            </a:r>
            <a:endParaRPr sz="2200"/>
          </a:p>
        </p:txBody>
      </p:sp>
      <p:sp>
        <p:nvSpPr>
          <p:cNvPr id="91" name="Google Shape;91;p17"/>
          <p:cNvSpPr/>
          <p:nvPr/>
        </p:nvSpPr>
        <p:spPr>
          <a:xfrm>
            <a:off x="311700" y="3090425"/>
            <a:ext cx="2473800" cy="1308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Unscalable</a:t>
            </a:r>
            <a:endParaRPr sz="2200"/>
          </a:p>
        </p:txBody>
      </p:sp>
      <p:sp>
        <p:nvSpPr>
          <p:cNvPr id="92" name="Google Shape;92;p17"/>
          <p:cNvSpPr/>
          <p:nvPr/>
        </p:nvSpPr>
        <p:spPr>
          <a:xfrm>
            <a:off x="3182550" y="3090425"/>
            <a:ext cx="2473800" cy="1308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Unreliable</a:t>
            </a:r>
            <a:endParaRPr sz="2200"/>
          </a:p>
        </p:txBody>
      </p:sp>
      <p:sp>
        <p:nvSpPr>
          <p:cNvPr id="93" name="Google Shape;93;p17"/>
          <p:cNvSpPr/>
          <p:nvPr/>
        </p:nvSpPr>
        <p:spPr>
          <a:xfrm>
            <a:off x="6053400" y="3090425"/>
            <a:ext cx="2473800" cy="1308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Inflexible</a:t>
            </a:r>
            <a:endParaRPr sz="2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2E96A-B40A-BC23-2BF2-ED468DF20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Disadvantages of a monolithic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42625-DDE1-7411-A1AB-BD2576BA1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sz="1600" dirty="0"/>
              <a:t>Slower development speed – A large, monolithic application makes development more complex and slower.</a:t>
            </a:r>
          </a:p>
          <a:p>
            <a:endParaRPr lang="en-US" sz="1600" dirty="0"/>
          </a:p>
          <a:p>
            <a:r>
              <a:rPr lang="en-US" sz="1600" dirty="0"/>
              <a:t>Scalability – You can’t scale individual components.</a:t>
            </a:r>
          </a:p>
          <a:p>
            <a:endParaRPr lang="en-US" sz="1600" dirty="0"/>
          </a:p>
          <a:p>
            <a:r>
              <a:rPr lang="en-US" sz="1600" dirty="0"/>
              <a:t>Reliability – If there’s an error in any module, it could affect the entire application’s availability.</a:t>
            </a:r>
          </a:p>
          <a:p>
            <a:endParaRPr lang="en-US" sz="1600" dirty="0"/>
          </a:p>
          <a:p>
            <a:r>
              <a:rPr lang="en-US" sz="1600" dirty="0"/>
              <a:t>Barrier to technology adoption – Any changes in the framework or language affects the entire application, making changes often expensive and time-consuming.</a:t>
            </a:r>
          </a:p>
          <a:p>
            <a:endParaRPr lang="en-US" sz="1600" dirty="0"/>
          </a:p>
          <a:p>
            <a:r>
              <a:rPr lang="en-US" sz="1600" dirty="0"/>
              <a:t>Lack of flexibility – A monolith is constrained by the technologies already used in the monolith.</a:t>
            </a:r>
          </a:p>
          <a:p>
            <a:endParaRPr lang="en-US" sz="1600" dirty="0"/>
          </a:p>
          <a:p>
            <a:r>
              <a:rPr lang="en-US" sz="1600" dirty="0"/>
              <a:t>Deployment – A small change to a monolithic application requires the redeployment of the entire monolith.</a:t>
            </a:r>
          </a:p>
        </p:txBody>
      </p:sp>
    </p:spTree>
    <p:extLst>
      <p:ext uri="{BB962C8B-B14F-4D97-AF65-F5344CB8AC3E}">
        <p14:creationId xmlns:p14="http://schemas.microsoft.com/office/powerpoint/2010/main" val="2170935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1"/>
              <a:t>What are Microservices?</a:t>
            </a:r>
            <a:endParaRPr sz="38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Microservices</a:t>
            </a:r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0446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Microservices are basically an architecture where a </a:t>
            </a:r>
            <a:br>
              <a:rPr lang="en"/>
            </a:br>
            <a:r>
              <a:rPr lang="en" b="1"/>
              <a:t>monolithic application is decomposed</a:t>
            </a:r>
            <a:r>
              <a:rPr lang="en"/>
              <a:t> into </a:t>
            </a:r>
            <a:r>
              <a:rPr lang="en" b="1"/>
              <a:t>small applications</a:t>
            </a:r>
            <a:r>
              <a:rPr lang="en"/>
              <a:t> which are packaged and </a:t>
            </a:r>
            <a:r>
              <a:rPr lang="en" b="1"/>
              <a:t>deployed independently </a:t>
            </a:r>
            <a:endParaRPr b="1"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4675" y="2331825"/>
            <a:ext cx="4914651" cy="264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0DBB7-1359-DEFC-E836-02DCF2657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Microservice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910C7-EC0C-BBF7-CDFF-8A01FFB183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microservice architecture image">
            <a:extLst>
              <a:ext uri="{FF2B5EF4-FFF2-40B4-BE49-F238E27FC236}">
                <a16:creationId xmlns:a16="http://schemas.microsoft.com/office/drawing/2014/main" id="{495ED42E-3F47-E65F-E4E1-56B1DCEA47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5349" y="1022597"/>
            <a:ext cx="5713302" cy="4120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0590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Microservices of Facebook</a:t>
            </a:r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4514" y="1429238"/>
            <a:ext cx="7174970" cy="286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 of Microservice</a:t>
            </a:r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494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Independent development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Independent &amp; continuous deployment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Fault isolation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Mixed technology stack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Granular scaling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dirty="0"/>
              <a:t>Agility</a:t>
            </a:r>
            <a:endParaRPr dirty="0"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8602" y="1458322"/>
            <a:ext cx="5580975" cy="222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Companies Using Microservices</a:t>
            </a:r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3" name="Google Shape;13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90835"/>
            <a:ext cx="8520602" cy="3465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Microservice Architecture - Best Practices</a:t>
            </a:r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Separate data store for each microservice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Keep code at a similar level of maturity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Separate build for each microservice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Deploy in containers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Treat servers as stateless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0" name="Google Shape;1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4177" y="2758122"/>
            <a:ext cx="5580975" cy="222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1"/>
              <a:t>Problems with Microservices</a:t>
            </a:r>
            <a:endParaRPr sz="3800" b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419100"/>
            <a:ext cx="5734050" cy="43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Q/A</a:t>
            </a:r>
            <a:endParaRPr/>
          </a:p>
        </p:txBody>
      </p:sp>
      <p:sp>
        <p:nvSpPr>
          <p:cNvPr id="181" name="Google Shape;181;p3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781</Words>
  <Application>Microsoft Office PowerPoint</Application>
  <PresentationFormat>On-screen Show (16:9)</PresentationFormat>
  <Paragraphs>118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Arial</vt:lpstr>
      <vt:lpstr>Simple Light</vt:lpstr>
      <vt:lpstr>Introduction to </vt:lpstr>
      <vt:lpstr>Things We Will Discuss</vt:lpstr>
      <vt:lpstr>Monolithic Architecture</vt:lpstr>
      <vt:lpstr>Monolithic Architecture</vt:lpstr>
      <vt:lpstr>Monolithic Architecture</vt:lpstr>
      <vt:lpstr>Examples of Monolithic Architectures</vt:lpstr>
      <vt:lpstr>Advantages of a monolithic architecture</vt:lpstr>
      <vt:lpstr>Monolithic Architecture - Challenges </vt:lpstr>
      <vt:lpstr>Disadvantages of a monolithic architecture</vt:lpstr>
      <vt:lpstr>What are Microservices?</vt:lpstr>
      <vt:lpstr>Microservices</vt:lpstr>
      <vt:lpstr>Microservice Architecture</vt:lpstr>
      <vt:lpstr>Microservices of Facebook</vt:lpstr>
      <vt:lpstr>Advantages of Microservice</vt:lpstr>
      <vt:lpstr>Companies Using Microservices</vt:lpstr>
      <vt:lpstr>Microservice Architecture - Best Practices</vt:lpstr>
      <vt:lpstr>Problems with Microservices</vt:lpstr>
      <vt:lpstr>PowerPoint Presentation</vt:lpstr>
      <vt:lpstr>Q/A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Toukir Ahammed</cp:lastModifiedBy>
  <cp:revision>1</cp:revision>
  <dcterms:modified xsi:type="dcterms:W3CDTF">2024-09-30T18:32:33Z</dcterms:modified>
</cp:coreProperties>
</file>