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4" r:id="rId8"/>
    <p:sldId id="273" r:id="rId9"/>
    <p:sldId id="271" r:id="rId10"/>
    <p:sldId id="272" r:id="rId11"/>
    <p:sldId id="262" r:id="rId12"/>
    <p:sldId id="265" r:id="rId13"/>
    <p:sldId id="266" r:id="rId14"/>
    <p:sldId id="263" r:id="rId15"/>
    <p:sldId id="267" r:id="rId16"/>
    <p:sldId id="268" r:id="rId17"/>
    <p:sldId id="269" r:id="rId18"/>
    <p:sldId id="270" r:id="rId19"/>
    <p:sldId id="284" r:id="rId20"/>
    <p:sldId id="285" r:id="rId21"/>
    <p:sldId id="286" r:id="rId22"/>
    <p:sldId id="287" r:id="rId23"/>
    <p:sldId id="275" r:id="rId24"/>
    <p:sldId id="276" r:id="rId25"/>
    <p:sldId id="277" r:id="rId26"/>
    <p:sldId id="278" r:id="rId27"/>
    <p:sldId id="279" r:id="rId28"/>
    <p:sldId id="280" r:id="rId29"/>
    <p:sldId id="281" r:id="rId30"/>
    <p:sldId id="282" r:id="rId31"/>
    <p:sldId id="283" r:id="rId32"/>
    <p:sldId id="288" r:id="rId33"/>
    <p:sldId id="291" r:id="rId34"/>
    <p:sldId id="292" r:id="rId35"/>
    <p:sldId id="293" r:id="rId36"/>
    <p:sldId id="294" r:id="rId37"/>
    <p:sldId id="289" r:id="rId38"/>
    <p:sldId id="290" r:id="rId39"/>
    <p:sldId id="295" r:id="rId40"/>
    <p:sldId id="296" r:id="rId41"/>
    <p:sldId id="297" r:id="rId42"/>
    <p:sldId id="298" r:id="rId43"/>
    <p:sldId id="299" r:id="rId44"/>
    <p:sldId id="300"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108" d="100"/>
          <a:sy n="108" d="100"/>
        </p:scale>
        <p:origin x="714"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0EA83-B123-B348-623C-99A9C824942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9B7BDDB-CC5F-C462-45DA-B31AF985E03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4308136-2926-7EAC-6709-CB6F6B906332}"/>
              </a:ext>
            </a:extLst>
          </p:cNvPr>
          <p:cNvSpPr>
            <a:spLocks noGrp="1"/>
          </p:cNvSpPr>
          <p:nvPr>
            <p:ph type="dt" sz="half" idx="10"/>
          </p:nvPr>
        </p:nvSpPr>
        <p:spPr/>
        <p:txBody>
          <a:bodyPr/>
          <a:lstStyle/>
          <a:p>
            <a:fld id="{DADE2353-34E2-4DBF-AFB1-31497BAECD2D}" type="datetimeFigureOut">
              <a:rPr lang="en-US" smtClean="0"/>
              <a:t>9/26/2024</a:t>
            </a:fld>
            <a:endParaRPr lang="en-US"/>
          </a:p>
        </p:txBody>
      </p:sp>
      <p:sp>
        <p:nvSpPr>
          <p:cNvPr id="5" name="Footer Placeholder 4">
            <a:extLst>
              <a:ext uri="{FF2B5EF4-FFF2-40B4-BE49-F238E27FC236}">
                <a16:creationId xmlns:a16="http://schemas.microsoft.com/office/drawing/2014/main" id="{868FF8F6-7B2D-2501-5AE4-C7643DC4AD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685867-F3D5-2506-FFFC-38DEF19B6F0F}"/>
              </a:ext>
            </a:extLst>
          </p:cNvPr>
          <p:cNvSpPr>
            <a:spLocks noGrp="1"/>
          </p:cNvSpPr>
          <p:nvPr>
            <p:ph type="sldNum" sz="quarter" idx="12"/>
          </p:nvPr>
        </p:nvSpPr>
        <p:spPr/>
        <p:txBody>
          <a:bodyPr/>
          <a:lstStyle/>
          <a:p>
            <a:fld id="{8170D8CF-7E31-4249-BDB4-34EBE6CF332C}" type="slidenum">
              <a:rPr lang="en-US" smtClean="0"/>
              <a:t>‹#›</a:t>
            </a:fld>
            <a:endParaRPr lang="en-US"/>
          </a:p>
        </p:txBody>
      </p:sp>
    </p:spTree>
    <p:extLst>
      <p:ext uri="{BB962C8B-B14F-4D97-AF65-F5344CB8AC3E}">
        <p14:creationId xmlns:p14="http://schemas.microsoft.com/office/powerpoint/2010/main" val="36656248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28EBC-77B7-5541-D05B-C0FFB571C5C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C24A5B2-8878-4CF3-235D-2E4DA7AE38B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9BDA52E-A09B-6BBB-0E0B-64382854B1CA}"/>
              </a:ext>
            </a:extLst>
          </p:cNvPr>
          <p:cNvSpPr>
            <a:spLocks noGrp="1"/>
          </p:cNvSpPr>
          <p:nvPr>
            <p:ph type="dt" sz="half" idx="10"/>
          </p:nvPr>
        </p:nvSpPr>
        <p:spPr/>
        <p:txBody>
          <a:bodyPr/>
          <a:lstStyle/>
          <a:p>
            <a:fld id="{DADE2353-34E2-4DBF-AFB1-31497BAECD2D}" type="datetimeFigureOut">
              <a:rPr lang="en-US" smtClean="0"/>
              <a:t>9/26/2024</a:t>
            </a:fld>
            <a:endParaRPr lang="en-US"/>
          </a:p>
        </p:txBody>
      </p:sp>
      <p:sp>
        <p:nvSpPr>
          <p:cNvPr id="5" name="Footer Placeholder 4">
            <a:extLst>
              <a:ext uri="{FF2B5EF4-FFF2-40B4-BE49-F238E27FC236}">
                <a16:creationId xmlns:a16="http://schemas.microsoft.com/office/drawing/2014/main" id="{DB73CAA4-028F-8789-1672-F67A930811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F46198-031F-4A77-B121-612492FEC199}"/>
              </a:ext>
            </a:extLst>
          </p:cNvPr>
          <p:cNvSpPr>
            <a:spLocks noGrp="1"/>
          </p:cNvSpPr>
          <p:nvPr>
            <p:ph type="sldNum" sz="quarter" idx="12"/>
          </p:nvPr>
        </p:nvSpPr>
        <p:spPr/>
        <p:txBody>
          <a:bodyPr/>
          <a:lstStyle/>
          <a:p>
            <a:fld id="{8170D8CF-7E31-4249-BDB4-34EBE6CF332C}" type="slidenum">
              <a:rPr lang="en-US" smtClean="0"/>
              <a:t>‹#›</a:t>
            </a:fld>
            <a:endParaRPr lang="en-US"/>
          </a:p>
        </p:txBody>
      </p:sp>
    </p:spTree>
    <p:extLst>
      <p:ext uri="{BB962C8B-B14F-4D97-AF65-F5344CB8AC3E}">
        <p14:creationId xmlns:p14="http://schemas.microsoft.com/office/powerpoint/2010/main" val="34743255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8764A-AFDE-6C65-0399-86E094B4F10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A7015BA-9872-EB93-DF18-E312DAD8E2A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40E1158-C4EE-164E-5236-299A7F35595D}"/>
              </a:ext>
            </a:extLst>
          </p:cNvPr>
          <p:cNvSpPr>
            <a:spLocks noGrp="1"/>
          </p:cNvSpPr>
          <p:nvPr>
            <p:ph type="dt" sz="half" idx="10"/>
          </p:nvPr>
        </p:nvSpPr>
        <p:spPr/>
        <p:txBody>
          <a:bodyPr/>
          <a:lstStyle/>
          <a:p>
            <a:fld id="{DADE2353-34E2-4DBF-AFB1-31497BAECD2D}" type="datetimeFigureOut">
              <a:rPr lang="en-US" smtClean="0"/>
              <a:t>9/26/2024</a:t>
            </a:fld>
            <a:endParaRPr lang="en-US"/>
          </a:p>
        </p:txBody>
      </p:sp>
      <p:sp>
        <p:nvSpPr>
          <p:cNvPr id="5" name="Footer Placeholder 4">
            <a:extLst>
              <a:ext uri="{FF2B5EF4-FFF2-40B4-BE49-F238E27FC236}">
                <a16:creationId xmlns:a16="http://schemas.microsoft.com/office/drawing/2014/main" id="{B7A1F21B-38AF-5D67-5BD7-95FB90057B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D03564-BFC7-AF2C-F528-1411B52D0AD5}"/>
              </a:ext>
            </a:extLst>
          </p:cNvPr>
          <p:cNvSpPr>
            <a:spLocks noGrp="1"/>
          </p:cNvSpPr>
          <p:nvPr>
            <p:ph type="sldNum" sz="quarter" idx="12"/>
          </p:nvPr>
        </p:nvSpPr>
        <p:spPr/>
        <p:txBody>
          <a:bodyPr/>
          <a:lstStyle/>
          <a:p>
            <a:fld id="{8170D8CF-7E31-4249-BDB4-34EBE6CF332C}" type="slidenum">
              <a:rPr lang="en-US" smtClean="0"/>
              <a:t>‹#›</a:t>
            </a:fld>
            <a:endParaRPr lang="en-US"/>
          </a:p>
        </p:txBody>
      </p:sp>
    </p:spTree>
    <p:extLst>
      <p:ext uri="{BB962C8B-B14F-4D97-AF65-F5344CB8AC3E}">
        <p14:creationId xmlns:p14="http://schemas.microsoft.com/office/powerpoint/2010/main" val="9448391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39EF2F-C0C8-F4B7-AC9F-0603498CFDE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582DFC6-91C0-2E02-4DF5-FFCAE9D7339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0FAF2D9-BB3D-2B57-1C79-3C614660D60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6F89D1C-DE7A-F3D2-BBD8-2212007CF9AC}"/>
              </a:ext>
            </a:extLst>
          </p:cNvPr>
          <p:cNvSpPr>
            <a:spLocks noGrp="1"/>
          </p:cNvSpPr>
          <p:nvPr>
            <p:ph type="dt" sz="half" idx="10"/>
          </p:nvPr>
        </p:nvSpPr>
        <p:spPr/>
        <p:txBody>
          <a:bodyPr/>
          <a:lstStyle/>
          <a:p>
            <a:fld id="{DADE2353-34E2-4DBF-AFB1-31497BAECD2D}" type="datetimeFigureOut">
              <a:rPr lang="en-US" smtClean="0"/>
              <a:t>9/26/2024</a:t>
            </a:fld>
            <a:endParaRPr lang="en-US"/>
          </a:p>
        </p:txBody>
      </p:sp>
      <p:sp>
        <p:nvSpPr>
          <p:cNvPr id="6" name="Footer Placeholder 5">
            <a:extLst>
              <a:ext uri="{FF2B5EF4-FFF2-40B4-BE49-F238E27FC236}">
                <a16:creationId xmlns:a16="http://schemas.microsoft.com/office/drawing/2014/main" id="{FC6498EA-AFFA-7930-38AD-80128E1A042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D3B5B4F-6EFF-B061-8AF1-8E8B533DC6E7}"/>
              </a:ext>
            </a:extLst>
          </p:cNvPr>
          <p:cNvSpPr>
            <a:spLocks noGrp="1"/>
          </p:cNvSpPr>
          <p:nvPr>
            <p:ph type="sldNum" sz="quarter" idx="12"/>
          </p:nvPr>
        </p:nvSpPr>
        <p:spPr/>
        <p:txBody>
          <a:bodyPr/>
          <a:lstStyle/>
          <a:p>
            <a:fld id="{8170D8CF-7E31-4249-BDB4-34EBE6CF332C}" type="slidenum">
              <a:rPr lang="en-US" smtClean="0"/>
              <a:t>‹#›</a:t>
            </a:fld>
            <a:endParaRPr lang="en-US"/>
          </a:p>
        </p:txBody>
      </p:sp>
    </p:spTree>
    <p:extLst>
      <p:ext uri="{BB962C8B-B14F-4D97-AF65-F5344CB8AC3E}">
        <p14:creationId xmlns:p14="http://schemas.microsoft.com/office/powerpoint/2010/main" val="27883776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B2DDE-1663-177E-8BD7-8BEC80D2FEC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4A99556-AE83-E79F-2D3C-772B56BAC93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5FA90DF-E452-316F-79B9-BD362BF25E6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59413A0-B263-09D1-A818-28153CD11B9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98343CC-E13C-44AE-FFB0-17F77AD01B6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AC35E32-B3ED-220C-9668-725A95C4CB7C}"/>
              </a:ext>
            </a:extLst>
          </p:cNvPr>
          <p:cNvSpPr>
            <a:spLocks noGrp="1"/>
          </p:cNvSpPr>
          <p:nvPr>
            <p:ph type="dt" sz="half" idx="10"/>
          </p:nvPr>
        </p:nvSpPr>
        <p:spPr/>
        <p:txBody>
          <a:bodyPr/>
          <a:lstStyle/>
          <a:p>
            <a:fld id="{DADE2353-34E2-4DBF-AFB1-31497BAECD2D}" type="datetimeFigureOut">
              <a:rPr lang="en-US" smtClean="0"/>
              <a:t>9/26/2024</a:t>
            </a:fld>
            <a:endParaRPr lang="en-US"/>
          </a:p>
        </p:txBody>
      </p:sp>
      <p:sp>
        <p:nvSpPr>
          <p:cNvPr id="8" name="Footer Placeholder 7">
            <a:extLst>
              <a:ext uri="{FF2B5EF4-FFF2-40B4-BE49-F238E27FC236}">
                <a16:creationId xmlns:a16="http://schemas.microsoft.com/office/drawing/2014/main" id="{0AF9B67F-C847-C91A-2378-95BC4DC656E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DFBC0CF-7F11-81A8-9DE7-C0020765F1A9}"/>
              </a:ext>
            </a:extLst>
          </p:cNvPr>
          <p:cNvSpPr>
            <a:spLocks noGrp="1"/>
          </p:cNvSpPr>
          <p:nvPr>
            <p:ph type="sldNum" sz="quarter" idx="12"/>
          </p:nvPr>
        </p:nvSpPr>
        <p:spPr/>
        <p:txBody>
          <a:bodyPr/>
          <a:lstStyle/>
          <a:p>
            <a:fld id="{8170D8CF-7E31-4249-BDB4-34EBE6CF332C}" type="slidenum">
              <a:rPr lang="en-US" smtClean="0"/>
              <a:t>‹#›</a:t>
            </a:fld>
            <a:endParaRPr lang="en-US"/>
          </a:p>
        </p:txBody>
      </p:sp>
    </p:spTree>
    <p:extLst>
      <p:ext uri="{BB962C8B-B14F-4D97-AF65-F5344CB8AC3E}">
        <p14:creationId xmlns:p14="http://schemas.microsoft.com/office/powerpoint/2010/main" val="22065939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55E68C-E983-2625-8934-F05ABA045E7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113005A-3552-A4BA-7ED5-C0B652451608}"/>
              </a:ext>
            </a:extLst>
          </p:cNvPr>
          <p:cNvSpPr>
            <a:spLocks noGrp="1"/>
          </p:cNvSpPr>
          <p:nvPr>
            <p:ph type="dt" sz="half" idx="10"/>
          </p:nvPr>
        </p:nvSpPr>
        <p:spPr/>
        <p:txBody>
          <a:bodyPr/>
          <a:lstStyle/>
          <a:p>
            <a:fld id="{DADE2353-34E2-4DBF-AFB1-31497BAECD2D}" type="datetimeFigureOut">
              <a:rPr lang="en-US" smtClean="0"/>
              <a:t>9/26/2024</a:t>
            </a:fld>
            <a:endParaRPr lang="en-US"/>
          </a:p>
        </p:txBody>
      </p:sp>
      <p:sp>
        <p:nvSpPr>
          <p:cNvPr id="4" name="Footer Placeholder 3">
            <a:extLst>
              <a:ext uri="{FF2B5EF4-FFF2-40B4-BE49-F238E27FC236}">
                <a16:creationId xmlns:a16="http://schemas.microsoft.com/office/drawing/2014/main" id="{DF0FD07F-1E0A-BB39-D500-943046E3605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36F57A9-C6E5-178B-69A6-2F933F7B5A4C}"/>
              </a:ext>
            </a:extLst>
          </p:cNvPr>
          <p:cNvSpPr>
            <a:spLocks noGrp="1"/>
          </p:cNvSpPr>
          <p:nvPr>
            <p:ph type="sldNum" sz="quarter" idx="12"/>
          </p:nvPr>
        </p:nvSpPr>
        <p:spPr/>
        <p:txBody>
          <a:bodyPr/>
          <a:lstStyle/>
          <a:p>
            <a:fld id="{8170D8CF-7E31-4249-BDB4-34EBE6CF332C}" type="slidenum">
              <a:rPr lang="en-US" smtClean="0"/>
              <a:t>‹#›</a:t>
            </a:fld>
            <a:endParaRPr lang="en-US"/>
          </a:p>
        </p:txBody>
      </p:sp>
    </p:spTree>
    <p:extLst>
      <p:ext uri="{BB962C8B-B14F-4D97-AF65-F5344CB8AC3E}">
        <p14:creationId xmlns:p14="http://schemas.microsoft.com/office/powerpoint/2010/main" val="38548884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6CAEDF5-6B80-553D-1D72-5FC8892290D2}"/>
              </a:ext>
            </a:extLst>
          </p:cNvPr>
          <p:cNvSpPr>
            <a:spLocks noGrp="1"/>
          </p:cNvSpPr>
          <p:nvPr>
            <p:ph type="dt" sz="half" idx="10"/>
          </p:nvPr>
        </p:nvSpPr>
        <p:spPr/>
        <p:txBody>
          <a:bodyPr/>
          <a:lstStyle/>
          <a:p>
            <a:fld id="{DADE2353-34E2-4DBF-AFB1-31497BAECD2D}" type="datetimeFigureOut">
              <a:rPr lang="en-US" smtClean="0"/>
              <a:t>9/26/2024</a:t>
            </a:fld>
            <a:endParaRPr lang="en-US"/>
          </a:p>
        </p:txBody>
      </p:sp>
      <p:sp>
        <p:nvSpPr>
          <p:cNvPr id="3" name="Footer Placeholder 2">
            <a:extLst>
              <a:ext uri="{FF2B5EF4-FFF2-40B4-BE49-F238E27FC236}">
                <a16:creationId xmlns:a16="http://schemas.microsoft.com/office/drawing/2014/main" id="{BDA4D675-7E04-BF12-E83D-66063E51445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631C55B-FF10-A9BC-7A01-320746F2A271}"/>
              </a:ext>
            </a:extLst>
          </p:cNvPr>
          <p:cNvSpPr>
            <a:spLocks noGrp="1"/>
          </p:cNvSpPr>
          <p:nvPr>
            <p:ph type="sldNum" sz="quarter" idx="12"/>
          </p:nvPr>
        </p:nvSpPr>
        <p:spPr/>
        <p:txBody>
          <a:bodyPr/>
          <a:lstStyle/>
          <a:p>
            <a:fld id="{8170D8CF-7E31-4249-BDB4-34EBE6CF332C}" type="slidenum">
              <a:rPr lang="en-US" smtClean="0"/>
              <a:t>‹#›</a:t>
            </a:fld>
            <a:endParaRPr lang="en-US"/>
          </a:p>
        </p:txBody>
      </p:sp>
    </p:spTree>
    <p:extLst>
      <p:ext uri="{BB962C8B-B14F-4D97-AF65-F5344CB8AC3E}">
        <p14:creationId xmlns:p14="http://schemas.microsoft.com/office/powerpoint/2010/main" val="18556135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85EAE0-596B-69E2-8B33-A6710ACA00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B2E4BFB-0A58-BFAB-6A5A-36C1C73A5D6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BCE2E35-7E9E-B3E9-EB5B-E908D7E90E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0DAF7D8-83AE-8FAD-D27F-9B1F0C40D75C}"/>
              </a:ext>
            </a:extLst>
          </p:cNvPr>
          <p:cNvSpPr>
            <a:spLocks noGrp="1"/>
          </p:cNvSpPr>
          <p:nvPr>
            <p:ph type="dt" sz="half" idx="10"/>
          </p:nvPr>
        </p:nvSpPr>
        <p:spPr/>
        <p:txBody>
          <a:bodyPr/>
          <a:lstStyle/>
          <a:p>
            <a:fld id="{DADE2353-34E2-4DBF-AFB1-31497BAECD2D}" type="datetimeFigureOut">
              <a:rPr lang="en-US" smtClean="0"/>
              <a:t>9/26/2024</a:t>
            </a:fld>
            <a:endParaRPr lang="en-US"/>
          </a:p>
        </p:txBody>
      </p:sp>
      <p:sp>
        <p:nvSpPr>
          <p:cNvPr id="6" name="Footer Placeholder 5">
            <a:extLst>
              <a:ext uri="{FF2B5EF4-FFF2-40B4-BE49-F238E27FC236}">
                <a16:creationId xmlns:a16="http://schemas.microsoft.com/office/drawing/2014/main" id="{1AA3D02B-BC93-B132-5356-786E6D6BC0D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E455FA3-E63F-F867-683E-F1B4839FBE5D}"/>
              </a:ext>
            </a:extLst>
          </p:cNvPr>
          <p:cNvSpPr>
            <a:spLocks noGrp="1"/>
          </p:cNvSpPr>
          <p:nvPr>
            <p:ph type="sldNum" sz="quarter" idx="12"/>
          </p:nvPr>
        </p:nvSpPr>
        <p:spPr/>
        <p:txBody>
          <a:bodyPr/>
          <a:lstStyle/>
          <a:p>
            <a:fld id="{8170D8CF-7E31-4249-BDB4-34EBE6CF332C}" type="slidenum">
              <a:rPr lang="en-US" smtClean="0"/>
              <a:t>‹#›</a:t>
            </a:fld>
            <a:endParaRPr lang="en-US"/>
          </a:p>
        </p:txBody>
      </p:sp>
    </p:spTree>
    <p:extLst>
      <p:ext uri="{BB962C8B-B14F-4D97-AF65-F5344CB8AC3E}">
        <p14:creationId xmlns:p14="http://schemas.microsoft.com/office/powerpoint/2010/main" val="341393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6CB282-822B-43D1-AD6D-C3C4AD3B156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E0A5E38-E64E-BF7D-AE8B-3B67FCD42EA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51DFBFC-96B2-169D-EE47-D15510C7CF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7A5B041-516D-D4A0-53AC-A15CC4DEF491}"/>
              </a:ext>
            </a:extLst>
          </p:cNvPr>
          <p:cNvSpPr>
            <a:spLocks noGrp="1"/>
          </p:cNvSpPr>
          <p:nvPr>
            <p:ph type="dt" sz="half" idx="10"/>
          </p:nvPr>
        </p:nvSpPr>
        <p:spPr/>
        <p:txBody>
          <a:bodyPr/>
          <a:lstStyle/>
          <a:p>
            <a:fld id="{DADE2353-34E2-4DBF-AFB1-31497BAECD2D}" type="datetimeFigureOut">
              <a:rPr lang="en-US" smtClean="0"/>
              <a:t>9/26/2024</a:t>
            </a:fld>
            <a:endParaRPr lang="en-US"/>
          </a:p>
        </p:txBody>
      </p:sp>
      <p:sp>
        <p:nvSpPr>
          <p:cNvPr id="6" name="Footer Placeholder 5">
            <a:extLst>
              <a:ext uri="{FF2B5EF4-FFF2-40B4-BE49-F238E27FC236}">
                <a16:creationId xmlns:a16="http://schemas.microsoft.com/office/drawing/2014/main" id="{1FFCB22D-A2EE-F043-E84F-873FC44C535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7F5EFEA-E4B3-9109-8B92-790A4EB8A3BB}"/>
              </a:ext>
            </a:extLst>
          </p:cNvPr>
          <p:cNvSpPr>
            <a:spLocks noGrp="1"/>
          </p:cNvSpPr>
          <p:nvPr>
            <p:ph type="sldNum" sz="quarter" idx="12"/>
          </p:nvPr>
        </p:nvSpPr>
        <p:spPr/>
        <p:txBody>
          <a:bodyPr/>
          <a:lstStyle/>
          <a:p>
            <a:fld id="{8170D8CF-7E31-4249-BDB4-34EBE6CF332C}" type="slidenum">
              <a:rPr lang="en-US" smtClean="0"/>
              <a:t>‹#›</a:t>
            </a:fld>
            <a:endParaRPr lang="en-US"/>
          </a:p>
        </p:txBody>
      </p:sp>
    </p:spTree>
    <p:extLst>
      <p:ext uri="{BB962C8B-B14F-4D97-AF65-F5344CB8AC3E}">
        <p14:creationId xmlns:p14="http://schemas.microsoft.com/office/powerpoint/2010/main" val="2161198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E210B2-EA5B-981F-94FC-2D646EAD66C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E9A106F-7F89-F47E-17EA-668B446AAD9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642C11E-85E7-6A0C-085F-36A62E6ED49B}"/>
              </a:ext>
            </a:extLst>
          </p:cNvPr>
          <p:cNvSpPr>
            <a:spLocks noGrp="1"/>
          </p:cNvSpPr>
          <p:nvPr>
            <p:ph type="dt" sz="half" idx="10"/>
          </p:nvPr>
        </p:nvSpPr>
        <p:spPr/>
        <p:txBody>
          <a:bodyPr/>
          <a:lstStyle/>
          <a:p>
            <a:fld id="{DADE2353-34E2-4DBF-AFB1-31497BAECD2D}" type="datetimeFigureOut">
              <a:rPr lang="en-US" smtClean="0"/>
              <a:t>9/26/2024</a:t>
            </a:fld>
            <a:endParaRPr lang="en-US"/>
          </a:p>
        </p:txBody>
      </p:sp>
      <p:sp>
        <p:nvSpPr>
          <p:cNvPr id="5" name="Footer Placeholder 4">
            <a:extLst>
              <a:ext uri="{FF2B5EF4-FFF2-40B4-BE49-F238E27FC236}">
                <a16:creationId xmlns:a16="http://schemas.microsoft.com/office/drawing/2014/main" id="{5BF3A187-F559-1562-1E40-852905CEE8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BDE776-7656-020E-6498-FD01094E33A5}"/>
              </a:ext>
            </a:extLst>
          </p:cNvPr>
          <p:cNvSpPr>
            <a:spLocks noGrp="1"/>
          </p:cNvSpPr>
          <p:nvPr>
            <p:ph type="sldNum" sz="quarter" idx="12"/>
          </p:nvPr>
        </p:nvSpPr>
        <p:spPr/>
        <p:txBody>
          <a:bodyPr/>
          <a:lstStyle/>
          <a:p>
            <a:fld id="{8170D8CF-7E31-4249-BDB4-34EBE6CF332C}" type="slidenum">
              <a:rPr lang="en-US" smtClean="0"/>
              <a:t>‹#›</a:t>
            </a:fld>
            <a:endParaRPr lang="en-US"/>
          </a:p>
        </p:txBody>
      </p:sp>
    </p:spTree>
    <p:extLst>
      <p:ext uri="{BB962C8B-B14F-4D97-AF65-F5344CB8AC3E}">
        <p14:creationId xmlns:p14="http://schemas.microsoft.com/office/powerpoint/2010/main" val="6901166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2C40EEC-D70E-0844-EF99-95A4CC26358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33AC71F-C6F3-8EAE-BCAD-8E8A3DA4475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4A425F2-EBCC-F04C-FF8C-ADA9B02285CA}"/>
              </a:ext>
            </a:extLst>
          </p:cNvPr>
          <p:cNvSpPr>
            <a:spLocks noGrp="1"/>
          </p:cNvSpPr>
          <p:nvPr>
            <p:ph type="dt" sz="half" idx="10"/>
          </p:nvPr>
        </p:nvSpPr>
        <p:spPr/>
        <p:txBody>
          <a:bodyPr/>
          <a:lstStyle/>
          <a:p>
            <a:fld id="{DADE2353-34E2-4DBF-AFB1-31497BAECD2D}" type="datetimeFigureOut">
              <a:rPr lang="en-US" smtClean="0"/>
              <a:t>9/26/2024</a:t>
            </a:fld>
            <a:endParaRPr lang="en-US"/>
          </a:p>
        </p:txBody>
      </p:sp>
      <p:sp>
        <p:nvSpPr>
          <p:cNvPr id="5" name="Footer Placeholder 4">
            <a:extLst>
              <a:ext uri="{FF2B5EF4-FFF2-40B4-BE49-F238E27FC236}">
                <a16:creationId xmlns:a16="http://schemas.microsoft.com/office/drawing/2014/main" id="{2818C89F-3F70-48FA-D722-C07F224ABA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5D372A-8E0E-6F0C-1625-2E5A32F641C2}"/>
              </a:ext>
            </a:extLst>
          </p:cNvPr>
          <p:cNvSpPr>
            <a:spLocks noGrp="1"/>
          </p:cNvSpPr>
          <p:nvPr>
            <p:ph type="sldNum" sz="quarter" idx="12"/>
          </p:nvPr>
        </p:nvSpPr>
        <p:spPr/>
        <p:txBody>
          <a:bodyPr/>
          <a:lstStyle/>
          <a:p>
            <a:fld id="{8170D8CF-7E31-4249-BDB4-34EBE6CF332C}" type="slidenum">
              <a:rPr lang="en-US" smtClean="0"/>
              <a:t>‹#›</a:t>
            </a:fld>
            <a:endParaRPr lang="en-US"/>
          </a:p>
        </p:txBody>
      </p:sp>
    </p:spTree>
    <p:extLst>
      <p:ext uri="{BB962C8B-B14F-4D97-AF65-F5344CB8AC3E}">
        <p14:creationId xmlns:p14="http://schemas.microsoft.com/office/powerpoint/2010/main" val="16871680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5839076-86F1-BF96-5F1C-E02770190C9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1BD6091-9A2B-FD71-4279-2B59B29F6E5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9DCA7DB-A213-4889-8665-C38ED1E11C4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ADE2353-34E2-4DBF-AFB1-31497BAECD2D}" type="datetimeFigureOut">
              <a:rPr lang="en-US" smtClean="0"/>
              <a:t>9/26/2024</a:t>
            </a:fld>
            <a:endParaRPr lang="en-US"/>
          </a:p>
        </p:txBody>
      </p:sp>
      <p:sp>
        <p:nvSpPr>
          <p:cNvPr id="5" name="Footer Placeholder 4">
            <a:extLst>
              <a:ext uri="{FF2B5EF4-FFF2-40B4-BE49-F238E27FC236}">
                <a16:creationId xmlns:a16="http://schemas.microsoft.com/office/drawing/2014/main" id="{BFDA2211-1479-F897-C505-D1C571BD76F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280501B-5298-2352-229F-4D7E94A5D9B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70D8CF-7E31-4249-BDB4-34EBE6CF332C}" type="slidenum">
              <a:rPr lang="en-US" smtClean="0"/>
              <a:t>‹#›</a:t>
            </a:fld>
            <a:endParaRPr lang="en-US"/>
          </a:p>
        </p:txBody>
      </p:sp>
    </p:spTree>
    <p:extLst>
      <p:ext uri="{BB962C8B-B14F-4D97-AF65-F5344CB8AC3E}">
        <p14:creationId xmlns:p14="http://schemas.microsoft.com/office/powerpoint/2010/main" val="19263614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slideLayout" Target="../slideLayouts/slideLayout2.xml"/><Relationship Id="rId4" Type="http://schemas.openxmlformats.org/officeDocument/2006/relationships/image" Target="../media/image6.e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BF91A9-48A0-8AA1-90B9-3D1E136E78A0}"/>
              </a:ext>
            </a:extLst>
          </p:cNvPr>
          <p:cNvSpPr>
            <a:spLocks noGrp="1"/>
          </p:cNvSpPr>
          <p:nvPr>
            <p:ph type="ctrTitle"/>
          </p:nvPr>
        </p:nvSpPr>
        <p:spPr/>
        <p:txBody>
          <a:bodyPr/>
          <a:lstStyle/>
          <a:p>
            <a:r>
              <a:rPr lang="en-US" dirty="0"/>
              <a:t>CSE 601: Distributed Systems</a:t>
            </a:r>
          </a:p>
        </p:txBody>
      </p:sp>
      <p:sp>
        <p:nvSpPr>
          <p:cNvPr id="3" name="Subtitle 2">
            <a:extLst>
              <a:ext uri="{FF2B5EF4-FFF2-40B4-BE49-F238E27FC236}">
                <a16:creationId xmlns:a16="http://schemas.microsoft.com/office/drawing/2014/main" id="{BB4E9863-D6E1-F1B2-EC0A-B6FC55B7E399}"/>
              </a:ext>
            </a:extLst>
          </p:cNvPr>
          <p:cNvSpPr>
            <a:spLocks noGrp="1"/>
          </p:cNvSpPr>
          <p:nvPr>
            <p:ph type="subTitle" idx="1"/>
          </p:nvPr>
        </p:nvSpPr>
        <p:spPr/>
        <p:txBody>
          <a:bodyPr/>
          <a:lstStyle/>
          <a:p>
            <a:r>
              <a:rPr lang="en-US" dirty="0"/>
              <a:t>Toukir Ahammed</a:t>
            </a:r>
          </a:p>
        </p:txBody>
      </p:sp>
    </p:spTree>
    <p:extLst>
      <p:ext uri="{BB962C8B-B14F-4D97-AF65-F5344CB8AC3E}">
        <p14:creationId xmlns:p14="http://schemas.microsoft.com/office/powerpoint/2010/main" val="4084529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A3863-B5A0-8BF4-429C-A7EB2AE1320C}"/>
              </a:ext>
            </a:extLst>
          </p:cNvPr>
          <p:cNvSpPr>
            <a:spLocks noGrp="1"/>
          </p:cNvSpPr>
          <p:nvPr>
            <p:ph type="title"/>
          </p:nvPr>
        </p:nvSpPr>
        <p:spPr/>
        <p:txBody>
          <a:bodyPr/>
          <a:lstStyle/>
          <a:p>
            <a:r>
              <a:rPr lang="en-US" dirty="0"/>
              <a:t>Course Overview</a:t>
            </a:r>
          </a:p>
        </p:txBody>
      </p:sp>
      <p:sp>
        <p:nvSpPr>
          <p:cNvPr id="3" name="Content Placeholder 2">
            <a:extLst>
              <a:ext uri="{FF2B5EF4-FFF2-40B4-BE49-F238E27FC236}">
                <a16:creationId xmlns:a16="http://schemas.microsoft.com/office/drawing/2014/main" id="{61BAE5BC-CDCF-8D17-4901-D434E13C9FA7}"/>
              </a:ext>
            </a:extLst>
          </p:cNvPr>
          <p:cNvSpPr>
            <a:spLocks noGrp="1"/>
          </p:cNvSpPr>
          <p:nvPr>
            <p:ph sz="half" idx="1"/>
          </p:nvPr>
        </p:nvSpPr>
        <p:spPr>
          <a:xfrm>
            <a:off x="838200" y="1825625"/>
            <a:ext cx="5942428" cy="4351338"/>
          </a:xfrm>
        </p:spPr>
        <p:txBody>
          <a:bodyPr>
            <a:normAutofit/>
          </a:bodyPr>
          <a:lstStyle/>
          <a:p>
            <a:pPr marL="0" indent="0">
              <a:buNone/>
            </a:pPr>
            <a:r>
              <a:rPr lang="en-US" b="1" dirty="0"/>
              <a:t>Course Title</a:t>
            </a:r>
            <a:r>
              <a:rPr lang="en-US" dirty="0"/>
              <a:t>: Distributed Systems</a:t>
            </a:r>
          </a:p>
          <a:p>
            <a:pPr marL="0" indent="0">
              <a:buNone/>
            </a:pPr>
            <a:r>
              <a:rPr lang="en-US" b="1" dirty="0"/>
              <a:t>Course Code</a:t>
            </a:r>
            <a:r>
              <a:rPr lang="en-US" dirty="0"/>
              <a:t>: CSE601</a:t>
            </a:r>
          </a:p>
          <a:p>
            <a:pPr marL="0" indent="0">
              <a:buNone/>
            </a:pPr>
            <a:r>
              <a:rPr lang="en-US" b="1" dirty="0"/>
              <a:t>Credit</a:t>
            </a:r>
            <a:r>
              <a:rPr lang="en-US" dirty="0"/>
              <a:t>: 3 Credits (2 Credit Theory + 1 Credit Lab)</a:t>
            </a:r>
          </a:p>
          <a:p>
            <a:pPr marL="0" indent="0">
              <a:buNone/>
            </a:pPr>
            <a:endParaRPr lang="en-US" dirty="0"/>
          </a:p>
          <a:p>
            <a:pPr marL="0" indent="0">
              <a:buNone/>
            </a:pPr>
            <a:r>
              <a:rPr lang="en-US" b="1" dirty="0"/>
              <a:t>Reference Book</a:t>
            </a:r>
            <a:r>
              <a:rPr lang="en-US" dirty="0"/>
              <a:t>:</a:t>
            </a:r>
          </a:p>
          <a:p>
            <a:pPr marL="0" indent="0" algn="just">
              <a:buNone/>
            </a:pPr>
            <a:r>
              <a:rPr lang="en-US" dirty="0"/>
              <a:t>Distributed systems: Principles and Paradigms by Andrew S. Tanenbaum (</a:t>
            </a:r>
            <a:r>
              <a:rPr lang="en-US" i="1" dirty="0"/>
              <a:t>2</a:t>
            </a:r>
            <a:r>
              <a:rPr lang="en-US" i="1" baseline="30000" dirty="0"/>
              <a:t>nd</a:t>
            </a:r>
            <a:r>
              <a:rPr lang="en-US" i="1" dirty="0"/>
              <a:t> edition</a:t>
            </a:r>
            <a:r>
              <a:rPr lang="en-US" dirty="0"/>
              <a:t>)</a:t>
            </a:r>
          </a:p>
        </p:txBody>
      </p:sp>
      <p:pic>
        <p:nvPicPr>
          <p:cNvPr id="1026" name="Picture 2">
            <a:extLst>
              <a:ext uri="{FF2B5EF4-FFF2-40B4-BE49-F238E27FC236}">
                <a16:creationId xmlns:a16="http://schemas.microsoft.com/office/drawing/2014/main" id="{5E03DE0F-3D9F-1901-DDB6-C844E5DE8B5A}"/>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7834070" y="942535"/>
            <a:ext cx="3771775" cy="54764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92289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AA090-C455-1B8F-34E4-6D8A6AAAAE25}"/>
              </a:ext>
            </a:extLst>
          </p:cNvPr>
          <p:cNvSpPr>
            <a:spLocks noGrp="1"/>
          </p:cNvSpPr>
          <p:nvPr>
            <p:ph type="title"/>
          </p:nvPr>
        </p:nvSpPr>
        <p:spPr/>
        <p:txBody>
          <a:bodyPr/>
          <a:lstStyle/>
          <a:p>
            <a:r>
              <a:rPr lang="en-US" dirty="0"/>
              <a:t>Marks Distribution</a:t>
            </a:r>
          </a:p>
        </p:txBody>
      </p:sp>
      <p:sp>
        <p:nvSpPr>
          <p:cNvPr id="3" name="Content Placeholder 2">
            <a:extLst>
              <a:ext uri="{FF2B5EF4-FFF2-40B4-BE49-F238E27FC236}">
                <a16:creationId xmlns:a16="http://schemas.microsoft.com/office/drawing/2014/main" id="{F8238832-2882-EE02-A067-3A77E4809A9F}"/>
              </a:ext>
            </a:extLst>
          </p:cNvPr>
          <p:cNvSpPr>
            <a:spLocks noGrp="1"/>
          </p:cNvSpPr>
          <p:nvPr>
            <p:ph idx="1"/>
          </p:nvPr>
        </p:nvSpPr>
        <p:spPr/>
        <p:txBody>
          <a:bodyPr/>
          <a:lstStyle/>
          <a:p>
            <a:r>
              <a:rPr lang="en-US" dirty="0"/>
              <a:t>Attendance	5</a:t>
            </a:r>
          </a:p>
          <a:p>
            <a:r>
              <a:rPr lang="en-US" dirty="0"/>
              <a:t>Midterm		15</a:t>
            </a:r>
          </a:p>
          <a:p>
            <a:r>
              <a:rPr lang="en-US" dirty="0"/>
              <a:t>Presentation	5</a:t>
            </a:r>
          </a:p>
          <a:p>
            <a:r>
              <a:rPr lang="en-US" dirty="0"/>
              <a:t>Lab/Project	25</a:t>
            </a:r>
          </a:p>
          <a:p>
            <a:r>
              <a:rPr lang="en-US" dirty="0"/>
              <a:t>Assignment	20	</a:t>
            </a:r>
          </a:p>
          <a:p>
            <a:r>
              <a:rPr lang="en-US" dirty="0"/>
              <a:t>Final Exam		30</a:t>
            </a:r>
          </a:p>
        </p:txBody>
      </p:sp>
    </p:spTree>
    <p:extLst>
      <p:ext uri="{BB962C8B-B14F-4D97-AF65-F5344CB8AC3E}">
        <p14:creationId xmlns:p14="http://schemas.microsoft.com/office/powerpoint/2010/main" val="34504875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6623CA-F343-2448-802A-797874567883}"/>
              </a:ext>
            </a:extLst>
          </p:cNvPr>
          <p:cNvSpPr>
            <a:spLocks noGrp="1"/>
          </p:cNvSpPr>
          <p:nvPr>
            <p:ph type="title"/>
          </p:nvPr>
        </p:nvSpPr>
        <p:spPr/>
        <p:txBody>
          <a:bodyPr/>
          <a:lstStyle/>
          <a:p>
            <a:r>
              <a:rPr lang="en-US" dirty="0"/>
              <a:t>Google Classroom</a:t>
            </a:r>
          </a:p>
        </p:txBody>
      </p:sp>
      <p:sp>
        <p:nvSpPr>
          <p:cNvPr id="7" name="Content Placeholder 6">
            <a:extLst>
              <a:ext uri="{FF2B5EF4-FFF2-40B4-BE49-F238E27FC236}">
                <a16:creationId xmlns:a16="http://schemas.microsoft.com/office/drawing/2014/main" id="{A9D6AD8F-9A8E-27F6-384D-C43E867D8AFC}"/>
              </a:ext>
            </a:extLst>
          </p:cNvPr>
          <p:cNvSpPr>
            <a:spLocks noGrp="1"/>
          </p:cNvSpPr>
          <p:nvPr>
            <p:ph idx="1"/>
          </p:nvPr>
        </p:nvSpPr>
        <p:spPr/>
        <p:txBody>
          <a:bodyPr>
            <a:normAutofit/>
          </a:bodyPr>
          <a:lstStyle/>
          <a:p>
            <a:pPr marL="0" indent="0" algn="ctr">
              <a:buNone/>
            </a:pPr>
            <a:r>
              <a:rPr lang="en-US" sz="20000" b="0" i="0" dirty="0">
                <a:effectLst/>
                <a:latin typeface="Google Sans Display"/>
              </a:rPr>
              <a:t>p44adob</a:t>
            </a:r>
            <a:endParaRPr lang="en-US" sz="20000" dirty="0"/>
          </a:p>
        </p:txBody>
      </p:sp>
    </p:spTree>
    <p:extLst>
      <p:ext uri="{BB962C8B-B14F-4D97-AF65-F5344CB8AC3E}">
        <p14:creationId xmlns:p14="http://schemas.microsoft.com/office/powerpoint/2010/main" val="10697738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B1D9E-B241-A6A2-5B92-B73940394457}"/>
              </a:ext>
            </a:extLst>
          </p:cNvPr>
          <p:cNvSpPr>
            <a:spLocks noGrp="1"/>
          </p:cNvSpPr>
          <p:nvPr>
            <p:ph type="title"/>
          </p:nvPr>
        </p:nvSpPr>
        <p:spPr/>
        <p:txBody>
          <a:bodyPr/>
          <a:lstStyle/>
          <a:p>
            <a:r>
              <a:rPr lang="en-US" dirty="0"/>
              <a:t>Introduction to Distributed System</a:t>
            </a:r>
          </a:p>
        </p:txBody>
      </p:sp>
      <p:sp>
        <p:nvSpPr>
          <p:cNvPr id="3" name="Text Placeholder 2">
            <a:extLst>
              <a:ext uri="{FF2B5EF4-FFF2-40B4-BE49-F238E27FC236}">
                <a16:creationId xmlns:a16="http://schemas.microsoft.com/office/drawing/2014/main" id="{E1334385-8544-0D68-D414-6BA9495B40A4}"/>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1760708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ACFCC9F-2D3E-B2BA-CC26-324AE03F60A2}"/>
              </a:ext>
            </a:extLst>
          </p:cNvPr>
          <p:cNvSpPr>
            <a:spLocks noGrp="1"/>
          </p:cNvSpPr>
          <p:nvPr>
            <p:ph type="title"/>
          </p:nvPr>
        </p:nvSpPr>
        <p:spPr/>
        <p:txBody>
          <a:bodyPr/>
          <a:lstStyle/>
          <a:p>
            <a:r>
              <a:rPr lang="en-US" dirty="0"/>
              <a:t>Definition of a Distributed System </a:t>
            </a:r>
          </a:p>
        </p:txBody>
      </p:sp>
      <p:sp>
        <p:nvSpPr>
          <p:cNvPr id="5" name="Content Placeholder 4">
            <a:extLst>
              <a:ext uri="{FF2B5EF4-FFF2-40B4-BE49-F238E27FC236}">
                <a16:creationId xmlns:a16="http://schemas.microsoft.com/office/drawing/2014/main" id="{DC3B80E5-4BB7-C2B0-0DA6-2F93F9FFFC86}"/>
              </a:ext>
            </a:extLst>
          </p:cNvPr>
          <p:cNvSpPr>
            <a:spLocks noGrp="1"/>
          </p:cNvSpPr>
          <p:nvPr>
            <p:ph idx="1"/>
          </p:nvPr>
        </p:nvSpPr>
        <p:spPr/>
        <p:txBody>
          <a:bodyPr anchor="t">
            <a:normAutofit fontScale="85000" lnSpcReduction="10000"/>
          </a:bodyPr>
          <a:lstStyle/>
          <a:p>
            <a:pPr marL="0" indent="0" algn="ctr">
              <a:lnSpc>
                <a:spcPct val="90000"/>
              </a:lnSpc>
              <a:buNone/>
            </a:pPr>
            <a:r>
              <a:rPr lang="en-US" altLang="en-US" sz="4000" u="sng" dirty="0"/>
              <a:t>A distributed system is</a:t>
            </a:r>
            <a:r>
              <a:rPr lang="en-US" altLang="en-US" sz="4000" dirty="0"/>
              <a:t>:</a:t>
            </a:r>
          </a:p>
          <a:p>
            <a:pPr marL="0" indent="0" algn="ctr">
              <a:lnSpc>
                <a:spcPct val="90000"/>
              </a:lnSpc>
              <a:buNone/>
            </a:pPr>
            <a:endParaRPr lang="en-US" altLang="en-US" sz="4000" dirty="0"/>
          </a:p>
          <a:p>
            <a:pPr marL="0" indent="0" algn="ctr">
              <a:lnSpc>
                <a:spcPct val="90000"/>
              </a:lnSpc>
              <a:buNone/>
            </a:pPr>
            <a:r>
              <a:rPr lang="en-US" altLang="en-US" sz="4000" dirty="0"/>
              <a:t>“A collection of independent computers that appears to its users as a single coherent system.”</a:t>
            </a:r>
          </a:p>
          <a:p>
            <a:pPr marL="0" indent="0" algn="ctr">
              <a:lnSpc>
                <a:spcPct val="90000"/>
              </a:lnSpc>
              <a:buNone/>
            </a:pPr>
            <a:endParaRPr lang="en-US" altLang="en-US" sz="4000" dirty="0"/>
          </a:p>
          <a:p>
            <a:pPr marL="0" indent="0" algn="ctr">
              <a:lnSpc>
                <a:spcPct val="90000"/>
              </a:lnSpc>
              <a:buNone/>
            </a:pPr>
            <a:r>
              <a:rPr lang="en-US" altLang="en-US" sz="4000" dirty="0"/>
              <a:t>“A computing environment in which various components are spread across multiple nodes (</a:t>
            </a:r>
            <a:r>
              <a:rPr lang="en-US" altLang="en-US" sz="4000" i="1" dirty="0"/>
              <a:t>computer, phone, car, robot or other computing devices</a:t>
            </a:r>
            <a:r>
              <a:rPr lang="en-US" altLang="en-US" sz="4000" dirty="0"/>
              <a:t>) on a network trying to achieve some task together.”</a:t>
            </a:r>
          </a:p>
        </p:txBody>
      </p:sp>
    </p:spTree>
    <p:extLst>
      <p:ext uri="{BB962C8B-B14F-4D97-AF65-F5344CB8AC3E}">
        <p14:creationId xmlns:p14="http://schemas.microsoft.com/office/powerpoint/2010/main" val="16826622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EAA8AF-C3EF-C778-FFF3-5540C501953A}"/>
              </a:ext>
            </a:extLst>
          </p:cNvPr>
          <p:cNvSpPr>
            <a:spLocks noGrp="1"/>
          </p:cNvSpPr>
          <p:nvPr>
            <p:ph type="title"/>
          </p:nvPr>
        </p:nvSpPr>
        <p:spPr/>
        <p:txBody>
          <a:bodyPr/>
          <a:lstStyle/>
          <a:p>
            <a:r>
              <a:rPr lang="en-US" dirty="0"/>
              <a:t>Examples of distributed systems</a:t>
            </a:r>
          </a:p>
        </p:txBody>
      </p:sp>
      <p:sp>
        <p:nvSpPr>
          <p:cNvPr id="3" name="Content Placeholder 2">
            <a:extLst>
              <a:ext uri="{FF2B5EF4-FFF2-40B4-BE49-F238E27FC236}">
                <a16:creationId xmlns:a16="http://schemas.microsoft.com/office/drawing/2014/main" id="{9CA1A597-B71C-EB63-0645-806C50BDC11C}"/>
              </a:ext>
            </a:extLst>
          </p:cNvPr>
          <p:cNvSpPr>
            <a:spLocks noGrp="1"/>
          </p:cNvSpPr>
          <p:nvPr>
            <p:ph idx="1"/>
          </p:nvPr>
        </p:nvSpPr>
        <p:spPr/>
        <p:txBody>
          <a:bodyPr>
            <a:normAutofit/>
          </a:bodyPr>
          <a:lstStyle/>
          <a:p>
            <a:r>
              <a:rPr lang="en-US" dirty="0"/>
              <a:t>Machine learning (for compute)</a:t>
            </a:r>
          </a:p>
          <a:p>
            <a:r>
              <a:rPr lang="en-US" dirty="0"/>
              <a:t>P2P file sharing (high availability, share large files, piracy)</a:t>
            </a:r>
          </a:p>
          <a:p>
            <a:r>
              <a:rPr lang="en-US" dirty="0"/>
              <a:t>Google search engine (for storage and bandwidth)</a:t>
            </a:r>
          </a:p>
          <a:p>
            <a:r>
              <a:rPr lang="en-US" dirty="0"/>
              <a:t>Facebook (for storage and bandwidth)</a:t>
            </a:r>
          </a:p>
          <a:p>
            <a:r>
              <a:rPr lang="en-US" dirty="0"/>
              <a:t>Black hole image (distributed observation)</a:t>
            </a:r>
          </a:p>
          <a:p>
            <a:r>
              <a:rPr lang="en-US" dirty="0"/>
              <a:t>IOT (Sensors on a network)</a:t>
            </a:r>
          </a:p>
          <a:p>
            <a:r>
              <a:rPr lang="en-US" dirty="0"/>
              <a:t>Blockchain (decentralized record of transactions) etc.</a:t>
            </a:r>
          </a:p>
        </p:txBody>
      </p:sp>
    </p:spTree>
    <p:extLst>
      <p:ext uri="{BB962C8B-B14F-4D97-AF65-F5344CB8AC3E}">
        <p14:creationId xmlns:p14="http://schemas.microsoft.com/office/powerpoint/2010/main" val="39184116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15852-3641-8588-46B9-E708BD0FAF7D}"/>
              </a:ext>
            </a:extLst>
          </p:cNvPr>
          <p:cNvSpPr>
            <a:spLocks noGrp="1"/>
          </p:cNvSpPr>
          <p:nvPr>
            <p:ph type="title"/>
          </p:nvPr>
        </p:nvSpPr>
        <p:spPr/>
        <p:txBody>
          <a:bodyPr/>
          <a:lstStyle/>
          <a:p>
            <a:r>
              <a:rPr lang="en-US" dirty="0"/>
              <a:t>Example</a:t>
            </a:r>
          </a:p>
        </p:txBody>
      </p:sp>
      <p:pic>
        <p:nvPicPr>
          <p:cNvPr id="3074" name="Picture 2" descr="Image">
            <a:extLst>
              <a:ext uri="{FF2B5EF4-FFF2-40B4-BE49-F238E27FC236}">
                <a16:creationId xmlns:a16="http://schemas.microsoft.com/office/drawing/2014/main" id="{02FFBD9D-7A7B-B2F9-26EF-2F95625DC7A0}"/>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2228850" y="1848644"/>
            <a:ext cx="2400300" cy="430530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Image">
            <a:extLst>
              <a:ext uri="{FF2B5EF4-FFF2-40B4-BE49-F238E27FC236}">
                <a16:creationId xmlns:a16="http://schemas.microsoft.com/office/drawing/2014/main" id="{42D99BFC-28A3-4D6D-FFC2-418B4BA6B04C}"/>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5542671" y="676007"/>
            <a:ext cx="5327325" cy="550095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E79FD83E-8A26-09D4-230C-47E4166457AC}"/>
              </a:ext>
            </a:extLst>
          </p:cNvPr>
          <p:cNvSpPr txBox="1"/>
          <p:nvPr/>
        </p:nvSpPr>
        <p:spPr>
          <a:xfrm>
            <a:off x="2228850" y="6277366"/>
            <a:ext cx="2554165" cy="461665"/>
          </a:xfrm>
          <a:prstGeom prst="rect">
            <a:avLst/>
          </a:prstGeom>
          <a:noFill/>
        </p:spPr>
        <p:txBody>
          <a:bodyPr wrap="square" rtlCol="0">
            <a:spAutoFit/>
          </a:bodyPr>
          <a:lstStyle/>
          <a:p>
            <a:r>
              <a:rPr lang="en-US" sz="2400" dirty="0"/>
              <a:t>A traditional stack</a:t>
            </a:r>
          </a:p>
        </p:txBody>
      </p:sp>
      <p:sp>
        <p:nvSpPr>
          <p:cNvPr id="6" name="TextBox 5">
            <a:extLst>
              <a:ext uri="{FF2B5EF4-FFF2-40B4-BE49-F238E27FC236}">
                <a16:creationId xmlns:a16="http://schemas.microsoft.com/office/drawing/2014/main" id="{7C7252B5-3F18-43D2-56A8-9852DCF8E658}"/>
              </a:ext>
            </a:extLst>
          </p:cNvPr>
          <p:cNvSpPr txBox="1"/>
          <p:nvPr/>
        </p:nvSpPr>
        <p:spPr>
          <a:xfrm>
            <a:off x="5836919" y="6092699"/>
            <a:ext cx="5852160" cy="830997"/>
          </a:xfrm>
          <a:prstGeom prst="rect">
            <a:avLst/>
          </a:prstGeom>
          <a:noFill/>
        </p:spPr>
        <p:txBody>
          <a:bodyPr wrap="square" rtlCol="0">
            <a:spAutoFit/>
          </a:bodyPr>
          <a:lstStyle/>
          <a:p>
            <a:pPr algn="ctr"/>
            <a:r>
              <a:rPr lang="en-US" sz="2400" b="0" i="1" dirty="0">
                <a:effectLst/>
                <a:latin typeface="Lato" panose="020F0502020204030203" pitchFamily="34" charset="0"/>
              </a:rPr>
              <a:t>An architecture that can be considered distributed</a:t>
            </a:r>
            <a:endParaRPr lang="en-US" sz="2400" dirty="0"/>
          </a:p>
        </p:txBody>
      </p:sp>
    </p:spTree>
    <p:extLst>
      <p:ext uri="{BB962C8B-B14F-4D97-AF65-F5344CB8AC3E}">
        <p14:creationId xmlns:p14="http://schemas.microsoft.com/office/powerpoint/2010/main" val="27897089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E0D53-9CE5-C4BD-2694-26467DC170D9}"/>
              </a:ext>
            </a:extLst>
          </p:cNvPr>
          <p:cNvSpPr>
            <a:spLocks noGrp="1"/>
          </p:cNvSpPr>
          <p:nvPr>
            <p:ph type="title"/>
          </p:nvPr>
        </p:nvSpPr>
        <p:spPr/>
        <p:txBody>
          <a:bodyPr/>
          <a:lstStyle/>
          <a:p>
            <a:r>
              <a:rPr lang="en-US" dirty="0"/>
              <a:t>Distributed versus decentralized systems</a:t>
            </a:r>
          </a:p>
        </p:txBody>
      </p:sp>
      <p:pic>
        <p:nvPicPr>
          <p:cNvPr id="9" name="Picture 8">
            <a:extLst>
              <a:ext uri="{FF2B5EF4-FFF2-40B4-BE49-F238E27FC236}">
                <a16:creationId xmlns:a16="http://schemas.microsoft.com/office/drawing/2014/main" id="{5447FE9E-3988-57ED-00E3-BC3DD67B6E33}"/>
              </a:ext>
            </a:extLst>
          </p:cNvPr>
          <p:cNvPicPr>
            <a:picLocks noChangeAspect="1"/>
          </p:cNvPicPr>
          <p:nvPr/>
        </p:nvPicPr>
        <p:blipFill>
          <a:blip r:embed="rId2"/>
          <a:stretch>
            <a:fillRect/>
          </a:stretch>
        </p:blipFill>
        <p:spPr>
          <a:xfrm>
            <a:off x="4459498" y="2715065"/>
            <a:ext cx="2741292" cy="2644118"/>
          </a:xfrm>
          <a:prstGeom prst="rect">
            <a:avLst/>
          </a:prstGeom>
        </p:spPr>
      </p:pic>
      <p:pic>
        <p:nvPicPr>
          <p:cNvPr id="13" name="Picture 12">
            <a:extLst>
              <a:ext uri="{FF2B5EF4-FFF2-40B4-BE49-F238E27FC236}">
                <a16:creationId xmlns:a16="http://schemas.microsoft.com/office/drawing/2014/main" id="{6A40C91A-CD4B-7FBF-3805-1F310FE956C7}"/>
              </a:ext>
            </a:extLst>
          </p:cNvPr>
          <p:cNvPicPr>
            <a:picLocks noChangeAspect="1"/>
          </p:cNvPicPr>
          <p:nvPr/>
        </p:nvPicPr>
        <p:blipFill>
          <a:blip r:embed="rId3"/>
          <a:stretch>
            <a:fillRect/>
          </a:stretch>
        </p:blipFill>
        <p:spPr>
          <a:xfrm>
            <a:off x="8084058" y="2482949"/>
            <a:ext cx="2996525" cy="2890304"/>
          </a:xfrm>
          <a:prstGeom prst="rect">
            <a:avLst/>
          </a:prstGeom>
        </p:spPr>
      </p:pic>
      <p:pic>
        <p:nvPicPr>
          <p:cNvPr id="15" name="Picture 14">
            <a:extLst>
              <a:ext uri="{FF2B5EF4-FFF2-40B4-BE49-F238E27FC236}">
                <a16:creationId xmlns:a16="http://schemas.microsoft.com/office/drawing/2014/main" id="{FCDADF6A-85DD-AE37-77B4-BD0214AC6448}"/>
              </a:ext>
            </a:extLst>
          </p:cNvPr>
          <p:cNvPicPr>
            <a:picLocks noChangeAspect="1"/>
          </p:cNvPicPr>
          <p:nvPr/>
        </p:nvPicPr>
        <p:blipFill>
          <a:blip r:embed="rId4"/>
          <a:stretch>
            <a:fillRect/>
          </a:stretch>
        </p:blipFill>
        <p:spPr>
          <a:xfrm>
            <a:off x="467793" y="3222489"/>
            <a:ext cx="2897147" cy="1629269"/>
          </a:xfrm>
          <a:prstGeom prst="rect">
            <a:avLst/>
          </a:prstGeom>
        </p:spPr>
      </p:pic>
      <p:sp>
        <p:nvSpPr>
          <p:cNvPr id="18" name="TextBox 17">
            <a:extLst>
              <a:ext uri="{FF2B5EF4-FFF2-40B4-BE49-F238E27FC236}">
                <a16:creationId xmlns:a16="http://schemas.microsoft.com/office/drawing/2014/main" id="{95666966-93CB-4CDF-0536-58C1AE77FEEF}"/>
              </a:ext>
            </a:extLst>
          </p:cNvPr>
          <p:cNvSpPr txBox="1"/>
          <p:nvPr/>
        </p:nvSpPr>
        <p:spPr>
          <a:xfrm>
            <a:off x="1083213" y="5373253"/>
            <a:ext cx="1773691" cy="523220"/>
          </a:xfrm>
          <a:prstGeom prst="rect">
            <a:avLst/>
          </a:prstGeom>
          <a:noFill/>
        </p:spPr>
        <p:txBody>
          <a:bodyPr wrap="none" rtlCol="0">
            <a:spAutoFit/>
          </a:bodyPr>
          <a:lstStyle/>
          <a:p>
            <a:r>
              <a:rPr lang="en-US" sz="2800" dirty="0"/>
              <a:t>centralized</a:t>
            </a:r>
          </a:p>
        </p:txBody>
      </p:sp>
      <p:sp>
        <p:nvSpPr>
          <p:cNvPr id="19" name="TextBox 18">
            <a:extLst>
              <a:ext uri="{FF2B5EF4-FFF2-40B4-BE49-F238E27FC236}">
                <a16:creationId xmlns:a16="http://schemas.microsoft.com/office/drawing/2014/main" id="{111E2D88-5673-755B-A310-CE9C978612AF}"/>
              </a:ext>
            </a:extLst>
          </p:cNvPr>
          <p:cNvSpPr txBox="1"/>
          <p:nvPr/>
        </p:nvSpPr>
        <p:spPr>
          <a:xfrm>
            <a:off x="4583635" y="5513930"/>
            <a:ext cx="2140779" cy="523220"/>
          </a:xfrm>
          <a:prstGeom prst="rect">
            <a:avLst/>
          </a:prstGeom>
          <a:noFill/>
        </p:spPr>
        <p:txBody>
          <a:bodyPr wrap="none" rtlCol="0">
            <a:spAutoFit/>
          </a:bodyPr>
          <a:lstStyle/>
          <a:p>
            <a:r>
              <a:rPr lang="en-US" sz="2800" dirty="0"/>
              <a:t>decentralized</a:t>
            </a:r>
          </a:p>
        </p:txBody>
      </p:sp>
      <p:sp>
        <p:nvSpPr>
          <p:cNvPr id="20" name="TextBox 19">
            <a:extLst>
              <a:ext uri="{FF2B5EF4-FFF2-40B4-BE49-F238E27FC236}">
                <a16:creationId xmlns:a16="http://schemas.microsoft.com/office/drawing/2014/main" id="{A118BEA6-B694-FA0A-F4E1-8AD217246C93}"/>
              </a:ext>
            </a:extLst>
          </p:cNvPr>
          <p:cNvSpPr txBox="1"/>
          <p:nvPr/>
        </p:nvSpPr>
        <p:spPr>
          <a:xfrm>
            <a:off x="8451145" y="5634258"/>
            <a:ext cx="1781385" cy="523220"/>
          </a:xfrm>
          <a:prstGeom prst="rect">
            <a:avLst/>
          </a:prstGeom>
          <a:noFill/>
        </p:spPr>
        <p:txBody>
          <a:bodyPr wrap="none" rtlCol="0">
            <a:spAutoFit/>
          </a:bodyPr>
          <a:lstStyle/>
          <a:p>
            <a:r>
              <a:rPr lang="en-US" sz="2800" dirty="0"/>
              <a:t>distributed</a:t>
            </a:r>
          </a:p>
        </p:txBody>
      </p:sp>
    </p:spTree>
    <p:extLst>
      <p:ext uri="{BB962C8B-B14F-4D97-AF65-F5344CB8AC3E}">
        <p14:creationId xmlns:p14="http://schemas.microsoft.com/office/powerpoint/2010/main" val="19084117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0AEB04-2DD3-3C35-4F24-C83D6BBD4BD5}"/>
              </a:ext>
            </a:extLst>
          </p:cNvPr>
          <p:cNvSpPr>
            <a:spLocks noGrp="1"/>
          </p:cNvSpPr>
          <p:nvPr>
            <p:ph type="title"/>
          </p:nvPr>
        </p:nvSpPr>
        <p:spPr/>
        <p:txBody>
          <a:bodyPr/>
          <a:lstStyle/>
          <a:p>
            <a:r>
              <a:rPr lang="en-US" dirty="0"/>
              <a:t>Distributed versus decentralized systems</a:t>
            </a:r>
          </a:p>
        </p:txBody>
      </p:sp>
      <p:sp>
        <p:nvSpPr>
          <p:cNvPr id="3" name="Content Placeholder 2">
            <a:extLst>
              <a:ext uri="{FF2B5EF4-FFF2-40B4-BE49-F238E27FC236}">
                <a16:creationId xmlns:a16="http://schemas.microsoft.com/office/drawing/2014/main" id="{10A17714-C9ED-7F1E-849E-3A8526ECC767}"/>
              </a:ext>
            </a:extLst>
          </p:cNvPr>
          <p:cNvSpPr>
            <a:spLocks noGrp="1"/>
          </p:cNvSpPr>
          <p:nvPr>
            <p:ph idx="1"/>
          </p:nvPr>
        </p:nvSpPr>
        <p:spPr/>
        <p:txBody>
          <a:bodyPr/>
          <a:lstStyle/>
          <a:p>
            <a:r>
              <a:rPr lang="en-US" b="1" dirty="0"/>
              <a:t>Decentralized</a:t>
            </a:r>
            <a:r>
              <a:rPr lang="en-US" dirty="0"/>
              <a:t> is still distributed in the technical sense, but the whole decentralized systems is not owned by one actor. No one company can own a decentralized system, otherwise it wouldn’t be decentralized anymore.</a:t>
            </a:r>
          </a:p>
          <a:p>
            <a:endParaRPr lang="en-US" dirty="0"/>
          </a:p>
          <a:p>
            <a:r>
              <a:rPr lang="en-US" dirty="0"/>
              <a:t>This means that most systems we will go over today can be thought of as </a:t>
            </a:r>
            <a:r>
              <a:rPr lang="en-US" b="1" dirty="0"/>
              <a:t>distributed centralized systems</a:t>
            </a:r>
            <a:r>
              <a:rPr lang="en-US" dirty="0"/>
              <a:t> — and that is what they’re made to be.</a:t>
            </a:r>
          </a:p>
        </p:txBody>
      </p:sp>
    </p:spTree>
    <p:extLst>
      <p:ext uri="{BB962C8B-B14F-4D97-AF65-F5344CB8AC3E}">
        <p14:creationId xmlns:p14="http://schemas.microsoft.com/office/powerpoint/2010/main" val="25212339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4046A0-6124-78CC-24D8-0ABE2E4332AE}"/>
              </a:ext>
            </a:extLst>
          </p:cNvPr>
          <p:cNvSpPr>
            <a:spLocks noGrp="1"/>
          </p:cNvSpPr>
          <p:nvPr>
            <p:ph type="title"/>
          </p:nvPr>
        </p:nvSpPr>
        <p:spPr/>
        <p:txBody>
          <a:bodyPr/>
          <a:lstStyle/>
          <a:p>
            <a:r>
              <a:rPr lang="en-US" dirty="0"/>
              <a:t>Why make a system distributed? </a:t>
            </a:r>
          </a:p>
        </p:txBody>
      </p:sp>
      <p:sp>
        <p:nvSpPr>
          <p:cNvPr id="3" name="Content Placeholder 2">
            <a:extLst>
              <a:ext uri="{FF2B5EF4-FFF2-40B4-BE49-F238E27FC236}">
                <a16:creationId xmlns:a16="http://schemas.microsoft.com/office/drawing/2014/main" id="{B50BB7FD-19BB-15DC-7F1A-8AAF5E197FC8}"/>
              </a:ext>
            </a:extLst>
          </p:cNvPr>
          <p:cNvSpPr>
            <a:spLocks noGrp="1"/>
          </p:cNvSpPr>
          <p:nvPr>
            <p:ph idx="1"/>
          </p:nvPr>
        </p:nvSpPr>
        <p:spPr/>
        <p:txBody>
          <a:bodyPr>
            <a:normAutofit/>
          </a:bodyPr>
          <a:lstStyle/>
          <a:p>
            <a:r>
              <a:rPr lang="en-US" dirty="0"/>
              <a:t> It’s inherently distributed:</a:t>
            </a:r>
          </a:p>
          <a:p>
            <a:pPr marL="457200" lvl="1" indent="0">
              <a:buNone/>
            </a:pPr>
            <a:r>
              <a:rPr lang="en-US" dirty="0"/>
              <a:t>e.g. sending a message from your mobile phone to your friend’s phone</a:t>
            </a:r>
          </a:p>
          <a:p>
            <a:r>
              <a:rPr lang="en-US" dirty="0"/>
              <a:t>For better reliability:</a:t>
            </a:r>
          </a:p>
          <a:p>
            <a:pPr marL="457200" lvl="1" indent="0">
              <a:buNone/>
            </a:pPr>
            <a:r>
              <a:rPr lang="en-US" dirty="0"/>
              <a:t>even if one node fails, the system as a whole keeps functioning</a:t>
            </a:r>
          </a:p>
          <a:p>
            <a:r>
              <a:rPr lang="en-US" dirty="0"/>
              <a:t>For better performance:</a:t>
            </a:r>
          </a:p>
          <a:p>
            <a:pPr lvl="1"/>
            <a:r>
              <a:rPr lang="en-US" dirty="0"/>
              <a:t>get data from a nearby node rather than one halfway round the world</a:t>
            </a:r>
          </a:p>
          <a:p>
            <a:r>
              <a:rPr lang="en-US" dirty="0"/>
              <a:t>To solve bigger problems:</a:t>
            </a:r>
          </a:p>
          <a:p>
            <a:pPr lvl="1"/>
            <a:r>
              <a:rPr lang="en-US" dirty="0"/>
              <a:t>e.g. huge amounts of data, can’t fit on one machine</a:t>
            </a:r>
          </a:p>
          <a:p>
            <a:endParaRPr lang="en-US" dirty="0"/>
          </a:p>
          <a:p>
            <a:endParaRPr lang="en-US" dirty="0"/>
          </a:p>
        </p:txBody>
      </p:sp>
    </p:spTree>
    <p:extLst>
      <p:ext uri="{BB962C8B-B14F-4D97-AF65-F5344CB8AC3E}">
        <p14:creationId xmlns:p14="http://schemas.microsoft.com/office/powerpoint/2010/main" val="38216547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8B88E8-CB10-6FB5-1240-7733684097E4}"/>
              </a:ext>
            </a:extLst>
          </p:cNvPr>
          <p:cNvSpPr>
            <a:spLocks noGrp="1"/>
          </p:cNvSpPr>
          <p:nvPr>
            <p:ph type="title"/>
          </p:nvPr>
        </p:nvSpPr>
        <p:spPr/>
        <p:txBody>
          <a:bodyPr/>
          <a:lstStyle/>
          <a:p>
            <a:r>
              <a:rPr lang="en-US" dirty="0"/>
              <a:t>Advantages of Distributed Systems</a:t>
            </a:r>
          </a:p>
        </p:txBody>
      </p:sp>
      <p:sp>
        <p:nvSpPr>
          <p:cNvPr id="3" name="Content Placeholder 2">
            <a:extLst>
              <a:ext uri="{FF2B5EF4-FFF2-40B4-BE49-F238E27FC236}">
                <a16:creationId xmlns:a16="http://schemas.microsoft.com/office/drawing/2014/main" id="{C7779DA8-2EC0-C3AF-37BF-3D4D64F4BBAE}"/>
              </a:ext>
            </a:extLst>
          </p:cNvPr>
          <p:cNvSpPr>
            <a:spLocks noGrp="1"/>
          </p:cNvSpPr>
          <p:nvPr>
            <p:ph idx="1"/>
          </p:nvPr>
        </p:nvSpPr>
        <p:spPr/>
        <p:txBody>
          <a:bodyPr>
            <a:normAutofit/>
          </a:bodyPr>
          <a:lstStyle/>
          <a:p>
            <a:pPr algn="just"/>
            <a:r>
              <a:rPr lang="en-US" b="1" dirty="0"/>
              <a:t>Scalability</a:t>
            </a:r>
            <a:r>
              <a:rPr lang="en-US" dirty="0"/>
              <a:t>: Distributed systems are made on default to be scalable. Whenever there is an increase in workload, users can add more workstations. There is no need to upgrade a single system. Moreover, no any restrictions are placed on the number of machines.</a:t>
            </a:r>
          </a:p>
          <a:p>
            <a:pPr marL="0" indent="0" algn="just">
              <a:buNone/>
            </a:pPr>
            <a:endParaRPr lang="en-US" dirty="0"/>
          </a:p>
          <a:p>
            <a:pPr algn="just"/>
            <a:r>
              <a:rPr lang="en-US" b="1" dirty="0"/>
              <a:t>Reliability</a:t>
            </a:r>
            <a:r>
              <a:rPr lang="en-US" dirty="0"/>
              <a:t>: Distributed systems are far more reliable than single systems in terms of failures. Even in the case of a single node malfunctioning, it does not pose problems to the remaining servers. Other nodes can continue to function fine.</a:t>
            </a:r>
          </a:p>
        </p:txBody>
      </p:sp>
    </p:spTree>
    <p:extLst>
      <p:ext uri="{BB962C8B-B14F-4D97-AF65-F5344CB8AC3E}">
        <p14:creationId xmlns:p14="http://schemas.microsoft.com/office/powerpoint/2010/main" val="28811162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8B88E8-CB10-6FB5-1240-7733684097E4}"/>
              </a:ext>
            </a:extLst>
          </p:cNvPr>
          <p:cNvSpPr>
            <a:spLocks noGrp="1"/>
          </p:cNvSpPr>
          <p:nvPr>
            <p:ph type="title"/>
          </p:nvPr>
        </p:nvSpPr>
        <p:spPr/>
        <p:txBody>
          <a:bodyPr/>
          <a:lstStyle/>
          <a:p>
            <a:r>
              <a:rPr lang="en-US" dirty="0"/>
              <a:t>Advantages of Distributed Systems</a:t>
            </a:r>
          </a:p>
        </p:txBody>
      </p:sp>
      <p:sp>
        <p:nvSpPr>
          <p:cNvPr id="3" name="Content Placeholder 2">
            <a:extLst>
              <a:ext uri="{FF2B5EF4-FFF2-40B4-BE49-F238E27FC236}">
                <a16:creationId xmlns:a16="http://schemas.microsoft.com/office/drawing/2014/main" id="{C7779DA8-2EC0-C3AF-37BF-3D4D64F4BBAE}"/>
              </a:ext>
            </a:extLst>
          </p:cNvPr>
          <p:cNvSpPr>
            <a:spLocks noGrp="1"/>
          </p:cNvSpPr>
          <p:nvPr>
            <p:ph idx="1"/>
          </p:nvPr>
        </p:nvSpPr>
        <p:spPr/>
        <p:txBody>
          <a:bodyPr>
            <a:normAutofit/>
          </a:bodyPr>
          <a:lstStyle/>
          <a:p>
            <a:pPr algn="just"/>
            <a:r>
              <a:rPr lang="en-US" b="1" dirty="0"/>
              <a:t>Low Latency</a:t>
            </a:r>
            <a:r>
              <a:rPr lang="en-US" dirty="0"/>
              <a:t>: Since users can have a node in multiple geographical locations, distributed systems allow the traffic to hit a node that’s closest, resulting in low latency and better performance.</a:t>
            </a:r>
          </a:p>
          <a:p>
            <a:pPr marL="0" indent="0" algn="just">
              <a:buNone/>
            </a:pPr>
            <a:endParaRPr lang="en-US" dirty="0"/>
          </a:p>
          <a:p>
            <a:pPr algn="just"/>
            <a:r>
              <a:rPr lang="en-US" b="1" dirty="0"/>
              <a:t>Efficiency</a:t>
            </a:r>
            <a:r>
              <a:rPr lang="en-US" dirty="0"/>
              <a:t>: Distributed systems allow breaking complex problems/data into smaller pieces and have multiple computers work on them in parallel, which can help cut down on the time needed to solve/compute those problems.</a:t>
            </a:r>
          </a:p>
          <a:p>
            <a:endParaRPr lang="en-US" dirty="0"/>
          </a:p>
        </p:txBody>
      </p:sp>
    </p:spTree>
    <p:extLst>
      <p:ext uri="{BB962C8B-B14F-4D97-AF65-F5344CB8AC3E}">
        <p14:creationId xmlns:p14="http://schemas.microsoft.com/office/powerpoint/2010/main" val="3032302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28C5F8-291A-3513-3BC0-45745C181B68}"/>
              </a:ext>
            </a:extLst>
          </p:cNvPr>
          <p:cNvSpPr>
            <a:spLocks noGrp="1"/>
          </p:cNvSpPr>
          <p:nvPr>
            <p:ph type="title"/>
          </p:nvPr>
        </p:nvSpPr>
        <p:spPr/>
        <p:txBody>
          <a:bodyPr/>
          <a:lstStyle/>
          <a:p>
            <a:r>
              <a:rPr lang="en-US" dirty="0"/>
              <a:t>Why NOT make a system distributed? </a:t>
            </a:r>
          </a:p>
        </p:txBody>
      </p:sp>
      <p:sp>
        <p:nvSpPr>
          <p:cNvPr id="3" name="Content Placeholder 2">
            <a:extLst>
              <a:ext uri="{FF2B5EF4-FFF2-40B4-BE49-F238E27FC236}">
                <a16:creationId xmlns:a16="http://schemas.microsoft.com/office/drawing/2014/main" id="{4D954A46-DD49-25BC-5C9E-BE92DC3ACB51}"/>
              </a:ext>
            </a:extLst>
          </p:cNvPr>
          <p:cNvSpPr>
            <a:spLocks noGrp="1"/>
          </p:cNvSpPr>
          <p:nvPr>
            <p:ph idx="1"/>
          </p:nvPr>
        </p:nvSpPr>
        <p:spPr/>
        <p:txBody>
          <a:bodyPr>
            <a:normAutofit fontScale="92500"/>
          </a:bodyPr>
          <a:lstStyle/>
          <a:p>
            <a:pPr marL="0" indent="0">
              <a:buNone/>
            </a:pPr>
            <a:r>
              <a:rPr lang="en-US" dirty="0"/>
              <a:t>The trouble with distributed systems:</a:t>
            </a:r>
          </a:p>
          <a:p>
            <a:r>
              <a:rPr lang="en-US" dirty="0"/>
              <a:t>Communication may fail (and we might not even know it has failed).</a:t>
            </a:r>
          </a:p>
          <a:p>
            <a:r>
              <a:rPr lang="en-US" dirty="0"/>
              <a:t>Processes may crash (and we might not know).</a:t>
            </a:r>
          </a:p>
          <a:p>
            <a:r>
              <a:rPr lang="en-US" dirty="0"/>
              <a:t>All of this may happen non-deterministically.</a:t>
            </a:r>
          </a:p>
          <a:p>
            <a:pPr marL="0" indent="0">
              <a:buNone/>
            </a:pPr>
            <a:endParaRPr lang="en-US" dirty="0"/>
          </a:p>
          <a:p>
            <a:pPr marL="0" indent="0">
              <a:buNone/>
            </a:pPr>
            <a:r>
              <a:rPr lang="en-US" dirty="0"/>
              <a:t>Fault tolerance: we want the system as a whole to continue working, even when some parts are faulty.</a:t>
            </a:r>
          </a:p>
          <a:p>
            <a:r>
              <a:rPr lang="en-US" dirty="0"/>
              <a:t>This is hard.</a:t>
            </a:r>
          </a:p>
          <a:p>
            <a:r>
              <a:rPr lang="en-US" dirty="0"/>
              <a:t>Writing a program to run on a single computer is comparatively easy?!</a:t>
            </a:r>
          </a:p>
          <a:p>
            <a:endParaRPr lang="en-US" dirty="0"/>
          </a:p>
        </p:txBody>
      </p:sp>
    </p:spTree>
    <p:extLst>
      <p:ext uri="{BB962C8B-B14F-4D97-AF65-F5344CB8AC3E}">
        <p14:creationId xmlns:p14="http://schemas.microsoft.com/office/powerpoint/2010/main" val="33905872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225D8-8678-6EAC-AF89-6846C34FBDD1}"/>
              </a:ext>
            </a:extLst>
          </p:cNvPr>
          <p:cNvSpPr>
            <a:spLocks noGrp="1"/>
          </p:cNvSpPr>
          <p:nvPr>
            <p:ph type="title"/>
          </p:nvPr>
        </p:nvSpPr>
        <p:spPr/>
        <p:txBody>
          <a:bodyPr/>
          <a:lstStyle/>
          <a:p>
            <a:r>
              <a:rPr lang="en-US" dirty="0"/>
              <a:t>Challenges of Distributed Systems</a:t>
            </a:r>
          </a:p>
        </p:txBody>
      </p:sp>
      <p:sp>
        <p:nvSpPr>
          <p:cNvPr id="3" name="Content Placeholder 2">
            <a:extLst>
              <a:ext uri="{FF2B5EF4-FFF2-40B4-BE49-F238E27FC236}">
                <a16:creationId xmlns:a16="http://schemas.microsoft.com/office/drawing/2014/main" id="{249CF45C-2F93-6CD9-4F92-EB08EE7CDAE1}"/>
              </a:ext>
            </a:extLst>
          </p:cNvPr>
          <p:cNvSpPr>
            <a:spLocks noGrp="1"/>
          </p:cNvSpPr>
          <p:nvPr>
            <p:ph idx="1"/>
          </p:nvPr>
        </p:nvSpPr>
        <p:spPr/>
        <p:txBody>
          <a:bodyPr>
            <a:normAutofit/>
          </a:bodyPr>
          <a:lstStyle/>
          <a:p>
            <a:pPr algn="just"/>
            <a:r>
              <a:rPr lang="en-US" b="1" dirty="0"/>
              <a:t>Heterogeneity</a:t>
            </a:r>
            <a:r>
              <a:rPr lang="en-US" dirty="0"/>
              <a:t> (variety and difference): the differences that arise in networks, programming languages, hardware, operating systems and differences in software implementation.</a:t>
            </a:r>
          </a:p>
          <a:p>
            <a:pPr algn="just"/>
            <a:r>
              <a:rPr lang="en-US" b="1" dirty="0"/>
              <a:t>Openness</a:t>
            </a:r>
            <a:r>
              <a:rPr lang="en-US" dirty="0"/>
              <a:t>: the system's extensibility and ability to be reimplemented. It can be measured by 3 characteristics: </a:t>
            </a:r>
          </a:p>
          <a:p>
            <a:pPr lvl="1" algn="just"/>
            <a:r>
              <a:rPr lang="en-US" b="1" dirty="0"/>
              <a:t>interoperability</a:t>
            </a:r>
            <a:r>
              <a:rPr lang="en-US" dirty="0"/>
              <a:t>: system's ability to effectively interchange information between computers by standardization </a:t>
            </a:r>
          </a:p>
          <a:p>
            <a:pPr lvl="1" algn="just"/>
            <a:r>
              <a:rPr lang="en-US" b="1" dirty="0"/>
              <a:t>portability</a:t>
            </a:r>
            <a:r>
              <a:rPr lang="en-US" dirty="0"/>
              <a:t>: system's ability to properly function on different operating systems</a:t>
            </a:r>
          </a:p>
          <a:p>
            <a:pPr lvl="1" algn="just"/>
            <a:r>
              <a:rPr lang="en-US" b="1" dirty="0"/>
              <a:t>extensibility</a:t>
            </a:r>
            <a:r>
              <a:rPr lang="en-US" dirty="0"/>
              <a:t>: allowing developers to freely add new features or easily reimplement existing ones without impairing functionality</a:t>
            </a:r>
          </a:p>
          <a:p>
            <a:pPr algn="just"/>
            <a:endParaRPr lang="en-US" dirty="0"/>
          </a:p>
        </p:txBody>
      </p:sp>
    </p:spTree>
    <p:extLst>
      <p:ext uri="{BB962C8B-B14F-4D97-AF65-F5344CB8AC3E}">
        <p14:creationId xmlns:p14="http://schemas.microsoft.com/office/powerpoint/2010/main" val="6313309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225D8-8678-6EAC-AF89-6846C34FBDD1}"/>
              </a:ext>
            </a:extLst>
          </p:cNvPr>
          <p:cNvSpPr>
            <a:spLocks noGrp="1"/>
          </p:cNvSpPr>
          <p:nvPr>
            <p:ph type="title"/>
          </p:nvPr>
        </p:nvSpPr>
        <p:spPr/>
        <p:txBody>
          <a:bodyPr/>
          <a:lstStyle/>
          <a:p>
            <a:r>
              <a:rPr lang="en-US" dirty="0"/>
              <a:t>Challenges of Distributed Systems</a:t>
            </a:r>
          </a:p>
        </p:txBody>
      </p:sp>
      <p:sp>
        <p:nvSpPr>
          <p:cNvPr id="3" name="Content Placeholder 2">
            <a:extLst>
              <a:ext uri="{FF2B5EF4-FFF2-40B4-BE49-F238E27FC236}">
                <a16:creationId xmlns:a16="http://schemas.microsoft.com/office/drawing/2014/main" id="{249CF45C-2F93-6CD9-4F92-EB08EE7CDAE1}"/>
              </a:ext>
            </a:extLst>
          </p:cNvPr>
          <p:cNvSpPr>
            <a:spLocks noGrp="1"/>
          </p:cNvSpPr>
          <p:nvPr>
            <p:ph idx="1"/>
          </p:nvPr>
        </p:nvSpPr>
        <p:spPr/>
        <p:txBody>
          <a:bodyPr>
            <a:normAutofit/>
          </a:bodyPr>
          <a:lstStyle/>
          <a:p>
            <a:pPr algn="just"/>
            <a:r>
              <a:rPr lang="en-US" b="1" dirty="0"/>
              <a:t>Security</a:t>
            </a:r>
            <a:r>
              <a:rPr lang="en-US" dirty="0"/>
              <a:t>: consists of 3 components</a:t>
            </a:r>
          </a:p>
          <a:p>
            <a:pPr lvl="1" algn="just"/>
            <a:r>
              <a:rPr lang="en-US" dirty="0"/>
              <a:t>confidentiality: protection against disclosure to unauthorized individuals </a:t>
            </a:r>
          </a:p>
          <a:p>
            <a:pPr lvl="1" algn="just"/>
            <a:r>
              <a:rPr lang="en-US" dirty="0"/>
              <a:t>integrity: protection against alteration or corruption</a:t>
            </a:r>
          </a:p>
          <a:p>
            <a:pPr lvl="1" algn="just"/>
            <a:r>
              <a:rPr lang="en-US" dirty="0"/>
              <a:t>availability: protection against interference with the means to access the resources.</a:t>
            </a:r>
          </a:p>
          <a:p>
            <a:pPr marL="0" indent="0" algn="just">
              <a:buNone/>
            </a:pPr>
            <a:endParaRPr lang="en-US" b="1" dirty="0"/>
          </a:p>
          <a:p>
            <a:pPr algn="just"/>
            <a:r>
              <a:rPr lang="en-US" b="1" dirty="0"/>
              <a:t>Concurrency</a:t>
            </a:r>
            <a:r>
              <a:rPr lang="en-US" dirty="0"/>
              <a:t>: multiple clients can access a shared resource at the same time. Thus, steps need to be taken to ensure that any manipulation in the system remains in a stable state. However, the illusion of simultaneous execution should be preserved.</a:t>
            </a:r>
          </a:p>
          <a:p>
            <a:pPr algn="just"/>
            <a:endParaRPr lang="en-US" dirty="0"/>
          </a:p>
        </p:txBody>
      </p:sp>
    </p:spTree>
    <p:extLst>
      <p:ext uri="{BB962C8B-B14F-4D97-AF65-F5344CB8AC3E}">
        <p14:creationId xmlns:p14="http://schemas.microsoft.com/office/powerpoint/2010/main" val="26942582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225D8-8678-6EAC-AF89-6846C34FBDD1}"/>
              </a:ext>
            </a:extLst>
          </p:cNvPr>
          <p:cNvSpPr>
            <a:spLocks noGrp="1"/>
          </p:cNvSpPr>
          <p:nvPr>
            <p:ph type="title"/>
          </p:nvPr>
        </p:nvSpPr>
        <p:spPr/>
        <p:txBody>
          <a:bodyPr/>
          <a:lstStyle/>
          <a:p>
            <a:r>
              <a:rPr lang="en-US" dirty="0"/>
              <a:t>Challenges of Distributed Systems</a:t>
            </a:r>
          </a:p>
        </p:txBody>
      </p:sp>
      <p:sp>
        <p:nvSpPr>
          <p:cNvPr id="3" name="Content Placeholder 2">
            <a:extLst>
              <a:ext uri="{FF2B5EF4-FFF2-40B4-BE49-F238E27FC236}">
                <a16:creationId xmlns:a16="http://schemas.microsoft.com/office/drawing/2014/main" id="{249CF45C-2F93-6CD9-4F92-EB08EE7CDAE1}"/>
              </a:ext>
            </a:extLst>
          </p:cNvPr>
          <p:cNvSpPr>
            <a:spLocks noGrp="1"/>
          </p:cNvSpPr>
          <p:nvPr>
            <p:ph idx="1"/>
          </p:nvPr>
        </p:nvSpPr>
        <p:spPr/>
        <p:txBody>
          <a:bodyPr>
            <a:normAutofit fontScale="92500" lnSpcReduction="10000"/>
          </a:bodyPr>
          <a:lstStyle/>
          <a:p>
            <a:pPr algn="just"/>
            <a:r>
              <a:rPr lang="en-US" b="1" dirty="0"/>
              <a:t>Scalability</a:t>
            </a:r>
            <a:r>
              <a:rPr lang="en-US" dirty="0"/>
              <a:t>: the measure of a system’s ability to increase or decrease in performance and cost in response to changes in application and system processing demands.</a:t>
            </a:r>
          </a:p>
          <a:p>
            <a:pPr lvl="1" algn="just"/>
            <a:r>
              <a:rPr lang="en-US" dirty="0"/>
              <a:t>Example: how well a hardware system performs when the number of users is increased, how well a database withstands growing numbers of queries, or how well an operating system performs on different classes of hardware.</a:t>
            </a:r>
          </a:p>
          <a:p>
            <a:pPr algn="just"/>
            <a:r>
              <a:rPr lang="en-US" b="1" dirty="0"/>
              <a:t>Failure handling</a:t>
            </a:r>
            <a:r>
              <a:rPr lang="en-US" dirty="0"/>
              <a:t>: When faults occur, programs may produce incorrect results or may stop before they have completed the intended computation. Any process, computer or network may fail independently of the others. Therefore each component needs to be aware of the possible ways in which the components it depends on may fail and be designed to deal with each of those failures appropriately.</a:t>
            </a:r>
          </a:p>
        </p:txBody>
      </p:sp>
    </p:spTree>
    <p:extLst>
      <p:ext uri="{BB962C8B-B14F-4D97-AF65-F5344CB8AC3E}">
        <p14:creationId xmlns:p14="http://schemas.microsoft.com/office/powerpoint/2010/main" val="42253724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225D8-8678-6EAC-AF89-6846C34FBDD1}"/>
              </a:ext>
            </a:extLst>
          </p:cNvPr>
          <p:cNvSpPr>
            <a:spLocks noGrp="1"/>
          </p:cNvSpPr>
          <p:nvPr>
            <p:ph type="title"/>
          </p:nvPr>
        </p:nvSpPr>
        <p:spPr/>
        <p:txBody>
          <a:bodyPr/>
          <a:lstStyle/>
          <a:p>
            <a:r>
              <a:rPr lang="en-US" dirty="0"/>
              <a:t>Challenges of Distributed Systems</a:t>
            </a:r>
          </a:p>
        </p:txBody>
      </p:sp>
      <p:sp>
        <p:nvSpPr>
          <p:cNvPr id="3" name="Content Placeholder 2">
            <a:extLst>
              <a:ext uri="{FF2B5EF4-FFF2-40B4-BE49-F238E27FC236}">
                <a16:creationId xmlns:a16="http://schemas.microsoft.com/office/drawing/2014/main" id="{249CF45C-2F93-6CD9-4F92-EB08EE7CDAE1}"/>
              </a:ext>
            </a:extLst>
          </p:cNvPr>
          <p:cNvSpPr>
            <a:spLocks noGrp="1"/>
          </p:cNvSpPr>
          <p:nvPr>
            <p:ph idx="1"/>
          </p:nvPr>
        </p:nvSpPr>
        <p:spPr/>
        <p:txBody>
          <a:bodyPr>
            <a:normAutofit/>
          </a:bodyPr>
          <a:lstStyle/>
          <a:p>
            <a:pPr algn="just"/>
            <a:r>
              <a:rPr lang="en-US" b="1" dirty="0"/>
              <a:t>Transparency</a:t>
            </a:r>
            <a:r>
              <a:rPr lang="en-US" dirty="0"/>
              <a:t>: system that is able to present itself to users and applications as if it were only a single computer system is said to be transparent.</a:t>
            </a:r>
          </a:p>
          <a:p>
            <a:pPr marL="0" indent="0" algn="just">
              <a:buNone/>
            </a:pPr>
            <a:endParaRPr lang="en-US" dirty="0"/>
          </a:p>
        </p:txBody>
      </p:sp>
      <p:graphicFrame>
        <p:nvGraphicFramePr>
          <p:cNvPr id="4" name="Table 3">
            <a:extLst>
              <a:ext uri="{FF2B5EF4-FFF2-40B4-BE49-F238E27FC236}">
                <a16:creationId xmlns:a16="http://schemas.microsoft.com/office/drawing/2014/main" id="{BAA47068-A649-B094-7E42-C1A922F96CBA}"/>
              </a:ext>
            </a:extLst>
          </p:cNvPr>
          <p:cNvGraphicFramePr>
            <a:graphicFrameLocks noGrp="1"/>
          </p:cNvGraphicFramePr>
          <p:nvPr>
            <p:extLst>
              <p:ext uri="{D42A27DB-BD31-4B8C-83A1-F6EECF244321}">
                <p14:modId xmlns:p14="http://schemas.microsoft.com/office/powerpoint/2010/main" val="362777142"/>
              </p:ext>
            </p:extLst>
          </p:nvPr>
        </p:nvGraphicFramePr>
        <p:xfrm>
          <a:off x="1089463" y="3243580"/>
          <a:ext cx="10024014" cy="3169920"/>
        </p:xfrm>
        <a:graphic>
          <a:graphicData uri="http://schemas.openxmlformats.org/drawingml/2006/table">
            <a:tbl>
              <a:tblPr firstRow="1" bandRow="1">
                <a:tableStyleId>{5940675A-B579-460E-94D1-54222C63F5DA}</a:tableStyleId>
              </a:tblPr>
              <a:tblGrid>
                <a:gridCol w="1796611">
                  <a:extLst>
                    <a:ext uri="{9D8B030D-6E8A-4147-A177-3AD203B41FA5}">
                      <a16:colId xmlns:a16="http://schemas.microsoft.com/office/drawing/2014/main" val="3143096282"/>
                    </a:ext>
                  </a:extLst>
                </a:gridCol>
                <a:gridCol w="8227403">
                  <a:extLst>
                    <a:ext uri="{9D8B030D-6E8A-4147-A177-3AD203B41FA5}">
                      <a16:colId xmlns:a16="http://schemas.microsoft.com/office/drawing/2014/main" val="2428792869"/>
                    </a:ext>
                  </a:extLst>
                </a:gridCol>
              </a:tblGrid>
              <a:tr h="370840">
                <a:tc>
                  <a:txBody>
                    <a:bodyPr/>
                    <a:lstStyle/>
                    <a:p>
                      <a:r>
                        <a:rPr lang="en-US" sz="2000" b="1" dirty="0"/>
                        <a:t>Transparency</a:t>
                      </a:r>
                    </a:p>
                  </a:txBody>
                  <a:tcPr/>
                </a:tc>
                <a:tc>
                  <a:txBody>
                    <a:bodyPr/>
                    <a:lstStyle/>
                    <a:p>
                      <a:r>
                        <a:rPr lang="en-US" sz="2000" b="1" dirty="0"/>
                        <a:t>Description</a:t>
                      </a:r>
                    </a:p>
                  </a:txBody>
                  <a:tcPr/>
                </a:tc>
                <a:extLst>
                  <a:ext uri="{0D108BD9-81ED-4DB2-BD59-A6C34878D82A}">
                    <a16:rowId xmlns:a16="http://schemas.microsoft.com/office/drawing/2014/main" val="2172786769"/>
                  </a:ext>
                </a:extLst>
              </a:tr>
              <a:tr h="370840">
                <a:tc>
                  <a:txBody>
                    <a:bodyPr/>
                    <a:lstStyle/>
                    <a:p>
                      <a:r>
                        <a:rPr lang="en-US" sz="2000" dirty="0"/>
                        <a:t>Access</a:t>
                      </a:r>
                    </a:p>
                  </a:txBody>
                  <a:tcPr/>
                </a:tc>
                <a:tc>
                  <a:txBody>
                    <a:bodyPr/>
                    <a:lstStyle/>
                    <a:p>
                      <a:r>
                        <a:rPr lang="en-US" sz="2000" b="0" u="none" strike="noStrike" kern="1200" baseline="0" dirty="0">
                          <a:solidFill>
                            <a:schemeClr val="dk1"/>
                          </a:solidFill>
                        </a:rPr>
                        <a:t>Hide differences in data representation and how an object is accessed</a:t>
                      </a:r>
                      <a:endParaRPr lang="en-US" sz="2000" dirty="0"/>
                    </a:p>
                  </a:txBody>
                  <a:tcPr/>
                </a:tc>
                <a:extLst>
                  <a:ext uri="{0D108BD9-81ED-4DB2-BD59-A6C34878D82A}">
                    <a16:rowId xmlns:a16="http://schemas.microsoft.com/office/drawing/2014/main" val="3622197745"/>
                  </a:ext>
                </a:extLst>
              </a:tr>
              <a:tr h="370840">
                <a:tc>
                  <a:txBody>
                    <a:bodyPr/>
                    <a:lstStyle/>
                    <a:p>
                      <a:r>
                        <a:rPr lang="en-US" sz="2000" b="0" u="none" strike="noStrike" kern="1200" baseline="0" dirty="0">
                          <a:solidFill>
                            <a:schemeClr val="dk1"/>
                          </a:solidFill>
                        </a:rPr>
                        <a:t>Location</a:t>
                      </a:r>
                      <a:endParaRPr lang="en-US" sz="2000" dirty="0"/>
                    </a:p>
                  </a:txBody>
                  <a:tcPr/>
                </a:tc>
                <a:tc>
                  <a:txBody>
                    <a:bodyPr/>
                    <a:lstStyle/>
                    <a:p>
                      <a:r>
                        <a:rPr lang="en-US" sz="2000" b="0" u="none" strike="noStrike" kern="1200" baseline="0" dirty="0">
                          <a:solidFill>
                            <a:schemeClr val="dk1"/>
                          </a:solidFill>
                        </a:rPr>
                        <a:t>Hide where an object is located</a:t>
                      </a:r>
                      <a:endParaRPr lang="en-US" sz="2000" dirty="0"/>
                    </a:p>
                  </a:txBody>
                  <a:tcPr/>
                </a:tc>
                <a:extLst>
                  <a:ext uri="{0D108BD9-81ED-4DB2-BD59-A6C34878D82A}">
                    <a16:rowId xmlns:a16="http://schemas.microsoft.com/office/drawing/2014/main" val="4827039"/>
                  </a:ext>
                </a:extLst>
              </a:tr>
              <a:tr h="370840">
                <a:tc>
                  <a:txBody>
                    <a:bodyPr/>
                    <a:lstStyle/>
                    <a:p>
                      <a:r>
                        <a:rPr lang="en-US" sz="2000" b="0" u="none" strike="noStrike" kern="1200" baseline="0" dirty="0">
                          <a:solidFill>
                            <a:schemeClr val="dk1"/>
                          </a:solidFill>
                        </a:rPr>
                        <a:t>Relocation</a:t>
                      </a:r>
                      <a:endParaRPr lang="en-US" sz="2000" dirty="0"/>
                    </a:p>
                  </a:txBody>
                  <a:tcPr/>
                </a:tc>
                <a:tc>
                  <a:txBody>
                    <a:bodyPr/>
                    <a:lstStyle/>
                    <a:p>
                      <a:r>
                        <a:rPr lang="en-US" sz="2000" b="0" u="none" strike="noStrike" kern="1200" baseline="0" dirty="0">
                          <a:solidFill>
                            <a:schemeClr val="dk1"/>
                          </a:solidFill>
                        </a:rPr>
                        <a:t>Hide that an object may be moved to another location while in use</a:t>
                      </a:r>
                      <a:endParaRPr lang="en-US" sz="2000" dirty="0"/>
                    </a:p>
                  </a:txBody>
                  <a:tcPr/>
                </a:tc>
                <a:extLst>
                  <a:ext uri="{0D108BD9-81ED-4DB2-BD59-A6C34878D82A}">
                    <a16:rowId xmlns:a16="http://schemas.microsoft.com/office/drawing/2014/main" val="3052996734"/>
                  </a:ext>
                </a:extLst>
              </a:tr>
              <a:tr h="370840">
                <a:tc>
                  <a:txBody>
                    <a:bodyPr/>
                    <a:lstStyle/>
                    <a:p>
                      <a:r>
                        <a:rPr lang="en-US" sz="2000" b="0" u="none" strike="noStrike" kern="1200" baseline="0" dirty="0">
                          <a:solidFill>
                            <a:schemeClr val="dk1"/>
                          </a:solidFill>
                        </a:rPr>
                        <a:t>Migration</a:t>
                      </a:r>
                      <a:endParaRPr lang="en-US" sz="2000" dirty="0"/>
                    </a:p>
                  </a:txBody>
                  <a:tcPr/>
                </a:tc>
                <a:tc>
                  <a:txBody>
                    <a:bodyPr/>
                    <a:lstStyle/>
                    <a:p>
                      <a:r>
                        <a:rPr lang="en-US" sz="2000" b="0" u="none" strike="noStrike" kern="1200" baseline="0" dirty="0">
                          <a:solidFill>
                            <a:schemeClr val="dk1"/>
                          </a:solidFill>
                        </a:rPr>
                        <a:t>Hide that an object may move to another location</a:t>
                      </a:r>
                      <a:endParaRPr lang="en-US" sz="2000" dirty="0"/>
                    </a:p>
                  </a:txBody>
                  <a:tcPr/>
                </a:tc>
                <a:extLst>
                  <a:ext uri="{0D108BD9-81ED-4DB2-BD59-A6C34878D82A}">
                    <a16:rowId xmlns:a16="http://schemas.microsoft.com/office/drawing/2014/main" val="1385523150"/>
                  </a:ext>
                </a:extLst>
              </a:tr>
              <a:tr h="370840">
                <a:tc>
                  <a:txBody>
                    <a:bodyPr/>
                    <a:lstStyle/>
                    <a:p>
                      <a:r>
                        <a:rPr lang="en-US" sz="2000" b="0" u="none" strike="noStrike" kern="1200" baseline="0" dirty="0">
                          <a:solidFill>
                            <a:schemeClr val="dk1"/>
                          </a:solidFill>
                        </a:rPr>
                        <a:t>Replication</a:t>
                      </a:r>
                      <a:endParaRPr lang="en-US" sz="2000" dirty="0"/>
                    </a:p>
                  </a:txBody>
                  <a:tcPr/>
                </a:tc>
                <a:tc>
                  <a:txBody>
                    <a:bodyPr/>
                    <a:lstStyle/>
                    <a:p>
                      <a:r>
                        <a:rPr lang="en-US" sz="2000" b="0" u="none" strike="noStrike" kern="1200" baseline="0" dirty="0">
                          <a:solidFill>
                            <a:schemeClr val="dk1"/>
                          </a:solidFill>
                        </a:rPr>
                        <a:t>Hide that an object is replicated</a:t>
                      </a:r>
                      <a:endParaRPr lang="en-US" sz="2000" dirty="0"/>
                    </a:p>
                  </a:txBody>
                  <a:tcPr/>
                </a:tc>
                <a:extLst>
                  <a:ext uri="{0D108BD9-81ED-4DB2-BD59-A6C34878D82A}">
                    <a16:rowId xmlns:a16="http://schemas.microsoft.com/office/drawing/2014/main" val="3161056359"/>
                  </a:ext>
                </a:extLst>
              </a:tr>
              <a:tr h="370840">
                <a:tc>
                  <a:txBody>
                    <a:bodyPr/>
                    <a:lstStyle/>
                    <a:p>
                      <a:r>
                        <a:rPr lang="en-US" sz="2000" b="0" u="none" strike="noStrike" kern="1200" baseline="0" dirty="0">
                          <a:solidFill>
                            <a:schemeClr val="dk1"/>
                          </a:solidFill>
                        </a:rPr>
                        <a:t>Concurrency</a:t>
                      </a:r>
                      <a:endParaRPr lang="en-US" sz="2000" dirty="0"/>
                    </a:p>
                  </a:txBody>
                  <a:tcPr/>
                </a:tc>
                <a:tc>
                  <a:txBody>
                    <a:bodyPr/>
                    <a:lstStyle/>
                    <a:p>
                      <a:r>
                        <a:rPr lang="en-US" sz="2000" b="0" u="none" strike="noStrike" kern="1200" baseline="0" dirty="0">
                          <a:solidFill>
                            <a:schemeClr val="dk1"/>
                          </a:solidFill>
                        </a:rPr>
                        <a:t>Hide that an object may be shared by several independent users</a:t>
                      </a:r>
                      <a:endParaRPr lang="en-US" sz="2000" dirty="0"/>
                    </a:p>
                  </a:txBody>
                  <a:tcPr/>
                </a:tc>
                <a:extLst>
                  <a:ext uri="{0D108BD9-81ED-4DB2-BD59-A6C34878D82A}">
                    <a16:rowId xmlns:a16="http://schemas.microsoft.com/office/drawing/2014/main" val="1615401437"/>
                  </a:ext>
                </a:extLst>
              </a:tr>
              <a:tr h="370840">
                <a:tc>
                  <a:txBody>
                    <a:bodyPr/>
                    <a:lstStyle/>
                    <a:p>
                      <a:r>
                        <a:rPr lang="en-US" sz="2000" b="0" u="none" strike="noStrike" kern="1200" baseline="0" dirty="0">
                          <a:solidFill>
                            <a:schemeClr val="dk1"/>
                          </a:solidFill>
                        </a:rPr>
                        <a:t>Failure</a:t>
                      </a:r>
                      <a:endParaRPr lang="en-US" sz="2000" dirty="0"/>
                    </a:p>
                  </a:txBody>
                  <a:tcPr/>
                </a:tc>
                <a:tc>
                  <a:txBody>
                    <a:bodyPr/>
                    <a:lstStyle/>
                    <a:p>
                      <a:r>
                        <a:rPr lang="en-US" sz="2000" b="0" u="none" strike="noStrike" kern="1200" baseline="0" dirty="0">
                          <a:solidFill>
                            <a:schemeClr val="dk1"/>
                          </a:solidFill>
                        </a:rPr>
                        <a:t>Hide the failure and recovery of an object</a:t>
                      </a:r>
                      <a:endParaRPr lang="en-US" sz="2000" dirty="0"/>
                    </a:p>
                  </a:txBody>
                  <a:tcPr/>
                </a:tc>
                <a:extLst>
                  <a:ext uri="{0D108BD9-81ED-4DB2-BD59-A6C34878D82A}">
                    <a16:rowId xmlns:a16="http://schemas.microsoft.com/office/drawing/2014/main" val="2308873069"/>
                  </a:ext>
                </a:extLst>
              </a:tr>
            </a:tbl>
          </a:graphicData>
        </a:graphic>
      </p:graphicFrame>
    </p:spTree>
    <p:extLst>
      <p:ext uri="{BB962C8B-B14F-4D97-AF65-F5344CB8AC3E}">
        <p14:creationId xmlns:p14="http://schemas.microsoft.com/office/powerpoint/2010/main" val="20184323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61ED1B-3659-B7C1-080B-9B5E71DE097F}"/>
              </a:ext>
            </a:extLst>
          </p:cNvPr>
          <p:cNvSpPr>
            <a:spLocks noGrp="1"/>
          </p:cNvSpPr>
          <p:nvPr>
            <p:ph type="title"/>
          </p:nvPr>
        </p:nvSpPr>
        <p:spPr/>
        <p:txBody>
          <a:bodyPr/>
          <a:lstStyle/>
          <a:p>
            <a:r>
              <a:rPr lang="en-US" dirty="0"/>
              <a:t>Design Goals of a Distributed Systems</a:t>
            </a:r>
          </a:p>
        </p:txBody>
      </p:sp>
      <p:sp>
        <p:nvSpPr>
          <p:cNvPr id="3" name="Text Placeholder 2">
            <a:extLst>
              <a:ext uri="{FF2B5EF4-FFF2-40B4-BE49-F238E27FC236}">
                <a16:creationId xmlns:a16="http://schemas.microsoft.com/office/drawing/2014/main" id="{651E0CF6-DF3E-9103-BD39-4B63C2F4287F}"/>
              </a:ext>
            </a:extLst>
          </p:cNvPr>
          <p:cNvSpPr>
            <a:spLocks noGrp="1"/>
          </p:cNvSpPr>
          <p:nvPr>
            <p:ph type="body" idx="1"/>
          </p:nvPr>
        </p:nvSpPr>
        <p:spPr/>
        <p:txBody>
          <a:bodyPr>
            <a:normAutofit/>
          </a:bodyPr>
          <a:lstStyle/>
          <a:p>
            <a:r>
              <a:rPr lang="en-US" sz="4000" b="1" dirty="0">
                <a:solidFill>
                  <a:schemeClr val="tx1"/>
                </a:solidFill>
              </a:rPr>
              <a:t>Resource Sharing</a:t>
            </a:r>
          </a:p>
        </p:txBody>
      </p:sp>
    </p:spTree>
    <p:extLst>
      <p:ext uri="{BB962C8B-B14F-4D97-AF65-F5344CB8AC3E}">
        <p14:creationId xmlns:p14="http://schemas.microsoft.com/office/powerpoint/2010/main" val="35504403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09130-5D97-9996-9BF5-E87E00A35199}"/>
              </a:ext>
            </a:extLst>
          </p:cNvPr>
          <p:cNvSpPr>
            <a:spLocks noGrp="1"/>
          </p:cNvSpPr>
          <p:nvPr>
            <p:ph type="title"/>
          </p:nvPr>
        </p:nvSpPr>
        <p:spPr/>
        <p:txBody>
          <a:bodyPr/>
          <a:lstStyle/>
          <a:p>
            <a:r>
              <a:rPr lang="en-US" dirty="0"/>
              <a:t>Making Resource Accessible</a:t>
            </a:r>
          </a:p>
        </p:txBody>
      </p:sp>
      <p:sp>
        <p:nvSpPr>
          <p:cNvPr id="3" name="Content Placeholder 2">
            <a:extLst>
              <a:ext uri="{FF2B5EF4-FFF2-40B4-BE49-F238E27FC236}">
                <a16:creationId xmlns:a16="http://schemas.microsoft.com/office/drawing/2014/main" id="{F4B5500D-8F9B-8B2B-2D8F-7FA7C3BBA886}"/>
              </a:ext>
            </a:extLst>
          </p:cNvPr>
          <p:cNvSpPr>
            <a:spLocks noGrp="1"/>
          </p:cNvSpPr>
          <p:nvPr>
            <p:ph idx="1"/>
          </p:nvPr>
        </p:nvSpPr>
        <p:spPr/>
        <p:txBody>
          <a:bodyPr>
            <a:normAutofit lnSpcReduction="10000"/>
          </a:bodyPr>
          <a:lstStyle/>
          <a:p>
            <a:pPr algn="just"/>
            <a:r>
              <a:rPr lang="en-US" dirty="0"/>
              <a:t>An important goal of a distributed system is to make it easy for users (and applications) to access and share remote resources.</a:t>
            </a:r>
          </a:p>
          <a:p>
            <a:pPr algn="just"/>
            <a:r>
              <a:rPr lang="en-US" i="1" dirty="0"/>
              <a:t>Example</a:t>
            </a:r>
            <a:r>
              <a:rPr lang="en-US" dirty="0"/>
              <a:t>: printers, computers, storage facilities, data, files, services, networks etc.</a:t>
            </a:r>
          </a:p>
          <a:p>
            <a:pPr algn="just"/>
            <a:r>
              <a:rPr lang="en-US" dirty="0"/>
              <a:t>Economic reason: it makes economic sense to share costly resources such as supercomputers, high-performance storage systems, e.g., it is cheaper to</a:t>
            </a:r>
          </a:p>
          <a:p>
            <a:pPr lvl="1" algn="just"/>
            <a:r>
              <a:rPr lang="en-US" dirty="0"/>
              <a:t>have a single high-end reliable storage facility be shared than having to buy and maintain storage for each user separately.</a:t>
            </a:r>
          </a:p>
          <a:p>
            <a:pPr lvl="1" algn="just"/>
            <a:r>
              <a:rPr lang="en-US" dirty="0"/>
              <a:t>it is cheaper to let a printer be shared by several users in an office than having to buy and maintain a separate printer for each user</a:t>
            </a:r>
          </a:p>
        </p:txBody>
      </p:sp>
    </p:spTree>
    <p:extLst>
      <p:ext uri="{BB962C8B-B14F-4D97-AF65-F5344CB8AC3E}">
        <p14:creationId xmlns:p14="http://schemas.microsoft.com/office/powerpoint/2010/main" val="40819948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09130-5D97-9996-9BF5-E87E00A35199}"/>
              </a:ext>
            </a:extLst>
          </p:cNvPr>
          <p:cNvSpPr>
            <a:spLocks noGrp="1"/>
          </p:cNvSpPr>
          <p:nvPr>
            <p:ph type="title"/>
          </p:nvPr>
        </p:nvSpPr>
        <p:spPr/>
        <p:txBody>
          <a:bodyPr/>
          <a:lstStyle/>
          <a:p>
            <a:r>
              <a:rPr lang="en-US" dirty="0"/>
              <a:t>Making Resource Accessible</a:t>
            </a:r>
          </a:p>
        </p:txBody>
      </p:sp>
      <p:sp>
        <p:nvSpPr>
          <p:cNvPr id="3" name="Content Placeholder 2">
            <a:extLst>
              <a:ext uri="{FF2B5EF4-FFF2-40B4-BE49-F238E27FC236}">
                <a16:creationId xmlns:a16="http://schemas.microsoft.com/office/drawing/2014/main" id="{F4B5500D-8F9B-8B2B-2D8F-7FA7C3BBA886}"/>
              </a:ext>
            </a:extLst>
          </p:cNvPr>
          <p:cNvSpPr>
            <a:spLocks noGrp="1"/>
          </p:cNvSpPr>
          <p:nvPr>
            <p:ph idx="1"/>
          </p:nvPr>
        </p:nvSpPr>
        <p:spPr/>
        <p:txBody>
          <a:bodyPr>
            <a:normAutofit/>
          </a:bodyPr>
          <a:lstStyle/>
          <a:p>
            <a:pPr algn="just"/>
            <a:r>
              <a:rPr lang="en-US" dirty="0"/>
              <a:t>More advantages</a:t>
            </a:r>
          </a:p>
          <a:p>
            <a:pPr lvl="1" algn="just"/>
            <a:r>
              <a:rPr lang="en-US" dirty="0"/>
              <a:t>Connecting users and resources also makes it easier to collaborate and exchange information</a:t>
            </a:r>
          </a:p>
          <a:p>
            <a:pPr lvl="1" algn="just"/>
            <a:r>
              <a:rPr lang="en-US" dirty="0"/>
              <a:t>collaboration tools such as software for collaborative editing, teleconferencing, and so on that became (more easily) available due to the COVID-19 pandemic</a:t>
            </a:r>
          </a:p>
        </p:txBody>
      </p:sp>
    </p:spTree>
    <p:extLst>
      <p:ext uri="{BB962C8B-B14F-4D97-AF65-F5344CB8AC3E}">
        <p14:creationId xmlns:p14="http://schemas.microsoft.com/office/powerpoint/2010/main" val="42543427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61ED1B-3659-B7C1-080B-9B5E71DE097F}"/>
              </a:ext>
            </a:extLst>
          </p:cNvPr>
          <p:cNvSpPr>
            <a:spLocks noGrp="1"/>
          </p:cNvSpPr>
          <p:nvPr>
            <p:ph type="title"/>
          </p:nvPr>
        </p:nvSpPr>
        <p:spPr/>
        <p:txBody>
          <a:bodyPr/>
          <a:lstStyle/>
          <a:p>
            <a:r>
              <a:rPr lang="en-US" dirty="0"/>
              <a:t>Design Goals of a Distributed Systems</a:t>
            </a:r>
          </a:p>
        </p:txBody>
      </p:sp>
      <p:sp>
        <p:nvSpPr>
          <p:cNvPr id="3" name="Text Placeholder 2">
            <a:extLst>
              <a:ext uri="{FF2B5EF4-FFF2-40B4-BE49-F238E27FC236}">
                <a16:creationId xmlns:a16="http://schemas.microsoft.com/office/drawing/2014/main" id="{651E0CF6-DF3E-9103-BD39-4B63C2F4287F}"/>
              </a:ext>
            </a:extLst>
          </p:cNvPr>
          <p:cNvSpPr>
            <a:spLocks noGrp="1"/>
          </p:cNvSpPr>
          <p:nvPr>
            <p:ph type="body" idx="1"/>
          </p:nvPr>
        </p:nvSpPr>
        <p:spPr/>
        <p:txBody>
          <a:bodyPr>
            <a:normAutofit/>
          </a:bodyPr>
          <a:lstStyle/>
          <a:p>
            <a:r>
              <a:rPr lang="en-US" sz="4000" b="1" dirty="0">
                <a:solidFill>
                  <a:schemeClr val="tx1"/>
                </a:solidFill>
              </a:rPr>
              <a:t>Distribution transparency</a:t>
            </a:r>
          </a:p>
        </p:txBody>
      </p:sp>
    </p:spTree>
    <p:extLst>
      <p:ext uri="{BB962C8B-B14F-4D97-AF65-F5344CB8AC3E}">
        <p14:creationId xmlns:p14="http://schemas.microsoft.com/office/powerpoint/2010/main" val="25178292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20FE37F-2DD6-84A0-E8EB-7FE76148C0B4}"/>
              </a:ext>
            </a:extLst>
          </p:cNvPr>
          <p:cNvSpPr>
            <a:spLocks noGrp="1"/>
          </p:cNvSpPr>
          <p:nvPr>
            <p:ph type="title"/>
          </p:nvPr>
        </p:nvSpPr>
        <p:spPr/>
        <p:txBody>
          <a:bodyPr/>
          <a:lstStyle/>
          <a:p>
            <a:r>
              <a:rPr lang="en-US" dirty="0"/>
              <a:t>Distribution transparency</a:t>
            </a:r>
          </a:p>
        </p:txBody>
      </p:sp>
      <p:sp>
        <p:nvSpPr>
          <p:cNvPr id="5" name="Content Placeholder 4">
            <a:extLst>
              <a:ext uri="{FF2B5EF4-FFF2-40B4-BE49-F238E27FC236}">
                <a16:creationId xmlns:a16="http://schemas.microsoft.com/office/drawing/2014/main" id="{BBDA2841-01C1-E86B-9262-1D992EA7C4CC}"/>
              </a:ext>
            </a:extLst>
          </p:cNvPr>
          <p:cNvSpPr>
            <a:spLocks noGrp="1"/>
          </p:cNvSpPr>
          <p:nvPr>
            <p:ph idx="1"/>
          </p:nvPr>
        </p:nvSpPr>
        <p:spPr/>
        <p:txBody>
          <a:bodyPr/>
          <a:lstStyle/>
          <a:p>
            <a:pPr algn="just"/>
            <a:r>
              <a:rPr lang="en-US" dirty="0"/>
              <a:t>An important goal of a distributed system is to hide the fact that its processes and resources are physically distributed across multiple computers, possibly separated by large distances. </a:t>
            </a:r>
          </a:p>
          <a:p>
            <a:pPr algn="just"/>
            <a:r>
              <a:rPr lang="en-US" dirty="0"/>
              <a:t>In other words, it tries to make the distribution of processes and resources </a:t>
            </a:r>
            <a:r>
              <a:rPr lang="en-US" b="1" dirty="0"/>
              <a:t>transparent</a:t>
            </a:r>
            <a:r>
              <a:rPr lang="en-US" dirty="0"/>
              <a:t>, that is, invisible, to end users and applications.</a:t>
            </a:r>
          </a:p>
        </p:txBody>
      </p:sp>
    </p:spTree>
    <p:extLst>
      <p:ext uri="{BB962C8B-B14F-4D97-AF65-F5344CB8AC3E}">
        <p14:creationId xmlns:p14="http://schemas.microsoft.com/office/powerpoint/2010/main" val="7843163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77080E-F936-988F-8F7B-85976497DD5B}"/>
              </a:ext>
            </a:extLst>
          </p:cNvPr>
          <p:cNvSpPr>
            <a:spLocks noGrp="1"/>
          </p:cNvSpPr>
          <p:nvPr>
            <p:ph type="title"/>
          </p:nvPr>
        </p:nvSpPr>
        <p:spPr>
          <a:xfrm>
            <a:off x="838200" y="365125"/>
            <a:ext cx="10515600" cy="1325563"/>
          </a:xfrm>
        </p:spPr>
        <p:txBody>
          <a:bodyPr/>
          <a:lstStyle/>
          <a:p>
            <a:r>
              <a:rPr lang="en-US" dirty="0"/>
              <a:t>Types of distribution transparency</a:t>
            </a:r>
          </a:p>
        </p:txBody>
      </p:sp>
      <p:graphicFrame>
        <p:nvGraphicFramePr>
          <p:cNvPr id="9" name="Content Placeholder 8">
            <a:extLst>
              <a:ext uri="{FF2B5EF4-FFF2-40B4-BE49-F238E27FC236}">
                <a16:creationId xmlns:a16="http://schemas.microsoft.com/office/drawing/2014/main" id="{7129CABD-834C-6F9F-FBAC-E6F5181F9563}"/>
              </a:ext>
            </a:extLst>
          </p:cNvPr>
          <p:cNvGraphicFramePr>
            <a:graphicFrameLocks noGrp="1"/>
          </p:cNvGraphicFramePr>
          <p:nvPr>
            <p:ph idx="1"/>
            <p:extLst>
              <p:ext uri="{D42A27DB-BD31-4B8C-83A1-F6EECF244321}">
                <p14:modId xmlns:p14="http://schemas.microsoft.com/office/powerpoint/2010/main" val="2381026875"/>
              </p:ext>
            </p:extLst>
          </p:nvPr>
        </p:nvGraphicFramePr>
        <p:xfrm>
          <a:off x="838200" y="1825624"/>
          <a:ext cx="10120532" cy="4406360"/>
        </p:xfrm>
        <a:graphic>
          <a:graphicData uri="http://schemas.openxmlformats.org/drawingml/2006/table">
            <a:tbl>
              <a:tblPr firstRow="1" bandRow="1">
                <a:tableStyleId>{5940675A-B579-460E-94D1-54222C63F5DA}</a:tableStyleId>
              </a:tblPr>
              <a:tblGrid>
                <a:gridCol w="1813910">
                  <a:extLst>
                    <a:ext uri="{9D8B030D-6E8A-4147-A177-3AD203B41FA5}">
                      <a16:colId xmlns:a16="http://schemas.microsoft.com/office/drawing/2014/main" val="3143096282"/>
                    </a:ext>
                  </a:extLst>
                </a:gridCol>
                <a:gridCol w="8306622">
                  <a:extLst>
                    <a:ext uri="{9D8B030D-6E8A-4147-A177-3AD203B41FA5}">
                      <a16:colId xmlns:a16="http://schemas.microsoft.com/office/drawing/2014/main" val="2428792869"/>
                    </a:ext>
                  </a:extLst>
                </a:gridCol>
              </a:tblGrid>
              <a:tr h="550795">
                <a:tc>
                  <a:txBody>
                    <a:bodyPr/>
                    <a:lstStyle/>
                    <a:p>
                      <a:r>
                        <a:rPr lang="en-US" sz="2000" b="1" dirty="0"/>
                        <a:t>Transparency</a:t>
                      </a:r>
                    </a:p>
                  </a:txBody>
                  <a:tcPr/>
                </a:tc>
                <a:tc>
                  <a:txBody>
                    <a:bodyPr/>
                    <a:lstStyle/>
                    <a:p>
                      <a:r>
                        <a:rPr lang="en-US" sz="2000" b="1" dirty="0"/>
                        <a:t>Description</a:t>
                      </a:r>
                    </a:p>
                  </a:txBody>
                  <a:tcPr/>
                </a:tc>
                <a:extLst>
                  <a:ext uri="{0D108BD9-81ED-4DB2-BD59-A6C34878D82A}">
                    <a16:rowId xmlns:a16="http://schemas.microsoft.com/office/drawing/2014/main" val="2172786769"/>
                  </a:ext>
                </a:extLst>
              </a:tr>
              <a:tr h="550795">
                <a:tc>
                  <a:txBody>
                    <a:bodyPr/>
                    <a:lstStyle/>
                    <a:p>
                      <a:r>
                        <a:rPr lang="en-US" sz="2000" dirty="0"/>
                        <a:t>Access</a:t>
                      </a:r>
                    </a:p>
                  </a:txBody>
                  <a:tcPr/>
                </a:tc>
                <a:tc>
                  <a:txBody>
                    <a:bodyPr/>
                    <a:lstStyle/>
                    <a:p>
                      <a:r>
                        <a:rPr lang="en-US" sz="2000" b="0" u="none" strike="noStrike" kern="1200" baseline="0" dirty="0">
                          <a:solidFill>
                            <a:schemeClr val="dk1"/>
                          </a:solidFill>
                        </a:rPr>
                        <a:t>Hide differences in data representation and how an object is accessed</a:t>
                      </a:r>
                      <a:endParaRPr lang="en-US" sz="2000" dirty="0"/>
                    </a:p>
                  </a:txBody>
                  <a:tcPr/>
                </a:tc>
                <a:extLst>
                  <a:ext uri="{0D108BD9-81ED-4DB2-BD59-A6C34878D82A}">
                    <a16:rowId xmlns:a16="http://schemas.microsoft.com/office/drawing/2014/main" val="3622197745"/>
                  </a:ext>
                </a:extLst>
              </a:tr>
              <a:tr h="550795">
                <a:tc>
                  <a:txBody>
                    <a:bodyPr/>
                    <a:lstStyle/>
                    <a:p>
                      <a:r>
                        <a:rPr lang="en-US" sz="2000" b="0" u="none" strike="noStrike" kern="1200" baseline="0" dirty="0">
                          <a:solidFill>
                            <a:schemeClr val="dk1"/>
                          </a:solidFill>
                        </a:rPr>
                        <a:t>Location</a:t>
                      </a:r>
                      <a:endParaRPr lang="en-US" sz="2000" dirty="0"/>
                    </a:p>
                  </a:txBody>
                  <a:tcPr/>
                </a:tc>
                <a:tc>
                  <a:txBody>
                    <a:bodyPr/>
                    <a:lstStyle/>
                    <a:p>
                      <a:r>
                        <a:rPr lang="en-US" sz="2000" b="0" u="none" strike="noStrike" kern="1200" baseline="0" dirty="0">
                          <a:solidFill>
                            <a:schemeClr val="dk1"/>
                          </a:solidFill>
                        </a:rPr>
                        <a:t>Hide where an object is located</a:t>
                      </a:r>
                      <a:endParaRPr lang="en-US" sz="2000" dirty="0"/>
                    </a:p>
                  </a:txBody>
                  <a:tcPr/>
                </a:tc>
                <a:extLst>
                  <a:ext uri="{0D108BD9-81ED-4DB2-BD59-A6C34878D82A}">
                    <a16:rowId xmlns:a16="http://schemas.microsoft.com/office/drawing/2014/main" val="4827039"/>
                  </a:ext>
                </a:extLst>
              </a:tr>
              <a:tr h="550795">
                <a:tc>
                  <a:txBody>
                    <a:bodyPr/>
                    <a:lstStyle/>
                    <a:p>
                      <a:r>
                        <a:rPr lang="en-US" sz="2000" b="0" u="none" strike="noStrike" kern="1200" baseline="0" dirty="0">
                          <a:solidFill>
                            <a:schemeClr val="dk1"/>
                          </a:solidFill>
                        </a:rPr>
                        <a:t>Relocation</a:t>
                      </a:r>
                      <a:endParaRPr lang="en-US" sz="2000" dirty="0"/>
                    </a:p>
                  </a:txBody>
                  <a:tcPr/>
                </a:tc>
                <a:tc>
                  <a:txBody>
                    <a:bodyPr/>
                    <a:lstStyle/>
                    <a:p>
                      <a:r>
                        <a:rPr lang="en-US" sz="2000" b="0" u="none" strike="noStrike" kern="1200" baseline="0" dirty="0">
                          <a:solidFill>
                            <a:schemeClr val="dk1"/>
                          </a:solidFill>
                        </a:rPr>
                        <a:t>Hide that an object may be moved to another location while in use</a:t>
                      </a:r>
                      <a:endParaRPr lang="en-US" sz="2000" dirty="0"/>
                    </a:p>
                  </a:txBody>
                  <a:tcPr/>
                </a:tc>
                <a:extLst>
                  <a:ext uri="{0D108BD9-81ED-4DB2-BD59-A6C34878D82A}">
                    <a16:rowId xmlns:a16="http://schemas.microsoft.com/office/drawing/2014/main" val="3052996734"/>
                  </a:ext>
                </a:extLst>
              </a:tr>
              <a:tr h="550795">
                <a:tc>
                  <a:txBody>
                    <a:bodyPr/>
                    <a:lstStyle/>
                    <a:p>
                      <a:r>
                        <a:rPr lang="en-US" sz="2000" b="0" u="none" strike="noStrike" kern="1200" baseline="0" dirty="0">
                          <a:solidFill>
                            <a:schemeClr val="dk1"/>
                          </a:solidFill>
                        </a:rPr>
                        <a:t>Migration</a:t>
                      </a:r>
                      <a:endParaRPr lang="en-US" sz="2000" dirty="0"/>
                    </a:p>
                  </a:txBody>
                  <a:tcPr/>
                </a:tc>
                <a:tc>
                  <a:txBody>
                    <a:bodyPr/>
                    <a:lstStyle/>
                    <a:p>
                      <a:r>
                        <a:rPr lang="en-US" sz="2000" b="0" u="none" strike="noStrike" kern="1200" baseline="0" dirty="0">
                          <a:solidFill>
                            <a:schemeClr val="dk1"/>
                          </a:solidFill>
                        </a:rPr>
                        <a:t>Hide that an object may move to another location</a:t>
                      </a:r>
                      <a:endParaRPr lang="en-US" sz="2000" dirty="0"/>
                    </a:p>
                  </a:txBody>
                  <a:tcPr/>
                </a:tc>
                <a:extLst>
                  <a:ext uri="{0D108BD9-81ED-4DB2-BD59-A6C34878D82A}">
                    <a16:rowId xmlns:a16="http://schemas.microsoft.com/office/drawing/2014/main" val="1385523150"/>
                  </a:ext>
                </a:extLst>
              </a:tr>
              <a:tr h="550795">
                <a:tc>
                  <a:txBody>
                    <a:bodyPr/>
                    <a:lstStyle/>
                    <a:p>
                      <a:r>
                        <a:rPr lang="en-US" sz="2000" b="0" u="none" strike="noStrike" kern="1200" baseline="0" dirty="0">
                          <a:solidFill>
                            <a:schemeClr val="dk1"/>
                          </a:solidFill>
                        </a:rPr>
                        <a:t>Replication</a:t>
                      </a:r>
                      <a:endParaRPr lang="en-US" sz="2000" dirty="0"/>
                    </a:p>
                  </a:txBody>
                  <a:tcPr/>
                </a:tc>
                <a:tc>
                  <a:txBody>
                    <a:bodyPr/>
                    <a:lstStyle/>
                    <a:p>
                      <a:r>
                        <a:rPr lang="en-US" sz="2000" b="0" u="none" strike="noStrike" kern="1200" baseline="0" dirty="0">
                          <a:solidFill>
                            <a:schemeClr val="dk1"/>
                          </a:solidFill>
                        </a:rPr>
                        <a:t>Hide that an object is replicated</a:t>
                      </a:r>
                      <a:endParaRPr lang="en-US" sz="2000" dirty="0"/>
                    </a:p>
                  </a:txBody>
                  <a:tcPr/>
                </a:tc>
                <a:extLst>
                  <a:ext uri="{0D108BD9-81ED-4DB2-BD59-A6C34878D82A}">
                    <a16:rowId xmlns:a16="http://schemas.microsoft.com/office/drawing/2014/main" val="3161056359"/>
                  </a:ext>
                </a:extLst>
              </a:tr>
              <a:tr h="550795">
                <a:tc>
                  <a:txBody>
                    <a:bodyPr/>
                    <a:lstStyle/>
                    <a:p>
                      <a:r>
                        <a:rPr lang="en-US" sz="2000" b="0" u="none" strike="noStrike" kern="1200" baseline="0" dirty="0">
                          <a:solidFill>
                            <a:schemeClr val="dk1"/>
                          </a:solidFill>
                        </a:rPr>
                        <a:t>Concurrency</a:t>
                      </a:r>
                      <a:endParaRPr lang="en-US" sz="2000" dirty="0"/>
                    </a:p>
                  </a:txBody>
                  <a:tcPr/>
                </a:tc>
                <a:tc>
                  <a:txBody>
                    <a:bodyPr/>
                    <a:lstStyle/>
                    <a:p>
                      <a:r>
                        <a:rPr lang="en-US" sz="2000" b="0" u="none" strike="noStrike" kern="1200" baseline="0" dirty="0">
                          <a:solidFill>
                            <a:schemeClr val="dk1"/>
                          </a:solidFill>
                        </a:rPr>
                        <a:t>Hide that an object may be shared by several independent users</a:t>
                      </a:r>
                      <a:endParaRPr lang="en-US" sz="2000" dirty="0"/>
                    </a:p>
                  </a:txBody>
                  <a:tcPr/>
                </a:tc>
                <a:extLst>
                  <a:ext uri="{0D108BD9-81ED-4DB2-BD59-A6C34878D82A}">
                    <a16:rowId xmlns:a16="http://schemas.microsoft.com/office/drawing/2014/main" val="1615401437"/>
                  </a:ext>
                </a:extLst>
              </a:tr>
              <a:tr h="550795">
                <a:tc>
                  <a:txBody>
                    <a:bodyPr/>
                    <a:lstStyle/>
                    <a:p>
                      <a:r>
                        <a:rPr lang="en-US" sz="2000" b="0" u="none" strike="noStrike" kern="1200" baseline="0" dirty="0">
                          <a:solidFill>
                            <a:schemeClr val="dk1"/>
                          </a:solidFill>
                        </a:rPr>
                        <a:t>Failure</a:t>
                      </a:r>
                      <a:endParaRPr lang="en-US" sz="2000" dirty="0"/>
                    </a:p>
                  </a:txBody>
                  <a:tcPr/>
                </a:tc>
                <a:tc>
                  <a:txBody>
                    <a:bodyPr/>
                    <a:lstStyle/>
                    <a:p>
                      <a:r>
                        <a:rPr lang="en-US" sz="2000" b="0" u="none" strike="noStrike" kern="1200" baseline="0" dirty="0">
                          <a:solidFill>
                            <a:schemeClr val="dk1"/>
                          </a:solidFill>
                        </a:rPr>
                        <a:t>Hide the failure and recovery of an object</a:t>
                      </a:r>
                      <a:endParaRPr lang="en-US" sz="2000" dirty="0"/>
                    </a:p>
                  </a:txBody>
                  <a:tcPr/>
                </a:tc>
                <a:extLst>
                  <a:ext uri="{0D108BD9-81ED-4DB2-BD59-A6C34878D82A}">
                    <a16:rowId xmlns:a16="http://schemas.microsoft.com/office/drawing/2014/main" val="2308873069"/>
                  </a:ext>
                </a:extLst>
              </a:tr>
            </a:tbl>
          </a:graphicData>
        </a:graphic>
      </p:graphicFrame>
    </p:spTree>
    <p:extLst>
      <p:ext uri="{BB962C8B-B14F-4D97-AF65-F5344CB8AC3E}">
        <p14:creationId xmlns:p14="http://schemas.microsoft.com/office/powerpoint/2010/main" val="25915514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3DE13-A83E-319D-B735-9E07BED82DB5}"/>
              </a:ext>
            </a:extLst>
          </p:cNvPr>
          <p:cNvSpPr>
            <a:spLocks noGrp="1"/>
          </p:cNvSpPr>
          <p:nvPr>
            <p:ph type="title"/>
          </p:nvPr>
        </p:nvSpPr>
        <p:spPr/>
        <p:txBody>
          <a:bodyPr/>
          <a:lstStyle/>
          <a:p>
            <a:r>
              <a:rPr lang="en-US" dirty="0"/>
              <a:t>Access Transparency</a:t>
            </a:r>
          </a:p>
        </p:txBody>
      </p:sp>
      <p:sp>
        <p:nvSpPr>
          <p:cNvPr id="3" name="Content Placeholder 2">
            <a:extLst>
              <a:ext uri="{FF2B5EF4-FFF2-40B4-BE49-F238E27FC236}">
                <a16:creationId xmlns:a16="http://schemas.microsoft.com/office/drawing/2014/main" id="{DE559A10-06C1-CB57-4ACF-EB322737E70B}"/>
              </a:ext>
            </a:extLst>
          </p:cNvPr>
          <p:cNvSpPr>
            <a:spLocks noGrp="1"/>
          </p:cNvSpPr>
          <p:nvPr>
            <p:ph idx="1"/>
          </p:nvPr>
        </p:nvSpPr>
        <p:spPr/>
        <p:txBody>
          <a:bodyPr/>
          <a:lstStyle/>
          <a:p>
            <a:pPr marL="0" indent="0" algn="just">
              <a:buNone/>
            </a:pPr>
            <a:r>
              <a:rPr lang="en-US" b="1" dirty="0"/>
              <a:t>Access transparency</a:t>
            </a:r>
            <a:r>
              <a:rPr lang="en-US" dirty="0"/>
              <a:t> deals with hiding differences in data representation and the way that objects can be accessed.</a:t>
            </a:r>
          </a:p>
          <a:p>
            <a:pPr marL="0" indent="0" algn="just">
              <a:buNone/>
            </a:pPr>
            <a:r>
              <a:rPr lang="en-US" b="1" dirty="0"/>
              <a:t>Example</a:t>
            </a:r>
            <a:r>
              <a:rPr lang="en-US" dirty="0"/>
              <a:t>:</a:t>
            </a:r>
          </a:p>
          <a:p>
            <a:pPr algn="just"/>
            <a:r>
              <a:rPr lang="en-US" dirty="0"/>
              <a:t>A distributed system may have computer systems that run different operating systems, each having their own file-naming conventions.</a:t>
            </a:r>
          </a:p>
          <a:p>
            <a:pPr algn="just"/>
            <a:r>
              <a:rPr lang="en-US" dirty="0"/>
              <a:t>Access issues that should preferably be hidden:</a:t>
            </a:r>
          </a:p>
          <a:p>
            <a:pPr lvl="1" algn="just"/>
            <a:r>
              <a:rPr lang="en-US" dirty="0"/>
              <a:t>differences in naming conventions</a:t>
            </a:r>
          </a:p>
          <a:p>
            <a:pPr lvl="1" algn="just"/>
            <a:r>
              <a:rPr lang="en-US" dirty="0"/>
              <a:t>differences in file operations, or</a:t>
            </a:r>
          </a:p>
          <a:p>
            <a:pPr lvl="1" algn="just"/>
            <a:r>
              <a:rPr lang="en-US" dirty="0"/>
              <a:t>differences in low-level communication with other processes</a:t>
            </a:r>
          </a:p>
        </p:txBody>
      </p:sp>
    </p:spTree>
    <p:extLst>
      <p:ext uri="{BB962C8B-B14F-4D97-AF65-F5344CB8AC3E}">
        <p14:creationId xmlns:p14="http://schemas.microsoft.com/office/powerpoint/2010/main" val="27439634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DF99F-C30C-B1F5-CCF4-8CEDF6865953}"/>
              </a:ext>
            </a:extLst>
          </p:cNvPr>
          <p:cNvSpPr>
            <a:spLocks noGrp="1"/>
          </p:cNvSpPr>
          <p:nvPr>
            <p:ph type="title"/>
          </p:nvPr>
        </p:nvSpPr>
        <p:spPr/>
        <p:txBody>
          <a:bodyPr/>
          <a:lstStyle/>
          <a:p>
            <a:r>
              <a:rPr lang="en-US" dirty="0"/>
              <a:t>Location Transparency</a:t>
            </a:r>
          </a:p>
        </p:txBody>
      </p:sp>
      <p:sp>
        <p:nvSpPr>
          <p:cNvPr id="3" name="Content Placeholder 2">
            <a:extLst>
              <a:ext uri="{FF2B5EF4-FFF2-40B4-BE49-F238E27FC236}">
                <a16:creationId xmlns:a16="http://schemas.microsoft.com/office/drawing/2014/main" id="{89D8A355-9024-4213-7A9E-2CFAD9956514}"/>
              </a:ext>
            </a:extLst>
          </p:cNvPr>
          <p:cNvSpPr>
            <a:spLocks noGrp="1"/>
          </p:cNvSpPr>
          <p:nvPr>
            <p:ph idx="1"/>
          </p:nvPr>
        </p:nvSpPr>
        <p:spPr/>
        <p:txBody>
          <a:bodyPr>
            <a:normAutofit/>
          </a:bodyPr>
          <a:lstStyle/>
          <a:p>
            <a:pPr algn="l"/>
            <a:r>
              <a:rPr lang="en-US" sz="2800" b="1" i="0" u="none" strike="noStrike" baseline="0" dirty="0">
                <a:latin typeface="URWPalladioL-Bold"/>
              </a:rPr>
              <a:t>Location transparency </a:t>
            </a:r>
            <a:r>
              <a:rPr lang="en-US" sz="2800" b="0" i="0" u="none" strike="noStrike" baseline="0" dirty="0">
                <a:latin typeface="URWPalladioL-Roma"/>
              </a:rPr>
              <a:t>refers to the fact that users cannot tell where an object is physically located in the system.</a:t>
            </a:r>
          </a:p>
          <a:p>
            <a:pPr algn="just"/>
            <a:r>
              <a:rPr lang="en-US" sz="2800" b="1" i="0" u="none" strike="noStrike" baseline="0" dirty="0">
                <a:solidFill>
                  <a:srgbClr val="000000"/>
                </a:solidFill>
                <a:latin typeface="URWPalladioL-Roma"/>
              </a:rPr>
              <a:t>Naming</a:t>
            </a:r>
            <a:r>
              <a:rPr lang="en-US" sz="2800" b="0" i="0" u="none" strike="noStrike" baseline="0" dirty="0">
                <a:solidFill>
                  <a:srgbClr val="000000"/>
                </a:solidFill>
                <a:latin typeface="URWPalladioL-Roma"/>
              </a:rPr>
              <a:t> plays an important role in achieving location transparency. It can often be achieved by assigning only logical names to resources, i.e., names in which the location of a resource is not secretly encoded.</a:t>
            </a:r>
          </a:p>
          <a:p>
            <a:pPr algn="just"/>
            <a:r>
              <a:rPr lang="en-US" sz="2800" b="1" i="0" u="none" strike="noStrike" baseline="0" dirty="0">
                <a:solidFill>
                  <a:srgbClr val="000000"/>
                </a:solidFill>
                <a:latin typeface="URWPalladioL-Roma"/>
              </a:rPr>
              <a:t>Example</a:t>
            </a:r>
            <a:r>
              <a:rPr lang="en-US" sz="2800" b="0" i="0" u="none" strike="noStrike" baseline="0" dirty="0">
                <a:solidFill>
                  <a:srgbClr val="000000"/>
                </a:solidFill>
                <a:latin typeface="URWPalladioL-Roma"/>
              </a:rPr>
              <a:t>: </a:t>
            </a:r>
            <a:r>
              <a:rPr lang="en-US" sz="2800" b="1" i="0" u="none" strike="noStrike" baseline="0" dirty="0">
                <a:solidFill>
                  <a:srgbClr val="000000"/>
                </a:solidFill>
                <a:latin typeface="URWPalladioL-Bold"/>
              </a:rPr>
              <a:t>uniform resource locator </a:t>
            </a:r>
            <a:r>
              <a:rPr lang="en-US" sz="2800" b="0" i="0" u="none" strike="noStrike" baseline="0" dirty="0">
                <a:solidFill>
                  <a:srgbClr val="000000"/>
                </a:solidFill>
                <a:latin typeface="URWPalladioL-Roma"/>
              </a:rPr>
              <a:t>(</a:t>
            </a:r>
            <a:r>
              <a:rPr lang="en-US" sz="2800" b="1" i="0" u="none" strike="noStrike" baseline="0" dirty="0">
                <a:solidFill>
                  <a:srgbClr val="000000"/>
                </a:solidFill>
                <a:latin typeface="URWPalladioL-Bold"/>
              </a:rPr>
              <a:t>URL</a:t>
            </a:r>
            <a:r>
              <a:rPr lang="en-US" sz="2800" b="0" i="0" u="none" strike="noStrike" baseline="0" dirty="0">
                <a:solidFill>
                  <a:srgbClr val="000000"/>
                </a:solidFill>
                <a:latin typeface="URWPalladioL-Roma"/>
              </a:rPr>
              <a:t>) such as </a:t>
            </a:r>
            <a:r>
              <a:rPr lang="en-US" sz="2800" b="0" i="0" u="none" strike="noStrike" baseline="0" dirty="0">
                <a:solidFill>
                  <a:schemeClr val="accent1"/>
                </a:solidFill>
                <a:latin typeface="Inconsolatazi4-Regular"/>
              </a:rPr>
              <a:t>https://www.distributed-systems.net</a:t>
            </a:r>
            <a:r>
              <a:rPr lang="en-US" sz="2800" b="0" i="0" u="none" strike="noStrike" baseline="0" dirty="0">
                <a:solidFill>
                  <a:srgbClr val="808080"/>
                </a:solidFill>
                <a:latin typeface="Inconsolatazi4-Regular"/>
              </a:rPr>
              <a:t>/</a:t>
            </a:r>
            <a:r>
              <a:rPr lang="en-US" sz="2800" b="0" i="0" u="none" strike="noStrike" baseline="0" dirty="0">
                <a:solidFill>
                  <a:srgbClr val="000000"/>
                </a:solidFill>
                <a:latin typeface="URWPalladioL-Roma"/>
              </a:rPr>
              <a:t>, gives no clue about the actual location of the Web server</a:t>
            </a:r>
            <a:endParaRPr lang="en-US" dirty="0"/>
          </a:p>
        </p:txBody>
      </p:sp>
    </p:spTree>
    <p:extLst>
      <p:ext uri="{BB962C8B-B14F-4D97-AF65-F5344CB8AC3E}">
        <p14:creationId xmlns:p14="http://schemas.microsoft.com/office/powerpoint/2010/main" val="35253437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7C400-4B06-EF8E-ADB3-ED3C6D73F396}"/>
              </a:ext>
            </a:extLst>
          </p:cNvPr>
          <p:cNvSpPr>
            <a:spLocks noGrp="1"/>
          </p:cNvSpPr>
          <p:nvPr>
            <p:ph type="title"/>
          </p:nvPr>
        </p:nvSpPr>
        <p:spPr/>
        <p:txBody>
          <a:bodyPr/>
          <a:lstStyle/>
          <a:p>
            <a:r>
              <a:rPr lang="en-US" dirty="0"/>
              <a:t>Migration Transparency</a:t>
            </a:r>
          </a:p>
        </p:txBody>
      </p:sp>
      <p:sp>
        <p:nvSpPr>
          <p:cNvPr id="3" name="Content Placeholder 2">
            <a:extLst>
              <a:ext uri="{FF2B5EF4-FFF2-40B4-BE49-F238E27FC236}">
                <a16:creationId xmlns:a16="http://schemas.microsoft.com/office/drawing/2014/main" id="{F1793282-D9CE-A48E-218F-A68A2CDD399D}"/>
              </a:ext>
            </a:extLst>
          </p:cNvPr>
          <p:cNvSpPr>
            <a:spLocks noGrp="1"/>
          </p:cNvSpPr>
          <p:nvPr>
            <p:ph idx="1"/>
          </p:nvPr>
        </p:nvSpPr>
        <p:spPr/>
        <p:txBody>
          <a:bodyPr>
            <a:normAutofit/>
          </a:bodyPr>
          <a:lstStyle/>
          <a:p>
            <a:pPr algn="just"/>
            <a:r>
              <a:rPr lang="en-US" sz="2800" b="0" i="0" u="none" strike="noStrike" baseline="0" dirty="0">
                <a:latin typeface="URWPalladioL-Roma"/>
              </a:rPr>
              <a:t>Distributed systems in which resources can be moved without affecting how those resources can be accessed are said to provide </a:t>
            </a:r>
            <a:r>
              <a:rPr lang="en-US" sz="2800" b="1" i="0" u="none" strike="noStrike" baseline="0" dirty="0">
                <a:latin typeface="URWPalladioL-Roma"/>
              </a:rPr>
              <a:t>migration transparency</a:t>
            </a:r>
            <a:r>
              <a:rPr lang="en-US" sz="2800" b="0" i="0" u="none" strike="noStrike" baseline="0" dirty="0">
                <a:latin typeface="URWPalladioL-Roma"/>
              </a:rPr>
              <a:t>.</a:t>
            </a:r>
          </a:p>
          <a:p>
            <a:pPr algn="just"/>
            <a:r>
              <a:rPr lang="en-US" sz="2800" b="0" i="0" u="none" strike="noStrike" baseline="0" dirty="0">
                <a:latin typeface="URWPalladioL-Roma"/>
              </a:rPr>
              <a:t>In the previous example, the URL also gives no clue whether files at that site have always been at their current location or were recently moved there.</a:t>
            </a:r>
          </a:p>
        </p:txBody>
      </p:sp>
    </p:spTree>
    <p:extLst>
      <p:ext uri="{BB962C8B-B14F-4D97-AF65-F5344CB8AC3E}">
        <p14:creationId xmlns:p14="http://schemas.microsoft.com/office/powerpoint/2010/main" val="9367820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7C400-4B06-EF8E-ADB3-ED3C6D73F396}"/>
              </a:ext>
            </a:extLst>
          </p:cNvPr>
          <p:cNvSpPr>
            <a:spLocks noGrp="1"/>
          </p:cNvSpPr>
          <p:nvPr>
            <p:ph type="title"/>
          </p:nvPr>
        </p:nvSpPr>
        <p:spPr/>
        <p:txBody>
          <a:bodyPr/>
          <a:lstStyle/>
          <a:p>
            <a:r>
              <a:rPr lang="en-US" dirty="0"/>
              <a:t>Relocation Transparency</a:t>
            </a:r>
          </a:p>
        </p:txBody>
      </p:sp>
      <p:sp>
        <p:nvSpPr>
          <p:cNvPr id="3" name="Content Placeholder 2">
            <a:extLst>
              <a:ext uri="{FF2B5EF4-FFF2-40B4-BE49-F238E27FC236}">
                <a16:creationId xmlns:a16="http://schemas.microsoft.com/office/drawing/2014/main" id="{F1793282-D9CE-A48E-218F-A68A2CDD399D}"/>
              </a:ext>
            </a:extLst>
          </p:cNvPr>
          <p:cNvSpPr>
            <a:spLocks noGrp="1"/>
          </p:cNvSpPr>
          <p:nvPr>
            <p:ph idx="1"/>
          </p:nvPr>
        </p:nvSpPr>
        <p:spPr/>
        <p:txBody>
          <a:bodyPr>
            <a:normAutofit/>
          </a:bodyPr>
          <a:lstStyle/>
          <a:p>
            <a:pPr algn="just"/>
            <a:r>
              <a:rPr lang="en-US" sz="2800" b="1" i="0" u="none" strike="noStrike" baseline="0" dirty="0">
                <a:latin typeface="URWPalladioL-Roma"/>
              </a:rPr>
              <a:t>Relocation transparency</a:t>
            </a:r>
            <a:r>
              <a:rPr lang="en-US" dirty="0">
                <a:latin typeface="URWPalladioL-Roma"/>
              </a:rPr>
              <a:t> supports </a:t>
            </a:r>
            <a:r>
              <a:rPr lang="en-US" sz="2800" b="0" i="0" u="none" strike="noStrike" baseline="0" dirty="0">
                <a:latin typeface="URWPalladioL-Roma"/>
              </a:rPr>
              <a:t>the mobility of processes and resources initiated by users, without affecting ongoing communication and operations. In such cases, resources can be relocated while they are being accessed without the user or application noticing anything</a:t>
            </a:r>
          </a:p>
          <a:p>
            <a:pPr algn="just"/>
            <a:r>
              <a:rPr lang="en-US" sz="2800" b="1" i="0" u="none" strike="noStrike" baseline="0" dirty="0">
                <a:latin typeface="URWPalladioL-Roma"/>
              </a:rPr>
              <a:t>Example</a:t>
            </a:r>
            <a:r>
              <a:rPr lang="en-US" sz="2800" b="0" i="0" u="none" strike="noStrike" baseline="0" dirty="0">
                <a:latin typeface="URWPalladioL-Roma"/>
              </a:rPr>
              <a:t>:</a:t>
            </a:r>
          </a:p>
          <a:p>
            <a:pPr lvl="1" algn="just"/>
            <a:r>
              <a:rPr lang="en-US" b="0" i="0" u="none" strike="noStrike" baseline="0" dirty="0">
                <a:latin typeface="URWPalladioL-Roma"/>
              </a:rPr>
              <a:t>communication between mobile phones: regardless whether two people are actually moving, mobile phones will allow them to continue their conversation.</a:t>
            </a:r>
          </a:p>
          <a:p>
            <a:pPr lvl="1" algn="just"/>
            <a:r>
              <a:rPr lang="en-US" b="0" i="0" u="none" strike="noStrike" baseline="0" dirty="0">
                <a:latin typeface="URWPalladioL-Roma"/>
              </a:rPr>
              <a:t>online tracking and tracing of goods as they are being transported from one place to another</a:t>
            </a:r>
          </a:p>
        </p:txBody>
      </p:sp>
    </p:spTree>
    <p:extLst>
      <p:ext uri="{BB962C8B-B14F-4D97-AF65-F5344CB8AC3E}">
        <p14:creationId xmlns:p14="http://schemas.microsoft.com/office/powerpoint/2010/main" val="37398177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13705-9974-63DA-6424-B0F0827B514D}"/>
              </a:ext>
            </a:extLst>
          </p:cNvPr>
          <p:cNvSpPr>
            <a:spLocks noGrp="1"/>
          </p:cNvSpPr>
          <p:nvPr>
            <p:ph type="title"/>
          </p:nvPr>
        </p:nvSpPr>
        <p:spPr/>
        <p:txBody>
          <a:bodyPr/>
          <a:lstStyle/>
          <a:p>
            <a:r>
              <a:rPr lang="en-US" dirty="0"/>
              <a:t>Replication Transparency </a:t>
            </a:r>
          </a:p>
        </p:txBody>
      </p:sp>
      <p:sp>
        <p:nvSpPr>
          <p:cNvPr id="3" name="Content Placeholder 2">
            <a:extLst>
              <a:ext uri="{FF2B5EF4-FFF2-40B4-BE49-F238E27FC236}">
                <a16:creationId xmlns:a16="http://schemas.microsoft.com/office/drawing/2014/main" id="{86BA8139-F269-8AAA-E40F-2A8AAEEE9B62}"/>
              </a:ext>
            </a:extLst>
          </p:cNvPr>
          <p:cNvSpPr>
            <a:spLocks noGrp="1"/>
          </p:cNvSpPr>
          <p:nvPr>
            <p:ph idx="1"/>
          </p:nvPr>
        </p:nvSpPr>
        <p:spPr/>
        <p:txBody>
          <a:bodyPr>
            <a:normAutofit/>
          </a:bodyPr>
          <a:lstStyle/>
          <a:p>
            <a:pPr algn="just"/>
            <a:r>
              <a:rPr lang="en-US" sz="2800" i="0" u="none" strike="noStrike" baseline="0" dirty="0">
                <a:latin typeface="URWPalladioL-Bold"/>
              </a:rPr>
              <a:t>In distributed systems, resources may be replicated to increase availability or to improve performance by placing a copy close to the place where it is accessed.</a:t>
            </a:r>
          </a:p>
          <a:p>
            <a:pPr algn="just"/>
            <a:r>
              <a:rPr lang="en-US" sz="2800" b="1" i="0" u="none" strike="noStrike" baseline="0" dirty="0">
                <a:latin typeface="URWPalladioL-Bold"/>
              </a:rPr>
              <a:t>Replication transparency </a:t>
            </a:r>
            <a:r>
              <a:rPr lang="en-US" sz="2800" b="0" i="0" u="none" strike="noStrike" baseline="0" dirty="0">
                <a:latin typeface="URWPalladioL-Roma"/>
              </a:rPr>
              <a:t>deals with hiding the fact that several copies of a resource exist, or that several processes are operating so that one can take over when another fails.</a:t>
            </a:r>
          </a:p>
          <a:p>
            <a:pPr algn="just"/>
            <a:r>
              <a:rPr lang="en-US" i="1" dirty="0">
                <a:latin typeface="URWPalladioL-Roma"/>
              </a:rPr>
              <a:t>Note</a:t>
            </a:r>
            <a:r>
              <a:rPr lang="en-US" dirty="0">
                <a:latin typeface="URWPalladioL-Roma"/>
              </a:rPr>
              <a:t>: </a:t>
            </a:r>
            <a:r>
              <a:rPr lang="en-US" sz="2800" b="0" i="0" u="none" strike="noStrike" baseline="0" dirty="0">
                <a:latin typeface="URWPalladioL-Roma"/>
              </a:rPr>
              <a:t>a system that supports replication transparency should generally support location transparency as well, because it would otherwise be impossible to refer to replicas at different locations.</a:t>
            </a:r>
            <a:endParaRPr lang="en-US" dirty="0"/>
          </a:p>
        </p:txBody>
      </p:sp>
    </p:spTree>
    <p:extLst>
      <p:ext uri="{BB962C8B-B14F-4D97-AF65-F5344CB8AC3E}">
        <p14:creationId xmlns:p14="http://schemas.microsoft.com/office/powerpoint/2010/main" val="18919143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A7806E-285A-88E5-F0A8-DCCBB984E689}"/>
              </a:ext>
            </a:extLst>
          </p:cNvPr>
          <p:cNvSpPr>
            <a:spLocks noGrp="1"/>
          </p:cNvSpPr>
          <p:nvPr>
            <p:ph type="title"/>
          </p:nvPr>
        </p:nvSpPr>
        <p:spPr/>
        <p:txBody>
          <a:bodyPr/>
          <a:lstStyle/>
          <a:p>
            <a:r>
              <a:rPr lang="en-US" dirty="0"/>
              <a:t>Concurrency Transparency</a:t>
            </a:r>
          </a:p>
        </p:txBody>
      </p:sp>
      <p:sp>
        <p:nvSpPr>
          <p:cNvPr id="3" name="Content Placeholder 2">
            <a:extLst>
              <a:ext uri="{FF2B5EF4-FFF2-40B4-BE49-F238E27FC236}">
                <a16:creationId xmlns:a16="http://schemas.microsoft.com/office/drawing/2014/main" id="{CE398CC9-928A-8D4F-8CB6-06ADCB8B1C63}"/>
              </a:ext>
            </a:extLst>
          </p:cNvPr>
          <p:cNvSpPr>
            <a:spLocks noGrp="1"/>
          </p:cNvSpPr>
          <p:nvPr>
            <p:ph idx="1"/>
          </p:nvPr>
        </p:nvSpPr>
        <p:spPr/>
        <p:txBody>
          <a:bodyPr>
            <a:normAutofit fontScale="92500"/>
          </a:bodyPr>
          <a:lstStyle/>
          <a:p>
            <a:pPr algn="just"/>
            <a:r>
              <a:rPr lang="en-US" sz="2800" b="0" i="0" u="none" strike="noStrike" baseline="0" dirty="0">
                <a:latin typeface="URWPalladioL-Roma"/>
              </a:rPr>
              <a:t>An important goal of distributed systems is to allow sharing of resources. In many cases, sharing resources is done </a:t>
            </a:r>
            <a:r>
              <a:rPr lang="en-US" sz="2800" b="0" i="1" u="none" strike="noStrike" baseline="0" dirty="0">
                <a:latin typeface="URWPalladioL-Roma"/>
              </a:rPr>
              <a:t>cooperatively</a:t>
            </a:r>
            <a:r>
              <a:rPr lang="en-US" sz="2800" b="0" i="0" u="none" strike="noStrike" baseline="0" dirty="0">
                <a:latin typeface="URWPalladioL-Roma"/>
              </a:rPr>
              <a:t>. However, there are also many examples of </a:t>
            </a:r>
            <a:r>
              <a:rPr lang="en-US" sz="2800" b="0" i="1" u="none" strike="noStrike" baseline="0" dirty="0">
                <a:latin typeface="URWPalladioL-Roma"/>
              </a:rPr>
              <a:t>competitive</a:t>
            </a:r>
            <a:r>
              <a:rPr lang="en-US" sz="2800" b="0" i="0" u="none" strike="noStrike" baseline="0" dirty="0">
                <a:latin typeface="URWPalladioL-Roma"/>
              </a:rPr>
              <a:t> sharing of resources. </a:t>
            </a:r>
          </a:p>
          <a:p>
            <a:pPr algn="just"/>
            <a:r>
              <a:rPr lang="en-US" sz="2800" b="1" i="0" u="none" strike="noStrike" baseline="0" dirty="0">
                <a:latin typeface="URWPalladioL-Roma"/>
              </a:rPr>
              <a:t>Example</a:t>
            </a:r>
            <a:r>
              <a:rPr lang="en-US" sz="2800" b="0" i="0" u="none" strike="noStrike" baseline="0" dirty="0">
                <a:latin typeface="URWPalladioL-Roma"/>
              </a:rPr>
              <a:t>: two independent users may each have stored their files on the same file server or may be accessing the same tables in a shared database. In such cases, it is important that each user does not notice that the other is making use of the same resource. This phenomenon is called </a:t>
            </a:r>
            <a:r>
              <a:rPr lang="en-US" sz="2800" b="1" i="0" u="none" strike="noStrike" baseline="0" dirty="0">
                <a:latin typeface="URWPalladioL-Bold"/>
              </a:rPr>
              <a:t>concurrency transparency</a:t>
            </a:r>
            <a:r>
              <a:rPr lang="en-US" sz="2800" b="0" i="0" u="none" strike="noStrike" baseline="0" dirty="0">
                <a:latin typeface="URWPalladioL-Roma"/>
              </a:rPr>
              <a:t>.</a:t>
            </a:r>
          </a:p>
          <a:p>
            <a:pPr algn="just"/>
            <a:r>
              <a:rPr lang="en-US" sz="2800" b="0" i="0" u="none" strike="noStrike" baseline="0" dirty="0">
                <a:latin typeface="URWPalladioL-Roma"/>
              </a:rPr>
              <a:t>An important issue of concurrent access is the consistency of the resource. It can be achieved through locking mechanisms, by which users are given exclusive access to the desired resource.</a:t>
            </a:r>
            <a:endParaRPr lang="en-US" dirty="0"/>
          </a:p>
        </p:txBody>
      </p:sp>
    </p:spTree>
    <p:extLst>
      <p:ext uri="{BB962C8B-B14F-4D97-AF65-F5344CB8AC3E}">
        <p14:creationId xmlns:p14="http://schemas.microsoft.com/office/powerpoint/2010/main" val="3833259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DF7A16-1287-A1E6-EB45-5990F001E51D}"/>
              </a:ext>
            </a:extLst>
          </p:cNvPr>
          <p:cNvSpPr>
            <a:spLocks noGrp="1"/>
          </p:cNvSpPr>
          <p:nvPr>
            <p:ph type="title"/>
          </p:nvPr>
        </p:nvSpPr>
        <p:spPr/>
        <p:txBody>
          <a:bodyPr/>
          <a:lstStyle/>
          <a:p>
            <a:r>
              <a:rPr lang="en-US" dirty="0"/>
              <a:t>Failure Transparency</a:t>
            </a:r>
          </a:p>
        </p:txBody>
      </p:sp>
      <p:sp>
        <p:nvSpPr>
          <p:cNvPr id="3" name="Content Placeholder 2">
            <a:extLst>
              <a:ext uri="{FF2B5EF4-FFF2-40B4-BE49-F238E27FC236}">
                <a16:creationId xmlns:a16="http://schemas.microsoft.com/office/drawing/2014/main" id="{7CFCB729-B625-34A9-6FD9-20D5244AAA43}"/>
              </a:ext>
            </a:extLst>
          </p:cNvPr>
          <p:cNvSpPr>
            <a:spLocks noGrp="1"/>
          </p:cNvSpPr>
          <p:nvPr>
            <p:ph idx="1"/>
          </p:nvPr>
        </p:nvSpPr>
        <p:spPr/>
        <p:txBody>
          <a:bodyPr>
            <a:normAutofit fontScale="92500"/>
          </a:bodyPr>
          <a:lstStyle/>
          <a:p>
            <a:pPr algn="just"/>
            <a:r>
              <a:rPr lang="en-US" b="1" dirty="0"/>
              <a:t>Failure transparency</a:t>
            </a:r>
            <a:r>
              <a:rPr lang="en-US" dirty="0"/>
              <a:t> means that a user or application does not notice that some piece of the system fails to work properly, and that the system subsequently (and automatically) recovers from that failure.</a:t>
            </a:r>
          </a:p>
          <a:p>
            <a:pPr algn="just"/>
            <a:r>
              <a:rPr lang="en-US" dirty="0"/>
              <a:t>Masking failures is one of the hardest issues in distributed systems and is even impossible in certain cases. The main difficulty in masking and transparently recovering from failures lies in the inability to distinguish between a dead process and a painfully slowly responding one.</a:t>
            </a:r>
          </a:p>
          <a:p>
            <a:pPr algn="just"/>
            <a:r>
              <a:rPr lang="en-US" b="1" dirty="0"/>
              <a:t>Example</a:t>
            </a:r>
            <a:r>
              <a:rPr lang="en-US" dirty="0"/>
              <a:t>: when contacting a busy Web server, a browser will eventually time out and report that the Web page is unavailable. At that point, the user cannot tell whether the server is actually down or that the network is badly congested.</a:t>
            </a:r>
          </a:p>
        </p:txBody>
      </p:sp>
    </p:spTree>
    <p:extLst>
      <p:ext uri="{BB962C8B-B14F-4D97-AF65-F5344CB8AC3E}">
        <p14:creationId xmlns:p14="http://schemas.microsoft.com/office/powerpoint/2010/main" val="33490815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61ED1B-3659-B7C1-080B-9B5E71DE097F}"/>
              </a:ext>
            </a:extLst>
          </p:cNvPr>
          <p:cNvSpPr>
            <a:spLocks noGrp="1"/>
          </p:cNvSpPr>
          <p:nvPr>
            <p:ph type="title"/>
          </p:nvPr>
        </p:nvSpPr>
        <p:spPr/>
        <p:txBody>
          <a:bodyPr/>
          <a:lstStyle/>
          <a:p>
            <a:r>
              <a:rPr lang="en-US" dirty="0"/>
              <a:t>Design Goals of a Distributed Systems</a:t>
            </a:r>
          </a:p>
        </p:txBody>
      </p:sp>
      <p:sp>
        <p:nvSpPr>
          <p:cNvPr id="3" name="Text Placeholder 2">
            <a:extLst>
              <a:ext uri="{FF2B5EF4-FFF2-40B4-BE49-F238E27FC236}">
                <a16:creationId xmlns:a16="http://schemas.microsoft.com/office/drawing/2014/main" id="{651E0CF6-DF3E-9103-BD39-4B63C2F4287F}"/>
              </a:ext>
            </a:extLst>
          </p:cNvPr>
          <p:cNvSpPr>
            <a:spLocks noGrp="1"/>
          </p:cNvSpPr>
          <p:nvPr>
            <p:ph type="body" idx="1"/>
          </p:nvPr>
        </p:nvSpPr>
        <p:spPr/>
        <p:txBody>
          <a:bodyPr>
            <a:normAutofit/>
          </a:bodyPr>
          <a:lstStyle/>
          <a:p>
            <a:r>
              <a:rPr lang="en-US" sz="4000" b="1" dirty="0">
                <a:solidFill>
                  <a:schemeClr val="tx1"/>
                </a:solidFill>
              </a:rPr>
              <a:t>Openness</a:t>
            </a:r>
          </a:p>
        </p:txBody>
      </p:sp>
    </p:spTree>
    <p:extLst>
      <p:ext uri="{BB962C8B-B14F-4D97-AF65-F5344CB8AC3E}">
        <p14:creationId xmlns:p14="http://schemas.microsoft.com/office/powerpoint/2010/main" val="217666997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37C1800-D66D-B5EF-D616-8696EBCF59F0}"/>
              </a:ext>
            </a:extLst>
          </p:cNvPr>
          <p:cNvSpPr>
            <a:spLocks noGrp="1"/>
          </p:cNvSpPr>
          <p:nvPr>
            <p:ph type="title"/>
          </p:nvPr>
        </p:nvSpPr>
        <p:spPr/>
        <p:txBody>
          <a:bodyPr/>
          <a:lstStyle/>
          <a:p>
            <a:r>
              <a:rPr lang="en-US" dirty="0"/>
              <a:t>Openness</a:t>
            </a:r>
          </a:p>
        </p:txBody>
      </p:sp>
      <p:sp>
        <p:nvSpPr>
          <p:cNvPr id="5" name="Content Placeholder 4">
            <a:extLst>
              <a:ext uri="{FF2B5EF4-FFF2-40B4-BE49-F238E27FC236}">
                <a16:creationId xmlns:a16="http://schemas.microsoft.com/office/drawing/2014/main" id="{EA23242E-DA39-6E04-8B16-D6615918082D}"/>
              </a:ext>
            </a:extLst>
          </p:cNvPr>
          <p:cNvSpPr>
            <a:spLocks noGrp="1"/>
          </p:cNvSpPr>
          <p:nvPr>
            <p:ph idx="1"/>
          </p:nvPr>
        </p:nvSpPr>
        <p:spPr/>
        <p:txBody>
          <a:bodyPr/>
          <a:lstStyle/>
          <a:p>
            <a:pPr algn="just"/>
            <a:r>
              <a:rPr lang="en-US" sz="2800" b="0" i="0" u="none" strike="noStrike" baseline="0" dirty="0">
                <a:latin typeface="URWPalladioL-Roma"/>
              </a:rPr>
              <a:t>Another important goal of distributed systems is openness.</a:t>
            </a:r>
          </a:p>
          <a:p>
            <a:pPr algn="just"/>
            <a:r>
              <a:rPr lang="en-US" sz="2800" b="0" i="0" u="none" strike="noStrike" baseline="0" dirty="0">
                <a:latin typeface="URWPalladioL-Roma"/>
              </a:rPr>
              <a:t>An </a:t>
            </a:r>
            <a:r>
              <a:rPr lang="en-US" sz="2800" b="1" i="0" u="none" strike="noStrike" baseline="0" dirty="0">
                <a:latin typeface="URWPalladioL-Bold"/>
              </a:rPr>
              <a:t>open distributed system </a:t>
            </a:r>
            <a:r>
              <a:rPr lang="en-US" sz="2800" b="0" i="0" u="none" strike="noStrike" baseline="0" dirty="0">
                <a:latin typeface="URWPalladioL-Roma"/>
              </a:rPr>
              <a:t>is essentially a system that offers components that can easily be used by, or integrated into other systems. </a:t>
            </a:r>
          </a:p>
          <a:p>
            <a:pPr algn="just"/>
            <a:r>
              <a:rPr lang="en-US" sz="2800" b="0" i="0" u="none" strike="noStrike" baseline="0" dirty="0">
                <a:latin typeface="URWPalladioL-Roma"/>
              </a:rPr>
              <a:t>At the same time, an open distributed system itself will often consist of components that originate from elsewhere.</a:t>
            </a:r>
          </a:p>
          <a:p>
            <a:pPr algn="just"/>
            <a:endParaRPr lang="en-US" dirty="0"/>
          </a:p>
        </p:txBody>
      </p:sp>
    </p:spTree>
    <p:extLst>
      <p:ext uri="{BB962C8B-B14F-4D97-AF65-F5344CB8AC3E}">
        <p14:creationId xmlns:p14="http://schemas.microsoft.com/office/powerpoint/2010/main" val="174128404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37C1800-D66D-B5EF-D616-8696EBCF59F0}"/>
              </a:ext>
            </a:extLst>
          </p:cNvPr>
          <p:cNvSpPr>
            <a:spLocks noGrp="1"/>
          </p:cNvSpPr>
          <p:nvPr>
            <p:ph type="title"/>
          </p:nvPr>
        </p:nvSpPr>
        <p:spPr/>
        <p:txBody>
          <a:bodyPr/>
          <a:lstStyle/>
          <a:p>
            <a:r>
              <a:rPr lang="en-US" dirty="0"/>
              <a:t>Openness: Interoperability</a:t>
            </a:r>
          </a:p>
        </p:txBody>
      </p:sp>
      <p:sp>
        <p:nvSpPr>
          <p:cNvPr id="5" name="Content Placeholder 4">
            <a:extLst>
              <a:ext uri="{FF2B5EF4-FFF2-40B4-BE49-F238E27FC236}">
                <a16:creationId xmlns:a16="http://schemas.microsoft.com/office/drawing/2014/main" id="{EA23242E-DA39-6E04-8B16-D6615918082D}"/>
              </a:ext>
            </a:extLst>
          </p:cNvPr>
          <p:cNvSpPr>
            <a:spLocks noGrp="1"/>
          </p:cNvSpPr>
          <p:nvPr>
            <p:ph idx="1"/>
          </p:nvPr>
        </p:nvSpPr>
        <p:spPr/>
        <p:txBody>
          <a:bodyPr/>
          <a:lstStyle/>
          <a:p>
            <a:pPr algn="just"/>
            <a:r>
              <a:rPr lang="en-US" sz="2800" b="1" i="0" u="none" strike="noStrike" baseline="0" dirty="0">
                <a:latin typeface="URWPalladioL-Bold"/>
              </a:rPr>
              <a:t>Interoperability </a:t>
            </a:r>
            <a:r>
              <a:rPr lang="en-US" sz="2800" b="0" i="0" u="none" strike="noStrike" baseline="0" dirty="0">
                <a:latin typeface="URWPalladioL-Roma"/>
              </a:rPr>
              <a:t>characterizes the extent by which two implementations of systems or components from different manufacturers can co-exist and work together by merely relying on each other’s services as specified by a common standard.</a:t>
            </a:r>
          </a:p>
          <a:p>
            <a:pPr algn="just"/>
            <a:r>
              <a:rPr lang="en-US" b="1" dirty="0">
                <a:latin typeface="URWPalladioL-Roma"/>
              </a:rPr>
              <a:t>Example</a:t>
            </a:r>
            <a:r>
              <a:rPr lang="en-US" dirty="0">
                <a:latin typeface="URWPalladioL-Roma"/>
              </a:rPr>
              <a:t>: </a:t>
            </a:r>
            <a:r>
              <a:rPr lang="en-US" dirty="0"/>
              <a:t>a healthcare system where hospitals and clinics, using different software platforms, exchange patient data seamlessly through open standards</a:t>
            </a:r>
          </a:p>
        </p:txBody>
      </p:sp>
    </p:spTree>
    <p:extLst>
      <p:ext uri="{BB962C8B-B14F-4D97-AF65-F5344CB8AC3E}">
        <p14:creationId xmlns:p14="http://schemas.microsoft.com/office/powerpoint/2010/main" val="371861539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37C1800-D66D-B5EF-D616-8696EBCF59F0}"/>
              </a:ext>
            </a:extLst>
          </p:cNvPr>
          <p:cNvSpPr>
            <a:spLocks noGrp="1"/>
          </p:cNvSpPr>
          <p:nvPr>
            <p:ph type="title"/>
          </p:nvPr>
        </p:nvSpPr>
        <p:spPr/>
        <p:txBody>
          <a:bodyPr/>
          <a:lstStyle/>
          <a:p>
            <a:r>
              <a:rPr lang="en-US" dirty="0"/>
              <a:t>Openness: Portability</a:t>
            </a:r>
          </a:p>
        </p:txBody>
      </p:sp>
      <p:sp>
        <p:nvSpPr>
          <p:cNvPr id="5" name="Content Placeholder 4">
            <a:extLst>
              <a:ext uri="{FF2B5EF4-FFF2-40B4-BE49-F238E27FC236}">
                <a16:creationId xmlns:a16="http://schemas.microsoft.com/office/drawing/2014/main" id="{EA23242E-DA39-6E04-8B16-D6615918082D}"/>
              </a:ext>
            </a:extLst>
          </p:cNvPr>
          <p:cNvSpPr>
            <a:spLocks noGrp="1"/>
          </p:cNvSpPr>
          <p:nvPr>
            <p:ph idx="1"/>
          </p:nvPr>
        </p:nvSpPr>
        <p:spPr/>
        <p:txBody>
          <a:bodyPr/>
          <a:lstStyle/>
          <a:p>
            <a:pPr algn="just"/>
            <a:r>
              <a:rPr lang="en-US" sz="2800" b="1" i="0" u="none" strike="noStrike" baseline="0" dirty="0">
                <a:latin typeface="URWPalladioL-Bold"/>
              </a:rPr>
              <a:t>Portability </a:t>
            </a:r>
            <a:r>
              <a:rPr lang="en-US" sz="2800" b="0" i="0" u="none" strike="noStrike" baseline="0" dirty="0">
                <a:latin typeface="URWPalladioL-Roma"/>
              </a:rPr>
              <a:t>characterizes to what extent an application developed for a distributed system </a:t>
            </a:r>
            <a:r>
              <a:rPr lang="en-US" sz="2800" b="0" i="0" u="none" strike="noStrike" baseline="0" dirty="0">
                <a:latin typeface="CMSS10"/>
              </a:rPr>
              <a:t>A </a:t>
            </a:r>
            <a:r>
              <a:rPr lang="en-US" sz="2800" b="0" i="0" u="none" strike="noStrike" baseline="0" dirty="0">
                <a:latin typeface="URWPalladioL-Roma"/>
              </a:rPr>
              <a:t>can be executed, without modification, on a different distributed system </a:t>
            </a:r>
            <a:r>
              <a:rPr lang="en-US" sz="2800" b="0" i="0" u="none" strike="noStrike" baseline="0" dirty="0">
                <a:latin typeface="CMSS10"/>
              </a:rPr>
              <a:t>B </a:t>
            </a:r>
            <a:r>
              <a:rPr lang="en-US" sz="2800" b="0" i="0" u="none" strike="noStrike" baseline="0" dirty="0">
                <a:latin typeface="URWPalladioL-Roma"/>
              </a:rPr>
              <a:t>that implements the same interfaces as </a:t>
            </a:r>
            <a:r>
              <a:rPr lang="en-US" sz="2800" b="0" i="0" u="none" strike="noStrike" baseline="0" dirty="0">
                <a:latin typeface="CMSS10"/>
              </a:rPr>
              <a:t>A</a:t>
            </a:r>
            <a:r>
              <a:rPr lang="en-US" sz="2800" b="0" i="0" u="none" strike="noStrike" baseline="0" dirty="0">
                <a:latin typeface="URWPalladioL-Roma"/>
              </a:rPr>
              <a:t>.</a:t>
            </a:r>
          </a:p>
          <a:p>
            <a:pPr algn="just"/>
            <a:r>
              <a:rPr lang="en-US" b="1" dirty="0">
                <a:latin typeface="URWPalladioL-Roma"/>
              </a:rPr>
              <a:t>Example</a:t>
            </a:r>
            <a:r>
              <a:rPr lang="en-US" dirty="0">
                <a:latin typeface="URWPalladioL-Roma"/>
              </a:rPr>
              <a:t>: </a:t>
            </a:r>
            <a:r>
              <a:rPr lang="en-US" dirty="0"/>
              <a:t>cloud-based application that can be easily moved from one cloud provider, like AWS, to another, such as Google Cloud, without significant modification (containerization technologies like </a:t>
            </a:r>
            <a:r>
              <a:rPr lang="en-US" b="1" dirty="0"/>
              <a:t>Docker)</a:t>
            </a:r>
            <a:endParaRPr lang="en-US" dirty="0"/>
          </a:p>
        </p:txBody>
      </p:sp>
    </p:spTree>
    <p:extLst>
      <p:ext uri="{BB962C8B-B14F-4D97-AF65-F5344CB8AC3E}">
        <p14:creationId xmlns:p14="http://schemas.microsoft.com/office/powerpoint/2010/main" val="42074007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37C1800-D66D-B5EF-D616-8696EBCF59F0}"/>
              </a:ext>
            </a:extLst>
          </p:cNvPr>
          <p:cNvSpPr>
            <a:spLocks noGrp="1"/>
          </p:cNvSpPr>
          <p:nvPr>
            <p:ph type="title"/>
          </p:nvPr>
        </p:nvSpPr>
        <p:spPr/>
        <p:txBody>
          <a:bodyPr/>
          <a:lstStyle/>
          <a:p>
            <a:r>
              <a:rPr lang="en-US" dirty="0"/>
              <a:t>Openness: Extensibility</a:t>
            </a:r>
          </a:p>
        </p:txBody>
      </p:sp>
      <p:sp>
        <p:nvSpPr>
          <p:cNvPr id="5" name="Content Placeholder 4">
            <a:extLst>
              <a:ext uri="{FF2B5EF4-FFF2-40B4-BE49-F238E27FC236}">
                <a16:creationId xmlns:a16="http://schemas.microsoft.com/office/drawing/2014/main" id="{EA23242E-DA39-6E04-8B16-D6615918082D}"/>
              </a:ext>
            </a:extLst>
          </p:cNvPr>
          <p:cNvSpPr>
            <a:spLocks noGrp="1"/>
          </p:cNvSpPr>
          <p:nvPr>
            <p:ph idx="1"/>
          </p:nvPr>
        </p:nvSpPr>
        <p:spPr/>
        <p:txBody>
          <a:bodyPr>
            <a:normAutofit/>
          </a:bodyPr>
          <a:lstStyle/>
          <a:p>
            <a:pPr algn="just"/>
            <a:r>
              <a:rPr lang="en-US" sz="2800" b="0" i="0" u="none" strike="noStrike" baseline="0" dirty="0">
                <a:latin typeface="URWPalladioL-Roma"/>
              </a:rPr>
              <a:t>It should be easy to add new components or replace existing ones without affecting those components that stay in place. In other words, an open distributed system should also be </a:t>
            </a:r>
            <a:r>
              <a:rPr lang="en-US" sz="2800" b="1" i="0" u="none" strike="noStrike" baseline="0" dirty="0">
                <a:latin typeface="URWPalladioL-Bold"/>
              </a:rPr>
              <a:t>extensible</a:t>
            </a:r>
            <a:r>
              <a:rPr lang="en-US" sz="2800" b="0" i="0" u="none" strike="noStrike" baseline="0" dirty="0">
                <a:latin typeface="URWPalladioL-Roma"/>
              </a:rPr>
              <a:t>.</a:t>
            </a:r>
          </a:p>
          <a:p>
            <a:pPr algn="just"/>
            <a:r>
              <a:rPr lang="en-US" dirty="0">
                <a:latin typeface="URWPalladioL-Roma"/>
              </a:rPr>
              <a:t>I</a:t>
            </a:r>
            <a:r>
              <a:rPr lang="en-US" sz="2800" b="0" i="0" u="none" strike="noStrike" baseline="0" dirty="0">
                <a:latin typeface="URWPalladioL-Roma"/>
              </a:rPr>
              <a:t>n an extensible system, it should be relatively easy to add parts that run on a different operating system, or even to replace an entire file system.</a:t>
            </a:r>
          </a:p>
          <a:p>
            <a:pPr algn="just"/>
            <a:r>
              <a:rPr lang="en-US" sz="2800" b="1" i="0" u="none" strike="noStrike" baseline="0" dirty="0">
                <a:latin typeface="URWPalladioL-Roma"/>
              </a:rPr>
              <a:t>Example</a:t>
            </a:r>
            <a:r>
              <a:rPr lang="en-US" sz="2800" b="0" i="0" u="none" strike="noStrike" baseline="0" dirty="0">
                <a:latin typeface="URWPalladioL-Roma"/>
              </a:rPr>
              <a:t>: plug-ins for Web browsers, but also those for Websites, such as the ones used for WordPress.</a:t>
            </a:r>
            <a:endParaRPr lang="en-US" dirty="0"/>
          </a:p>
        </p:txBody>
      </p:sp>
    </p:spTree>
    <p:extLst>
      <p:ext uri="{BB962C8B-B14F-4D97-AF65-F5344CB8AC3E}">
        <p14:creationId xmlns:p14="http://schemas.microsoft.com/office/powerpoint/2010/main" val="393032435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61ED1B-3659-B7C1-080B-9B5E71DE097F}"/>
              </a:ext>
            </a:extLst>
          </p:cNvPr>
          <p:cNvSpPr>
            <a:spLocks noGrp="1"/>
          </p:cNvSpPr>
          <p:nvPr>
            <p:ph type="title"/>
          </p:nvPr>
        </p:nvSpPr>
        <p:spPr/>
        <p:txBody>
          <a:bodyPr/>
          <a:lstStyle/>
          <a:p>
            <a:r>
              <a:rPr lang="en-US" dirty="0"/>
              <a:t>Design Goals of a Distributed Systems</a:t>
            </a:r>
          </a:p>
        </p:txBody>
      </p:sp>
      <p:sp>
        <p:nvSpPr>
          <p:cNvPr id="3" name="Text Placeholder 2">
            <a:extLst>
              <a:ext uri="{FF2B5EF4-FFF2-40B4-BE49-F238E27FC236}">
                <a16:creationId xmlns:a16="http://schemas.microsoft.com/office/drawing/2014/main" id="{651E0CF6-DF3E-9103-BD39-4B63C2F4287F}"/>
              </a:ext>
            </a:extLst>
          </p:cNvPr>
          <p:cNvSpPr>
            <a:spLocks noGrp="1"/>
          </p:cNvSpPr>
          <p:nvPr>
            <p:ph type="body" idx="1"/>
          </p:nvPr>
        </p:nvSpPr>
        <p:spPr/>
        <p:txBody>
          <a:bodyPr>
            <a:normAutofit/>
          </a:bodyPr>
          <a:lstStyle/>
          <a:p>
            <a:r>
              <a:rPr lang="en-US" sz="4000" b="1" dirty="0">
                <a:solidFill>
                  <a:schemeClr val="tx1"/>
                </a:solidFill>
              </a:rPr>
              <a:t>Scalability</a:t>
            </a:r>
          </a:p>
        </p:txBody>
      </p:sp>
    </p:spTree>
    <p:extLst>
      <p:ext uri="{BB962C8B-B14F-4D97-AF65-F5344CB8AC3E}">
        <p14:creationId xmlns:p14="http://schemas.microsoft.com/office/powerpoint/2010/main" val="385547937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C89230-195F-2462-D559-E29C5B03EB32}"/>
              </a:ext>
            </a:extLst>
          </p:cNvPr>
          <p:cNvSpPr>
            <a:spLocks noGrp="1"/>
          </p:cNvSpPr>
          <p:nvPr>
            <p:ph type="title"/>
          </p:nvPr>
        </p:nvSpPr>
        <p:spPr/>
        <p:txBody>
          <a:bodyPr/>
          <a:lstStyle/>
          <a:p>
            <a:r>
              <a:rPr lang="en-US" dirty="0"/>
              <a:t>Scalability dimensions</a:t>
            </a:r>
          </a:p>
        </p:txBody>
      </p:sp>
      <p:sp>
        <p:nvSpPr>
          <p:cNvPr id="3" name="Content Placeholder 2">
            <a:extLst>
              <a:ext uri="{FF2B5EF4-FFF2-40B4-BE49-F238E27FC236}">
                <a16:creationId xmlns:a16="http://schemas.microsoft.com/office/drawing/2014/main" id="{C9D578B7-3208-ED46-0507-D27647E99F00}"/>
              </a:ext>
            </a:extLst>
          </p:cNvPr>
          <p:cNvSpPr>
            <a:spLocks noGrp="1"/>
          </p:cNvSpPr>
          <p:nvPr>
            <p:ph idx="1"/>
          </p:nvPr>
        </p:nvSpPr>
        <p:spPr/>
        <p:txBody>
          <a:bodyPr>
            <a:normAutofit/>
          </a:bodyPr>
          <a:lstStyle/>
          <a:p>
            <a:pPr algn="just"/>
            <a:r>
              <a:rPr lang="en-US" sz="2800" b="1" i="0" u="none" strike="noStrike" baseline="0" dirty="0">
                <a:latin typeface="URWPalladioL-Bold"/>
              </a:rPr>
              <a:t>Size scalability: </a:t>
            </a:r>
            <a:r>
              <a:rPr lang="en-US" sz="2800" b="0" i="0" u="none" strike="noStrike" baseline="0" dirty="0">
                <a:latin typeface="URWPalladioL-Roma"/>
              </a:rPr>
              <a:t>A system can be scalable regarding its size, meaning that we can easily add more users and resources to the system without any noticeable loss of performance.</a:t>
            </a:r>
          </a:p>
          <a:p>
            <a:pPr algn="just"/>
            <a:r>
              <a:rPr lang="en-US" sz="2800" b="1" i="0" u="none" strike="noStrike" baseline="0" dirty="0">
                <a:latin typeface="URWPalladioL-Bold"/>
              </a:rPr>
              <a:t>Geographical scalability: </a:t>
            </a:r>
            <a:r>
              <a:rPr lang="en-US" sz="2800" b="0" i="0" u="none" strike="noStrike" baseline="0" dirty="0">
                <a:latin typeface="URWPalladioL-Roma"/>
              </a:rPr>
              <a:t>A geographically scalable system is one in which the users and resources may lie far apart, but the fact that communication delays may be significant is hardly noticed.</a:t>
            </a:r>
          </a:p>
          <a:p>
            <a:pPr algn="l"/>
            <a:r>
              <a:rPr lang="en-US" sz="2800" b="1" i="0" u="none" strike="noStrike" baseline="0" dirty="0">
                <a:latin typeface="URWPalladioL-Bold"/>
              </a:rPr>
              <a:t>Administrative scalability: </a:t>
            </a:r>
            <a:r>
              <a:rPr lang="en-US" sz="2800" b="0" i="0" u="none" strike="noStrike" baseline="0" dirty="0">
                <a:latin typeface="URWPalladioL-Roma"/>
              </a:rPr>
              <a:t>An administratively scalable system is one that can still be easily managed even if it spans many independent administrative organizations.</a:t>
            </a:r>
            <a:endParaRPr lang="en-US" dirty="0"/>
          </a:p>
        </p:txBody>
      </p:sp>
    </p:spTree>
    <p:extLst>
      <p:ext uri="{BB962C8B-B14F-4D97-AF65-F5344CB8AC3E}">
        <p14:creationId xmlns:p14="http://schemas.microsoft.com/office/powerpoint/2010/main" val="217723167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D4221-77DA-4092-8D64-663BA1212F7B}"/>
              </a:ext>
            </a:extLst>
          </p:cNvPr>
          <p:cNvSpPr>
            <a:spLocks noGrp="1"/>
          </p:cNvSpPr>
          <p:nvPr>
            <p:ph type="title"/>
          </p:nvPr>
        </p:nvSpPr>
        <p:spPr/>
        <p:txBody>
          <a:bodyPr/>
          <a:lstStyle/>
          <a:p>
            <a:r>
              <a:rPr lang="en-US" dirty="0"/>
              <a:t>Size Scalability</a:t>
            </a:r>
          </a:p>
        </p:txBody>
      </p:sp>
      <p:sp>
        <p:nvSpPr>
          <p:cNvPr id="3" name="Content Placeholder 2">
            <a:extLst>
              <a:ext uri="{FF2B5EF4-FFF2-40B4-BE49-F238E27FC236}">
                <a16:creationId xmlns:a16="http://schemas.microsoft.com/office/drawing/2014/main" id="{1C6980D5-5152-4512-BC2F-D4749A5A2480}"/>
              </a:ext>
            </a:extLst>
          </p:cNvPr>
          <p:cNvSpPr>
            <a:spLocks noGrp="1"/>
          </p:cNvSpPr>
          <p:nvPr>
            <p:ph idx="1"/>
          </p:nvPr>
        </p:nvSpPr>
        <p:spPr/>
        <p:txBody>
          <a:bodyPr>
            <a:normAutofit/>
          </a:bodyPr>
          <a:lstStyle/>
          <a:p>
            <a:r>
              <a:rPr lang="en-US" b="1" dirty="0">
                <a:latin typeface="URWPalladioL-Roma"/>
              </a:rPr>
              <a:t>The computational capacity, limited by the CPUs</a:t>
            </a:r>
          </a:p>
          <a:p>
            <a:r>
              <a:rPr lang="en-US" b="1" dirty="0"/>
              <a:t>Example</a:t>
            </a:r>
            <a:r>
              <a:rPr lang="en-US" dirty="0"/>
              <a:t>:</a:t>
            </a:r>
          </a:p>
          <a:p>
            <a:pPr lvl="1"/>
            <a:r>
              <a:rPr lang="en-US" dirty="0"/>
              <a:t>A service for computing optimal routes taking real-time traffic information into account</a:t>
            </a:r>
          </a:p>
          <a:p>
            <a:r>
              <a:rPr lang="en-US" b="1" dirty="0"/>
              <a:t>Problems</a:t>
            </a:r>
            <a:r>
              <a:rPr lang="en-US" dirty="0"/>
              <a:t>:</a:t>
            </a:r>
          </a:p>
          <a:p>
            <a:pPr lvl="1" algn="just"/>
            <a:r>
              <a:rPr lang="en-US" dirty="0"/>
              <a:t>this may be primarily a </a:t>
            </a:r>
            <a:r>
              <a:rPr lang="en-US" i="1" dirty="0"/>
              <a:t>compute-bound</a:t>
            </a:r>
            <a:r>
              <a:rPr lang="en-US" dirty="0"/>
              <a:t> service, requiring several (tens of) seconds to complete a request</a:t>
            </a:r>
          </a:p>
          <a:p>
            <a:pPr lvl="1" algn="just"/>
            <a:r>
              <a:rPr lang="en-US" dirty="0"/>
              <a:t>if there is only a single machine available, then even a modern high-end system will eventually run into problems when the number of requests increases beyond a certain point</a:t>
            </a:r>
          </a:p>
          <a:p>
            <a:endParaRPr lang="en-US" dirty="0"/>
          </a:p>
        </p:txBody>
      </p:sp>
    </p:spTree>
    <p:extLst>
      <p:ext uri="{BB962C8B-B14F-4D97-AF65-F5344CB8AC3E}">
        <p14:creationId xmlns:p14="http://schemas.microsoft.com/office/powerpoint/2010/main" val="116513693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D4221-77DA-4092-8D64-663BA1212F7B}"/>
              </a:ext>
            </a:extLst>
          </p:cNvPr>
          <p:cNvSpPr>
            <a:spLocks noGrp="1"/>
          </p:cNvSpPr>
          <p:nvPr>
            <p:ph type="title"/>
          </p:nvPr>
        </p:nvSpPr>
        <p:spPr/>
        <p:txBody>
          <a:bodyPr/>
          <a:lstStyle/>
          <a:p>
            <a:r>
              <a:rPr lang="en-US" dirty="0"/>
              <a:t>Size Scalability</a:t>
            </a:r>
          </a:p>
        </p:txBody>
      </p:sp>
      <p:sp>
        <p:nvSpPr>
          <p:cNvPr id="3" name="Content Placeholder 2">
            <a:extLst>
              <a:ext uri="{FF2B5EF4-FFF2-40B4-BE49-F238E27FC236}">
                <a16:creationId xmlns:a16="http://schemas.microsoft.com/office/drawing/2014/main" id="{1C6980D5-5152-4512-BC2F-D4749A5A2480}"/>
              </a:ext>
            </a:extLst>
          </p:cNvPr>
          <p:cNvSpPr>
            <a:spLocks noGrp="1"/>
          </p:cNvSpPr>
          <p:nvPr>
            <p:ph idx="1"/>
          </p:nvPr>
        </p:nvSpPr>
        <p:spPr/>
        <p:txBody>
          <a:bodyPr>
            <a:normAutofit/>
          </a:bodyPr>
          <a:lstStyle/>
          <a:p>
            <a:r>
              <a:rPr lang="en-US" b="1" dirty="0">
                <a:latin typeface="URWPalladioL-Roma"/>
              </a:rPr>
              <a:t>The storage capacity, including the I/O transfer rate</a:t>
            </a:r>
          </a:p>
          <a:p>
            <a:r>
              <a:rPr lang="en-US" b="1" dirty="0"/>
              <a:t>Example</a:t>
            </a:r>
            <a:r>
              <a:rPr lang="en-US" dirty="0"/>
              <a:t>:</a:t>
            </a:r>
          </a:p>
          <a:p>
            <a:pPr lvl="1" algn="just"/>
            <a:r>
              <a:rPr lang="en-US" dirty="0"/>
              <a:t>a poorly designed centralized search engine</a:t>
            </a:r>
          </a:p>
          <a:p>
            <a:pPr algn="just"/>
            <a:r>
              <a:rPr lang="en-US" b="1" dirty="0"/>
              <a:t>Problems</a:t>
            </a:r>
            <a:r>
              <a:rPr lang="en-US" dirty="0"/>
              <a:t>:</a:t>
            </a:r>
          </a:p>
          <a:p>
            <a:pPr lvl="1" algn="just"/>
            <a:r>
              <a:rPr lang="en-US" dirty="0"/>
              <a:t>need to match a query against an entire data set</a:t>
            </a:r>
          </a:p>
          <a:p>
            <a:pPr lvl="1"/>
            <a:r>
              <a:rPr lang="en-US" dirty="0"/>
              <a:t>huge amount of data can exceed the main-memory capacity</a:t>
            </a:r>
          </a:p>
          <a:p>
            <a:pPr lvl="1" algn="just"/>
            <a:r>
              <a:rPr lang="en-US" dirty="0"/>
              <a:t>much of the processing time will be determined by the relatively slow disk accesses and transfer of data between disk and main memory</a:t>
            </a:r>
          </a:p>
        </p:txBody>
      </p:sp>
    </p:spTree>
    <p:extLst>
      <p:ext uri="{BB962C8B-B14F-4D97-AF65-F5344CB8AC3E}">
        <p14:creationId xmlns:p14="http://schemas.microsoft.com/office/powerpoint/2010/main" val="372619763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D4221-77DA-4092-8D64-663BA1212F7B}"/>
              </a:ext>
            </a:extLst>
          </p:cNvPr>
          <p:cNvSpPr>
            <a:spLocks noGrp="1"/>
          </p:cNvSpPr>
          <p:nvPr>
            <p:ph type="title"/>
          </p:nvPr>
        </p:nvSpPr>
        <p:spPr/>
        <p:txBody>
          <a:bodyPr/>
          <a:lstStyle/>
          <a:p>
            <a:r>
              <a:rPr lang="en-US" dirty="0"/>
              <a:t>Size Scalability</a:t>
            </a:r>
          </a:p>
        </p:txBody>
      </p:sp>
      <p:sp>
        <p:nvSpPr>
          <p:cNvPr id="3" name="Content Placeholder 2">
            <a:extLst>
              <a:ext uri="{FF2B5EF4-FFF2-40B4-BE49-F238E27FC236}">
                <a16:creationId xmlns:a16="http://schemas.microsoft.com/office/drawing/2014/main" id="{1C6980D5-5152-4512-BC2F-D4749A5A2480}"/>
              </a:ext>
            </a:extLst>
          </p:cNvPr>
          <p:cNvSpPr>
            <a:spLocks noGrp="1"/>
          </p:cNvSpPr>
          <p:nvPr>
            <p:ph idx="1"/>
          </p:nvPr>
        </p:nvSpPr>
        <p:spPr/>
        <p:txBody>
          <a:bodyPr>
            <a:normAutofit/>
          </a:bodyPr>
          <a:lstStyle/>
          <a:p>
            <a:r>
              <a:rPr lang="en-US" b="1" dirty="0"/>
              <a:t>The network between the user and the centralized service</a:t>
            </a:r>
          </a:p>
          <a:p>
            <a:r>
              <a:rPr lang="en-US" b="1" dirty="0"/>
              <a:t>Example</a:t>
            </a:r>
            <a:r>
              <a:rPr lang="en-US" dirty="0"/>
              <a:t>:</a:t>
            </a:r>
          </a:p>
          <a:p>
            <a:pPr lvl="1" algn="just"/>
            <a:r>
              <a:rPr lang="en-US" dirty="0"/>
              <a:t>a video-on-demand service that needs to stream high-quality video to multiple users</a:t>
            </a:r>
          </a:p>
          <a:p>
            <a:r>
              <a:rPr lang="en-US" b="1" dirty="0"/>
              <a:t>Problems</a:t>
            </a:r>
            <a:r>
              <a:rPr lang="en-US" dirty="0"/>
              <a:t>:</a:t>
            </a:r>
          </a:p>
          <a:p>
            <a:pPr lvl="1"/>
            <a:r>
              <a:rPr lang="en-US" dirty="0"/>
              <a:t>a video stream can easily require a bandwidth of 8 to 10</a:t>
            </a:r>
          </a:p>
          <a:p>
            <a:pPr lvl="1" algn="just"/>
            <a:r>
              <a:rPr lang="en-US" dirty="0"/>
              <a:t>if a service sets up point-to-point connections with its customers, it may soon hit the limits of the network capacity</a:t>
            </a:r>
          </a:p>
        </p:txBody>
      </p:sp>
    </p:spTree>
    <p:extLst>
      <p:ext uri="{BB962C8B-B14F-4D97-AF65-F5344CB8AC3E}">
        <p14:creationId xmlns:p14="http://schemas.microsoft.com/office/powerpoint/2010/main" val="317073767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D4221-77DA-4092-8D64-663BA1212F7B}"/>
              </a:ext>
            </a:extLst>
          </p:cNvPr>
          <p:cNvSpPr>
            <a:spLocks noGrp="1"/>
          </p:cNvSpPr>
          <p:nvPr>
            <p:ph type="title"/>
          </p:nvPr>
        </p:nvSpPr>
        <p:spPr/>
        <p:txBody>
          <a:bodyPr/>
          <a:lstStyle/>
          <a:p>
            <a:r>
              <a:rPr lang="en-US" dirty="0"/>
              <a:t>Geographical Scalability</a:t>
            </a:r>
          </a:p>
        </p:txBody>
      </p:sp>
      <p:sp>
        <p:nvSpPr>
          <p:cNvPr id="3" name="Content Placeholder 2">
            <a:extLst>
              <a:ext uri="{FF2B5EF4-FFF2-40B4-BE49-F238E27FC236}">
                <a16:creationId xmlns:a16="http://schemas.microsoft.com/office/drawing/2014/main" id="{1C6980D5-5152-4512-BC2F-D4749A5A2480}"/>
              </a:ext>
            </a:extLst>
          </p:cNvPr>
          <p:cNvSpPr>
            <a:spLocks noGrp="1"/>
          </p:cNvSpPr>
          <p:nvPr>
            <p:ph idx="1"/>
          </p:nvPr>
        </p:nvSpPr>
        <p:spPr/>
        <p:txBody>
          <a:bodyPr>
            <a:normAutofit lnSpcReduction="10000"/>
          </a:bodyPr>
          <a:lstStyle/>
          <a:p>
            <a:pPr algn="just"/>
            <a:r>
              <a:rPr lang="en-US" dirty="0"/>
              <a:t>many of distributed systems designed for local-area networks are based on </a:t>
            </a:r>
            <a:r>
              <a:rPr lang="en-US" b="1" dirty="0"/>
              <a:t>synchronous communication</a:t>
            </a:r>
          </a:p>
          <a:p>
            <a:pPr algn="just"/>
            <a:r>
              <a:rPr lang="en-US" dirty="0"/>
              <a:t>in a wide-area system, we need to consider that inter-process communication may be hundreds of milliseconds</a:t>
            </a:r>
            <a:endParaRPr lang="en-US" b="1" dirty="0"/>
          </a:p>
          <a:p>
            <a:r>
              <a:rPr lang="en-US" b="1" dirty="0"/>
              <a:t>Example</a:t>
            </a:r>
            <a:r>
              <a:rPr lang="en-US" dirty="0"/>
              <a:t>:</a:t>
            </a:r>
          </a:p>
          <a:p>
            <a:pPr algn="just"/>
            <a:r>
              <a:rPr lang="en-US" dirty="0"/>
              <a:t>Streaming video: In a home network, even with wireless links, ensuring a stable, fast stream of high-quality video frames from a media server to a display is quite simple.</a:t>
            </a:r>
          </a:p>
          <a:p>
            <a:r>
              <a:rPr lang="en-US" dirty="0"/>
              <a:t>Simply placing that same server far away will surely fail: </a:t>
            </a:r>
            <a:r>
              <a:rPr lang="en-US" i="1" dirty="0"/>
              <a:t>bandwidth limitations will instantly surface</a:t>
            </a:r>
          </a:p>
        </p:txBody>
      </p:sp>
    </p:spTree>
    <p:extLst>
      <p:ext uri="{BB962C8B-B14F-4D97-AF65-F5344CB8AC3E}">
        <p14:creationId xmlns:p14="http://schemas.microsoft.com/office/powerpoint/2010/main" val="90415301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D4221-77DA-4092-8D64-663BA1212F7B}"/>
              </a:ext>
            </a:extLst>
          </p:cNvPr>
          <p:cNvSpPr>
            <a:spLocks noGrp="1"/>
          </p:cNvSpPr>
          <p:nvPr>
            <p:ph type="title"/>
          </p:nvPr>
        </p:nvSpPr>
        <p:spPr/>
        <p:txBody>
          <a:bodyPr/>
          <a:lstStyle/>
          <a:p>
            <a:r>
              <a:rPr lang="en-US" dirty="0"/>
              <a:t>Administrative Scalability</a:t>
            </a:r>
          </a:p>
        </p:txBody>
      </p:sp>
      <p:sp>
        <p:nvSpPr>
          <p:cNvPr id="3" name="Content Placeholder 2">
            <a:extLst>
              <a:ext uri="{FF2B5EF4-FFF2-40B4-BE49-F238E27FC236}">
                <a16:creationId xmlns:a16="http://schemas.microsoft.com/office/drawing/2014/main" id="{1C6980D5-5152-4512-BC2F-D4749A5A2480}"/>
              </a:ext>
            </a:extLst>
          </p:cNvPr>
          <p:cNvSpPr>
            <a:spLocks noGrp="1"/>
          </p:cNvSpPr>
          <p:nvPr>
            <p:ph idx="1"/>
          </p:nvPr>
        </p:nvSpPr>
        <p:spPr/>
        <p:txBody>
          <a:bodyPr>
            <a:normAutofit/>
          </a:bodyPr>
          <a:lstStyle/>
          <a:p>
            <a:pPr algn="just"/>
            <a:r>
              <a:rPr lang="en-US" dirty="0"/>
              <a:t>The concern is how to scale a distributed system across multiple, independent administrative domains</a:t>
            </a:r>
          </a:p>
          <a:p>
            <a:r>
              <a:rPr lang="en-US" dirty="0"/>
              <a:t>A major problem that needs to be solved is that of conflicting policies regarding resource usage (and payment), management, and security</a:t>
            </a:r>
          </a:p>
          <a:p>
            <a:r>
              <a:rPr lang="en-US" dirty="0"/>
              <a:t>a distributed system that reside within a single domain can often be trusted by users</a:t>
            </a:r>
          </a:p>
          <a:p>
            <a:r>
              <a:rPr lang="en-US" dirty="0"/>
              <a:t>system administration may have tested and certified applications, and may have taken special measures to ensure that such components cannot be tampered with</a:t>
            </a:r>
          </a:p>
        </p:txBody>
      </p:sp>
    </p:spTree>
    <p:extLst>
      <p:ext uri="{BB962C8B-B14F-4D97-AF65-F5344CB8AC3E}">
        <p14:creationId xmlns:p14="http://schemas.microsoft.com/office/powerpoint/2010/main" val="743490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D4221-77DA-4092-8D64-663BA1212F7B}"/>
              </a:ext>
            </a:extLst>
          </p:cNvPr>
          <p:cNvSpPr>
            <a:spLocks noGrp="1"/>
          </p:cNvSpPr>
          <p:nvPr>
            <p:ph type="title"/>
          </p:nvPr>
        </p:nvSpPr>
        <p:spPr/>
        <p:txBody>
          <a:bodyPr/>
          <a:lstStyle/>
          <a:p>
            <a:r>
              <a:rPr lang="en-US" dirty="0"/>
              <a:t>Administrative Scalability</a:t>
            </a:r>
          </a:p>
        </p:txBody>
      </p:sp>
      <p:sp>
        <p:nvSpPr>
          <p:cNvPr id="3" name="Content Placeholder 2">
            <a:extLst>
              <a:ext uri="{FF2B5EF4-FFF2-40B4-BE49-F238E27FC236}">
                <a16:creationId xmlns:a16="http://schemas.microsoft.com/office/drawing/2014/main" id="{1C6980D5-5152-4512-BC2F-D4749A5A2480}"/>
              </a:ext>
            </a:extLst>
          </p:cNvPr>
          <p:cNvSpPr>
            <a:spLocks noGrp="1"/>
          </p:cNvSpPr>
          <p:nvPr>
            <p:ph idx="1"/>
          </p:nvPr>
        </p:nvSpPr>
        <p:spPr/>
        <p:txBody>
          <a:bodyPr>
            <a:normAutofit lnSpcReduction="10000"/>
          </a:bodyPr>
          <a:lstStyle/>
          <a:p>
            <a:r>
              <a:rPr lang="en-US" dirty="0"/>
              <a:t>If a distributed system expands to another domain, two types of security measures need to be taken</a:t>
            </a:r>
          </a:p>
          <a:p>
            <a:r>
              <a:rPr lang="en-US" dirty="0"/>
              <a:t>has to protect itself against malicious attacks from the new domain</a:t>
            </a:r>
          </a:p>
          <a:p>
            <a:pPr lvl="1"/>
            <a:r>
              <a:rPr lang="en-US" dirty="0"/>
              <a:t>Users from the new domain may have only read access to the file system</a:t>
            </a:r>
          </a:p>
          <a:p>
            <a:pPr lvl="1"/>
            <a:r>
              <a:rPr lang="en-US" dirty="0"/>
              <a:t>facilities may not be made available to unauthorized users</a:t>
            </a:r>
          </a:p>
          <a:p>
            <a:pPr algn="just"/>
            <a:r>
              <a:rPr lang="en-US" dirty="0"/>
              <a:t>has to protect itself against malicious attacks from the distributed system</a:t>
            </a:r>
          </a:p>
          <a:p>
            <a:pPr algn="just"/>
            <a:r>
              <a:rPr lang="en-US" b="1" dirty="0"/>
              <a:t>Counterexample</a:t>
            </a:r>
            <a:r>
              <a:rPr lang="en-US" dirty="0"/>
              <a:t>: some distributed systems spanning multiple administrative domains that apparently do not suffer from administrative scalability problems (e.g., modern file-sharing peer-to-peer networks)</a:t>
            </a:r>
          </a:p>
        </p:txBody>
      </p:sp>
    </p:spTree>
    <p:extLst>
      <p:ext uri="{BB962C8B-B14F-4D97-AF65-F5344CB8AC3E}">
        <p14:creationId xmlns:p14="http://schemas.microsoft.com/office/powerpoint/2010/main" val="3244995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389</TotalTime>
  <Words>2819</Words>
  <Application>Microsoft Office PowerPoint</Application>
  <PresentationFormat>Widescreen</PresentationFormat>
  <Paragraphs>233</Paragraphs>
  <Slides>44</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44</vt:i4>
      </vt:variant>
    </vt:vector>
  </HeadingPairs>
  <TitlesOfParts>
    <vt:vector size="54" baseType="lpstr">
      <vt:lpstr>Arial</vt:lpstr>
      <vt:lpstr>Calibri</vt:lpstr>
      <vt:lpstr>Calibri Light</vt:lpstr>
      <vt:lpstr>CMSS10</vt:lpstr>
      <vt:lpstr>Google Sans Display</vt:lpstr>
      <vt:lpstr>Inconsolatazi4-Regular</vt:lpstr>
      <vt:lpstr>Lato</vt:lpstr>
      <vt:lpstr>URWPalladioL-Bold</vt:lpstr>
      <vt:lpstr>URWPalladioL-Roma</vt:lpstr>
      <vt:lpstr>Office Theme</vt:lpstr>
      <vt:lpstr>CSE 601: Distributed Systems</vt:lpstr>
      <vt:lpstr>Course Overview</vt:lpstr>
      <vt:lpstr>Marks Distribution</vt:lpstr>
      <vt:lpstr>Google Classroom</vt:lpstr>
      <vt:lpstr>Introduction to Distributed System</vt:lpstr>
      <vt:lpstr>Definition of a Distributed System </vt:lpstr>
      <vt:lpstr>Examples of distributed systems</vt:lpstr>
      <vt:lpstr>Example</vt:lpstr>
      <vt:lpstr>Distributed versus decentralized systems</vt:lpstr>
      <vt:lpstr>Distributed versus decentralized systems</vt:lpstr>
      <vt:lpstr>Why make a system distributed? </vt:lpstr>
      <vt:lpstr>Advantages of Distributed Systems</vt:lpstr>
      <vt:lpstr>Advantages of Distributed Systems</vt:lpstr>
      <vt:lpstr>Why NOT make a system distributed? </vt:lpstr>
      <vt:lpstr>Challenges of Distributed Systems</vt:lpstr>
      <vt:lpstr>Challenges of Distributed Systems</vt:lpstr>
      <vt:lpstr>Challenges of Distributed Systems</vt:lpstr>
      <vt:lpstr>Challenges of Distributed Systems</vt:lpstr>
      <vt:lpstr>Design Goals of a Distributed Systems</vt:lpstr>
      <vt:lpstr>Making Resource Accessible</vt:lpstr>
      <vt:lpstr>Making Resource Accessible</vt:lpstr>
      <vt:lpstr>Design Goals of a Distributed Systems</vt:lpstr>
      <vt:lpstr>Distribution transparency</vt:lpstr>
      <vt:lpstr>Types of distribution transparency</vt:lpstr>
      <vt:lpstr>Access Transparency</vt:lpstr>
      <vt:lpstr>Location Transparency</vt:lpstr>
      <vt:lpstr>Migration Transparency</vt:lpstr>
      <vt:lpstr>Relocation Transparency</vt:lpstr>
      <vt:lpstr>Replication Transparency </vt:lpstr>
      <vt:lpstr>Concurrency Transparency</vt:lpstr>
      <vt:lpstr>Failure Transparency</vt:lpstr>
      <vt:lpstr>Design Goals of a Distributed Systems</vt:lpstr>
      <vt:lpstr>Openness</vt:lpstr>
      <vt:lpstr>Openness: Interoperability</vt:lpstr>
      <vt:lpstr>Openness: Portability</vt:lpstr>
      <vt:lpstr>Openness: Extensibility</vt:lpstr>
      <vt:lpstr>Design Goals of a Distributed Systems</vt:lpstr>
      <vt:lpstr>Scalability dimensions</vt:lpstr>
      <vt:lpstr>Size Scalability</vt:lpstr>
      <vt:lpstr>Size Scalability</vt:lpstr>
      <vt:lpstr>Size Scalability</vt:lpstr>
      <vt:lpstr>Geographical Scalability</vt:lpstr>
      <vt:lpstr>Administrative Scalability</vt:lpstr>
      <vt:lpstr>Administrative Scalability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 601: Distributed Systems</dc:title>
  <dc:creator>Toukir Ahammed</dc:creator>
  <cp:lastModifiedBy>Toukir Ahammed</cp:lastModifiedBy>
  <cp:revision>11</cp:revision>
  <dcterms:created xsi:type="dcterms:W3CDTF">2024-09-23T18:23:08Z</dcterms:created>
  <dcterms:modified xsi:type="dcterms:W3CDTF">2024-09-26T04:26:38Z</dcterms:modified>
</cp:coreProperties>
</file>