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98" r:id="rId9"/>
    <p:sldId id="266" r:id="rId10"/>
    <p:sldId id="267" r:id="rId11"/>
    <p:sldId id="268" r:id="rId12"/>
    <p:sldId id="269" r:id="rId13"/>
    <p:sldId id="270" r:id="rId14"/>
    <p:sldId id="299" r:id="rId15"/>
    <p:sldId id="300" r:id="rId16"/>
    <p:sldId id="271" r:id="rId17"/>
    <p:sldId id="273" r:id="rId18"/>
    <p:sldId id="272" r:id="rId19"/>
    <p:sldId id="297" r:id="rId20"/>
    <p:sldId id="301" r:id="rId21"/>
    <p:sldId id="274" r:id="rId22"/>
    <p:sldId id="275" r:id="rId23"/>
    <p:sldId id="302" r:id="rId24"/>
    <p:sldId id="295" r:id="rId25"/>
    <p:sldId id="294" r:id="rId26"/>
  </p:sldIdLst>
  <p:sldSz cx="18288000" cy="10287000"/>
  <p:notesSz cx="6858000" cy="9144000"/>
  <p:embeddedFontLst>
    <p:embeddedFont>
      <p:font typeface="Almarai"/>
      <p:regular r:id="rId28"/>
    </p:embeddedFont>
    <p:embeddedFont>
      <p:font typeface="Almarai Bold"/>
      <p:regular r:id="rId29"/>
    </p:embeddedFont>
    <p:embeddedFont>
      <p:font typeface="Almarai Ultra-Bold"/>
      <p:regular r:id="rId30"/>
    </p:embeddedFont>
    <p:embeddedFont>
      <p:font typeface="Canva Sans"/>
      <p:regular r:id="rId31"/>
    </p:embeddedFont>
    <p:embeddedFont>
      <p:font typeface="Canva Sans Bold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0" autoAdjust="0"/>
    <p:restoredTop sz="94579" autoAdjust="0"/>
  </p:normalViewPr>
  <p:slideViewPr>
    <p:cSldViewPr>
      <p:cViewPr varScale="1">
        <p:scale>
          <a:sx n="51" d="100"/>
          <a:sy n="51" d="100"/>
        </p:scale>
        <p:origin x="272" y="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F62C39-62EB-654B-866D-4A8CE4D61F66}" type="doc">
      <dgm:prSet loTypeId="urn:microsoft.com/office/officeart/2005/8/layout/hProcess9" loCatId="" qsTypeId="urn:microsoft.com/office/officeart/2005/8/quickstyle/simple1" qsCatId="simple" csTypeId="urn:microsoft.com/office/officeart/2005/8/colors/accent1_2" csCatId="accent1" phldr="1"/>
      <dgm:spPr/>
    </dgm:pt>
    <dgm:pt modelId="{7BE09065-2780-FB43-87C4-6FC96F07551B}">
      <dgm:prSet phldrT="[Text]"/>
      <dgm:spPr/>
      <dgm:t>
        <a:bodyPr/>
        <a:lstStyle/>
        <a:p>
          <a:r>
            <a:rPr lang="en-US" dirty="0"/>
            <a:t>Data Collection</a:t>
          </a:r>
        </a:p>
      </dgm:t>
    </dgm:pt>
    <dgm:pt modelId="{B2A3A982-D269-D34A-BE6C-4DC820171B4E}" type="parTrans" cxnId="{8E625506-461E-164E-9674-4CFFBAB1A2BA}">
      <dgm:prSet/>
      <dgm:spPr/>
      <dgm:t>
        <a:bodyPr/>
        <a:lstStyle/>
        <a:p>
          <a:endParaRPr lang="en-US"/>
        </a:p>
      </dgm:t>
    </dgm:pt>
    <dgm:pt modelId="{EA262464-2957-7140-9F1A-7B01248D483C}" type="sibTrans" cxnId="{8E625506-461E-164E-9674-4CFFBAB1A2BA}">
      <dgm:prSet/>
      <dgm:spPr/>
      <dgm:t>
        <a:bodyPr/>
        <a:lstStyle/>
        <a:p>
          <a:endParaRPr lang="en-US"/>
        </a:p>
      </dgm:t>
    </dgm:pt>
    <dgm:pt modelId="{D0BA480D-6468-E04D-8BDA-E17B782AC1C7}">
      <dgm:prSet phldrT="[Text]"/>
      <dgm:spPr/>
      <dgm:t>
        <a:bodyPr/>
        <a:lstStyle/>
        <a:p>
          <a:r>
            <a:rPr lang="en-US" dirty="0"/>
            <a:t>ML</a:t>
          </a:r>
        </a:p>
      </dgm:t>
    </dgm:pt>
    <dgm:pt modelId="{95DD3A1E-A23B-CA40-A022-ECFE29EAC60E}" type="parTrans" cxnId="{451704D5-3CB3-124D-BA25-F0A96A3F9861}">
      <dgm:prSet/>
      <dgm:spPr/>
      <dgm:t>
        <a:bodyPr/>
        <a:lstStyle/>
        <a:p>
          <a:endParaRPr lang="en-US"/>
        </a:p>
      </dgm:t>
    </dgm:pt>
    <dgm:pt modelId="{CAE10B63-728E-574E-9F92-A4104D16A956}" type="sibTrans" cxnId="{451704D5-3CB3-124D-BA25-F0A96A3F9861}">
      <dgm:prSet/>
      <dgm:spPr/>
      <dgm:t>
        <a:bodyPr/>
        <a:lstStyle/>
        <a:p>
          <a:endParaRPr lang="en-US"/>
        </a:p>
      </dgm:t>
    </dgm:pt>
    <dgm:pt modelId="{58CF5002-FA47-1841-981F-96976F06D355}">
      <dgm:prSet phldrT="[Text]"/>
      <dgm:spPr/>
      <dgm:t>
        <a:bodyPr/>
        <a:lstStyle/>
        <a:p>
          <a:r>
            <a:rPr lang="en-US" dirty="0"/>
            <a:t>Scoring</a:t>
          </a:r>
        </a:p>
      </dgm:t>
    </dgm:pt>
    <dgm:pt modelId="{8DA96038-0A0A-AC43-8894-AF04CA03F13A}" type="parTrans" cxnId="{42530542-3A9F-9149-8D1A-9C50852D8FFF}">
      <dgm:prSet/>
      <dgm:spPr/>
      <dgm:t>
        <a:bodyPr/>
        <a:lstStyle/>
        <a:p>
          <a:endParaRPr lang="en-US"/>
        </a:p>
      </dgm:t>
    </dgm:pt>
    <dgm:pt modelId="{579A4E17-C5DE-F949-8D5A-D45172C8BFEB}" type="sibTrans" cxnId="{42530542-3A9F-9149-8D1A-9C50852D8FFF}">
      <dgm:prSet/>
      <dgm:spPr/>
      <dgm:t>
        <a:bodyPr/>
        <a:lstStyle/>
        <a:p>
          <a:endParaRPr lang="en-US"/>
        </a:p>
      </dgm:t>
    </dgm:pt>
    <dgm:pt modelId="{82F6F9F3-67AB-5248-ABA8-C7D3FFC6A297}" type="pres">
      <dgm:prSet presAssocID="{6AF62C39-62EB-654B-866D-4A8CE4D61F66}" presName="CompostProcess" presStyleCnt="0">
        <dgm:presLayoutVars>
          <dgm:dir/>
          <dgm:resizeHandles val="exact"/>
        </dgm:presLayoutVars>
      </dgm:prSet>
      <dgm:spPr/>
    </dgm:pt>
    <dgm:pt modelId="{8B0CF31A-3087-7C47-996D-C72BC8AE72FA}" type="pres">
      <dgm:prSet presAssocID="{6AF62C39-62EB-654B-866D-4A8CE4D61F66}" presName="arrow" presStyleLbl="bgShp" presStyleIdx="0" presStyleCnt="1"/>
      <dgm:spPr/>
    </dgm:pt>
    <dgm:pt modelId="{3AAC0FA7-408D-8B4C-BABE-5E209991C4EE}" type="pres">
      <dgm:prSet presAssocID="{6AF62C39-62EB-654B-866D-4A8CE4D61F66}" presName="linearProcess" presStyleCnt="0"/>
      <dgm:spPr/>
    </dgm:pt>
    <dgm:pt modelId="{1001E19A-6F4B-3940-875C-97F865C0DB6B}" type="pres">
      <dgm:prSet presAssocID="{7BE09065-2780-FB43-87C4-6FC96F07551B}" presName="textNode" presStyleLbl="node1" presStyleIdx="0" presStyleCnt="3">
        <dgm:presLayoutVars>
          <dgm:bulletEnabled val="1"/>
        </dgm:presLayoutVars>
      </dgm:prSet>
      <dgm:spPr/>
    </dgm:pt>
    <dgm:pt modelId="{F662B8AF-CA6E-244F-9108-4912F5787D1F}" type="pres">
      <dgm:prSet presAssocID="{EA262464-2957-7140-9F1A-7B01248D483C}" presName="sibTrans" presStyleCnt="0"/>
      <dgm:spPr/>
    </dgm:pt>
    <dgm:pt modelId="{FFA10F1A-339F-5744-9B00-99617A5F3E5C}" type="pres">
      <dgm:prSet presAssocID="{D0BA480D-6468-E04D-8BDA-E17B782AC1C7}" presName="textNode" presStyleLbl="node1" presStyleIdx="1" presStyleCnt="3" custLinFactNeighborY="-702">
        <dgm:presLayoutVars>
          <dgm:bulletEnabled val="1"/>
        </dgm:presLayoutVars>
      </dgm:prSet>
      <dgm:spPr/>
    </dgm:pt>
    <dgm:pt modelId="{B9699FDF-DF75-454B-B556-CA43077E2FEC}" type="pres">
      <dgm:prSet presAssocID="{CAE10B63-728E-574E-9F92-A4104D16A956}" presName="sibTrans" presStyleCnt="0"/>
      <dgm:spPr/>
    </dgm:pt>
    <dgm:pt modelId="{D7B5B4D5-D7B2-674F-9228-27950B0EB153}" type="pres">
      <dgm:prSet presAssocID="{58CF5002-FA47-1841-981F-96976F06D355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E625506-461E-164E-9674-4CFFBAB1A2BA}" srcId="{6AF62C39-62EB-654B-866D-4A8CE4D61F66}" destId="{7BE09065-2780-FB43-87C4-6FC96F07551B}" srcOrd="0" destOrd="0" parTransId="{B2A3A982-D269-D34A-BE6C-4DC820171B4E}" sibTransId="{EA262464-2957-7140-9F1A-7B01248D483C}"/>
    <dgm:cxn modelId="{6BBB7807-E5A5-AB4A-93FF-AD38E2F0AE52}" type="presOf" srcId="{D0BA480D-6468-E04D-8BDA-E17B782AC1C7}" destId="{FFA10F1A-339F-5744-9B00-99617A5F3E5C}" srcOrd="0" destOrd="0" presId="urn:microsoft.com/office/officeart/2005/8/layout/hProcess9"/>
    <dgm:cxn modelId="{EB6D8A1C-0C4B-DD45-8E91-5B9AEDFB1A27}" type="presOf" srcId="{6AF62C39-62EB-654B-866D-4A8CE4D61F66}" destId="{82F6F9F3-67AB-5248-ABA8-C7D3FFC6A297}" srcOrd="0" destOrd="0" presId="urn:microsoft.com/office/officeart/2005/8/layout/hProcess9"/>
    <dgm:cxn modelId="{3F984C31-8121-BB46-8CA7-A583CADB1D7B}" type="presOf" srcId="{58CF5002-FA47-1841-981F-96976F06D355}" destId="{D7B5B4D5-D7B2-674F-9228-27950B0EB153}" srcOrd="0" destOrd="0" presId="urn:microsoft.com/office/officeart/2005/8/layout/hProcess9"/>
    <dgm:cxn modelId="{42530542-3A9F-9149-8D1A-9C50852D8FFF}" srcId="{6AF62C39-62EB-654B-866D-4A8CE4D61F66}" destId="{58CF5002-FA47-1841-981F-96976F06D355}" srcOrd="2" destOrd="0" parTransId="{8DA96038-0A0A-AC43-8894-AF04CA03F13A}" sibTransId="{579A4E17-C5DE-F949-8D5A-D45172C8BFEB}"/>
    <dgm:cxn modelId="{BF50D38C-0DBA-8346-B138-974EBC2A20B1}" type="presOf" srcId="{7BE09065-2780-FB43-87C4-6FC96F07551B}" destId="{1001E19A-6F4B-3940-875C-97F865C0DB6B}" srcOrd="0" destOrd="0" presId="urn:microsoft.com/office/officeart/2005/8/layout/hProcess9"/>
    <dgm:cxn modelId="{451704D5-3CB3-124D-BA25-F0A96A3F9861}" srcId="{6AF62C39-62EB-654B-866D-4A8CE4D61F66}" destId="{D0BA480D-6468-E04D-8BDA-E17B782AC1C7}" srcOrd="1" destOrd="0" parTransId="{95DD3A1E-A23B-CA40-A022-ECFE29EAC60E}" sibTransId="{CAE10B63-728E-574E-9F92-A4104D16A956}"/>
    <dgm:cxn modelId="{A12AD4D2-6FDB-6243-8D85-33D1EA88035F}" type="presParOf" srcId="{82F6F9F3-67AB-5248-ABA8-C7D3FFC6A297}" destId="{8B0CF31A-3087-7C47-996D-C72BC8AE72FA}" srcOrd="0" destOrd="0" presId="urn:microsoft.com/office/officeart/2005/8/layout/hProcess9"/>
    <dgm:cxn modelId="{1A9160E1-6776-2B43-9314-C47C969FEE05}" type="presParOf" srcId="{82F6F9F3-67AB-5248-ABA8-C7D3FFC6A297}" destId="{3AAC0FA7-408D-8B4C-BABE-5E209991C4EE}" srcOrd="1" destOrd="0" presId="urn:microsoft.com/office/officeart/2005/8/layout/hProcess9"/>
    <dgm:cxn modelId="{31FF66AD-78E8-384C-A89A-06803929EA67}" type="presParOf" srcId="{3AAC0FA7-408D-8B4C-BABE-5E209991C4EE}" destId="{1001E19A-6F4B-3940-875C-97F865C0DB6B}" srcOrd="0" destOrd="0" presId="urn:microsoft.com/office/officeart/2005/8/layout/hProcess9"/>
    <dgm:cxn modelId="{EF30212C-9478-CE4A-8366-11CF8BE68A1F}" type="presParOf" srcId="{3AAC0FA7-408D-8B4C-BABE-5E209991C4EE}" destId="{F662B8AF-CA6E-244F-9108-4912F5787D1F}" srcOrd="1" destOrd="0" presId="urn:microsoft.com/office/officeart/2005/8/layout/hProcess9"/>
    <dgm:cxn modelId="{39AE764B-4E49-EC4F-A5F8-50B584958B17}" type="presParOf" srcId="{3AAC0FA7-408D-8B4C-BABE-5E209991C4EE}" destId="{FFA10F1A-339F-5744-9B00-99617A5F3E5C}" srcOrd="2" destOrd="0" presId="urn:microsoft.com/office/officeart/2005/8/layout/hProcess9"/>
    <dgm:cxn modelId="{96102610-3793-9849-81CF-E77AF9E58A3E}" type="presParOf" srcId="{3AAC0FA7-408D-8B4C-BABE-5E209991C4EE}" destId="{B9699FDF-DF75-454B-B556-CA43077E2FEC}" srcOrd="3" destOrd="0" presId="urn:microsoft.com/office/officeart/2005/8/layout/hProcess9"/>
    <dgm:cxn modelId="{09D9884A-B4CA-5C47-9E99-7EDA3C51C77A}" type="presParOf" srcId="{3AAC0FA7-408D-8B4C-BABE-5E209991C4EE}" destId="{D7B5B4D5-D7B2-674F-9228-27950B0EB153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3FBEDF-873A-614E-8389-1E6150A1915B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67A273-10B2-6F4E-92CC-5271C907C2EB}">
      <dgm:prSet phldrT="[Text]"/>
      <dgm:spPr/>
      <dgm:t>
        <a:bodyPr/>
        <a:lstStyle/>
        <a:p>
          <a:r>
            <a:rPr lang="en-US" dirty="0"/>
            <a:t>CVSS Attributes</a:t>
          </a:r>
        </a:p>
      </dgm:t>
    </dgm:pt>
    <dgm:pt modelId="{06F43403-91E9-6245-8CA0-DAE9ACF24E68}" type="parTrans" cxnId="{4A7270A6-50B3-344A-B6CE-7B006EC1C714}">
      <dgm:prSet/>
      <dgm:spPr/>
      <dgm:t>
        <a:bodyPr/>
        <a:lstStyle/>
        <a:p>
          <a:endParaRPr lang="en-US"/>
        </a:p>
      </dgm:t>
    </dgm:pt>
    <dgm:pt modelId="{0E06D22C-D660-734A-BE53-C7C4C3B9B0D3}" type="sibTrans" cxnId="{4A7270A6-50B3-344A-B6CE-7B006EC1C714}">
      <dgm:prSet/>
      <dgm:spPr/>
      <dgm:t>
        <a:bodyPr/>
        <a:lstStyle/>
        <a:p>
          <a:endParaRPr lang="en-US"/>
        </a:p>
      </dgm:t>
    </dgm:pt>
    <dgm:pt modelId="{136C3E1F-AA3A-0E41-A098-B494C2F3D3EB}">
      <dgm:prSet phldrT="[Text]"/>
      <dgm:spPr/>
      <dgm:t>
        <a:bodyPr/>
        <a:lstStyle/>
        <a:p>
          <a:pPr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Exploitation complexity</a:t>
          </a:r>
          <a:endParaRPr lang="en-US" dirty="0"/>
        </a:p>
      </dgm:t>
    </dgm:pt>
    <dgm:pt modelId="{2168B94A-9F59-B54C-A776-ECE363CEC9B8}" type="parTrans" cxnId="{59BBB917-DBD9-B741-B7D5-32B00CBEEB29}">
      <dgm:prSet/>
      <dgm:spPr/>
      <dgm:t>
        <a:bodyPr/>
        <a:lstStyle/>
        <a:p>
          <a:endParaRPr lang="en-US"/>
        </a:p>
      </dgm:t>
    </dgm:pt>
    <dgm:pt modelId="{66CD4AA5-1722-C745-880E-7860881D76CA}" type="sibTrans" cxnId="{59BBB917-DBD9-B741-B7D5-32B00CBEEB29}">
      <dgm:prSet/>
      <dgm:spPr/>
      <dgm:t>
        <a:bodyPr/>
        <a:lstStyle/>
        <a:p>
          <a:endParaRPr lang="en-US"/>
        </a:p>
      </dgm:t>
    </dgm:pt>
    <dgm:pt modelId="{F31F0730-7F8B-7C40-89C8-5906A937B782}">
      <dgm:prSet phldrT="[Text]"/>
      <dgm:spPr/>
      <dgm:t>
        <a:bodyPr/>
        <a:lstStyle/>
        <a:p>
          <a:r>
            <a:rPr lang="en-US" dirty="0"/>
            <a:t>Historical Data</a:t>
          </a:r>
        </a:p>
      </dgm:t>
    </dgm:pt>
    <dgm:pt modelId="{19BCD444-465F-7A47-9950-83BCAF736A12}" type="parTrans" cxnId="{03396116-CD3B-B74D-96B6-318D0A3A8632}">
      <dgm:prSet/>
      <dgm:spPr/>
      <dgm:t>
        <a:bodyPr/>
        <a:lstStyle/>
        <a:p>
          <a:endParaRPr lang="en-US"/>
        </a:p>
      </dgm:t>
    </dgm:pt>
    <dgm:pt modelId="{49301DEA-B9D0-7641-8FD8-BFFB400E46AB}" type="sibTrans" cxnId="{03396116-CD3B-B74D-96B6-318D0A3A8632}">
      <dgm:prSet/>
      <dgm:spPr/>
      <dgm:t>
        <a:bodyPr/>
        <a:lstStyle/>
        <a:p>
          <a:endParaRPr lang="en-US"/>
        </a:p>
      </dgm:t>
    </dgm:pt>
    <dgm:pt modelId="{128D0AD5-485F-2541-A959-C1B3C169E62C}">
      <dgm:prSet phldrT="[Text]"/>
      <dgm:spPr/>
      <dgm:t>
        <a:bodyPr/>
        <a:lstStyle/>
        <a:p>
          <a:pPr>
            <a:buFont typeface="Wingdings" pitchFamily="2" charset="2"/>
            <a:buChar char="q"/>
          </a:pPr>
          <a:r>
            <a:rPr lang="en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Previous vulnerability exploitation trend</a:t>
          </a:r>
          <a:endParaRPr lang="en-US" dirty="0"/>
        </a:p>
      </dgm:t>
    </dgm:pt>
    <dgm:pt modelId="{763AD87A-1C5C-AB4C-B8BE-71B03723CD03}" type="parTrans" cxnId="{88277CC1-7C93-6B43-82BF-9D3527CE7E92}">
      <dgm:prSet/>
      <dgm:spPr/>
      <dgm:t>
        <a:bodyPr/>
        <a:lstStyle/>
        <a:p>
          <a:endParaRPr lang="en-US"/>
        </a:p>
      </dgm:t>
    </dgm:pt>
    <dgm:pt modelId="{01FC1039-42EB-7643-BE62-2BCA3AA74151}" type="sibTrans" cxnId="{88277CC1-7C93-6B43-82BF-9D3527CE7E92}">
      <dgm:prSet/>
      <dgm:spPr/>
      <dgm:t>
        <a:bodyPr/>
        <a:lstStyle/>
        <a:p>
          <a:endParaRPr lang="en-US"/>
        </a:p>
      </dgm:t>
    </dgm:pt>
    <dgm:pt modelId="{90247710-09E3-D443-997B-B1F587D5CF81}">
      <dgm:prSet phldrT="[Text]"/>
      <dgm:spPr/>
      <dgm:t>
        <a:bodyPr/>
        <a:lstStyle/>
        <a:p>
          <a:r>
            <a:rPr lang="en-US" dirty="0"/>
            <a:t>Public Vulnerability Database</a:t>
          </a:r>
        </a:p>
      </dgm:t>
    </dgm:pt>
    <dgm:pt modelId="{5CB3CBF6-24A5-974E-85DC-252B13D7D08F}" type="parTrans" cxnId="{AE0948CA-9511-4D43-BF2F-3B5630ADA40E}">
      <dgm:prSet/>
      <dgm:spPr/>
      <dgm:t>
        <a:bodyPr/>
        <a:lstStyle/>
        <a:p>
          <a:endParaRPr lang="en-US"/>
        </a:p>
      </dgm:t>
    </dgm:pt>
    <dgm:pt modelId="{EB9BC61A-B78E-2F48-A6F9-CDC89E676A55}" type="sibTrans" cxnId="{AE0948CA-9511-4D43-BF2F-3B5630ADA40E}">
      <dgm:prSet/>
      <dgm:spPr/>
      <dgm:t>
        <a:bodyPr/>
        <a:lstStyle/>
        <a:p>
          <a:endParaRPr lang="en-US"/>
        </a:p>
      </dgm:t>
    </dgm:pt>
    <dgm:pt modelId="{7700AA03-AB95-C546-B844-A0F61427D78D}">
      <dgm:prSet phldrT="[Text]" custT="1"/>
      <dgm:spPr/>
      <dgm:t>
        <a:bodyPr/>
        <a:lstStyle/>
        <a:p>
          <a:pPr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Information from databases like NVD (National Vulnerability Database)</a:t>
          </a:r>
          <a:endParaRPr lang="en-US" sz="4200" kern="1200" dirty="0"/>
        </a:p>
      </dgm:t>
    </dgm:pt>
    <dgm:pt modelId="{7D463E5A-9F37-434F-81E1-879250065030}" type="parTrans" cxnId="{676C8AB4-C626-0F49-9797-70AD72CC7D6F}">
      <dgm:prSet/>
      <dgm:spPr/>
      <dgm:t>
        <a:bodyPr/>
        <a:lstStyle/>
        <a:p>
          <a:endParaRPr lang="en-US"/>
        </a:p>
      </dgm:t>
    </dgm:pt>
    <dgm:pt modelId="{19772A4A-80B1-E746-89DC-33B9F2CF40A3}" type="sibTrans" cxnId="{676C8AB4-C626-0F49-9797-70AD72CC7D6F}">
      <dgm:prSet/>
      <dgm:spPr/>
      <dgm:t>
        <a:bodyPr/>
        <a:lstStyle/>
        <a:p>
          <a:endParaRPr lang="en-US"/>
        </a:p>
      </dgm:t>
    </dgm:pt>
    <dgm:pt modelId="{18F47296-6C99-E145-B028-93AF7006298A}">
      <dgm:prSet phldrT="[Text]"/>
      <dgm:spPr/>
      <dgm:t>
        <a:bodyPr/>
        <a:lstStyle/>
        <a:p>
          <a:pPr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Attack vector</a:t>
          </a:r>
          <a:endParaRPr lang="en-US" dirty="0"/>
        </a:p>
      </dgm:t>
    </dgm:pt>
    <dgm:pt modelId="{7EBA1BD3-B16A-234F-81C1-4C8B541A09EE}" type="parTrans" cxnId="{DF887C45-549F-BF40-AEB6-4B87FB78C697}">
      <dgm:prSet/>
      <dgm:spPr/>
      <dgm:t>
        <a:bodyPr/>
        <a:lstStyle/>
        <a:p>
          <a:endParaRPr lang="en-US"/>
        </a:p>
      </dgm:t>
    </dgm:pt>
    <dgm:pt modelId="{04D26AB4-1831-E041-AAC2-DF969DE3D55E}" type="sibTrans" cxnId="{DF887C45-549F-BF40-AEB6-4B87FB78C697}">
      <dgm:prSet/>
      <dgm:spPr/>
      <dgm:t>
        <a:bodyPr/>
        <a:lstStyle/>
        <a:p>
          <a:endParaRPr lang="en-US"/>
        </a:p>
      </dgm:t>
    </dgm:pt>
    <dgm:pt modelId="{C40D2A08-80A4-1C4C-914E-C6C90BA7B21A}">
      <dgm:prSet phldrT="[Text]"/>
      <dgm:spPr/>
      <dgm:t>
        <a:bodyPr/>
        <a:lstStyle/>
        <a:p>
          <a:pPr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b="0" i="0" u="none" strike="noStrike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Confidentiality, integrity, and availability impact</a:t>
          </a:r>
          <a:endParaRPr lang="en-US" dirty="0"/>
        </a:p>
      </dgm:t>
    </dgm:pt>
    <dgm:pt modelId="{8B560B22-85B0-2B48-A643-1F53C61FE8DA}" type="parTrans" cxnId="{AC07613B-70A9-0C49-8741-45C0DF6509A0}">
      <dgm:prSet/>
      <dgm:spPr/>
      <dgm:t>
        <a:bodyPr/>
        <a:lstStyle/>
        <a:p>
          <a:endParaRPr lang="en-US"/>
        </a:p>
      </dgm:t>
    </dgm:pt>
    <dgm:pt modelId="{769E4D18-2D24-894C-BBA9-D7565D45CE65}" type="sibTrans" cxnId="{AC07613B-70A9-0C49-8741-45C0DF6509A0}">
      <dgm:prSet/>
      <dgm:spPr/>
      <dgm:t>
        <a:bodyPr/>
        <a:lstStyle/>
        <a:p>
          <a:endParaRPr lang="en-US"/>
        </a:p>
      </dgm:t>
    </dgm:pt>
    <dgm:pt modelId="{0BDF71D2-8123-F740-9BDB-F7452511710E}">
      <dgm:prSet phldrT="[Text]"/>
      <dgm:spPr/>
      <dgm:t>
        <a:bodyPr/>
        <a:lstStyle/>
        <a:p>
          <a:pPr>
            <a:buFont typeface="Wingdings" pitchFamily="2" charset="2"/>
            <a:buChar char="q"/>
          </a:pPr>
          <a:r>
            <a:rPr lang="en-US" dirty="0"/>
            <a:t> Current threat landscape</a:t>
          </a:r>
        </a:p>
      </dgm:t>
    </dgm:pt>
    <dgm:pt modelId="{D30CD690-F071-6F4D-B5A8-AC16AB515EF6}" type="parTrans" cxnId="{895298DA-7759-C144-88AC-5C3F53B1F897}">
      <dgm:prSet/>
      <dgm:spPr/>
      <dgm:t>
        <a:bodyPr/>
        <a:lstStyle/>
        <a:p>
          <a:endParaRPr lang="en-US"/>
        </a:p>
      </dgm:t>
    </dgm:pt>
    <dgm:pt modelId="{39318177-A2BF-9840-BAA3-79F102A433E2}" type="sibTrans" cxnId="{895298DA-7759-C144-88AC-5C3F53B1F897}">
      <dgm:prSet/>
      <dgm:spPr/>
      <dgm:t>
        <a:bodyPr/>
        <a:lstStyle/>
        <a:p>
          <a:endParaRPr lang="en-US"/>
        </a:p>
      </dgm:t>
    </dgm:pt>
    <dgm:pt modelId="{8B37D592-99C1-FD48-9487-4B05F5C50408}">
      <dgm:prSet phldrT="[Text]" custT="1"/>
      <dgm:spPr/>
      <dgm:t>
        <a:bodyPr/>
        <a:lstStyle/>
        <a:p>
          <a:pPr>
            <a:buFont typeface="Wingdings" pitchFamily="2" charset="2"/>
            <a:buChar char="q"/>
          </a:pPr>
          <a:r>
            <a:rPr lang="en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unito"/>
            </a:rPr>
            <a:t> Likelihood of discovery of the vulnerability</a:t>
          </a:r>
          <a:endParaRPr lang="en-US" sz="4200" kern="1200" dirty="0"/>
        </a:p>
      </dgm:t>
    </dgm:pt>
    <dgm:pt modelId="{EEBB8E8B-1E08-6F4A-B4D3-EB2B5050C375}" type="parTrans" cxnId="{529444EE-6CE7-CC48-A476-5D1CDF864324}">
      <dgm:prSet/>
      <dgm:spPr/>
      <dgm:t>
        <a:bodyPr/>
        <a:lstStyle/>
        <a:p>
          <a:endParaRPr lang="en-US"/>
        </a:p>
      </dgm:t>
    </dgm:pt>
    <dgm:pt modelId="{C4496404-F444-B943-898B-1CF99EB51917}" type="sibTrans" cxnId="{529444EE-6CE7-CC48-A476-5D1CDF864324}">
      <dgm:prSet/>
      <dgm:spPr/>
      <dgm:t>
        <a:bodyPr/>
        <a:lstStyle/>
        <a:p>
          <a:endParaRPr lang="en-US"/>
        </a:p>
      </dgm:t>
    </dgm:pt>
    <dgm:pt modelId="{C111213F-7017-A84C-AD03-783130633DAD}" type="pres">
      <dgm:prSet presAssocID="{2C3FBEDF-873A-614E-8389-1E6150A1915B}" presName="Name0" presStyleCnt="0">
        <dgm:presLayoutVars>
          <dgm:dir/>
          <dgm:animLvl val="lvl"/>
          <dgm:resizeHandles val="exact"/>
        </dgm:presLayoutVars>
      </dgm:prSet>
      <dgm:spPr/>
    </dgm:pt>
    <dgm:pt modelId="{E596DE2D-3AD8-864A-84DA-9D7B7E4214DB}" type="pres">
      <dgm:prSet presAssocID="{9567A273-10B2-6F4E-92CC-5271C907C2EB}" presName="composite" presStyleCnt="0"/>
      <dgm:spPr/>
    </dgm:pt>
    <dgm:pt modelId="{848C14D1-3383-724A-858F-E3C83DF7C593}" type="pres">
      <dgm:prSet presAssocID="{9567A273-10B2-6F4E-92CC-5271C907C2E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0DCA044-323D-A940-888E-0EA8B353978B}" type="pres">
      <dgm:prSet presAssocID="{9567A273-10B2-6F4E-92CC-5271C907C2EB}" presName="desTx" presStyleLbl="alignAccFollowNode1" presStyleIdx="0" presStyleCnt="3" custScaleX="98095">
        <dgm:presLayoutVars>
          <dgm:bulletEnabled val="1"/>
        </dgm:presLayoutVars>
      </dgm:prSet>
      <dgm:spPr/>
    </dgm:pt>
    <dgm:pt modelId="{2CF63066-1623-5146-8D93-FC9FF17996C7}" type="pres">
      <dgm:prSet presAssocID="{0E06D22C-D660-734A-BE53-C7C4C3B9B0D3}" presName="space" presStyleCnt="0"/>
      <dgm:spPr/>
    </dgm:pt>
    <dgm:pt modelId="{0650F464-AC84-964C-82F8-952BE2F13DCA}" type="pres">
      <dgm:prSet presAssocID="{F31F0730-7F8B-7C40-89C8-5906A937B782}" presName="composite" presStyleCnt="0"/>
      <dgm:spPr/>
    </dgm:pt>
    <dgm:pt modelId="{FC8C492E-A3D3-3348-A12C-94B729222408}" type="pres">
      <dgm:prSet presAssocID="{F31F0730-7F8B-7C40-89C8-5906A937B78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8FE413A-A0CF-844C-862A-575933DB652C}" type="pres">
      <dgm:prSet presAssocID="{F31F0730-7F8B-7C40-89C8-5906A937B782}" presName="desTx" presStyleLbl="alignAccFollowNode1" presStyleIdx="1" presStyleCnt="3">
        <dgm:presLayoutVars>
          <dgm:bulletEnabled val="1"/>
        </dgm:presLayoutVars>
      </dgm:prSet>
      <dgm:spPr/>
    </dgm:pt>
    <dgm:pt modelId="{FE9049C6-611F-AF45-A399-B6B8DCE3E262}" type="pres">
      <dgm:prSet presAssocID="{49301DEA-B9D0-7641-8FD8-BFFB400E46AB}" presName="space" presStyleCnt="0"/>
      <dgm:spPr/>
    </dgm:pt>
    <dgm:pt modelId="{2539D31C-04F7-1243-81B5-070F012C0098}" type="pres">
      <dgm:prSet presAssocID="{90247710-09E3-D443-997B-B1F587D5CF81}" presName="composite" presStyleCnt="0"/>
      <dgm:spPr/>
    </dgm:pt>
    <dgm:pt modelId="{6065B87B-85F3-9941-A8FF-0F8CC857023F}" type="pres">
      <dgm:prSet presAssocID="{90247710-09E3-D443-997B-B1F587D5CF8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5F65592-8A56-A645-BA18-5F08671EB3C7}" type="pres">
      <dgm:prSet presAssocID="{90247710-09E3-D443-997B-B1F587D5CF8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AAB81D08-E0BC-284F-97CD-FFCE3A19A664}" type="presOf" srcId="{8B37D592-99C1-FD48-9487-4B05F5C50408}" destId="{B5F65592-8A56-A645-BA18-5F08671EB3C7}" srcOrd="0" destOrd="1" presId="urn:microsoft.com/office/officeart/2005/8/layout/hList1"/>
    <dgm:cxn modelId="{03396116-CD3B-B74D-96B6-318D0A3A8632}" srcId="{2C3FBEDF-873A-614E-8389-1E6150A1915B}" destId="{F31F0730-7F8B-7C40-89C8-5906A937B782}" srcOrd="1" destOrd="0" parTransId="{19BCD444-465F-7A47-9950-83BCAF736A12}" sibTransId="{49301DEA-B9D0-7641-8FD8-BFFB400E46AB}"/>
    <dgm:cxn modelId="{59BBB917-DBD9-B741-B7D5-32B00CBEEB29}" srcId="{9567A273-10B2-6F4E-92CC-5271C907C2EB}" destId="{136C3E1F-AA3A-0E41-A098-B494C2F3D3EB}" srcOrd="0" destOrd="0" parTransId="{2168B94A-9F59-B54C-A776-ECE363CEC9B8}" sibTransId="{66CD4AA5-1722-C745-880E-7860881D76CA}"/>
    <dgm:cxn modelId="{BE60701C-7E4E-B74C-9D70-02906F1D44EE}" type="presOf" srcId="{7700AA03-AB95-C546-B844-A0F61427D78D}" destId="{B5F65592-8A56-A645-BA18-5F08671EB3C7}" srcOrd="0" destOrd="0" presId="urn:microsoft.com/office/officeart/2005/8/layout/hList1"/>
    <dgm:cxn modelId="{A9C7F526-85CB-8145-8C04-19FD7B44225A}" type="presOf" srcId="{0BDF71D2-8123-F740-9BDB-F7452511710E}" destId="{B8FE413A-A0CF-844C-862A-575933DB652C}" srcOrd="0" destOrd="1" presId="urn:microsoft.com/office/officeart/2005/8/layout/hList1"/>
    <dgm:cxn modelId="{F89CC627-ACDD-E745-87A5-A3A55B6067CF}" type="presOf" srcId="{F31F0730-7F8B-7C40-89C8-5906A937B782}" destId="{FC8C492E-A3D3-3348-A12C-94B729222408}" srcOrd="0" destOrd="0" presId="urn:microsoft.com/office/officeart/2005/8/layout/hList1"/>
    <dgm:cxn modelId="{AC07613B-70A9-0C49-8741-45C0DF6509A0}" srcId="{9567A273-10B2-6F4E-92CC-5271C907C2EB}" destId="{C40D2A08-80A4-1C4C-914E-C6C90BA7B21A}" srcOrd="2" destOrd="0" parTransId="{8B560B22-85B0-2B48-A643-1F53C61FE8DA}" sibTransId="{769E4D18-2D24-894C-BBA9-D7565D45CE65}"/>
    <dgm:cxn modelId="{90F9E243-27D0-4446-8E07-9042237FB37A}" type="presOf" srcId="{C40D2A08-80A4-1C4C-914E-C6C90BA7B21A}" destId="{40DCA044-323D-A940-888E-0EA8B353978B}" srcOrd="0" destOrd="2" presId="urn:microsoft.com/office/officeart/2005/8/layout/hList1"/>
    <dgm:cxn modelId="{DF887C45-549F-BF40-AEB6-4B87FB78C697}" srcId="{9567A273-10B2-6F4E-92CC-5271C907C2EB}" destId="{18F47296-6C99-E145-B028-93AF7006298A}" srcOrd="1" destOrd="0" parTransId="{7EBA1BD3-B16A-234F-81C1-4C8B541A09EE}" sibTransId="{04D26AB4-1831-E041-AAC2-DF969DE3D55E}"/>
    <dgm:cxn modelId="{A766504B-17DA-8F4E-A950-9310D3651A14}" type="presOf" srcId="{128D0AD5-485F-2541-A959-C1B3C169E62C}" destId="{B8FE413A-A0CF-844C-862A-575933DB652C}" srcOrd="0" destOrd="0" presId="urn:microsoft.com/office/officeart/2005/8/layout/hList1"/>
    <dgm:cxn modelId="{F94DCE4C-67CC-264A-A462-19ED5DD446DB}" type="presOf" srcId="{90247710-09E3-D443-997B-B1F587D5CF81}" destId="{6065B87B-85F3-9941-A8FF-0F8CC857023F}" srcOrd="0" destOrd="0" presId="urn:microsoft.com/office/officeart/2005/8/layout/hList1"/>
    <dgm:cxn modelId="{D3DE38A4-F3A8-D642-B94E-ABF43C758A2D}" type="presOf" srcId="{9567A273-10B2-6F4E-92CC-5271C907C2EB}" destId="{848C14D1-3383-724A-858F-E3C83DF7C593}" srcOrd="0" destOrd="0" presId="urn:microsoft.com/office/officeart/2005/8/layout/hList1"/>
    <dgm:cxn modelId="{4A7270A6-50B3-344A-B6CE-7B006EC1C714}" srcId="{2C3FBEDF-873A-614E-8389-1E6150A1915B}" destId="{9567A273-10B2-6F4E-92CC-5271C907C2EB}" srcOrd="0" destOrd="0" parTransId="{06F43403-91E9-6245-8CA0-DAE9ACF24E68}" sibTransId="{0E06D22C-D660-734A-BE53-C7C4C3B9B0D3}"/>
    <dgm:cxn modelId="{676C8AB4-C626-0F49-9797-70AD72CC7D6F}" srcId="{90247710-09E3-D443-997B-B1F587D5CF81}" destId="{7700AA03-AB95-C546-B844-A0F61427D78D}" srcOrd="0" destOrd="0" parTransId="{7D463E5A-9F37-434F-81E1-879250065030}" sibTransId="{19772A4A-80B1-E746-89DC-33B9F2CF40A3}"/>
    <dgm:cxn modelId="{C3A0EAB7-67D2-CA4A-B2A1-006A4A7CAF34}" type="presOf" srcId="{18F47296-6C99-E145-B028-93AF7006298A}" destId="{40DCA044-323D-A940-888E-0EA8B353978B}" srcOrd="0" destOrd="1" presId="urn:microsoft.com/office/officeart/2005/8/layout/hList1"/>
    <dgm:cxn modelId="{88277CC1-7C93-6B43-82BF-9D3527CE7E92}" srcId="{F31F0730-7F8B-7C40-89C8-5906A937B782}" destId="{128D0AD5-485F-2541-A959-C1B3C169E62C}" srcOrd="0" destOrd="0" parTransId="{763AD87A-1C5C-AB4C-B8BE-71B03723CD03}" sibTransId="{01FC1039-42EB-7643-BE62-2BCA3AA74151}"/>
    <dgm:cxn modelId="{AE0948CA-9511-4D43-BF2F-3B5630ADA40E}" srcId="{2C3FBEDF-873A-614E-8389-1E6150A1915B}" destId="{90247710-09E3-D443-997B-B1F587D5CF81}" srcOrd="2" destOrd="0" parTransId="{5CB3CBF6-24A5-974E-85DC-252B13D7D08F}" sibTransId="{EB9BC61A-B78E-2F48-A6F9-CDC89E676A55}"/>
    <dgm:cxn modelId="{DC7AE0CD-EDC4-F74C-97B2-F68002AC5634}" type="presOf" srcId="{2C3FBEDF-873A-614E-8389-1E6150A1915B}" destId="{C111213F-7017-A84C-AD03-783130633DAD}" srcOrd="0" destOrd="0" presId="urn:microsoft.com/office/officeart/2005/8/layout/hList1"/>
    <dgm:cxn modelId="{895298DA-7759-C144-88AC-5C3F53B1F897}" srcId="{F31F0730-7F8B-7C40-89C8-5906A937B782}" destId="{0BDF71D2-8123-F740-9BDB-F7452511710E}" srcOrd="1" destOrd="0" parTransId="{D30CD690-F071-6F4D-B5A8-AC16AB515EF6}" sibTransId="{39318177-A2BF-9840-BAA3-79F102A433E2}"/>
    <dgm:cxn modelId="{529444EE-6CE7-CC48-A476-5D1CDF864324}" srcId="{90247710-09E3-D443-997B-B1F587D5CF81}" destId="{8B37D592-99C1-FD48-9487-4B05F5C50408}" srcOrd="1" destOrd="0" parTransId="{EEBB8E8B-1E08-6F4A-B4D3-EB2B5050C375}" sibTransId="{C4496404-F444-B943-898B-1CF99EB51917}"/>
    <dgm:cxn modelId="{2B06E8FE-3544-9B4E-A714-EFBFD11CFE67}" type="presOf" srcId="{136C3E1F-AA3A-0E41-A098-B494C2F3D3EB}" destId="{40DCA044-323D-A940-888E-0EA8B353978B}" srcOrd="0" destOrd="0" presId="urn:microsoft.com/office/officeart/2005/8/layout/hList1"/>
    <dgm:cxn modelId="{EF1D77E2-05DC-D049-BF0F-0DC863188525}" type="presParOf" srcId="{C111213F-7017-A84C-AD03-783130633DAD}" destId="{E596DE2D-3AD8-864A-84DA-9D7B7E4214DB}" srcOrd="0" destOrd="0" presId="urn:microsoft.com/office/officeart/2005/8/layout/hList1"/>
    <dgm:cxn modelId="{F272850B-3F0E-D247-9B30-4EC9A93B64F3}" type="presParOf" srcId="{E596DE2D-3AD8-864A-84DA-9D7B7E4214DB}" destId="{848C14D1-3383-724A-858F-E3C83DF7C593}" srcOrd="0" destOrd="0" presId="urn:microsoft.com/office/officeart/2005/8/layout/hList1"/>
    <dgm:cxn modelId="{9B0ED367-1086-B145-A4CB-5E94329DE140}" type="presParOf" srcId="{E596DE2D-3AD8-864A-84DA-9D7B7E4214DB}" destId="{40DCA044-323D-A940-888E-0EA8B353978B}" srcOrd="1" destOrd="0" presId="urn:microsoft.com/office/officeart/2005/8/layout/hList1"/>
    <dgm:cxn modelId="{A4F39C88-1F1F-3B4F-BE66-F65491069C7C}" type="presParOf" srcId="{C111213F-7017-A84C-AD03-783130633DAD}" destId="{2CF63066-1623-5146-8D93-FC9FF17996C7}" srcOrd="1" destOrd="0" presId="urn:microsoft.com/office/officeart/2005/8/layout/hList1"/>
    <dgm:cxn modelId="{D3E60D25-F850-7A43-A6F2-0C4E05AC08DD}" type="presParOf" srcId="{C111213F-7017-A84C-AD03-783130633DAD}" destId="{0650F464-AC84-964C-82F8-952BE2F13DCA}" srcOrd="2" destOrd="0" presId="urn:microsoft.com/office/officeart/2005/8/layout/hList1"/>
    <dgm:cxn modelId="{B6360350-6BC3-594A-BD6E-2EAF160EB387}" type="presParOf" srcId="{0650F464-AC84-964C-82F8-952BE2F13DCA}" destId="{FC8C492E-A3D3-3348-A12C-94B729222408}" srcOrd="0" destOrd="0" presId="urn:microsoft.com/office/officeart/2005/8/layout/hList1"/>
    <dgm:cxn modelId="{8145C3D5-3FD3-F84E-B551-5356333B466B}" type="presParOf" srcId="{0650F464-AC84-964C-82F8-952BE2F13DCA}" destId="{B8FE413A-A0CF-844C-862A-575933DB652C}" srcOrd="1" destOrd="0" presId="urn:microsoft.com/office/officeart/2005/8/layout/hList1"/>
    <dgm:cxn modelId="{DE261DC1-9472-2E46-88A6-58467B7CC11D}" type="presParOf" srcId="{C111213F-7017-A84C-AD03-783130633DAD}" destId="{FE9049C6-611F-AF45-A399-B6B8DCE3E262}" srcOrd="3" destOrd="0" presId="urn:microsoft.com/office/officeart/2005/8/layout/hList1"/>
    <dgm:cxn modelId="{815EF750-2791-A747-AA1C-BB8E2188C424}" type="presParOf" srcId="{C111213F-7017-A84C-AD03-783130633DAD}" destId="{2539D31C-04F7-1243-81B5-070F012C0098}" srcOrd="4" destOrd="0" presId="urn:microsoft.com/office/officeart/2005/8/layout/hList1"/>
    <dgm:cxn modelId="{67ACEADF-F46C-334A-982A-2CCD93959EAA}" type="presParOf" srcId="{2539D31C-04F7-1243-81B5-070F012C0098}" destId="{6065B87B-85F3-9941-A8FF-0F8CC857023F}" srcOrd="0" destOrd="0" presId="urn:microsoft.com/office/officeart/2005/8/layout/hList1"/>
    <dgm:cxn modelId="{248DC2E0-886E-4D4D-A907-0EE579D9E930}" type="presParOf" srcId="{2539D31C-04F7-1243-81B5-070F012C0098}" destId="{B5F65592-8A56-A645-BA18-5F08671EB3C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0CF31A-3087-7C47-996D-C72BC8AE72FA}">
      <dsp:nvSpPr>
        <dsp:cNvPr id="0" name=""/>
        <dsp:cNvSpPr/>
      </dsp:nvSpPr>
      <dsp:spPr>
        <a:xfrm>
          <a:off x="752237" y="0"/>
          <a:ext cx="8525362" cy="351349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1E19A-6F4B-3940-875C-97F865C0DB6B}">
      <dsp:nvSpPr>
        <dsp:cNvPr id="0" name=""/>
        <dsp:cNvSpPr/>
      </dsp:nvSpPr>
      <dsp:spPr>
        <a:xfrm>
          <a:off x="231156" y="1054047"/>
          <a:ext cx="3008951" cy="140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Data Collection</a:t>
          </a:r>
        </a:p>
      </dsp:txBody>
      <dsp:txXfrm>
        <a:off x="299762" y="1122653"/>
        <a:ext cx="2871739" cy="1268184"/>
      </dsp:txXfrm>
    </dsp:sp>
    <dsp:sp modelId="{FFA10F1A-339F-5744-9B00-99617A5F3E5C}">
      <dsp:nvSpPr>
        <dsp:cNvPr id="0" name=""/>
        <dsp:cNvSpPr/>
      </dsp:nvSpPr>
      <dsp:spPr>
        <a:xfrm>
          <a:off x="3510443" y="1044181"/>
          <a:ext cx="3008951" cy="140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ML</a:t>
          </a:r>
        </a:p>
      </dsp:txBody>
      <dsp:txXfrm>
        <a:off x="3579049" y="1112787"/>
        <a:ext cx="2871739" cy="1268184"/>
      </dsp:txXfrm>
    </dsp:sp>
    <dsp:sp modelId="{D7B5B4D5-D7B2-674F-9228-27950B0EB153}">
      <dsp:nvSpPr>
        <dsp:cNvPr id="0" name=""/>
        <dsp:cNvSpPr/>
      </dsp:nvSpPr>
      <dsp:spPr>
        <a:xfrm>
          <a:off x="6789730" y="1054047"/>
          <a:ext cx="3008951" cy="14053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Scoring</a:t>
          </a:r>
        </a:p>
      </dsp:txBody>
      <dsp:txXfrm>
        <a:off x="6858336" y="1122653"/>
        <a:ext cx="2871739" cy="12681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C14D1-3383-724A-858F-E3C83DF7C593}">
      <dsp:nvSpPr>
        <dsp:cNvPr id="0" name=""/>
        <dsp:cNvSpPr/>
      </dsp:nvSpPr>
      <dsp:spPr>
        <a:xfrm>
          <a:off x="4976" y="767953"/>
          <a:ext cx="4852392" cy="1529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CVSS Attributes</a:t>
          </a:r>
        </a:p>
      </dsp:txBody>
      <dsp:txXfrm>
        <a:off x="4976" y="767953"/>
        <a:ext cx="4852392" cy="1529568"/>
      </dsp:txXfrm>
    </dsp:sp>
    <dsp:sp modelId="{40DCA044-323D-A940-888E-0EA8B353978B}">
      <dsp:nvSpPr>
        <dsp:cNvPr id="0" name=""/>
        <dsp:cNvSpPr/>
      </dsp:nvSpPr>
      <dsp:spPr>
        <a:xfrm>
          <a:off x="51195" y="2297521"/>
          <a:ext cx="4759954" cy="54762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Exploitation complexity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Attack vector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Clr>
              <a:srgbClr val="404155"/>
            </a:buClr>
            <a:buSzPts val="1750"/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Confidentiality, integrity, and availability impact</a:t>
          </a:r>
          <a:endParaRPr lang="en-US" sz="4200" kern="1200" dirty="0"/>
        </a:p>
      </dsp:txBody>
      <dsp:txXfrm>
        <a:off x="51195" y="2297521"/>
        <a:ext cx="4759954" cy="5476274"/>
      </dsp:txXfrm>
    </dsp:sp>
    <dsp:sp modelId="{FC8C492E-A3D3-3348-A12C-94B729222408}">
      <dsp:nvSpPr>
        <dsp:cNvPr id="0" name=""/>
        <dsp:cNvSpPr/>
      </dsp:nvSpPr>
      <dsp:spPr>
        <a:xfrm>
          <a:off x="5536703" y="767953"/>
          <a:ext cx="4852392" cy="1529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Historical Data</a:t>
          </a:r>
        </a:p>
      </dsp:txBody>
      <dsp:txXfrm>
        <a:off x="5536703" y="767953"/>
        <a:ext cx="4852392" cy="1529568"/>
      </dsp:txXfrm>
    </dsp:sp>
    <dsp:sp modelId="{B8FE413A-A0CF-844C-862A-575933DB652C}">
      <dsp:nvSpPr>
        <dsp:cNvPr id="0" name=""/>
        <dsp:cNvSpPr/>
      </dsp:nvSpPr>
      <dsp:spPr>
        <a:xfrm>
          <a:off x="5536703" y="2297521"/>
          <a:ext cx="4852392" cy="54762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Previous vulnerability exploitation trend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-US" sz="4200" kern="1200" dirty="0"/>
            <a:t> Current threat landscape</a:t>
          </a:r>
        </a:p>
      </dsp:txBody>
      <dsp:txXfrm>
        <a:off x="5536703" y="2297521"/>
        <a:ext cx="4852392" cy="5476274"/>
      </dsp:txXfrm>
    </dsp:sp>
    <dsp:sp modelId="{6065B87B-85F3-9941-A8FF-0F8CC857023F}">
      <dsp:nvSpPr>
        <dsp:cNvPr id="0" name=""/>
        <dsp:cNvSpPr/>
      </dsp:nvSpPr>
      <dsp:spPr>
        <a:xfrm>
          <a:off x="11068431" y="767953"/>
          <a:ext cx="4852392" cy="15295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8704" tIns="170688" rIns="298704" bIns="170688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Public Vulnerability Database</a:t>
          </a:r>
        </a:p>
      </dsp:txBody>
      <dsp:txXfrm>
        <a:off x="11068431" y="767953"/>
        <a:ext cx="4852392" cy="1529568"/>
      </dsp:txXfrm>
    </dsp:sp>
    <dsp:sp modelId="{B5F65592-8A56-A645-BA18-5F08671EB3C7}">
      <dsp:nvSpPr>
        <dsp:cNvPr id="0" name=""/>
        <dsp:cNvSpPr/>
      </dsp:nvSpPr>
      <dsp:spPr>
        <a:xfrm>
          <a:off x="11068431" y="2297521"/>
          <a:ext cx="4852392" cy="54762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4028" tIns="224028" rIns="298704" bIns="336042" numCol="1" spcCol="1270" anchor="t" anchorCtr="0">
          <a:noAutofit/>
        </a:bodyPr>
        <a:lstStyle/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-US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obile"/>
            </a:rPr>
            <a:t> Information from databases like NVD (National Vulnerability Database)</a:t>
          </a:r>
          <a:endParaRPr lang="en-US" sz="4200" kern="1200" dirty="0"/>
        </a:p>
        <a:p>
          <a:pPr marL="285750" lvl="1" indent="-285750" algn="l" defTabSz="1866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itchFamily="2" charset="2"/>
            <a:buChar char="q"/>
          </a:pPr>
          <a:r>
            <a:rPr lang="en" sz="4200" b="0" i="0" u="none" strike="noStrike" kern="1200" cap="none" dirty="0">
              <a:solidFill>
                <a:srgbClr val="404155"/>
              </a:solidFill>
              <a:latin typeface="Nobile"/>
              <a:ea typeface="Nobile"/>
              <a:cs typeface="Nobile"/>
              <a:sym typeface="Nunito"/>
            </a:rPr>
            <a:t> Likelihood of discovery of the vulnerability</a:t>
          </a:r>
          <a:endParaRPr lang="en-US" sz="4200" kern="1200" dirty="0"/>
        </a:p>
      </dsp:txBody>
      <dsp:txXfrm>
        <a:off x="11068431" y="2297521"/>
        <a:ext cx="4852392" cy="54762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A3D68-990F-D042-827F-B96524434B8C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B4ECA-94DF-D647-913A-54043C034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08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orca.security/resources/blog/epss-scoring-system-explained/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rst.org/epss/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6DBBC5-075C-E046-B9AE-98E94E47D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19100"/>
            <a:ext cx="17221200" cy="6990143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F6C49F-6458-2446-AA74-DB2ECF80D4AD}"/>
              </a:ext>
            </a:extLst>
          </p:cNvPr>
          <p:cNvSpPr/>
          <p:nvPr/>
        </p:nvSpPr>
        <p:spPr>
          <a:xfrm>
            <a:off x="4495800" y="7658100"/>
            <a:ext cx="13258800" cy="2324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000" b="1" dirty="0"/>
              <a:t>Presented by</a:t>
            </a:r>
          </a:p>
          <a:p>
            <a:pPr algn="ctr"/>
            <a:r>
              <a:rPr lang="en-US" sz="4000" b="1" dirty="0"/>
              <a:t>Professor Dr. Mohammed </a:t>
            </a:r>
            <a:r>
              <a:rPr lang="en-US" sz="4000" b="1" dirty="0" err="1"/>
              <a:t>Shafiul</a:t>
            </a:r>
            <a:r>
              <a:rPr lang="en-US" sz="4000" b="1" dirty="0"/>
              <a:t> </a:t>
            </a:r>
            <a:r>
              <a:rPr lang="en-US" sz="4000" b="1" dirty="0" err="1"/>
              <a:t>Alam</a:t>
            </a:r>
            <a:r>
              <a:rPr lang="en-US" sz="4000" b="1" dirty="0"/>
              <a:t> Khan</a:t>
            </a:r>
          </a:p>
          <a:p>
            <a:pPr algn="ctr"/>
            <a:r>
              <a:rPr lang="en-US" sz="4000" b="1" dirty="0"/>
              <a:t>IIT, 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51739" y="5219700"/>
            <a:ext cx="24144655" cy="5661341"/>
            <a:chOff x="0" y="0"/>
            <a:chExt cx="32192873" cy="610215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192873" cy="6102158"/>
              <a:chOff x="0" y="0"/>
              <a:chExt cx="6359086" cy="120536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9086" cy="1205365"/>
              </a:xfrm>
              <a:custGeom>
                <a:avLst/>
                <a:gdLst/>
                <a:ahLst/>
                <a:cxnLst/>
                <a:rect l="l" t="t" r="r" b="b"/>
                <a:pathLst>
                  <a:path w="6359086" h="1205365">
                    <a:moveTo>
                      <a:pt x="0" y="0"/>
                    </a:moveTo>
                    <a:lnTo>
                      <a:pt x="6359086" y="0"/>
                    </a:lnTo>
                    <a:lnTo>
                      <a:pt x="6359086" y="1205365"/>
                    </a:lnTo>
                    <a:lnTo>
                      <a:pt x="0" y="1205365"/>
                    </a:lnTo>
                    <a:close/>
                  </a:path>
                </a:pathLst>
              </a:custGeom>
              <a:solidFill>
                <a:srgbClr val="FFFDFC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6359086" cy="12434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926319" y="322635"/>
              <a:ext cx="23328813" cy="1247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80"/>
                </a:lnSpc>
                <a:spcBef>
                  <a:spcPct val="0"/>
                </a:spcBef>
              </a:pPr>
              <a:r>
                <a:rPr lang="en-US" sz="5500" b="1" dirty="0">
                  <a:solidFill>
                    <a:srgbClr val="7B5325"/>
                  </a:solidFill>
                  <a:latin typeface="Almarai Ultra-Bold"/>
                  <a:ea typeface="Almarai Ultra-Bold"/>
                  <a:cs typeface="Almarai Ultra-Bold"/>
                  <a:sym typeface="Almarai Ultra-Bold"/>
                </a:rPr>
                <a:t>CVSS (Common Vulnerability Scoring System)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926319" y="1893032"/>
              <a:ext cx="22860000" cy="41422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ct val="150000"/>
                </a:lnSpc>
                <a:buFont typeface="Wingdings" pitchFamily="2" charset="2"/>
                <a:buChar char="q"/>
              </a:pPr>
              <a:r>
                <a:rPr lang="en-US" sz="3400" dirty="0">
                  <a:solidFill>
                    <a:srgbClr val="2B1C09"/>
                  </a:solidFill>
                  <a:latin typeface="Almarai"/>
                  <a:ea typeface="Almarai"/>
                  <a:cs typeface="Almarai"/>
                  <a:sym typeface="Almarai"/>
                </a:rPr>
                <a:t>A </a:t>
              </a:r>
              <a:r>
                <a:rPr lang="en-US" sz="3400" b="1" dirty="0">
                  <a:solidFill>
                    <a:srgbClr val="ED7843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standardized</a:t>
              </a:r>
              <a:r>
                <a:rPr lang="en-US" sz="3400" dirty="0">
                  <a:solidFill>
                    <a:srgbClr val="2B1C09"/>
                  </a:solidFill>
                  <a:latin typeface="Almarai"/>
                  <a:ea typeface="Almarai"/>
                  <a:cs typeface="Almarai"/>
                  <a:sym typeface="Almarai"/>
                </a:rPr>
                <a:t> framework that measures the severity of security vulnerabilities</a:t>
              </a:r>
            </a:p>
            <a:p>
              <a:pPr marL="457200" indent="-457200">
                <a:lnSpc>
                  <a:spcPct val="150000"/>
                </a:lnSpc>
                <a:buFont typeface="Wingdings" pitchFamily="2" charset="2"/>
                <a:buChar char="q"/>
              </a:pPr>
              <a:r>
                <a:rPr lang="en-US" sz="3400" dirty="0">
                  <a:solidFill>
                    <a:srgbClr val="2B1C09"/>
                  </a:solidFill>
                  <a:latin typeface="Almarai"/>
                  <a:ea typeface="Almarai"/>
                  <a:cs typeface="Almarai"/>
                  <a:sym typeface="Almarai"/>
                </a:rPr>
                <a:t>Provides a </a:t>
              </a:r>
              <a:r>
                <a:rPr lang="en-US" sz="3400" dirty="0">
                  <a:solidFill>
                    <a:srgbClr val="FF0000"/>
                  </a:solidFill>
                  <a:latin typeface="Almarai"/>
                  <a:ea typeface="Almarai"/>
                  <a:cs typeface="Almarai"/>
                  <a:sym typeface="Almarai"/>
                </a:rPr>
                <a:t>standardized method </a:t>
              </a:r>
              <a:r>
                <a:rPr lang="en-US" sz="3400" dirty="0">
                  <a:solidFill>
                    <a:srgbClr val="2B1C09"/>
                  </a:solidFill>
                  <a:latin typeface="Almarai"/>
                  <a:ea typeface="Almarai"/>
                  <a:cs typeface="Almarai"/>
                  <a:sym typeface="Almarai"/>
                </a:rPr>
                <a:t>for rating vulnerabilities based on their </a:t>
              </a:r>
              <a:r>
                <a:rPr lang="en-US" sz="3400" dirty="0">
                  <a:solidFill>
                    <a:srgbClr val="FF0000"/>
                  </a:solidFill>
                  <a:latin typeface="Almarai"/>
                  <a:ea typeface="Almarai"/>
                  <a:cs typeface="Almarai"/>
                  <a:sym typeface="Almarai"/>
                </a:rPr>
                <a:t>impact</a:t>
              </a:r>
              <a:r>
                <a:rPr lang="en-US" sz="3400" dirty="0">
                  <a:solidFill>
                    <a:srgbClr val="2B1C09"/>
                  </a:solidFill>
                  <a:latin typeface="Almarai"/>
                  <a:ea typeface="Almarai"/>
                  <a:cs typeface="Almarai"/>
                  <a:sym typeface="Almarai"/>
                </a:rPr>
                <a:t>. </a:t>
              </a:r>
            </a:p>
            <a:p>
              <a:pPr marL="457200" indent="-457200" algn="l">
                <a:lnSpc>
                  <a:spcPct val="150000"/>
                </a:lnSpc>
                <a:buFont typeface="Wingdings" pitchFamily="2" charset="2"/>
                <a:buChar char="q"/>
              </a:pPr>
              <a:r>
                <a:rPr lang="en-US" sz="3400" dirty="0">
                  <a:solidFill>
                    <a:srgbClr val="2B1C09"/>
                  </a:solidFill>
                  <a:latin typeface="Almarai"/>
                  <a:ea typeface="Almarai"/>
                  <a:cs typeface="Almarai"/>
                  <a:sym typeface="Almarai"/>
                </a:rPr>
                <a:t>Assigns a numerical score between 0 and 10 to each vulnerability, </a:t>
              </a:r>
              <a:r>
                <a:rPr lang="en-US" sz="3400" b="1" dirty="0">
                  <a:solidFill>
                    <a:srgbClr val="FF3131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with higher scores indicating more severe issues</a:t>
              </a:r>
            </a:p>
            <a:p>
              <a:pPr marL="457200" indent="-457200" algn="l">
                <a:lnSpc>
                  <a:spcPct val="150000"/>
                </a:lnSpc>
                <a:buFont typeface="Wingdings" pitchFamily="2" charset="2"/>
                <a:buChar char="q"/>
              </a:pPr>
              <a:endParaRPr lang="en-US" sz="3400" b="1" dirty="0">
                <a:solidFill>
                  <a:srgbClr val="FF3131"/>
                </a:solidFill>
                <a:latin typeface="Almarai Bold"/>
                <a:ea typeface="Almarai Bold"/>
                <a:cs typeface="Almarai Bold"/>
                <a:sym typeface="Almarai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2235611" y="0"/>
            <a:ext cx="12577402" cy="5519028"/>
          </a:xfrm>
          <a:custGeom>
            <a:avLst/>
            <a:gdLst/>
            <a:ahLst/>
            <a:cxnLst/>
            <a:rect l="l" t="t" r="r" b="b"/>
            <a:pathLst>
              <a:path w="12577402" h="6304423">
                <a:moveTo>
                  <a:pt x="0" y="0"/>
                </a:moveTo>
                <a:lnTo>
                  <a:pt x="12577402" y="0"/>
                </a:lnTo>
                <a:lnTo>
                  <a:pt x="12577402" y="6304423"/>
                </a:lnTo>
                <a:lnTo>
                  <a:pt x="0" y="6304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99565"/>
            <a:ext cx="18288000" cy="3335573"/>
            <a:chOff x="0" y="0"/>
            <a:chExt cx="4816593" cy="8785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8505"/>
            </a:xfrm>
            <a:custGeom>
              <a:avLst/>
              <a:gdLst/>
              <a:ahLst/>
              <a:cxnLst/>
              <a:rect l="l" t="t" r="r" b="b"/>
              <a:pathLst>
                <a:path w="4816592" h="878505">
                  <a:moveTo>
                    <a:pt x="0" y="0"/>
                  </a:moveTo>
                  <a:lnTo>
                    <a:pt x="4816592" y="0"/>
                  </a:lnTo>
                  <a:lnTo>
                    <a:pt x="4816592" y="878505"/>
                  </a:lnTo>
                  <a:lnTo>
                    <a:pt x="0" y="878505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16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018893" y="3783083"/>
            <a:ext cx="14554519" cy="5603490"/>
          </a:xfrm>
          <a:custGeom>
            <a:avLst/>
            <a:gdLst/>
            <a:ahLst/>
            <a:cxnLst/>
            <a:rect l="l" t="t" r="r" b="b"/>
            <a:pathLst>
              <a:path w="14554519" h="5603490">
                <a:moveTo>
                  <a:pt x="0" y="0"/>
                </a:moveTo>
                <a:lnTo>
                  <a:pt x="14554519" y="0"/>
                </a:lnTo>
                <a:lnTo>
                  <a:pt x="14554519" y="5603490"/>
                </a:lnTo>
                <a:lnTo>
                  <a:pt x="0" y="5603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981456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How Does It 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599565"/>
            <a:ext cx="18288000" cy="3335573"/>
            <a:chOff x="0" y="0"/>
            <a:chExt cx="4816593" cy="8785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78505"/>
            </a:xfrm>
            <a:custGeom>
              <a:avLst/>
              <a:gdLst/>
              <a:ahLst/>
              <a:cxnLst/>
              <a:rect l="l" t="t" r="r" b="b"/>
              <a:pathLst>
                <a:path w="4816592" h="878505">
                  <a:moveTo>
                    <a:pt x="0" y="0"/>
                  </a:moveTo>
                  <a:lnTo>
                    <a:pt x="4816592" y="0"/>
                  </a:lnTo>
                  <a:lnTo>
                    <a:pt x="4816592" y="878505"/>
                  </a:lnTo>
                  <a:lnTo>
                    <a:pt x="0" y="878505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916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923607" y="2736008"/>
            <a:ext cx="14902615" cy="7507192"/>
          </a:xfrm>
          <a:custGeom>
            <a:avLst/>
            <a:gdLst/>
            <a:ahLst/>
            <a:cxnLst/>
            <a:rect l="l" t="t" r="r" b="b"/>
            <a:pathLst>
              <a:path w="14902615" h="7507192">
                <a:moveTo>
                  <a:pt x="0" y="0"/>
                </a:moveTo>
                <a:lnTo>
                  <a:pt x="14902615" y="0"/>
                </a:lnTo>
                <a:lnTo>
                  <a:pt x="14902615" y="7507192"/>
                </a:lnTo>
                <a:lnTo>
                  <a:pt x="0" y="7507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95350"/>
            <a:ext cx="601583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334500"/>
            <a:ext cx="7568617" cy="1905000"/>
            <a:chOff x="0" y="0"/>
            <a:chExt cx="1993381" cy="19119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93381" cy="1911936"/>
            </a:xfrm>
            <a:custGeom>
              <a:avLst/>
              <a:gdLst/>
              <a:ahLst/>
              <a:cxnLst/>
              <a:rect l="l" t="t" r="r" b="b"/>
              <a:pathLst>
                <a:path w="1993381" h="1911936">
                  <a:moveTo>
                    <a:pt x="0" y="0"/>
                  </a:moveTo>
                  <a:lnTo>
                    <a:pt x="1993381" y="0"/>
                  </a:lnTo>
                  <a:lnTo>
                    <a:pt x="1993381" y="1911936"/>
                  </a:lnTo>
                  <a:lnTo>
                    <a:pt x="0" y="1911936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93381" cy="1950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472829" y="-5068626"/>
            <a:ext cx="23834192" cy="7434452"/>
            <a:chOff x="0" y="0"/>
            <a:chExt cx="6277318" cy="19580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77318" cy="1958045"/>
            </a:xfrm>
            <a:custGeom>
              <a:avLst/>
              <a:gdLst/>
              <a:ahLst/>
              <a:cxnLst/>
              <a:rect l="l" t="t" r="r" b="b"/>
              <a:pathLst>
                <a:path w="6277318" h="1958045">
                  <a:moveTo>
                    <a:pt x="0" y="0"/>
                  </a:moveTo>
                  <a:lnTo>
                    <a:pt x="6277318" y="0"/>
                  </a:lnTo>
                  <a:lnTo>
                    <a:pt x="6277318" y="1958045"/>
                  </a:lnTo>
                  <a:lnTo>
                    <a:pt x="0" y="1958045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77318" cy="1996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9346" y="9372462"/>
            <a:ext cx="5257833" cy="419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4"/>
              </a:lnSpc>
              <a:spcBef>
                <a:spcPct val="0"/>
              </a:spcBef>
            </a:pPr>
            <a:r>
              <a:rPr lang="en-US" sz="2446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07" y="83236"/>
            <a:ext cx="19696895" cy="228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37"/>
              </a:lnSpc>
            </a:pPr>
            <a:r>
              <a:rPr lang="en-US" sz="5384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Base Metrics</a:t>
            </a:r>
          </a:p>
          <a:p>
            <a:pPr>
              <a:lnSpc>
                <a:spcPts val="5157"/>
              </a:lnSpc>
            </a:pPr>
            <a:r>
              <a:rPr lang="en-US" sz="3684" b="1" dirty="0">
                <a:solidFill>
                  <a:srgbClr val="FF3131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DESCRIBES CORE unchanging CHARACTERISTICS OF THE VULNERABILITY.</a:t>
            </a:r>
          </a:p>
          <a:p>
            <a:pPr algn="l">
              <a:lnSpc>
                <a:spcPts val="5437"/>
              </a:lnSpc>
              <a:spcBef>
                <a:spcPct val="0"/>
              </a:spcBef>
            </a:pPr>
            <a:r>
              <a:rPr lang="en-US" sz="3884" b="1" dirty="0">
                <a:solidFill>
                  <a:srgbClr val="ED7843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INCLUDES _____</a:t>
            </a:r>
          </a:p>
        </p:txBody>
      </p:sp>
      <p:pic>
        <p:nvPicPr>
          <p:cNvPr id="11" name="Google Shape;360;p49">
            <a:extLst>
              <a:ext uri="{FF2B5EF4-FFF2-40B4-BE49-F238E27FC236}">
                <a16:creationId xmlns:a16="http://schemas.microsoft.com/office/drawing/2014/main" id="{3483474D-EEC9-7243-837E-9C38B6CFCAA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3400" y="2857500"/>
            <a:ext cx="17145000" cy="6514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18477" y="9097702"/>
            <a:ext cx="18288000" cy="1760798"/>
            <a:chOff x="0" y="0"/>
            <a:chExt cx="4816593" cy="19871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987195"/>
            </a:xfrm>
            <a:custGeom>
              <a:avLst/>
              <a:gdLst/>
              <a:ahLst/>
              <a:cxnLst/>
              <a:rect l="l" t="t" r="r" b="b"/>
              <a:pathLst>
                <a:path w="4816592" h="1987195">
                  <a:moveTo>
                    <a:pt x="0" y="0"/>
                  </a:moveTo>
                  <a:lnTo>
                    <a:pt x="4816592" y="0"/>
                  </a:lnTo>
                  <a:lnTo>
                    <a:pt x="4816592" y="1987195"/>
                  </a:lnTo>
                  <a:lnTo>
                    <a:pt x="0" y="1987195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25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515541" y="-5433307"/>
            <a:ext cx="23834192" cy="7706045"/>
            <a:chOff x="0" y="0"/>
            <a:chExt cx="6277318" cy="20295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77318" cy="2029576"/>
            </a:xfrm>
            <a:custGeom>
              <a:avLst/>
              <a:gdLst/>
              <a:ahLst/>
              <a:cxnLst/>
              <a:rect l="l" t="t" r="r" b="b"/>
              <a:pathLst>
                <a:path w="6277318" h="2029576">
                  <a:moveTo>
                    <a:pt x="0" y="0"/>
                  </a:moveTo>
                  <a:lnTo>
                    <a:pt x="6277318" y="0"/>
                  </a:lnTo>
                  <a:lnTo>
                    <a:pt x="6277318" y="2029576"/>
                  </a:lnTo>
                  <a:lnTo>
                    <a:pt x="0" y="2029576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77318" cy="2067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4201" y="2203949"/>
            <a:ext cx="15799597" cy="6655580"/>
          </a:xfrm>
          <a:custGeom>
            <a:avLst/>
            <a:gdLst/>
            <a:ahLst/>
            <a:cxnLst/>
            <a:rect l="l" t="t" r="r" b="b"/>
            <a:pathLst>
              <a:path w="15799597" h="6655580">
                <a:moveTo>
                  <a:pt x="0" y="0"/>
                </a:moveTo>
                <a:lnTo>
                  <a:pt x="15799598" y="0"/>
                </a:lnTo>
                <a:lnTo>
                  <a:pt x="15799598" y="6655580"/>
                </a:lnTo>
                <a:lnTo>
                  <a:pt x="0" y="665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307" y="8964352"/>
            <a:ext cx="2063260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07" y="83236"/>
            <a:ext cx="19696895" cy="188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5984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Base Metrics</a:t>
            </a:r>
          </a:p>
          <a:p>
            <a:pPr algn="l">
              <a:lnSpc>
                <a:spcPts val="6697"/>
              </a:lnSpc>
              <a:spcBef>
                <a:spcPct val="0"/>
              </a:spcBef>
            </a:pPr>
            <a:r>
              <a:rPr lang="en-US" sz="4784" b="1" dirty="0">
                <a:solidFill>
                  <a:srgbClr val="ED7843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IMPACT 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94043" y="9334562"/>
            <a:ext cx="8130932" cy="5484867"/>
            <a:chOff x="0" y="0"/>
            <a:chExt cx="2141480" cy="14445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1480" cy="1444574"/>
            </a:xfrm>
            <a:custGeom>
              <a:avLst/>
              <a:gdLst/>
              <a:ahLst/>
              <a:cxnLst/>
              <a:rect l="l" t="t" r="r" b="b"/>
              <a:pathLst>
                <a:path w="2141480" h="1444574">
                  <a:moveTo>
                    <a:pt x="0" y="0"/>
                  </a:moveTo>
                  <a:lnTo>
                    <a:pt x="2141480" y="0"/>
                  </a:lnTo>
                  <a:lnTo>
                    <a:pt x="2141480" y="1444574"/>
                  </a:lnTo>
                  <a:lnTo>
                    <a:pt x="0" y="1444574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41480" cy="1482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515541" y="-5433307"/>
            <a:ext cx="23834192" cy="7706045"/>
            <a:chOff x="0" y="0"/>
            <a:chExt cx="6277318" cy="20295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77318" cy="2029576"/>
            </a:xfrm>
            <a:custGeom>
              <a:avLst/>
              <a:gdLst/>
              <a:ahLst/>
              <a:cxnLst/>
              <a:rect l="l" t="t" r="r" b="b"/>
              <a:pathLst>
                <a:path w="6277318" h="2029576">
                  <a:moveTo>
                    <a:pt x="0" y="0"/>
                  </a:moveTo>
                  <a:lnTo>
                    <a:pt x="6277318" y="0"/>
                  </a:lnTo>
                  <a:lnTo>
                    <a:pt x="6277318" y="2029576"/>
                  </a:lnTo>
                  <a:lnTo>
                    <a:pt x="0" y="2029576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277318" cy="2067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038600" y="2140065"/>
            <a:ext cx="12127401" cy="8065016"/>
          </a:xfrm>
          <a:custGeom>
            <a:avLst/>
            <a:gdLst/>
            <a:ahLst/>
            <a:cxnLst/>
            <a:rect l="l" t="t" r="r" b="b"/>
            <a:pathLst>
              <a:path w="9549688" h="8065016">
                <a:moveTo>
                  <a:pt x="0" y="0"/>
                </a:moveTo>
                <a:lnTo>
                  <a:pt x="9549689" y="0"/>
                </a:lnTo>
                <a:lnTo>
                  <a:pt x="9549689" y="8065015"/>
                </a:lnTo>
                <a:lnTo>
                  <a:pt x="0" y="8065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307" y="9558015"/>
            <a:ext cx="6944582" cy="56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  <a:spcBef>
                <a:spcPct val="0"/>
              </a:spcBef>
            </a:pPr>
            <a:r>
              <a:rPr lang="en-US" sz="3197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07" y="83236"/>
            <a:ext cx="19696895" cy="1882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5984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Base Metrics</a:t>
            </a:r>
          </a:p>
          <a:p>
            <a:pPr algn="l">
              <a:lnSpc>
                <a:spcPts val="6697"/>
              </a:lnSpc>
              <a:spcBef>
                <a:spcPct val="0"/>
              </a:spcBef>
            </a:pPr>
            <a:r>
              <a:rPr lang="en-US" sz="4784" b="1" dirty="0">
                <a:solidFill>
                  <a:srgbClr val="ED7843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49746" y="-925830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16429"/>
            <a:ext cx="8496300" cy="1215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Temporal Metric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73612" y="15881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pic>
        <p:nvPicPr>
          <p:cNvPr id="11" name="Google Shape;368;p50">
            <a:extLst>
              <a:ext uri="{FF2B5EF4-FFF2-40B4-BE49-F238E27FC236}">
                <a16:creationId xmlns:a16="http://schemas.microsoft.com/office/drawing/2014/main" id="{F25A75EF-32B1-A249-8E73-BF7E306419E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3190" r="48620" b="13186"/>
          <a:stretch/>
        </p:blipFill>
        <p:spPr>
          <a:xfrm>
            <a:off x="1028700" y="2206839"/>
            <a:ext cx="2893698" cy="77372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69;p50">
            <a:extLst>
              <a:ext uri="{FF2B5EF4-FFF2-40B4-BE49-F238E27FC236}">
                <a16:creationId xmlns:a16="http://schemas.microsoft.com/office/drawing/2014/main" id="{780859E9-76EF-A94C-8AB4-DBB84457F16E}"/>
              </a:ext>
            </a:extLst>
          </p:cNvPr>
          <p:cNvSpPr txBox="1"/>
          <p:nvPr/>
        </p:nvSpPr>
        <p:spPr>
          <a:xfrm>
            <a:off x="4978072" y="4076700"/>
            <a:ext cx="12954000" cy="5087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/>
              <a:t>Exploit Code Maturity (E)</a:t>
            </a:r>
            <a:r>
              <a:rPr lang="en" sz="3400" dirty="0"/>
              <a:t>: Measures exploit tool sophistication.</a:t>
            </a:r>
            <a:endParaRPr sz="3400"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3400" dirty="0"/>
              <a:t>Values: Not Defined, Unproven, Proof-of-Concept, Functional, High</a:t>
            </a:r>
            <a:endParaRPr sz="34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Remediation Level (RL)</a:t>
            </a:r>
            <a:r>
              <a:rPr lang="en" sz="3400" dirty="0"/>
              <a:t>: Indicates fix availability.</a:t>
            </a:r>
            <a:endParaRPr sz="3400"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3400" dirty="0"/>
              <a:t>Values: Not Defined, Unavailable, Workaround, Temporary Fix, Official Fix</a:t>
            </a:r>
            <a:endParaRPr sz="34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Report Confidence (RC)</a:t>
            </a:r>
            <a:r>
              <a:rPr lang="en" sz="3400" dirty="0"/>
              <a:t>: Reflects certainty of vulnerability.</a:t>
            </a:r>
            <a:endParaRPr sz="3400"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3400" dirty="0"/>
              <a:t>Values: Not Defined, Unknown, Reasonable, Confirmed</a:t>
            </a:r>
            <a:endParaRPr sz="3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7197C8-EB2D-D44B-968A-4D4EE5282615}"/>
              </a:ext>
            </a:extLst>
          </p:cNvPr>
          <p:cNvSpPr/>
          <p:nvPr/>
        </p:nvSpPr>
        <p:spPr>
          <a:xfrm>
            <a:off x="4978072" y="2206839"/>
            <a:ext cx="12954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Describe things that might change after the </a:t>
            </a:r>
            <a:r>
              <a:rPr lang="en-US" sz="3400" b="1" dirty="0">
                <a:solidFill>
                  <a:srgbClr val="ED7843"/>
                </a:solidFill>
                <a:latin typeface="Almarai Bold"/>
                <a:ea typeface="Almarai Bold"/>
                <a:cs typeface="Almarai Bold"/>
                <a:sym typeface="Almarai Bold"/>
              </a:rPr>
              <a:t>vulnerability is discovered, i.e. Exploit availability.</a:t>
            </a:r>
          </a:p>
        </p:txBody>
      </p:sp>
    </p:spTree>
    <p:extLst>
      <p:ext uri="{BB962C8B-B14F-4D97-AF65-F5344CB8AC3E}">
        <p14:creationId xmlns:p14="http://schemas.microsoft.com/office/powerpoint/2010/main" val="157951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49746" y="-925830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114181" y="3116459"/>
            <a:ext cx="12018082" cy="6024063"/>
          </a:xfrm>
          <a:custGeom>
            <a:avLst/>
            <a:gdLst/>
            <a:ahLst/>
            <a:cxnLst/>
            <a:rect l="l" t="t" r="r" b="b"/>
            <a:pathLst>
              <a:path w="12018082" h="6024063">
                <a:moveTo>
                  <a:pt x="0" y="0"/>
                </a:moveTo>
                <a:lnTo>
                  <a:pt x="12018082" y="0"/>
                </a:lnTo>
                <a:lnTo>
                  <a:pt x="12018082" y="6024064"/>
                </a:lnTo>
                <a:lnTo>
                  <a:pt x="0" y="6024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73612" y="15881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75312" y="761541"/>
            <a:ext cx="10478474" cy="2638203"/>
            <a:chOff x="-1" y="-133351"/>
            <a:chExt cx="13971298" cy="3517604"/>
          </a:xfrm>
        </p:grpSpPr>
        <p:sp>
          <p:nvSpPr>
            <p:cNvPr id="8" name="TextBox 8"/>
            <p:cNvSpPr txBox="1"/>
            <p:nvPr/>
          </p:nvSpPr>
          <p:spPr>
            <a:xfrm>
              <a:off x="-1" y="-133351"/>
              <a:ext cx="9964382" cy="16201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0080"/>
                </a:lnSpc>
                <a:spcBef>
                  <a:spcPct val="0"/>
                </a:spcBef>
              </a:pPr>
              <a:r>
                <a:rPr lang="en-US" sz="7200" b="1" dirty="0">
                  <a:solidFill>
                    <a:srgbClr val="7B5325"/>
                  </a:solidFill>
                  <a:latin typeface="Almarai Ultra-Bold"/>
                  <a:ea typeface="Almarai Ultra-Bold"/>
                  <a:cs typeface="Almarai Ultra-Bold"/>
                  <a:sym typeface="Almarai Ultra-Bold"/>
                </a:rPr>
                <a:t>Temporal Metrics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7567" y="1563920"/>
              <a:ext cx="13753730" cy="1820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1" u="sng">
                  <a:solidFill>
                    <a:srgbClr val="ED7843"/>
                  </a:solidFill>
                  <a:latin typeface="Almarai Ultra-Bold"/>
                  <a:ea typeface="Almarai Ultra-Bold"/>
                  <a:cs typeface="Almarai Ultra-Bold"/>
                  <a:sym typeface="Almarai Ultra-Bold"/>
                </a:rPr>
                <a:t>EXPLOIT CODE MATURITY</a:t>
              </a: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endParaRPr lang="en-US" sz="3999" b="1" u="sng">
                <a:solidFill>
                  <a:srgbClr val="ED7843"/>
                </a:solidFill>
                <a:latin typeface="Almarai Ultra-Bold"/>
                <a:ea typeface="Almarai Ultra-Bold"/>
                <a:cs typeface="Almarai Ultra-Bold"/>
                <a:sym typeface="Almarai Ultra-Bold"/>
              </a:endParaRP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8EAFE7D-E267-3F47-AD5E-6F4493157836}"/>
              </a:ext>
            </a:extLst>
          </p:cNvPr>
          <p:cNvSpPr/>
          <p:nvPr/>
        </p:nvSpPr>
        <p:spPr>
          <a:xfrm>
            <a:off x="877356" y="3399744"/>
            <a:ext cx="4818781" cy="50965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A </a:t>
            </a:r>
            <a:r>
              <a:rPr lang="en-US" sz="3400" b="1" dirty="0">
                <a:solidFill>
                  <a:srgbClr val="ED7843"/>
                </a:solidFill>
                <a:latin typeface="Almarai Bold"/>
                <a:ea typeface="Almarai Bold"/>
                <a:cs typeface="Almarai Bold"/>
                <a:sym typeface="Almarai Bold"/>
              </a:rPr>
              <a:t>new bug</a:t>
            </a: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 might have no exploit code yet, but </a:t>
            </a:r>
            <a:r>
              <a:rPr lang="en-US" sz="3400" b="1" dirty="0">
                <a:solidFill>
                  <a:srgbClr val="ED7843"/>
                </a:solidFill>
                <a:latin typeface="Almarai Bold"/>
                <a:ea typeface="Almarai Bold"/>
                <a:cs typeface="Almarai Bold"/>
                <a:sym typeface="Almarai Bold"/>
              </a:rPr>
              <a:t>older bugs</a:t>
            </a: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 might have easily available tools to </a:t>
            </a:r>
            <a:r>
              <a:rPr lang="en-US" sz="3400" b="1" dirty="0">
                <a:solidFill>
                  <a:srgbClr val="FF3131"/>
                </a:solidFill>
                <a:latin typeface="Almarai Bold"/>
                <a:ea typeface="Almarai Bold"/>
                <a:cs typeface="Almarai Bold"/>
                <a:sym typeface="Almarai Bold"/>
              </a:rPr>
              <a:t>exploit</a:t>
            </a: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 them.</a:t>
            </a:r>
          </a:p>
          <a:p>
            <a:pPr algn="just"/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149746" y="-925830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100312" y="2483075"/>
            <a:ext cx="13010167" cy="7046513"/>
          </a:xfrm>
          <a:custGeom>
            <a:avLst/>
            <a:gdLst/>
            <a:ahLst/>
            <a:cxnLst/>
            <a:rect l="l" t="t" r="r" b="b"/>
            <a:pathLst>
              <a:path w="12123925" h="7046513">
                <a:moveTo>
                  <a:pt x="0" y="0"/>
                </a:moveTo>
                <a:lnTo>
                  <a:pt x="12123925" y="0"/>
                </a:lnTo>
                <a:lnTo>
                  <a:pt x="12123925" y="7046513"/>
                </a:lnTo>
                <a:lnTo>
                  <a:pt x="0" y="7046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19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273612" y="15881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75312" y="761541"/>
            <a:ext cx="10478474" cy="3383274"/>
            <a:chOff x="-1" y="-133350"/>
            <a:chExt cx="13971298" cy="4511031"/>
          </a:xfrm>
        </p:grpSpPr>
        <p:sp>
          <p:nvSpPr>
            <p:cNvPr id="8" name="TextBox 8"/>
            <p:cNvSpPr txBox="1"/>
            <p:nvPr/>
          </p:nvSpPr>
          <p:spPr>
            <a:xfrm>
              <a:off x="-1" y="-133350"/>
              <a:ext cx="10573982" cy="16201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0080"/>
                </a:lnSpc>
                <a:spcBef>
                  <a:spcPct val="0"/>
                </a:spcBef>
              </a:pPr>
              <a:r>
                <a:rPr lang="en-US" sz="7200" b="1" dirty="0">
                  <a:solidFill>
                    <a:srgbClr val="7B5325"/>
                  </a:solidFill>
                  <a:latin typeface="Almarai Ultra-Bold"/>
                  <a:ea typeface="Almarai Ultra-Bold"/>
                  <a:cs typeface="Almarai Ultra-Bold"/>
                  <a:sym typeface="Almarai Ultra-Bold"/>
                </a:rPr>
                <a:t>Temporal Metrics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7567" y="1563920"/>
              <a:ext cx="13753730" cy="28137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1" u="sng" dirty="0">
                  <a:solidFill>
                    <a:srgbClr val="ED7843"/>
                  </a:solidFill>
                  <a:latin typeface="Almarai Ultra-Bold"/>
                  <a:ea typeface="Almarai Ultra-Bold"/>
                  <a:cs typeface="Almarai Ultra-Bold"/>
                  <a:sym typeface="Almarai Ultra-Bold"/>
                </a:rPr>
                <a:t>REMEDIATION LEVEL</a:t>
              </a:r>
            </a:p>
            <a:p>
              <a:pPr algn="l">
                <a:lnSpc>
                  <a:spcPts val="5599"/>
                </a:lnSpc>
              </a:pPr>
              <a:endParaRPr lang="en-US" sz="3999" b="1" u="sng" dirty="0">
                <a:solidFill>
                  <a:srgbClr val="ED7843"/>
                </a:solidFill>
                <a:latin typeface="Almarai Ultra-Bold"/>
                <a:ea typeface="Almarai Ultra-Bold"/>
                <a:cs typeface="Almarai Ultra-Bold"/>
                <a:sym typeface="Almarai Ultra-Bold"/>
              </a:endParaRPr>
            </a:p>
            <a:p>
              <a:pPr algn="l">
                <a:lnSpc>
                  <a:spcPts val="5599"/>
                </a:lnSpc>
                <a:spcBef>
                  <a:spcPct val="0"/>
                </a:spcBef>
              </a:pPr>
              <a:endParaRPr lang="en-US" sz="3999" b="1" u="sng" dirty="0">
                <a:solidFill>
                  <a:srgbClr val="ED7843"/>
                </a:solidFill>
                <a:latin typeface="Almarai Ultra-Bold"/>
                <a:ea typeface="Almarai Ultra-Bold"/>
                <a:cs typeface="Almarai Ultra-Bold"/>
                <a:sym typeface="Almarai Ultra-Bold"/>
              </a:endParaRPr>
            </a:p>
          </p:txBody>
        </p:sp>
      </p:grp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56AEB39-8F9E-AD4E-A3B8-07C80A6ADF76}"/>
              </a:ext>
            </a:extLst>
          </p:cNvPr>
          <p:cNvSpPr/>
          <p:nvPr/>
        </p:nvSpPr>
        <p:spPr>
          <a:xfrm>
            <a:off x="838200" y="4000500"/>
            <a:ext cx="3962400" cy="3733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ts val="5123"/>
              </a:lnSpc>
            </a:pP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If a </a:t>
            </a:r>
            <a:r>
              <a:rPr lang="en-US" sz="3400" b="1" dirty="0">
                <a:solidFill>
                  <a:srgbClr val="FF3131"/>
                </a:solidFill>
                <a:latin typeface="Almarai Bold"/>
                <a:ea typeface="Almarai Bold"/>
                <a:cs typeface="Almarai Bold"/>
                <a:sym typeface="Almarai Bold"/>
              </a:rPr>
              <a:t>patch</a:t>
            </a: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 is ready, the risk might go 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53084" y="1033181"/>
            <a:ext cx="8990488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Environmental Metrics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14770" y="9803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06A89-A97A-2B48-8403-166EB6BE810F}"/>
              </a:ext>
            </a:extLst>
          </p:cNvPr>
          <p:cNvSpPr/>
          <p:nvPr/>
        </p:nvSpPr>
        <p:spPr>
          <a:xfrm>
            <a:off x="953083" y="2252381"/>
            <a:ext cx="16526717" cy="1374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5199"/>
              </a:lnSpc>
            </a:pP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These are specific to one’s </a:t>
            </a:r>
            <a:r>
              <a:rPr lang="en-US" sz="3400" b="1" dirty="0">
                <a:solidFill>
                  <a:srgbClr val="ED7843"/>
                </a:solidFill>
                <a:latin typeface="Almarai Bold"/>
                <a:ea typeface="Almarai Bold"/>
                <a:cs typeface="Almarai Bold"/>
                <a:sym typeface="Almarai Bold"/>
              </a:rPr>
              <a:t>environment</a:t>
            </a:r>
            <a:r>
              <a:rPr lang="en-US" sz="3400" b="1" dirty="0">
                <a:solidFill>
                  <a:srgbClr val="2B1C09"/>
                </a:solidFill>
                <a:latin typeface="Almarai Bold"/>
                <a:ea typeface="Almarai Bold"/>
                <a:cs typeface="Almarai Bold"/>
                <a:sym typeface="Almarai Bold"/>
              </a:rPr>
              <a:t>, </a:t>
            </a: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meaning the same </a:t>
            </a:r>
            <a:r>
              <a:rPr lang="en-US" sz="3400" b="1" dirty="0">
                <a:solidFill>
                  <a:srgbClr val="FF3131"/>
                </a:solidFill>
                <a:latin typeface="Almarai Bold"/>
                <a:ea typeface="Almarai Bold"/>
                <a:cs typeface="Almarai Bold"/>
                <a:sym typeface="Almarai Bold"/>
              </a:rPr>
              <a:t>vulnerability</a:t>
            </a:r>
            <a:r>
              <a: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rPr>
              <a:t> might be more severe for one organization than another.</a:t>
            </a:r>
          </a:p>
        </p:txBody>
      </p:sp>
      <p:pic>
        <p:nvPicPr>
          <p:cNvPr id="14" name="Google Shape;376;p51">
            <a:extLst>
              <a:ext uri="{FF2B5EF4-FFF2-40B4-BE49-F238E27FC236}">
                <a16:creationId xmlns:a16="http://schemas.microsoft.com/office/drawing/2014/main" id="{AA9D6EED-8AF3-9C40-A8B9-A5E33250D13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2599" t="3528" r="2560" b="31124"/>
          <a:stretch/>
        </p:blipFill>
        <p:spPr>
          <a:xfrm>
            <a:off x="967000" y="3956573"/>
            <a:ext cx="6881600" cy="59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377;p51">
            <a:extLst>
              <a:ext uri="{FF2B5EF4-FFF2-40B4-BE49-F238E27FC236}">
                <a16:creationId xmlns:a16="http://schemas.microsoft.com/office/drawing/2014/main" id="{1DB34DE7-4D73-F34E-A265-83C9C52FFE2D}"/>
              </a:ext>
            </a:extLst>
          </p:cNvPr>
          <p:cNvSpPr txBox="1"/>
          <p:nvPr/>
        </p:nvSpPr>
        <p:spPr>
          <a:xfrm>
            <a:off x="8077200" y="4011113"/>
            <a:ext cx="9738470" cy="477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 dirty="0"/>
              <a:t>Modified Base Metrics</a:t>
            </a:r>
            <a:endParaRPr sz="3400" b="1"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3400" dirty="0"/>
              <a:t>Customizes base metrics for specific organizational contexts.</a:t>
            </a:r>
            <a:endParaRPr sz="34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Security Requirements (CR, IR, AR)</a:t>
            </a:r>
            <a:endParaRPr sz="3400" b="1" dirty="0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3400" dirty="0"/>
              <a:t>Weigh the importance of Confidentiality, Integrity, and Availability.</a:t>
            </a:r>
            <a:endParaRPr sz="3400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3400" dirty="0"/>
              <a:t>Values: Low, Medium, High.</a:t>
            </a:r>
            <a:endParaRPr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086601" y="2628900"/>
            <a:ext cx="10692280" cy="7417936"/>
          </a:xfrm>
          <a:custGeom>
            <a:avLst/>
            <a:gdLst/>
            <a:ahLst/>
            <a:cxnLst/>
            <a:rect l="l" t="t" r="r" b="b"/>
            <a:pathLst>
              <a:path w="10245361" h="7120526">
                <a:moveTo>
                  <a:pt x="0" y="0"/>
                </a:moveTo>
                <a:lnTo>
                  <a:pt x="10245361" y="0"/>
                </a:lnTo>
                <a:lnTo>
                  <a:pt x="10245361" y="7120526"/>
                </a:lnTo>
                <a:lnTo>
                  <a:pt x="0" y="712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14770" y="9803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135416"/>
            <a:ext cx="10039631" cy="8425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>
                <a:solidFill>
                  <a:srgbClr val="ED7843"/>
                </a:solidFill>
                <a:latin typeface="Almarai Bold"/>
                <a:ea typeface="Almarai Bold"/>
                <a:cs typeface="Almarai Bold"/>
                <a:sym typeface="Almarai Bold"/>
              </a:rPr>
              <a:t>Security Requirements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70DD02E-ABC2-084B-B663-2B22D0DBDAA8}"/>
              </a:ext>
            </a:extLst>
          </p:cNvPr>
          <p:cNvSpPr/>
          <p:nvPr/>
        </p:nvSpPr>
        <p:spPr>
          <a:xfrm>
            <a:off x="1752600" y="4305300"/>
            <a:ext cx="3761807" cy="36970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3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hospital might rank </a:t>
            </a:r>
            <a:r>
              <a:rPr lang="en-US" sz="3400" b="1" dirty="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Availability</a:t>
            </a:r>
            <a:r>
              <a:rPr lang="en-US" sz="3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higher because </a:t>
            </a:r>
            <a:r>
              <a:rPr lang="en-US" sz="3400" dirty="0">
                <a:solidFill>
                  <a:srgbClr val="ED7843"/>
                </a:solidFill>
                <a:latin typeface="Canva Sans"/>
                <a:ea typeface="Canva Sans"/>
                <a:cs typeface="Canva Sans"/>
                <a:sym typeface="Canva Sans"/>
              </a:rPr>
              <a:t>downtime</a:t>
            </a:r>
            <a:r>
              <a:rPr lang="en-US" sz="3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could endanger lives.</a:t>
            </a:r>
            <a:endParaRPr lang="en-US" sz="3400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F6B58AE-B609-C745-8D8F-13AF78AAAEE0}"/>
              </a:ext>
            </a:extLst>
          </p:cNvPr>
          <p:cNvSpPr txBox="1"/>
          <p:nvPr/>
        </p:nvSpPr>
        <p:spPr>
          <a:xfrm>
            <a:off x="685800" y="1033181"/>
            <a:ext cx="9257772" cy="122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Environmental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705601" y="2999016"/>
            <a:ext cx="11201399" cy="7429085"/>
          </a:xfrm>
          <a:custGeom>
            <a:avLst/>
            <a:gdLst/>
            <a:ahLst/>
            <a:cxnLst/>
            <a:rect l="l" t="t" r="r" b="b"/>
            <a:pathLst>
              <a:path w="11046967" h="7429085">
                <a:moveTo>
                  <a:pt x="0" y="0"/>
                </a:moveTo>
                <a:lnTo>
                  <a:pt x="11046967" y="0"/>
                </a:lnTo>
                <a:lnTo>
                  <a:pt x="11046967" y="7429085"/>
                </a:lnTo>
                <a:lnTo>
                  <a:pt x="0" y="7429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14770" y="9803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0747" y="2187804"/>
            <a:ext cx="885298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ED7843"/>
                </a:solidFill>
                <a:latin typeface="Almarai Bold"/>
                <a:ea typeface="Almarai Bold"/>
                <a:cs typeface="Almarai Bold"/>
                <a:sym typeface="Almarai Bold"/>
              </a:rPr>
              <a:t>Modified Base Metrics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A6D36F-8C7F-494F-9A59-4315AF1984F6}"/>
              </a:ext>
            </a:extLst>
          </p:cNvPr>
          <p:cNvSpPr/>
          <p:nvPr/>
        </p:nvSpPr>
        <p:spPr>
          <a:xfrm>
            <a:off x="1371600" y="3695700"/>
            <a:ext cx="4611807" cy="48291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en-US" sz="3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you have no external internet access, the Network attack vector might not apply.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2F187C6-AE9C-4247-BD44-C3C0D2C51979}"/>
              </a:ext>
            </a:extLst>
          </p:cNvPr>
          <p:cNvSpPr txBox="1"/>
          <p:nvPr/>
        </p:nvSpPr>
        <p:spPr>
          <a:xfrm>
            <a:off x="510747" y="1033181"/>
            <a:ext cx="9432825" cy="122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Environmental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14770" y="9803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2F187C6-AE9C-4247-BD44-C3C0D2C51979}"/>
              </a:ext>
            </a:extLst>
          </p:cNvPr>
          <p:cNvSpPr txBox="1"/>
          <p:nvPr/>
        </p:nvSpPr>
        <p:spPr>
          <a:xfrm>
            <a:off x="510747" y="1033181"/>
            <a:ext cx="9432825" cy="122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Activities in CVSS</a:t>
            </a:r>
          </a:p>
        </p:txBody>
      </p:sp>
      <p:pic>
        <p:nvPicPr>
          <p:cNvPr id="12" name="Google Shape;383;p52">
            <a:extLst>
              <a:ext uri="{FF2B5EF4-FFF2-40B4-BE49-F238E27FC236}">
                <a16:creationId xmlns:a16="http://schemas.microsoft.com/office/drawing/2014/main" id="{4583055E-B994-AF40-8CCD-24F8060D000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0747" y="2416973"/>
            <a:ext cx="17320053" cy="7374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42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14770" y="98038"/>
            <a:ext cx="6658460" cy="55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17"/>
              </a:lnSpc>
              <a:spcBef>
                <a:spcPct val="0"/>
              </a:spcBef>
            </a:pPr>
            <a:r>
              <a:rPr lang="en-US" sz="3155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CVSS PRIMARY METRIC GROUPS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2F187C6-AE9C-4247-BD44-C3C0D2C51979}"/>
              </a:ext>
            </a:extLst>
          </p:cNvPr>
          <p:cNvSpPr txBox="1"/>
          <p:nvPr/>
        </p:nvSpPr>
        <p:spPr>
          <a:xfrm>
            <a:off x="510747" y="1033181"/>
            <a:ext cx="9432825" cy="1226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Example of a CVSS</a:t>
            </a:r>
          </a:p>
        </p:txBody>
      </p:sp>
      <p:sp>
        <p:nvSpPr>
          <p:cNvPr id="8" name="Google Shape;389;p53">
            <a:extLst>
              <a:ext uri="{FF2B5EF4-FFF2-40B4-BE49-F238E27FC236}">
                <a16:creationId xmlns:a16="http://schemas.microsoft.com/office/drawing/2014/main" id="{45F6A6C4-864D-7549-BD96-DBB6B5209F07}"/>
              </a:ext>
            </a:extLst>
          </p:cNvPr>
          <p:cNvSpPr/>
          <p:nvPr/>
        </p:nvSpPr>
        <p:spPr>
          <a:xfrm>
            <a:off x="510747" y="2260001"/>
            <a:ext cx="7795053" cy="5395761"/>
          </a:xfrm>
          <a:prstGeom prst="roundRect">
            <a:avLst>
              <a:gd name="adj" fmla="val 16667"/>
            </a:avLst>
          </a:prstGeom>
          <a:solidFill>
            <a:srgbClr val="D2DDF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Base Metrics:</a:t>
            </a:r>
            <a:endParaRPr sz="3400"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AV (Attack Vector):</a:t>
            </a:r>
            <a:r>
              <a:rPr lang="en" sz="3400" dirty="0"/>
              <a:t> </a:t>
            </a:r>
            <a:r>
              <a:rPr lang="en" sz="3400" i="1" dirty="0"/>
              <a:t>Network</a:t>
            </a:r>
            <a:r>
              <a:rPr lang="en" sz="3400" dirty="0"/>
              <a:t> (N) 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AC (Attack Complexity):</a:t>
            </a:r>
            <a:r>
              <a:rPr lang="en" sz="3400" dirty="0"/>
              <a:t> </a:t>
            </a:r>
            <a:r>
              <a:rPr lang="en" sz="3400" i="1" dirty="0"/>
              <a:t>Low</a:t>
            </a:r>
            <a:r>
              <a:rPr lang="en" sz="3400" dirty="0"/>
              <a:t> (L) 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PR (Privileges Required):</a:t>
            </a:r>
            <a:r>
              <a:rPr lang="en" sz="3400" dirty="0"/>
              <a:t> </a:t>
            </a:r>
            <a:r>
              <a:rPr lang="en" sz="3400" i="1" dirty="0"/>
              <a:t>None</a:t>
            </a:r>
            <a:r>
              <a:rPr lang="en" sz="3400" dirty="0"/>
              <a:t> (N) 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UI (User Interaction):</a:t>
            </a:r>
            <a:r>
              <a:rPr lang="en" sz="3400" dirty="0"/>
              <a:t> </a:t>
            </a:r>
            <a:r>
              <a:rPr lang="en" sz="3400" i="1" dirty="0"/>
              <a:t>None</a:t>
            </a:r>
            <a:r>
              <a:rPr lang="en" sz="3400" dirty="0"/>
              <a:t> (N) 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C (Confidentiality Impact):</a:t>
            </a:r>
            <a:r>
              <a:rPr lang="en" sz="3400" dirty="0"/>
              <a:t> </a:t>
            </a:r>
            <a:r>
              <a:rPr lang="en" sz="3400" i="1" dirty="0"/>
              <a:t>High</a:t>
            </a:r>
            <a:r>
              <a:rPr lang="en" sz="3400" dirty="0"/>
              <a:t> (H) 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I (Integrity Impact):</a:t>
            </a:r>
            <a:r>
              <a:rPr lang="en" sz="3400" dirty="0"/>
              <a:t> </a:t>
            </a:r>
            <a:r>
              <a:rPr lang="en" sz="3400" i="1" dirty="0"/>
              <a:t>High</a:t>
            </a:r>
            <a:r>
              <a:rPr lang="en" sz="3400" dirty="0"/>
              <a:t> (H) 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A (Availability Impact):</a:t>
            </a:r>
            <a:r>
              <a:rPr lang="en" sz="3400" dirty="0"/>
              <a:t> </a:t>
            </a:r>
            <a:r>
              <a:rPr lang="en" sz="3400" i="1" dirty="0"/>
              <a:t>High</a:t>
            </a:r>
            <a:r>
              <a:rPr lang="en" sz="3400" dirty="0"/>
              <a:t> (H) </a:t>
            </a:r>
            <a:endParaRPr sz="3400" dirty="0"/>
          </a:p>
        </p:txBody>
      </p:sp>
      <p:sp>
        <p:nvSpPr>
          <p:cNvPr id="9" name="Google Shape;390;p53">
            <a:extLst>
              <a:ext uri="{FF2B5EF4-FFF2-40B4-BE49-F238E27FC236}">
                <a16:creationId xmlns:a16="http://schemas.microsoft.com/office/drawing/2014/main" id="{7C7F82C5-9C92-654E-9BBF-0E21D2514B14}"/>
              </a:ext>
            </a:extLst>
          </p:cNvPr>
          <p:cNvSpPr/>
          <p:nvPr/>
        </p:nvSpPr>
        <p:spPr>
          <a:xfrm>
            <a:off x="4828607" y="7929060"/>
            <a:ext cx="7795053" cy="2247900"/>
          </a:xfrm>
          <a:prstGeom prst="roundRect">
            <a:avLst>
              <a:gd name="adj" fmla="val 16667"/>
            </a:avLst>
          </a:prstGeom>
          <a:solidFill>
            <a:srgbClr val="D2DDF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Temporal Metrics:</a:t>
            </a:r>
            <a:endParaRPr sz="3400"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Exploit Available:</a:t>
            </a:r>
            <a:r>
              <a:rPr lang="en" sz="3400" dirty="0"/>
              <a:t> ✅</a:t>
            </a:r>
            <a:endParaRPr sz="34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Remediation Level:</a:t>
            </a:r>
            <a:r>
              <a:rPr lang="en" sz="3400" dirty="0"/>
              <a:t> </a:t>
            </a:r>
            <a:r>
              <a:rPr lang="en" sz="3400" i="1" dirty="0"/>
              <a:t>Official fix</a:t>
            </a:r>
            <a:r>
              <a:rPr lang="en" sz="3400" dirty="0"/>
              <a:t> </a:t>
            </a:r>
            <a:endParaRPr sz="3400" dirty="0"/>
          </a:p>
        </p:txBody>
      </p:sp>
      <p:sp>
        <p:nvSpPr>
          <p:cNvPr id="10" name="Google Shape;391;p53">
            <a:extLst>
              <a:ext uri="{FF2B5EF4-FFF2-40B4-BE49-F238E27FC236}">
                <a16:creationId xmlns:a16="http://schemas.microsoft.com/office/drawing/2014/main" id="{6E55092C-CC4B-1848-B7AC-C630DDC8E9AE}"/>
              </a:ext>
            </a:extLst>
          </p:cNvPr>
          <p:cNvSpPr/>
          <p:nvPr/>
        </p:nvSpPr>
        <p:spPr>
          <a:xfrm>
            <a:off x="9144000" y="2260001"/>
            <a:ext cx="8389493" cy="5395761"/>
          </a:xfrm>
          <a:prstGeom prst="roundRect">
            <a:avLst>
              <a:gd name="adj" fmla="val 16667"/>
            </a:avLst>
          </a:prstGeom>
          <a:solidFill>
            <a:srgbClr val="D2DDF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Environmental Metrics:</a:t>
            </a:r>
            <a:endParaRPr sz="3400" b="1" dirty="0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3400" b="1" dirty="0"/>
              <a:t>Confidentiality Importance:</a:t>
            </a:r>
            <a:r>
              <a:rPr lang="en" sz="3400" dirty="0"/>
              <a:t> </a:t>
            </a:r>
            <a:r>
              <a:rPr lang="en" sz="3400" i="1" dirty="0"/>
              <a:t>High</a:t>
            </a:r>
            <a:r>
              <a:rPr lang="en" sz="3400" dirty="0"/>
              <a:t> for critical servers ⚠️</a:t>
            </a:r>
            <a:endParaRPr sz="34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400" b="1" dirty="0"/>
              <a:t>Final Score:</a:t>
            </a:r>
            <a:r>
              <a:rPr lang="en" sz="3400" dirty="0"/>
              <a:t> </a:t>
            </a:r>
            <a:r>
              <a:rPr lang="en" sz="3400" b="1" dirty="0"/>
              <a:t>9.8 (Critical)</a:t>
            </a:r>
            <a:r>
              <a:rPr lang="en" sz="3400" dirty="0"/>
              <a:t> 🔴</a:t>
            </a:r>
            <a:endParaRPr sz="3400"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3400" b="1" dirty="0"/>
          </a:p>
        </p:txBody>
      </p:sp>
    </p:spTree>
    <p:extLst>
      <p:ext uri="{BB962C8B-B14F-4D97-AF65-F5344CB8AC3E}">
        <p14:creationId xmlns:p14="http://schemas.microsoft.com/office/powerpoint/2010/main" val="3274606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6108" y="4686300"/>
            <a:ext cx="23248147" cy="6839480"/>
            <a:chOff x="0" y="0"/>
            <a:chExt cx="30997529" cy="65295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0997529" cy="6102158"/>
              <a:chOff x="0" y="0"/>
              <a:chExt cx="6122969" cy="120536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122969" cy="1205365"/>
              </a:xfrm>
              <a:custGeom>
                <a:avLst/>
                <a:gdLst/>
                <a:ahLst/>
                <a:cxnLst/>
                <a:rect l="l" t="t" r="r" b="b"/>
                <a:pathLst>
                  <a:path w="6122969" h="1205365">
                    <a:moveTo>
                      <a:pt x="0" y="0"/>
                    </a:moveTo>
                    <a:lnTo>
                      <a:pt x="6122969" y="0"/>
                    </a:lnTo>
                    <a:lnTo>
                      <a:pt x="6122969" y="1205365"/>
                    </a:lnTo>
                    <a:lnTo>
                      <a:pt x="0" y="1205365"/>
                    </a:lnTo>
                    <a:close/>
                  </a:path>
                </a:pathLst>
              </a:custGeom>
              <a:solidFill>
                <a:srgbClr val="FFFDFC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6122969" cy="12434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2749211" y="192881"/>
              <a:ext cx="22462598" cy="1591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080"/>
                </a:lnSpc>
                <a:spcBef>
                  <a:spcPct val="0"/>
                </a:spcBef>
              </a:pPr>
              <a:r>
                <a:rPr lang="en-US" sz="7200" b="1" dirty="0">
                  <a:solidFill>
                    <a:srgbClr val="7B5325"/>
                  </a:solidFill>
                  <a:latin typeface="Almarai Ultra-Bold"/>
                  <a:ea typeface="Almarai Ultra-Bold"/>
                  <a:cs typeface="Almarai Ultra-Bold"/>
                  <a:sym typeface="Almarai Ultra-Bold"/>
                </a:rPr>
                <a:t>EPSS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9211" y="1784190"/>
              <a:ext cx="23469600" cy="47453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 pitchFamily="2" charset="2"/>
                <a:buChar char="q"/>
              </a:pPr>
              <a:r>
                <a:rPr lang="en-US" sz="3400" dirty="0">
                  <a:solidFill>
                    <a:srgbClr val="2B1C09"/>
                  </a:solidFill>
                  <a:latin typeface="Arial" panose="020B0604020202020204" pitchFamily="34" charset="0"/>
                  <a:ea typeface="Almarai"/>
                  <a:cs typeface="Arial" panose="020B0604020202020204" pitchFamily="34" charset="0"/>
                  <a:sym typeface="Almarai"/>
                </a:rPr>
                <a:t>EPSS is a </a:t>
              </a:r>
              <a:r>
                <a:rPr lang="en-US" sz="3400" b="1" dirty="0">
                  <a:solidFill>
                    <a:srgbClr val="ED7843"/>
                  </a:solidFill>
                  <a:latin typeface="Arial" panose="020B0604020202020204" pitchFamily="34" charset="0"/>
                  <a:ea typeface="Almarai Bold"/>
                  <a:cs typeface="Arial" panose="020B0604020202020204" pitchFamily="34" charset="0"/>
                  <a:sym typeface="Almarai Bold"/>
                </a:rPr>
                <a:t>scoring system</a:t>
              </a:r>
              <a:r>
                <a:rPr lang="en-US" sz="3400" dirty="0">
                  <a:solidFill>
                    <a:srgbClr val="2B1C09"/>
                  </a:solidFill>
                  <a:latin typeface="Arial" panose="020B0604020202020204" pitchFamily="34" charset="0"/>
                  <a:ea typeface="Almarai"/>
                  <a:cs typeface="Arial" panose="020B0604020202020204" pitchFamily="34" charset="0"/>
                  <a:sym typeface="Almarai"/>
                </a:rPr>
                <a:t> that predicts the likelihood of a vulnerability being exploited in the near future. It uses </a:t>
              </a:r>
              <a:r>
                <a:rPr lang="en-US" sz="3400" b="1" dirty="0">
                  <a:solidFill>
                    <a:srgbClr val="ED7843"/>
                  </a:solidFill>
                  <a:latin typeface="Arial" panose="020B0604020202020204" pitchFamily="34" charset="0"/>
                  <a:ea typeface="Almarai Bold"/>
                  <a:cs typeface="Arial" panose="020B0604020202020204" pitchFamily="34" charset="0"/>
                  <a:sym typeface="Almarai Bold"/>
                </a:rPr>
                <a:t>historical data and machine learning models</a:t>
              </a:r>
              <a:r>
                <a:rPr lang="en-US" sz="3400" dirty="0">
                  <a:solidFill>
                    <a:srgbClr val="2B1C09"/>
                  </a:solidFill>
                  <a:latin typeface="Arial" panose="020B0604020202020204" pitchFamily="34" charset="0"/>
                  <a:ea typeface="Almarai"/>
                  <a:cs typeface="Arial" panose="020B0604020202020204" pitchFamily="34" charset="0"/>
                  <a:sym typeface="Almarai"/>
                </a:rPr>
                <a:t> to estimate, and hence Dynamic and Data-Driven.</a:t>
              </a:r>
            </a:p>
            <a:p>
              <a:pPr marL="457200" indent="-457200" algn="just">
                <a:lnSpc>
                  <a:spcPct val="150000"/>
                </a:lnSpc>
                <a:buFont typeface="Wingdings" pitchFamily="2" charset="2"/>
                <a:buChar char="q"/>
              </a:pPr>
              <a:r>
                <a:rPr lang="en-US" sz="3400" dirty="0">
                  <a:solidFill>
                    <a:srgbClr val="2B1C09"/>
                  </a:solidFill>
                  <a:latin typeface="Arial" panose="020B0604020202020204" pitchFamily="34" charset="0"/>
                  <a:ea typeface="Almarai"/>
                  <a:cs typeface="Arial" panose="020B0604020202020204" pitchFamily="34" charset="0"/>
                  <a:sym typeface="Almarai"/>
                </a:rPr>
                <a:t>Complement CVSS</a:t>
              </a:r>
            </a:p>
            <a:p>
              <a:pPr marL="457200" indent="-457200" algn="just">
                <a:lnSpc>
                  <a:spcPct val="150000"/>
                </a:lnSpc>
                <a:buFont typeface="Wingdings" pitchFamily="2" charset="2"/>
                <a:buChar char="q"/>
              </a:pPr>
              <a:r>
                <a:rPr lang="en-US" sz="3400" dirty="0">
                  <a:solidFill>
                    <a:srgbClr val="2B1C09"/>
                  </a:solidFill>
                  <a:latin typeface="Arial" panose="020B0604020202020204" pitchFamily="34" charset="0"/>
                  <a:ea typeface="Almarai"/>
                  <a:cs typeface="Arial" panose="020B0604020202020204" pitchFamily="34" charset="0"/>
                  <a:sym typeface="Almarai"/>
                </a:rPr>
                <a:t>Developed by FIRST (Forum of Incident Response and Security Teams). </a:t>
              </a:r>
            </a:p>
            <a:p>
              <a:pPr marL="457200" indent="-457200" algn="just">
                <a:buFont typeface="Wingdings" pitchFamily="2" charset="2"/>
                <a:buChar char="q"/>
              </a:pPr>
              <a:endPara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endParaRPr>
            </a:p>
            <a:p>
              <a:pPr marL="457200" indent="-457200" algn="just">
                <a:buFont typeface="Wingdings" pitchFamily="2" charset="2"/>
                <a:buChar char="q"/>
              </a:pPr>
              <a:endParaRPr lang="en-US" sz="3400" dirty="0">
                <a:solidFill>
                  <a:srgbClr val="2B1C09"/>
                </a:solidFill>
                <a:latin typeface="Almarai"/>
                <a:ea typeface="Almarai"/>
                <a:cs typeface="Almarai"/>
                <a:sym typeface="Almarai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2971800" y="280263"/>
            <a:ext cx="11506199" cy="4406037"/>
          </a:xfrm>
          <a:custGeom>
            <a:avLst/>
            <a:gdLst/>
            <a:ahLst/>
            <a:cxnLst/>
            <a:rect l="l" t="t" r="r" b="b"/>
            <a:pathLst>
              <a:path w="8678877" h="5836545">
                <a:moveTo>
                  <a:pt x="0" y="0"/>
                </a:moveTo>
                <a:lnTo>
                  <a:pt x="8678876" y="0"/>
                </a:lnTo>
                <a:lnTo>
                  <a:pt x="8678876" y="5836544"/>
                </a:lnTo>
                <a:lnTo>
                  <a:pt x="0" y="583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68000" y="990600"/>
            <a:ext cx="7620000" cy="9258300"/>
          </a:xfrm>
          <a:custGeom>
            <a:avLst/>
            <a:gdLst/>
            <a:ahLst/>
            <a:cxnLst/>
            <a:rect l="l" t="t" r="r" b="b"/>
            <a:pathLst>
              <a:path w="6646748" h="9258300">
                <a:moveTo>
                  <a:pt x="0" y="0"/>
                </a:moveTo>
                <a:lnTo>
                  <a:pt x="6646747" y="0"/>
                </a:lnTo>
                <a:lnTo>
                  <a:pt x="6646747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8" t="-541" r="-562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36575" y="1013371"/>
            <a:ext cx="792162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Scoring Range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2106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8162" y="2282395"/>
            <a:ext cx="10639438" cy="11847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3399" b="1" dirty="0">
                <a:solidFill>
                  <a:srgbClr val="ED78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EPSS score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ranges from 0.0 (very unlikely to be exploited) to 1.0 (certain to be exploited).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4CA2819-26B0-6D49-BC9C-CBAD35A6EAC8}"/>
              </a:ext>
            </a:extLst>
          </p:cNvPr>
          <p:cNvSpPr txBox="1"/>
          <p:nvPr/>
        </p:nvSpPr>
        <p:spPr>
          <a:xfrm>
            <a:off x="460375" y="3540636"/>
            <a:ext cx="7921625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Benefits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F659C9-8DA0-204E-8A48-BB0FDF2AC8B9}"/>
              </a:ext>
            </a:extLst>
          </p:cNvPr>
          <p:cNvSpPr/>
          <p:nvPr/>
        </p:nvSpPr>
        <p:spPr>
          <a:xfrm>
            <a:off x="600477" y="5192741"/>
            <a:ext cx="9574195" cy="45227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400" dirty="0"/>
              <a:t>Prioritization: Focus on high-risk vulnerabilities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400" dirty="0"/>
              <a:t>Efficiency: Avoid wasting resources on lower-risk vulnerabilities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400" dirty="0"/>
              <a:t>Proactivity: Stay prepared for any potential attacks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324600" y="3771900"/>
            <a:ext cx="11963400" cy="5947499"/>
          </a:xfrm>
          <a:custGeom>
            <a:avLst/>
            <a:gdLst/>
            <a:ahLst/>
            <a:cxnLst/>
            <a:rect l="l" t="t" r="r" b="b"/>
            <a:pathLst>
              <a:path w="13550981" h="7914430">
                <a:moveTo>
                  <a:pt x="0" y="0"/>
                </a:moveTo>
                <a:lnTo>
                  <a:pt x="13550980" y="0"/>
                </a:lnTo>
                <a:lnTo>
                  <a:pt x="13550980" y="7914430"/>
                </a:lnTo>
                <a:lnTo>
                  <a:pt x="0" y="7914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86" b="-168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3362" y="1013371"/>
            <a:ext cx="6969601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How It Works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64323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782230F-96AE-F941-BBFF-416C214F1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9406565"/>
              </p:ext>
            </p:extLst>
          </p:nvPr>
        </p:nvGraphicFramePr>
        <p:xfrm>
          <a:off x="7648562" y="791808"/>
          <a:ext cx="10029838" cy="3513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6893E02-F0E0-D944-BCB8-4893B7B084C6}"/>
              </a:ext>
            </a:extLst>
          </p:cNvPr>
          <p:cNvSpPr/>
          <p:nvPr/>
        </p:nvSpPr>
        <p:spPr>
          <a:xfrm>
            <a:off x="333362" y="2628900"/>
            <a:ext cx="5686438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Uses information from various data sources like vulnerability database, exploit repositories, real-world attack data.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Scores probability of exploitation from 0 to 1 using ML and statistical models.</a:t>
            </a:r>
          </a:p>
          <a:p>
            <a:pPr marL="457200" lvl="0" indent="-457200" algn="just"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Changes assigned scores as new data becomes available.</a:t>
            </a:r>
          </a:p>
          <a:p>
            <a:pPr marL="457200" lvl="0" indent="-457200" algn="just">
              <a:buFont typeface="Wingdings" pitchFamily="2" charset="2"/>
              <a:buChar char="q"/>
            </a:pPr>
            <a:endParaRPr lang="en-US" sz="3600" b="1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64323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  <p:sp>
        <p:nvSpPr>
          <p:cNvPr id="11" name="Google Shape;276;p42">
            <a:extLst>
              <a:ext uri="{FF2B5EF4-FFF2-40B4-BE49-F238E27FC236}">
                <a16:creationId xmlns:a16="http://schemas.microsoft.com/office/drawing/2014/main" id="{A24D75E0-3C61-C348-A87D-63760F2F7290}"/>
              </a:ext>
            </a:extLst>
          </p:cNvPr>
          <p:cNvSpPr txBox="1">
            <a:spLocks/>
          </p:cNvSpPr>
          <p:nvPr/>
        </p:nvSpPr>
        <p:spPr>
          <a:xfrm>
            <a:off x="394820" y="895398"/>
            <a:ext cx="16444200" cy="1508004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10080"/>
              </a:lnSpc>
            </a:pPr>
            <a:r>
              <a:rPr lang="en-US" sz="7200" b="1">
                <a:solidFill>
                  <a:srgbClr val="7B5325"/>
                </a:solidFill>
                <a:latin typeface="Almarai Ultra-Bold"/>
                <a:cs typeface="Almarai Ultra-Bold"/>
              </a:rPr>
              <a:t>Factors Considered in EPSS</a:t>
            </a:r>
            <a:endParaRPr lang="en-US" sz="7200" b="1" dirty="0">
              <a:solidFill>
                <a:srgbClr val="7B5325"/>
              </a:solidFill>
              <a:latin typeface="Almarai Ultra-Bold"/>
              <a:cs typeface="Almarai Ultra-Bold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2084436-0B1F-C347-9414-47190C4B5F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2330322"/>
              </p:ext>
            </p:extLst>
          </p:nvPr>
        </p:nvGraphicFramePr>
        <p:xfrm>
          <a:off x="1295400" y="1547271"/>
          <a:ext cx="15925800" cy="8541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0064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64323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  <p:sp>
        <p:nvSpPr>
          <p:cNvPr id="11" name="Google Shape;276;p42">
            <a:extLst>
              <a:ext uri="{FF2B5EF4-FFF2-40B4-BE49-F238E27FC236}">
                <a16:creationId xmlns:a16="http://schemas.microsoft.com/office/drawing/2014/main" id="{A24D75E0-3C61-C348-A87D-63760F2F7290}"/>
              </a:ext>
            </a:extLst>
          </p:cNvPr>
          <p:cNvSpPr txBox="1">
            <a:spLocks/>
          </p:cNvSpPr>
          <p:nvPr/>
        </p:nvSpPr>
        <p:spPr>
          <a:xfrm>
            <a:off x="394820" y="895398"/>
            <a:ext cx="16444200" cy="1508004"/>
          </a:xfrm>
          <a:prstGeom prst="rect">
            <a:avLst/>
          </a:prstGeom>
        </p:spPr>
        <p:txBody>
          <a:bodyPr spcFirstLastPara="1" vert="horz" wrap="square" lIns="182850" tIns="182850" rIns="182850" bIns="18285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10080"/>
              </a:lnSpc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cs typeface="Almarai Ultra-Bold"/>
              </a:rPr>
              <a:t>Why EPSS?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00342A-4F22-0B45-B9B6-E44CC4C1CE0A}"/>
              </a:ext>
            </a:extLst>
          </p:cNvPr>
          <p:cNvSpPr/>
          <p:nvPr/>
        </p:nvSpPr>
        <p:spPr>
          <a:xfrm>
            <a:off x="1066800" y="3162300"/>
            <a:ext cx="5334000" cy="4992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Vulnerabilities are constantly discovered.</a:t>
            </a:r>
          </a:p>
          <a:p>
            <a:pPr marL="571500" lvl="0" indent="-5715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 Not all vulnerabilities are exploited.</a:t>
            </a:r>
          </a:p>
          <a:p>
            <a:pPr marL="571500" lvl="0" indent="-5715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 Focuses efforts on the highest risk.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CD6B34C-719C-C94A-9F4C-CB9712791E93}"/>
              </a:ext>
            </a:extLst>
          </p:cNvPr>
          <p:cNvSpPr/>
          <p:nvPr/>
        </p:nvSpPr>
        <p:spPr>
          <a:xfrm>
            <a:off x="7315200" y="2095698"/>
            <a:ext cx="10030968" cy="7124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150000"/>
              </a:lnSpc>
            </a:pPr>
            <a:r>
              <a:rPr lang="en-US" sz="3400" dirty="0">
                <a:solidFill>
                  <a:srgbClr val="101921"/>
                </a:solidFill>
              </a:rPr>
              <a:t>96% of the vulnerabilities scored with EPSS score of less than 0.1, were neither exploited or prioritized for remediation (True Negative (TN)). 1.8% were both exploited and prioritized for remediation (TP). </a:t>
            </a:r>
            <a:endParaRPr lang="en-US" sz="3400" dirty="0">
              <a:solidFill>
                <a:schemeClr val="dk2"/>
              </a:solidFill>
              <a:ea typeface="Calibri"/>
              <a:cs typeface="Calibri"/>
              <a:sym typeface="Calibri"/>
            </a:endParaRPr>
          </a:p>
          <a:p>
            <a:pPr lvl="0" algn="just">
              <a:lnSpc>
                <a:spcPct val="150000"/>
              </a:lnSpc>
            </a:pPr>
            <a:endParaRPr lang="en-US" sz="3400" dirty="0">
              <a:solidFill>
                <a:schemeClr val="dk2"/>
              </a:solidFill>
              <a:ea typeface="Calibri"/>
              <a:cs typeface="Calibri"/>
              <a:sym typeface="Calibri"/>
            </a:endParaRPr>
          </a:p>
          <a:p>
            <a:pPr lvl="0" algn="just">
              <a:lnSpc>
                <a:spcPct val="150000"/>
              </a:lnSpc>
            </a:pPr>
            <a:r>
              <a:rPr lang="en-US" sz="3400" dirty="0">
                <a:solidFill>
                  <a:schemeClr val="hlink"/>
                </a:solidFill>
                <a:ea typeface="Calibri"/>
                <a:cs typeface="Calibri"/>
                <a:sym typeface="Calibri"/>
                <a:hlinkClick r:id="rId2"/>
              </a:rPr>
              <a:t>Source: https://orca.security/resources/blog/epss-scoring-system-explained/</a:t>
            </a:r>
            <a:endParaRPr lang="en-US" sz="3400" dirty="0">
              <a:solidFill>
                <a:schemeClr val="dk2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4236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10601" y="1646380"/>
            <a:ext cx="9677400" cy="7966723"/>
          </a:xfrm>
          <a:custGeom>
            <a:avLst/>
            <a:gdLst/>
            <a:ahLst/>
            <a:cxnLst/>
            <a:rect l="l" t="t" r="r" b="b"/>
            <a:pathLst>
              <a:path w="11120185" h="7966723">
                <a:moveTo>
                  <a:pt x="0" y="0"/>
                </a:moveTo>
                <a:lnTo>
                  <a:pt x="11120185" y="0"/>
                </a:lnTo>
                <a:lnTo>
                  <a:pt x="11120185" y="7966723"/>
                </a:lnTo>
                <a:lnTo>
                  <a:pt x="0" y="7966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31" r="-15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1659" y="833964"/>
            <a:ext cx="9829800" cy="1215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Challenges Addressed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2106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1184F9-905D-2441-B169-E75D5F3341DF}"/>
              </a:ext>
            </a:extLst>
          </p:cNvPr>
          <p:cNvSpPr/>
          <p:nvPr/>
        </p:nvSpPr>
        <p:spPr>
          <a:xfrm>
            <a:off x="567906" y="3390900"/>
            <a:ext cx="6934200" cy="3962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400" b="1" dirty="0"/>
              <a:t> Overwhelming Number of Vulnerabilities </a:t>
            </a:r>
            <a:endParaRPr lang="en-US" sz="3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400" b="1" dirty="0"/>
              <a:t> Ineffective Prioritization </a:t>
            </a:r>
            <a:endParaRPr lang="en-US" sz="34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400" b="1" dirty="0"/>
              <a:t> Resource Constraints</a:t>
            </a:r>
            <a:endParaRPr lang="en-US" sz="3400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43400" y="1411733"/>
            <a:ext cx="13853429" cy="7846567"/>
          </a:xfrm>
          <a:custGeom>
            <a:avLst/>
            <a:gdLst/>
            <a:ahLst/>
            <a:cxnLst/>
            <a:rect l="l" t="t" r="r" b="b"/>
            <a:pathLst>
              <a:path w="12900194" h="7846567">
                <a:moveTo>
                  <a:pt x="0" y="0"/>
                </a:moveTo>
                <a:lnTo>
                  <a:pt x="12900195" y="0"/>
                </a:lnTo>
                <a:lnTo>
                  <a:pt x="12900195" y="7846567"/>
                </a:lnTo>
                <a:lnTo>
                  <a:pt x="0" y="7846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0" r="-637" b="-98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7536" y="1522555"/>
            <a:ext cx="6431864" cy="986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8"/>
              </a:lnSpc>
            </a:pPr>
            <a:r>
              <a:rPr lang="en-US" sz="60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Impacts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2106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7536" y="1522555"/>
            <a:ext cx="6431864" cy="986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98"/>
              </a:lnSpc>
            </a:pPr>
            <a:r>
              <a:rPr lang="en-US" sz="6000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How to Use EPSS?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02106" y="-95250"/>
            <a:ext cx="2672567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F0D7F8-44A0-2844-A56D-790A0FAC7FC6}"/>
              </a:ext>
            </a:extLst>
          </p:cNvPr>
          <p:cNvSpPr/>
          <p:nvPr/>
        </p:nvSpPr>
        <p:spPr>
          <a:xfrm>
            <a:off x="197536" y="2939418"/>
            <a:ext cx="147066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Access EPSS scores through the FIRST website. </a:t>
            </a:r>
            <a:r>
              <a:rPr lang="en-US" sz="3600" u="sng" dirty="0"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https://www.first.org/epss/</a:t>
            </a:r>
            <a:endParaRPr lang="en-US" sz="3600" u="sng" dirty="0">
              <a:latin typeface="Nunito"/>
              <a:ea typeface="Nunito"/>
              <a:cs typeface="Nunito"/>
              <a:sym typeface="Nunito"/>
            </a:endParaRPr>
          </a:p>
          <a:p>
            <a:pPr marL="571500" lvl="0" indent="-5715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Integrate EPSS into vulnerability management workflow.</a:t>
            </a:r>
          </a:p>
          <a:p>
            <a:pPr marL="571500" lvl="0" indent="-571500" algn="just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b="1" dirty="0">
                <a:latin typeface="Nunito"/>
                <a:ea typeface="Nunito"/>
                <a:cs typeface="Nunito"/>
                <a:sym typeface="Nunito"/>
              </a:rPr>
              <a:t>Use EPSS to complement CVSS and other security tools.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C8FF65-3B0C-FD41-8086-60FFC71BC673}"/>
              </a:ext>
            </a:extLst>
          </p:cNvPr>
          <p:cNvSpPr/>
          <p:nvPr/>
        </p:nvSpPr>
        <p:spPr>
          <a:xfrm>
            <a:off x="4828607" y="6299095"/>
            <a:ext cx="1307839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chemeClr val="bg2">
                    <a:lumMod val="50000"/>
                  </a:schemeClr>
                </a:solidFill>
                <a:latin typeface="Nunito"/>
                <a:ea typeface="Nunito"/>
                <a:cs typeface="Nunito"/>
                <a:sym typeface="Nunito"/>
              </a:rPr>
              <a:t>EPSS in Action</a:t>
            </a:r>
            <a:endParaRPr lang="en-US" sz="3400" b="1" dirty="0">
              <a:latin typeface="Nunito"/>
              <a:ea typeface="Nunito"/>
              <a:cs typeface="Nunito"/>
              <a:sym typeface="Nunito"/>
            </a:endParaRPr>
          </a:p>
          <a:p>
            <a:pPr lvl="0"/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1.</a:t>
            </a:r>
            <a:r>
              <a:rPr lang="en-US" sz="34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A vulnerability with CVSS 9 but EPSS 0.05</a:t>
            </a:r>
            <a:endParaRPr lang="en-US" sz="3400" b="1" dirty="0">
              <a:latin typeface="Nunito"/>
              <a:ea typeface="Nunito"/>
              <a:cs typeface="Nunito"/>
              <a:sym typeface="Nunito"/>
            </a:endParaRPr>
          </a:p>
          <a:p>
            <a:pPr lvl="0"/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Action:</a:t>
            </a:r>
            <a:r>
              <a:rPr lang="en-US" sz="3400" b="1" dirty="0">
                <a:latin typeface="Nunito"/>
                <a:ea typeface="Nunito"/>
                <a:cs typeface="Nunito"/>
                <a:sym typeface="Nunito"/>
              </a:rPr>
              <a:t> lower priority</a:t>
            </a:r>
          </a:p>
          <a:p>
            <a:pPr lvl="0"/>
            <a:endParaRPr lang="en-US" sz="3400" b="1" dirty="0">
              <a:latin typeface="Nunito"/>
              <a:ea typeface="Nunito"/>
              <a:cs typeface="Nunito"/>
              <a:sym typeface="Nunito"/>
            </a:endParaRPr>
          </a:p>
          <a:p>
            <a:pPr lvl="0"/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2. A vulnerability with CVSS 7 but EPSS 0.9</a:t>
            </a:r>
          </a:p>
          <a:p>
            <a:pPr lvl="0"/>
            <a:r>
              <a:rPr lang="en-US" sz="3400" dirty="0">
                <a:latin typeface="Nunito"/>
                <a:ea typeface="Nunito"/>
                <a:cs typeface="Nunito"/>
                <a:sym typeface="Nunito"/>
              </a:rPr>
              <a:t>Action:</a:t>
            </a:r>
            <a:r>
              <a:rPr lang="en-US" sz="3400" b="1" dirty="0">
                <a:latin typeface="Nunito"/>
                <a:ea typeface="Nunito"/>
                <a:cs typeface="Nunito"/>
                <a:sym typeface="Nunito"/>
              </a:rPr>
              <a:t> higher priority</a:t>
            </a:r>
          </a:p>
        </p:txBody>
      </p:sp>
    </p:spTree>
    <p:extLst>
      <p:ext uri="{BB962C8B-B14F-4D97-AF65-F5344CB8AC3E}">
        <p14:creationId xmlns:p14="http://schemas.microsoft.com/office/powerpoint/2010/main" val="3415965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28607" y="-9425446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DF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502106" y="-95250"/>
            <a:ext cx="4080294" cy="854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7B5325"/>
                </a:solidFill>
                <a:latin typeface="Almarai Ultra-Bold"/>
                <a:ea typeface="Almarai Ultra-Bold"/>
                <a:cs typeface="Almarai Ultra-Bold"/>
                <a:sym typeface="Almarai Ultra-Bold"/>
              </a:rPr>
              <a:t>EPSS vs CVSS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F658F0-CB76-C345-B402-2CC5DBBF9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249136"/>
            <a:ext cx="16230600" cy="869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789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EBC1E-71E4-F849-AD3C-846076A60716}"/>
              </a:ext>
            </a:extLst>
          </p:cNvPr>
          <p:cNvSpPr txBox="1"/>
          <p:nvPr/>
        </p:nvSpPr>
        <p:spPr>
          <a:xfrm>
            <a:off x="10744200" y="1658898"/>
            <a:ext cx="5638800" cy="56323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US" sz="7200" b="1" dirty="0"/>
          </a:p>
          <a:p>
            <a:endParaRPr lang="en-US" sz="7200" b="1" dirty="0"/>
          </a:p>
          <a:p>
            <a:r>
              <a:rPr lang="en-US" sz="7200" b="1" dirty="0"/>
              <a:t>THANK YOU!</a:t>
            </a:r>
          </a:p>
          <a:p>
            <a:endParaRPr lang="en-US" sz="7200" b="1" dirty="0"/>
          </a:p>
          <a:p>
            <a:endParaRPr lang="en-US" sz="7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86C775-8FB0-A442-967D-5E240C840F65}"/>
              </a:ext>
            </a:extLst>
          </p:cNvPr>
          <p:cNvSpPr txBox="1"/>
          <p:nvPr/>
        </p:nvSpPr>
        <p:spPr>
          <a:xfrm>
            <a:off x="1219200" y="2777430"/>
            <a:ext cx="8534400" cy="452431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US" sz="7200" b="1" dirty="0"/>
          </a:p>
          <a:p>
            <a:endParaRPr lang="en-US" sz="7200" b="1" dirty="0"/>
          </a:p>
          <a:p>
            <a:endParaRPr lang="en-US" sz="7200" b="1" dirty="0"/>
          </a:p>
          <a:p>
            <a:endParaRPr lang="en-US" sz="7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8F912-AE6F-8240-8361-995D00087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" y="1104900"/>
            <a:ext cx="8128000" cy="8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5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832</Words>
  <Application>Microsoft Macintosh PowerPoint</Application>
  <PresentationFormat>Custom</PresentationFormat>
  <Paragraphs>133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Almarai Bold</vt:lpstr>
      <vt:lpstr>Almarai</vt:lpstr>
      <vt:lpstr>Arial</vt:lpstr>
      <vt:lpstr>Nobile</vt:lpstr>
      <vt:lpstr>Nunito</vt:lpstr>
      <vt:lpstr>Canva Sans</vt:lpstr>
      <vt:lpstr>Almarai Ultra-Bold</vt:lpstr>
      <vt:lpstr>Calibri</vt:lpstr>
      <vt:lpstr>Wingdings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Stocks Trading Business Plan</dc:title>
  <cp:lastModifiedBy>Microsoft Office User</cp:lastModifiedBy>
  <cp:revision>21</cp:revision>
  <dcterms:created xsi:type="dcterms:W3CDTF">2006-08-16T00:00:00Z</dcterms:created>
  <dcterms:modified xsi:type="dcterms:W3CDTF">2025-05-12T05:38:09Z</dcterms:modified>
  <dc:identifier>DAGWwpn9fhQ</dc:identifier>
</cp:coreProperties>
</file>