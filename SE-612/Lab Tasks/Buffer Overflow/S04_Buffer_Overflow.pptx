
<file path=[Content_Types].xml><?xml version="1.0" encoding="utf-8"?>
<Types xmlns="http://schemas.openxmlformats.org/package/2006/content-types">
  <Default Extension="png" ContentType="image/png"/>
  <Default Extension="tmp"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9" r:id="rId17"/>
    <p:sldId id="271" r:id="rId18"/>
    <p:sldId id="272" r:id="rId19"/>
    <p:sldId id="273" r:id="rId20"/>
    <p:sldId id="290"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91" r:id="rId35"/>
    <p:sldId id="287" r:id="rId36"/>
    <p:sldId id="288" r:id="rId3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771" autoAdjust="0"/>
  </p:normalViewPr>
  <p:slideViewPr>
    <p:cSldViewPr snapToGrid="0">
      <p:cViewPr varScale="1">
        <p:scale>
          <a:sx n="58" d="100"/>
          <a:sy n="58" d="100"/>
        </p:scale>
        <p:origin x="96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lstStyle>
            <a:lvl1pPr lvl="0">
              <a:spcBef>
                <a:spcPts val="0"/>
              </a:spcBef>
              <a:buSzPts val="1100"/>
              <a:buChar char="●"/>
              <a:defRPr sz="1100"/>
            </a:lvl1pPr>
            <a:lvl2pPr lvl="1">
              <a:spcBef>
                <a:spcPts val="0"/>
              </a:spcBef>
              <a:buSzPts val="1100"/>
              <a:buChar char="○"/>
              <a:defRPr sz="1100"/>
            </a:lvl2pPr>
            <a:lvl3pPr lvl="2">
              <a:spcBef>
                <a:spcPts val="0"/>
              </a:spcBef>
              <a:buSzPts val="1100"/>
              <a:buChar char="■"/>
              <a:defRPr sz="1100"/>
            </a:lvl3pPr>
            <a:lvl4pPr lvl="3">
              <a:spcBef>
                <a:spcPts val="0"/>
              </a:spcBef>
              <a:buSzPts val="1100"/>
              <a:buChar char="●"/>
              <a:defRPr sz="1100"/>
            </a:lvl4pPr>
            <a:lvl5pPr lvl="4">
              <a:spcBef>
                <a:spcPts val="0"/>
              </a:spcBef>
              <a:buSzPts val="1100"/>
              <a:buChar char="○"/>
              <a:defRPr sz="1100"/>
            </a:lvl5pPr>
            <a:lvl6pPr lvl="5">
              <a:spcBef>
                <a:spcPts val="0"/>
              </a:spcBef>
              <a:buSzPts val="1100"/>
              <a:buChar char="■"/>
              <a:defRPr sz="1100"/>
            </a:lvl6pPr>
            <a:lvl7pPr lvl="6">
              <a:spcBef>
                <a:spcPts val="0"/>
              </a:spcBef>
              <a:buSzPts val="1100"/>
              <a:buChar char="●"/>
              <a:defRPr sz="1100"/>
            </a:lvl7pPr>
            <a:lvl8pPr lvl="7">
              <a:spcBef>
                <a:spcPts val="0"/>
              </a:spcBef>
              <a:buSzPts val="1100"/>
              <a:buChar char="○"/>
              <a:defRPr sz="1100"/>
            </a:lvl8pPr>
            <a:lvl9pPr lvl="8">
              <a:spcBef>
                <a:spcPts val="0"/>
              </a:spcBef>
              <a:buSzPts val="1100"/>
              <a:buChar char="■"/>
              <a:defRPr sz="1100"/>
            </a:lvl9pPr>
          </a:lstStyle>
          <a:p>
            <a:endParaRPr/>
          </a:p>
        </p:txBody>
      </p:sp>
    </p:spTree>
    <p:extLst>
      <p:ext uri="{BB962C8B-B14F-4D97-AF65-F5344CB8AC3E}">
        <p14:creationId xmlns:p14="http://schemas.microsoft.com/office/powerpoint/2010/main" val="35368403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ctr" anchorCtr="0">
            <a:noAutofit/>
          </a:bodyPr>
          <a:lstStyle/>
          <a:p>
            <a:pPr marL="0" lvl="0" indent="0">
              <a:spcBef>
                <a:spcPts val="0"/>
              </a:spcBef>
              <a:buNone/>
            </a:pPr>
            <a:endParaRPr/>
          </a:p>
        </p:txBody>
      </p:sp>
      <p:sp>
        <p:nvSpPr>
          <p:cNvPr id="82" name="Shape 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3050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Shape 8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Shape 8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4275498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Shape 92"/>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ctr" anchorCtr="0">
            <a:noAutofit/>
          </a:bodyPr>
          <a:lstStyle/>
          <a:p>
            <a:pPr marL="0" lvl="0" indent="0">
              <a:spcBef>
                <a:spcPts val="0"/>
              </a:spcBef>
              <a:buNone/>
            </a:pPr>
            <a:r>
              <a:rPr lang="en-US" sz="1100" dirty="0"/>
              <a:t>Global variables are stored in Data segment.</a:t>
            </a:r>
          </a:p>
          <a:p>
            <a:pPr marL="0" lvl="0" indent="0">
              <a:spcBef>
                <a:spcPts val="0"/>
              </a:spcBef>
              <a:buNone/>
            </a:pPr>
            <a:r>
              <a:rPr lang="en-US" sz="1100" dirty="0"/>
              <a:t>Uninitialized static variables are stored in BSS.</a:t>
            </a:r>
          </a:p>
          <a:p>
            <a:pPr marL="0" lvl="0" indent="0">
              <a:spcBef>
                <a:spcPts val="0"/>
              </a:spcBef>
              <a:buNone/>
            </a:pPr>
            <a:r>
              <a:rPr lang="en-US" sz="1100" dirty="0"/>
              <a:t>Dynamic memory is allocated in heap.</a:t>
            </a:r>
          </a:p>
          <a:p>
            <a:pPr marL="0" lvl="0" indent="0">
              <a:spcBef>
                <a:spcPts val="0"/>
              </a:spcBef>
              <a:buNone/>
            </a:pPr>
            <a:r>
              <a:rPr lang="en-US" sz="1100" dirty="0"/>
              <a:t>Local variables are stored in Stack.</a:t>
            </a:r>
          </a:p>
          <a:p>
            <a:pPr marL="0" lvl="0" indent="0">
              <a:spcBef>
                <a:spcPts val="0"/>
              </a:spcBef>
              <a:buNone/>
            </a:pPr>
            <a:endParaRPr sz="1100" dirty="0"/>
          </a:p>
        </p:txBody>
      </p:sp>
      <p:sp>
        <p:nvSpPr>
          <p:cNvPr id="93" name="Shape 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6045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Shape 1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0" name="Shape 11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The local variables and function arguments are stored in the stack with reference to </a:t>
            </a:r>
            <a:r>
              <a:rPr lang="en-US" dirty="0" err="1"/>
              <a:t>ebp</a:t>
            </a:r>
            <a:r>
              <a:rPr lang="en-US" dirty="0"/>
              <a:t>.  The argument ‘b’ is stored at a higher address and hence is pushed into the stack before. The function arguments are pushed into the stack in reverse order.</a:t>
            </a:r>
          </a:p>
        </p:txBody>
      </p:sp>
    </p:spTree>
    <p:extLst>
      <p:ext uri="{BB962C8B-B14F-4D97-AF65-F5344CB8AC3E}">
        <p14:creationId xmlns:p14="http://schemas.microsoft.com/office/powerpoint/2010/main" val="1811846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Shape 1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8" name="Shape 11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Main function calls f() with arguments a and b. f function stack frame is created below the main function stack. The returns address in the f() stack frame points to the next instruction address after the function is executed and returned. Here, it points to the </a:t>
            </a:r>
            <a:r>
              <a:rPr lang="en-US" dirty="0" err="1"/>
              <a:t>printf</a:t>
            </a:r>
            <a:r>
              <a:rPr lang="en-US" dirty="0"/>
              <a:t>() instruction.</a:t>
            </a:r>
          </a:p>
        </p:txBody>
      </p:sp>
    </p:spTree>
    <p:extLst>
      <p:ext uri="{BB962C8B-B14F-4D97-AF65-F5344CB8AC3E}">
        <p14:creationId xmlns:p14="http://schemas.microsoft.com/office/powerpoint/2010/main" val="3097084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Shape 12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6" name="Shape 12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The figure shows how functions are pushed into the stack. The return address in every function stack points to the next instruction that will be executed after the return. The</a:t>
            </a:r>
            <a:r>
              <a:rPr lang="en-US" baseline="0" dirty="0"/>
              <a:t> f</a:t>
            </a:r>
            <a:r>
              <a:rPr lang="en-US" dirty="0"/>
              <a:t>rame pointer (</a:t>
            </a:r>
            <a:r>
              <a:rPr lang="en-US" dirty="0" err="1"/>
              <a:t>ebp</a:t>
            </a:r>
            <a:r>
              <a:rPr lang="en-US" dirty="0"/>
              <a:t>) of the caller</a:t>
            </a:r>
            <a:r>
              <a:rPr lang="en-US" baseline="0" dirty="0"/>
              <a:t> function </a:t>
            </a:r>
            <a:r>
              <a:rPr lang="en-US" dirty="0"/>
              <a:t>is stored in the</a:t>
            </a:r>
            <a:r>
              <a:rPr lang="en-US" baseline="0" dirty="0"/>
              <a:t> </a:t>
            </a:r>
            <a:r>
              <a:rPr lang="en-US" baseline="0" dirty="0" err="1"/>
              <a:t>callee’s</a:t>
            </a:r>
            <a:r>
              <a:rPr lang="en-US" dirty="0"/>
              <a:t> function stack,</a:t>
            </a:r>
            <a:r>
              <a:rPr lang="en-US" baseline="0" dirty="0"/>
              <a:t> so when the </a:t>
            </a:r>
            <a:r>
              <a:rPr lang="en-US" baseline="0" dirty="0" err="1"/>
              <a:t>callee</a:t>
            </a:r>
            <a:r>
              <a:rPr lang="en-US" baseline="0" dirty="0"/>
              <a:t> returns, the </a:t>
            </a:r>
            <a:r>
              <a:rPr lang="en-US" baseline="0" dirty="0" err="1"/>
              <a:t>ebp</a:t>
            </a:r>
            <a:r>
              <a:rPr lang="en-US" baseline="0" dirty="0"/>
              <a:t> register can point to the caller’s function stack.</a:t>
            </a:r>
            <a:r>
              <a:rPr lang="en-US" dirty="0"/>
              <a:t>  </a:t>
            </a:r>
          </a:p>
        </p:txBody>
      </p:sp>
    </p:spTree>
    <p:extLst>
      <p:ext uri="{BB962C8B-B14F-4D97-AF65-F5344CB8AC3E}">
        <p14:creationId xmlns:p14="http://schemas.microsoft.com/office/powerpoint/2010/main" val="24556390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Shape 13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5" name="Shape 13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805232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Shape 1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5" name="Shape 14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Here we are copying str (300 bytes of data) into a buffer of size 100 bytes. This leads to buffer overflow. As seen in the foo() stack frame, this overflow leads to overwriting of some of the important contents of the stack like frame pointer, return address etc.</a:t>
            </a:r>
          </a:p>
        </p:txBody>
      </p:sp>
    </p:spTree>
    <p:extLst>
      <p:ext uri="{BB962C8B-B14F-4D97-AF65-F5344CB8AC3E}">
        <p14:creationId xmlns:p14="http://schemas.microsoft.com/office/powerpoint/2010/main" val="3905156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Shape 15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4" name="Shape 15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3166894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Shape 16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1" name="Shape 16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To run malicious code, we need to find a place in the function stack which will point to our code, jump to it and execute it. As we had seen that, when a function is executed it jumps to the return address (the instruction after the function was called in the caller function) , we can modify the return address with the address of the malicious code so that it jumps to the code and executes it. </a:t>
            </a:r>
          </a:p>
        </p:txBody>
      </p:sp>
    </p:spTree>
    <p:extLst>
      <p:ext uri="{BB962C8B-B14F-4D97-AF65-F5344CB8AC3E}">
        <p14:creationId xmlns:p14="http://schemas.microsoft.com/office/powerpoint/2010/main" val="5921385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Shape 16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8" name="Shape 16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To perform this attack, we need to switch off the countermeasures which are discussed in the next slides.</a:t>
            </a:r>
          </a:p>
          <a:p>
            <a:pPr marL="0" lvl="0" indent="0">
              <a:spcBef>
                <a:spcPts val="0"/>
              </a:spcBef>
              <a:buNone/>
            </a:pPr>
            <a:r>
              <a:rPr lang="en-US"/>
              <a:t>Address randomization is turned off so that the base address of the buffer remains. It makes the task simpler to guess the return address in the stack.</a:t>
            </a:r>
          </a:p>
          <a:p>
            <a:pPr marL="0" lvl="0" indent="0">
              <a:spcBef>
                <a:spcPts val="0"/>
              </a:spcBef>
              <a:buNone/>
            </a:pPr>
            <a:r>
              <a:rPr lang="en-US"/>
              <a:t>We set the stack as executable as we need to execute our own code on the stack. Also, we disabled stack guard protection (discussed later).</a:t>
            </a:r>
          </a:p>
        </p:txBody>
      </p:sp>
    </p:spTree>
    <p:extLst>
      <p:ext uri="{BB962C8B-B14F-4D97-AF65-F5344CB8AC3E}">
        <p14:creationId xmlns:p14="http://schemas.microsoft.com/office/powerpoint/2010/main" val="33113237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Shape 1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4" name="Shape 17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The two challenges faced when running the malicious code are :</a:t>
            </a:r>
          </a:p>
          <a:p>
            <a:pPr marL="457200" lvl="0" indent="-298450" rtl="0">
              <a:spcBef>
                <a:spcPts val="0"/>
              </a:spcBef>
              <a:spcAft>
                <a:spcPts val="0"/>
              </a:spcAft>
              <a:buSzPts val="1100"/>
              <a:buFont typeface="+mj-lt"/>
              <a:buAutoNum type="alphaUcPeriod"/>
            </a:pPr>
            <a:r>
              <a:rPr lang="en-US" dirty="0"/>
              <a:t>Find the offset distance between the base of the buffer and return address so that we can modify the return with address of the code.</a:t>
            </a:r>
          </a:p>
          <a:p>
            <a:pPr marL="457200" lvl="0" indent="-298450" rtl="0">
              <a:spcBef>
                <a:spcPts val="0"/>
              </a:spcBef>
              <a:buSzPts val="1100"/>
              <a:buAutoNum type="alphaUcPeriod"/>
            </a:pPr>
            <a:r>
              <a:rPr lang="en-US" dirty="0"/>
              <a:t>Find the address of the malicious code. If we don’t handle this, our malicious code will be stored in some random memory location to which we have control to. In that case we cannot modify the return address with the address of our code. Hence, we will put our malicious code in the function stack itself.</a:t>
            </a:r>
          </a:p>
          <a:p>
            <a:pPr marL="0" lvl="0" indent="0" rtl="0">
              <a:spcBef>
                <a:spcPts val="0"/>
              </a:spcBef>
              <a:buNone/>
            </a:pPr>
            <a:endParaRPr dirty="0"/>
          </a:p>
          <a:p>
            <a:pPr marL="0" lvl="0" indent="0" rtl="0">
              <a:spcBef>
                <a:spcPts val="0"/>
              </a:spcBef>
              <a:buNone/>
            </a:pPr>
            <a:r>
              <a:rPr lang="en-US" dirty="0" err="1"/>
              <a:t>So,we</a:t>
            </a:r>
            <a:r>
              <a:rPr lang="en-US" dirty="0"/>
              <a:t> need do the following on our </a:t>
            </a:r>
            <a:r>
              <a:rPr lang="en-US" dirty="0" err="1"/>
              <a:t>badfile</a:t>
            </a:r>
            <a:r>
              <a:rPr lang="en-US" dirty="0"/>
              <a:t> :</a:t>
            </a:r>
          </a:p>
          <a:p>
            <a:pPr marL="0" lvl="0" indent="0" rtl="0">
              <a:spcBef>
                <a:spcPts val="0"/>
              </a:spcBef>
              <a:buNone/>
            </a:pPr>
            <a:endParaRPr dirty="0"/>
          </a:p>
          <a:p>
            <a:pPr marL="457200" lvl="0" indent="-298450" rtl="0">
              <a:spcBef>
                <a:spcPts val="0"/>
              </a:spcBef>
              <a:spcAft>
                <a:spcPts val="0"/>
              </a:spcAft>
              <a:buSzPts val="1100"/>
              <a:buAutoNum type="arabicParenR"/>
            </a:pPr>
            <a:r>
              <a:rPr lang="en-US" dirty="0"/>
              <a:t>Write the malicious code (</a:t>
            </a:r>
            <a:r>
              <a:rPr lang="en-US" dirty="0" err="1"/>
              <a:t>shellcode</a:t>
            </a:r>
            <a:r>
              <a:rPr lang="en-US" dirty="0"/>
              <a:t> : discussed in later slides)</a:t>
            </a:r>
          </a:p>
          <a:p>
            <a:pPr marL="457200" lvl="0" indent="-298450" rtl="0">
              <a:spcBef>
                <a:spcPts val="0"/>
              </a:spcBef>
              <a:spcAft>
                <a:spcPts val="0"/>
              </a:spcAft>
              <a:buSzPts val="1100"/>
              <a:buAutoNum type="arabicParenR"/>
            </a:pPr>
            <a:r>
              <a:rPr lang="en-US" dirty="0"/>
              <a:t>Place the malicious code in our stack ( At the lowest address above return address or at the end of the of the buffer)</a:t>
            </a:r>
          </a:p>
          <a:p>
            <a:pPr marL="457200" lvl="0" indent="-298450">
              <a:spcBef>
                <a:spcPts val="0"/>
              </a:spcBef>
              <a:buSzPts val="1100"/>
              <a:buAutoNum type="arabicParenR"/>
            </a:pPr>
            <a:r>
              <a:rPr lang="en-US" dirty="0"/>
              <a:t>Modify return address with address of the shell code</a:t>
            </a:r>
          </a:p>
        </p:txBody>
      </p:sp>
    </p:spTree>
    <p:extLst>
      <p:ext uri="{BB962C8B-B14F-4D97-AF65-F5344CB8AC3E}">
        <p14:creationId xmlns:p14="http://schemas.microsoft.com/office/powerpoint/2010/main" val="1509504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Shape 18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4" name="Shape 18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To find the distance between the base of the buffer and the return address, we need to use a gdb debugging tool. given that we have access to the vulnerable code, we can use gdb to the base address of the buffer, address of the frame pointer (ebp) and return address ($ebp + 4) </a:t>
            </a:r>
          </a:p>
        </p:txBody>
      </p:sp>
    </p:spTree>
    <p:extLst>
      <p:ext uri="{BB962C8B-B14F-4D97-AF65-F5344CB8AC3E}">
        <p14:creationId xmlns:p14="http://schemas.microsoft.com/office/powerpoint/2010/main" val="9716450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Shape 19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1" name="Shape 19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6426453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Shape 19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9" name="Shape 19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0472671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Shape 2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6" name="Shape 20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a:t>
            </a:r>
            <a:r>
              <a:rPr lang="en-US" baseline="0" dirty="0"/>
              <a:t> </a:t>
            </a:r>
            <a:r>
              <a:rPr lang="en-US" dirty="0"/>
              <a:t>Initialize the entire buffer with NOP instructions.</a:t>
            </a:r>
          </a:p>
          <a:p>
            <a:pPr marL="0" lvl="0" indent="0">
              <a:spcBef>
                <a:spcPts val="0"/>
              </a:spcBef>
              <a:buNone/>
            </a:pPr>
            <a:r>
              <a:rPr lang="en-US" dirty="0"/>
              <a:t>-</a:t>
            </a:r>
            <a:r>
              <a:rPr lang="en-US" baseline="0" dirty="0"/>
              <a:t> </a:t>
            </a:r>
            <a:r>
              <a:rPr lang="en-US" dirty="0"/>
              <a:t>Obtain the results from Task A and Task B and place the malicious code address in return address.</a:t>
            </a:r>
          </a:p>
          <a:p>
            <a:pPr marL="0" lvl="0" indent="0">
              <a:spcBef>
                <a:spcPts val="0"/>
              </a:spcBef>
              <a:buNone/>
            </a:pPr>
            <a:r>
              <a:rPr lang="en-US" dirty="0"/>
              <a:t>-</a:t>
            </a:r>
            <a:r>
              <a:rPr lang="en-US" baseline="0" dirty="0"/>
              <a:t> </a:t>
            </a:r>
            <a:r>
              <a:rPr lang="en-US" dirty="0"/>
              <a:t>Place the malicious at the of the buffer. </a:t>
            </a:r>
          </a:p>
        </p:txBody>
      </p:sp>
    </p:spTree>
    <p:extLst>
      <p:ext uri="{BB962C8B-B14F-4D97-AF65-F5344CB8AC3E}">
        <p14:creationId xmlns:p14="http://schemas.microsoft.com/office/powerpoint/2010/main" val="23742692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4" name="Shape 22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38526453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Shape 22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30" name="Shape 23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3841488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Shape 23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38" name="Shape 23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The above C code gives the shell prompt to execute more commands. We can compile the above C code into binary and store it into the </a:t>
            </a:r>
            <a:r>
              <a:rPr lang="en-US" dirty="0" err="1"/>
              <a:t>badfile</a:t>
            </a:r>
            <a:r>
              <a:rPr lang="en-US" dirty="0"/>
              <a:t> with modified return address field to the address of main(). But there are issues with this solution :</a:t>
            </a:r>
          </a:p>
          <a:p>
            <a:pPr marL="457200" lvl="0" indent="-298450" rtl="0">
              <a:spcBef>
                <a:spcPts val="0"/>
              </a:spcBef>
              <a:spcAft>
                <a:spcPts val="0"/>
              </a:spcAft>
              <a:buSzPts val="1100"/>
              <a:buAutoNum type="arabicParenR"/>
            </a:pPr>
            <a:r>
              <a:rPr lang="en-US" dirty="0"/>
              <a:t>Loader Issue : OS loader is responsible for setting up the memory, copying the program to the memory and invoking dynamic linker to link libraries etc to set up the running environment of the </a:t>
            </a:r>
            <a:r>
              <a:rPr lang="en-US" dirty="0" err="1"/>
              <a:t>program.After</a:t>
            </a:r>
            <a:r>
              <a:rPr lang="en-US" dirty="0"/>
              <a:t> the initializations steps are completed, main() is called. If any of the steps are missing, program won’t be loaded to the memory. In buffer flow program, we are copying the code using memory copy. Therefore all the initialization steps are missing and hence, our shell code won’t be executed.</a:t>
            </a:r>
          </a:p>
          <a:p>
            <a:pPr marL="457200" lvl="0" indent="-298450" rtl="0">
              <a:spcBef>
                <a:spcPts val="0"/>
              </a:spcBef>
              <a:buSzPts val="1100"/>
              <a:buAutoNum type="arabicParenR"/>
            </a:pPr>
            <a:r>
              <a:rPr lang="en-US" dirty="0"/>
              <a:t>Zeros in the code : </a:t>
            </a:r>
            <a:r>
              <a:rPr lang="en-US" dirty="0" err="1"/>
              <a:t>strcpy</a:t>
            </a:r>
            <a:r>
              <a:rPr lang="en-US" dirty="0"/>
              <a:t>() stops copying when a zero is found in the source string. When the C code is compiled </a:t>
            </a:r>
            <a:r>
              <a:rPr lang="en-US" dirty="0" err="1"/>
              <a:t>ot</a:t>
            </a:r>
            <a:r>
              <a:rPr lang="en-US" dirty="0"/>
              <a:t> binary, there will be zeros in the binary code which will stop copying the </a:t>
            </a:r>
            <a:r>
              <a:rPr lang="en-US" dirty="0" err="1"/>
              <a:t>badfile</a:t>
            </a:r>
            <a:r>
              <a:rPr lang="en-US" dirty="0"/>
              <a:t> further.</a:t>
            </a:r>
          </a:p>
          <a:p>
            <a:pPr marL="0" lvl="0" indent="0">
              <a:spcBef>
                <a:spcPts val="0"/>
              </a:spcBef>
              <a:buNone/>
            </a:pPr>
            <a:r>
              <a:rPr lang="en-US" dirty="0"/>
              <a:t>Refer to section 4.6</a:t>
            </a:r>
          </a:p>
        </p:txBody>
      </p:sp>
    </p:spTree>
    <p:extLst>
      <p:ext uri="{BB962C8B-B14F-4D97-AF65-F5344CB8AC3E}">
        <p14:creationId xmlns:p14="http://schemas.microsoft.com/office/powerpoint/2010/main" val="26809587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Shape 2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45" name="Shape 24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551620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Shape 25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51" name="Shape 25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6584425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Shape 26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61" name="Shape 26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a:p>
            <a:pPr marL="0" lvl="0" indent="0">
              <a:spcBef>
                <a:spcPts val="0"/>
              </a:spcBef>
              <a:buNone/>
            </a:pPr>
            <a:r>
              <a:rPr lang="en-US"/>
              <a:t>Refer to section 4.6.2 and 4.6.3</a:t>
            </a:r>
          </a:p>
        </p:txBody>
      </p:sp>
    </p:spTree>
    <p:extLst>
      <p:ext uri="{BB962C8B-B14F-4D97-AF65-F5344CB8AC3E}">
        <p14:creationId xmlns:p14="http://schemas.microsoft.com/office/powerpoint/2010/main" val="9874287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Shape 2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67" name="Shape 26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41076420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Shape 2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3" name="Shape 27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5051356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Shape 2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3" name="Shape 28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When the ASLR is enabled in the Linux machine, we ran the above code to check how it affects the addresses of the local variables on stack as well as heap. ASLR changes the address of the code every time it is loaded.</a:t>
            </a:r>
          </a:p>
        </p:txBody>
      </p:sp>
    </p:spTree>
    <p:extLst>
      <p:ext uri="{BB962C8B-B14F-4D97-AF65-F5344CB8AC3E}">
        <p14:creationId xmlns:p14="http://schemas.microsoft.com/office/powerpoint/2010/main" val="20969679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Shape 28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90" name="Shape 29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1 : When set to 0, the address space is not randomized.</a:t>
            </a:r>
          </a:p>
          <a:p>
            <a:pPr marL="0" lvl="0" indent="0">
              <a:spcBef>
                <a:spcPts val="0"/>
              </a:spcBef>
              <a:buNone/>
            </a:pPr>
            <a:r>
              <a:rPr lang="en-US"/>
              <a:t>2 : When set to 1, only stack memory address is randomized.</a:t>
            </a:r>
          </a:p>
          <a:p>
            <a:pPr marL="0" lvl="0" indent="0">
              <a:spcBef>
                <a:spcPts val="0"/>
              </a:spcBef>
              <a:buNone/>
            </a:pPr>
            <a:r>
              <a:rPr lang="en-US"/>
              <a:t>3 : When set to 2, both stack and heap memory address is randomized.</a:t>
            </a:r>
          </a:p>
        </p:txBody>
      </p:sp>
    </p:spTree>
    <p:extLst>
      <p:ext uri="{BB962C8B-B14F-4D97-AF65-F5344CB8AC3E}">
        <p14:creationId xmlns:p14="http://schemas.microsoft.com/office/powerpoint/2010/main" val="24941820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Shape 3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03" name="Shape 30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6217192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Shape 30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09" name="Shape 30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1999493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Shape 3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16" name="Shape 31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4028050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Shape 32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23" name="Shape 32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Stackguard is a compiler approach to defeat buffer overflow.  A random secret value is generated and stored in a memory location (not on stack) and is assigned to a local variable of the function which gets stored in the stack. After the copy function is function, it is checked if the value of the local variable is changed. If yes, buffer overflow has taken place and the program exits without returning.</a:t>
            </a:r>
          </a:p>
        </p:txBody>
      </p:sp>
    </p:spTree>
    <p:extLst>
      <p:ext uri="{BB962C8B-B14F-4D97-AF65-F5344CB8AC3E}">
        <p14:creationId xmlns:p14="http://schemas.microsoft.com/office/powerpoint/2010/main" val="30724896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Shape 33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31" name="Shape 33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Prog.c is a vulnerable program which takes input from the user and calls a function foo() which copies to a buffer. When the user passes a variable of longer length than buffer size, it changes the value of the local variable (guard) and hence, the program terminates with stack smashing message.</a:t>
            </a:r>
          </a:p>
        </p:txBody>
      </p:sp>
    </p:spTree>
    <p:extLst>
      <p:ext uri="{BB962C8B-B14F-4D97-AF65-F5344CB8AC3E}">
        <p14:creationId xmlns:p14="http://schemas.microsoft.com/office/powerpoint/2010/main" val="7832477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Shape 34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41" name="Shape 34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207054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1"/>
        <p:cNvGrpSpPr/>
        <p:nvPr/>
      </p:nvGrpSpPr>
      <p:grpSpPr>
        <a:xfrm>
          <a:off x="0" y="0"/>
          <a:ext cx="0" cy="0"/>
          <a:chOff x="0" y="0"/>
          <a:chExt cx="0" cy="0"/>
        </a:xfrm>
      </p:grpSpPr>
      <p:sp>
        <p:nvSpPr>
          <p:cNvPr id="12" name="Shape 12"/>
          <p:cNvSpPr txBox="1">
            <a:spLocks noGrp="1"/>
          </p:cNvSpPr>
          <p:nvPr>
            <p:ph type="ctrTitle"/>
          </p:nvPr>
        </p:nvSpPr>
        <p:spPr>
          <a:xfrm>
            <a:off x="1524000" y="1122363"/>
            <a:ext cx="9144000" cy="2387600"/>
          </a:xfrm>
          <a:prstGeom prst="rect">
            <a:avLst/>
          </a:prstGeom>
          <a:noFill/>
          <a:ln>
            <a:noFill/>
          </a:ln>
        </p:spPr>
        <p:txBody>
          <a:bodyPr wrap="square" lIns="91425" tIns="91425" rIns="91425" bIns="91425" anchor="b" anchorCtr="0"/>
          <a:lstStyle>
            <a:lvl1pPr marL="0" marR="0" lvl="0" indent="0" algn="ctr" rtl="0">
              <a:lnSpc>
                <a:spcPct val="90000"/>
              </a:lnSpc>
              <a:spcBef>
                <a:spcPts val="0"/>
              </a:spcBef>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13" name="Shape 13"/>
          <p:cNvSpPr txBox="1">
            <a:spLocks noGrp="1"/>
          </p:cNvSpPr>
          <p:nvPr>
            <p:ph type="subTitle" idx="1"/>
          </p:nvPr>
        </p:nvSpPr>
        <p:spPr>
          <a:xfrm>
            <a:off x="1524000" y="3602038"/>
            <a:ext cx="9144000" cy="1655762"/>
          </a:xfrm>
          <a:prstGeom prst="rect">
            <a:avLst/>
          </a:prstGeom>
          <a:noFill/>
          <a:ln>
            <a:noFill/>
          </a:ln>
        </p:spPr>
        <p:txBody>
          <a:bodyPr wrap="square" lIns="91425" tIns="91425" rIns="91425" bIns="91425" anchor="t" anchorCtr="0"/>
          <a:lstStyle>
            <a:lvl1pPr marL="0" marR="0" lvl="0" indent="0" algn="ctr" rtl="0">
              <a:lnSpc>
                <a:spcPct val="90000"/>
              </a:lnSpc>
              <a:spcBef>
                <a:spcPts val="1000"/>
              </a:spcBef>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457200" marR="0" lvl="1" indent="0" algn="ctr" rtl="0">
              <a:lnSpc>
                <a:spcPct val="90000"/>
              </a:lnSpc>
              <a:spcBef>
                <a:spcPts val="500"/>
              </a:spcBef>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914400" marR="0" lvl="2" indent="0" algn="ctr" rtl="0">
              <a:lnSpc>
                <a:spcPct val="90000"/>
              </a:lnSpc>
              <a:spcBef>
                <a:spcPts val="500"/>
              </a:spcBef>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371600" marR="0" lvl="3" indent="0" algn="ctr" rtl="0">
              <a:lnSpc>
                <a:spcPct val="90000"/>
              </a:lnSpc>
              <a:spcBef>
                <a:spcPts val="500"/>
              </a:spcBef>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1828800" marR="0" lvl="4" indent="0" algn="ctr" rtl="0">
              <a:lnSpc>
                <a:spcPct val="90000"/>
              </a:lnSpc>
              <a:spcBef>
                <a:spcPts val="500"/>
              </a:spcBef>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286000" marR="0" lvl="5" indent="0" algn="ctr" rtl="0">
              <a:lnSpc>
                <a:spcPct val="90000"/>
              </a:lnSpc>
              <a:spcBef>
                <a:spcPts val="500"/>
              </a:spcBef>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2743200" marR="0" lvl="6" indent="0" algn="ctr" rtl="0">
              <a:lnSpc>
                <a:spcPct val="90000"/>
              </a:lnSpc>
              <a:spcBef>
                <a:spcPts val="500"/>
              </a:spcBef>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200400" marR="0" lvl="7" indent="0" algn="ctr" rtl="0">
              <a:lnSpc>
                <a:spcPct val="90000"/>
              </a:lnSpc>
              <a:spcBef>
                <a:spcPts val="500"/>
              </a:spcBef>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3657600" marR="0" lvl="8" indent="0" algn="ctr" rtl="0">
              <a:lnSpc>
                <a:spcPct val="90000"/>
              </a:lnSpc>
              <a:spcBef>
                <a:spcPts val="500"/>
              </a:spcBef>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4" name="Shape 14"/>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Shape 15"/>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Shape 16"/>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838200"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19" name="Shape 19"/>
          <p:cNvSpPr txBox="1">
            <a:spLocks noGrp="1"/>
          </p:cNvSpPr>
          <p:nvPr>
            <p:ph type="body" idx="1"/>
          </p:nvPr>
        </p:nvSpPr>
        <p:spPr>
          <a:xfrm>
            <a:off x="838200" y="1825625"/>
            <a:ext cx="10515600" cy="435133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 name="Shape 20"/>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Shape 21"/>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Shape 22"/>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23"/>
        <p:cNvGrpSpPr/>
        <p:nvPr/>
      </p:nvGrpSpPr>
      <p:grpSpPr>
        <a:xfrm>
          <a:off x="0" y="0"/>
          <a:ext cx="0" cy="0"/>
          <a:chOff x="0" y="0"/>
          <a:chExt cx="0" cy="0"/>
        </a:xfrm>
      </p:grpSpPr>
      <p:sp>
        <p:nvSpPr>
          <p:cNvPr id="24" name="Shape 24"/>
          <p:cNvSpPr txBox="1">
            <a:spLocks noGrp="1"/>
          </p:cNvSpPr>
          <p:nvPr>
            <p:ph type="title"/>
          </p:nvPr>
        </p:nvSpPr>
        <p:spPr>
          <a:xfrm>
            <a:off x="831850" y="1709738"/>
            <a:ext cx="10515600" cy="2852737"/>
          </a:xfrm>
          <a:prstGeom prst="rect">
            <a:avLst/>
          </a:prstGeom>
          <a:noFill/>
          <a:ln>
            <a:noFill/>
          </a:ln>
        </p:spPr>
        <p:txBody>
          <a:bodyPr wrap="square" lIns="91425" tIns="91425" rIns="91425" bIns="91425" anchor="b" anchorCtr="0"/>
          <a:lstStyle>
            <a:lvl1pPr marL="0" marR="0" lvl="0" indent="0" algn="l" rtl="0">
              <a:lnSpc>
                <a:spcPct val="90000"/>
              </a:lnSpc>
              <a:spcBef>
                <a:spcPts val="0"/>
              </a:spcBef>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25" name="Shape 25"/>
          <p:cNvSpPr txBox="1">
            <a:spLocks noGrp="1"/>
          </p:cNvSpPr>
          <p:nvPr>
            <p:ph type="body" idx="1"/>
          </p:nvPr>
        </p:nvSpPr>
        <p:spPr>
          <a:xfrm>
            <a:off x="831850" y="4589463"/>
            <a:ext cx="10515600" cy="1500187"/>
          </a:xfrm>
          <a:prstGeom prst="rect">
            <a:avLst/>
          </a:prstGeom>
          <a:noFill/>
          <a:ln>
            <a:noFill/>
          </a:ln>
        </p:spPr>
        <p:txBody>
          <a:bodyPr wrap="square" lIns="91425" tIns="91425" rIns="91425" bIns="91425" anchor="t" anchorCtr="0"/>
          <a:lstStyle>
            <a:lvl1pPr marL="0" marR="0" lvl="0" indent="0" algn="l" rtl="0">
              <a:lnSpc>
                <a:spcPct val="90000"/>
              </a:lnSpc>
              <a:spcBef>
                <a:spcPts val="1000"/>
              </a:spcBef>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457200" marR="0" lvl="1" indent="0" algn="l" rtl="0">
              <a:lnSpc>
                <a:spcPct val="90000"/>
              </a:lnSpc>
              <a:spcBef>
                <a:spcPts val="500"/>
              </a:spcBef>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914400" marR="0" lvl="2" indent="0" algn="l" rtl="0">
              <a:lnSpc>
                <a:spcPct val="90000"/>
              </a:lnSpc>
              <a:spcBef>
                <a:spcPts val="500"/>
              </a:spcBef>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371600" marR="0" lvl="3" indent="0" algn="l" rtl="0">
              <a:lnSpc>
                <a:spcPct val="90000"/>
              </a:lnSpc>
              <a:spcBef>
                <a:spcPts val="500"/>
              </a:spcBef>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1828800" marR="0" lvl="4" indent="0" algn="l" rtl="0">
              <a:lnSpc>
                <a:spcPct val="90000"/>
              </a:lnSpc>
              <a:spcBef>
                <a:spcPts val="500"/>
              </a:spcBef>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286000" marR="0" lvl="5" indent="0" algn="l" rtl="0">
              <a:lnSpc>
                <a:spcPct val="90000"/>
              </a:lnSpc>
              <a:spcBef>
                <a:spcPts val="500"/>
              </a:spcBef>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2743200" marR="0" lvl="6" indent="0" algn="l" rtl="0">
              <a:lnSpc>
                <a:spcPct val="90000"/>
              </a:lnSpc>
              <a:spcBef>
                <a:spcPts val="500"/>
              </a:spcBef>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200400" marR="0" lvl="7" indent="0" algn="l" rtl="0">
              <a:lnSpc>
                <a:spcPct val="90000"/>
              </a:lnSpc>
              <a:spcBef>
                <a:spcPts val="500"/>
              </a:spcBef>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3657600" marR="0" lvl="8" indent="0" algn="l" rtl="0">
              <a:lnSpc>
                <a:spcPct val="90000"/>
              </a:lnSpc>
              <a:spcBef>
                <a:spcPts val="500"/>
              </a:spcBef>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26" name="Shape 26"/>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27" name="Shape 27"/>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 name="Shape 28"/>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29"/>
        <p:cNvGrpSpPr/>
        <p:nvPr/>
      </p:nvGrpSpPr>
      <p:grpSpPr>
        <a:xfrm>
          <a:off x="0" y="0"/>
          <a:ext cx="0" cy="0"/>
          <a:chOff x="0" y="0"/>
          <a:chExt cx="0" cy="0"/>
        </a:xfrm>
      </p:grpSpPr>
      <p:sp>
        <p:nvSpPr>
          <p:cNvPr id="30" name="Shape 30"/>
          <p:cNvSpPr txBox="1">
            <a:spLocks noGrp="1"/>
          </p:cNvSpPr>
          <p:nvPr>
            <p:ph type="title"/>
          </p:nvPr>
        </p:nvSpPr>
        <p:spPr>
          <a:xfrm>
            <a:off x="838200"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31" name="Shape 31"/>
          <p:cNvSpPr txBox="1">
            <a:spLocks noGrp="1"/>
          </p:cNvSpPr>
          <p:nvPr>
            <p:ph type="body" idx="1"/>
          </p:nvPr>
        </p:nvSpPr>
        <p:spPr>
          <a:xfrm>
            <a:off x="838200" y="1825625"/>
            <a:ext cx="5181600" cy="435133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 name="Shape 32"/>
          <p:cNvSpPr txBox="1">
            <a:spLocks noGrp="1"/>
          </p:cNvSpPr>
          <p:nvPr>
            <p:ph type="body" idx="2"/>
          </p:nvPr>
        </p:nvSpPr>
        <p:spPr>
          <a:xfrm>
            <a:off x="6172200" y="1825625"/>
            <a:ext cx="5181600" cy="435133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 name="Shape 33"/>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Shape 34"/>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Shape 35"/>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36"/>
        <p:cNvGrpSpPr/>
        <p:nvPr/>
      </p:nvGrpSpPr>
      <p:grpSpPr>
        <a:xfrm>
          <a:off x="0" y="0"/>
          <a:ext cx="0" cy="0"/>
          <a:chOff x="0" y="0"/>
          <a:chExt cx="0" cy="0"/>
        </a:xfrm>
      </p:grpSpPr>
      <p:sp>
        <p:nvSpPr>
          <p:cNvPr id="37" name="Shape 37"/>
          <p:cNvSpPr txBox="1">
            <a:spLocks noGrp="1"/>
          </p:cNvSpPr>
          <p:nvPr>
            <p:ph type="title"/>
          </p:nvPr>
        </p:nvSpPr>
        <p:spPr>
          <a:xfrm>
            <a:off x="839788"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38" name="Shape 38"/>
          <p:cNvSpPr txBox="1">
            <a:spLocks noGrp="1"/>
          </p:cNvSpPr>
          <p:nvPr>
            <p:ph type="body" idx="1"/>
          </p:nvPr>
        </p:nvSpPr>
        <p:spPr>
          <a:xfrm>
            <a:off x="839788" y="1681163"/>
            <a:ext cx="5157787" cy="823912"/>
          </a:xfrm>
          <a:prstGeom prst="rect">
            <a:avLst/>
          </a:prstGeom>
          <a:noFill/>
          <a:ln>
            <a:noFill/>
          </a:ln>
        </p:spPr>
        <p:txBody>
          <a:bodyPr wrap="square" lIns="91425" tIns="91425" rIns="91425" bIns="91425" anchor="b" anchorCtr="0"/>
          <a:lstStyle>
            <a:lvl1pPr marL="0" marR="0" lvl="0" indent="0" algn="l" rtl="0">
              <a:lnSpc>
                <a:spcPct val="90000"/>
              </a:lnSpc>
              <a:spcBef>
                <a:spcPts val="1000"/>
              </a:spcBef>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9" name="Shape 39"/>
          <p:cNvSpPr txBox="1">
            <a:spLocks noGrp="1"/>
          </p:cNvSpPr>
          <p:nvPr>
            <p:ph type="body" idx="2"/>
          </p:nvPr>
        </p:nvSpPr>
        <p:spPr>
          <a:xfrm>
            <a:off x="839788" y="2505075"/>
            <a:ext cx="5157787" cy="368458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0" name="Shape 40"/>
          <p:cNvSpPr txBox="1">
            <a:spLocks noGrp="1"/>
          </p:cNvSpPr>
          <p:nvPr>
            <p:ph type="body" idx="3"/>
          </p:nvPr>
        </p:nvSpPr>
        <p:spPr>
          <a:xfrm>
            <a:off x="6172200" y="1681163"/>
            <a:ext cx="5183188" cy="823912"/>
          </a:xfrm>
          <a:prstGeom prst="rect">
            <a:avLst/>
          </a:prstGeom>
          <a:noFill/>
          <a:ln>
            <a:noFill/>
          </a:ln>
        </p:spPr>
        <p:txBody>
          <a:bodyPr wrap="square" lIns="91425" tIns="91425" rIns="91425" bIns="91425" anchor="b" anchorCtr="0"/>
          <a:lstStyle>
            <a:lvl1pPr marL="0" marR="0" lvl="0" indent="0" algn="l" rtl="0">
              <a:lnSpc>
                <a:spcPct val="90000"/>
              </a:lnSpc>
              <a:spcBef>
                <a:spcPts val="1000"/>
              </a:spcBef>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1" name="Shape 41"/>
          <p:cNvSpPr txBox="1">
            <a:spLocks noGrp="1"/>
          </p:cNvSpPr>
          <p:nvPr>
            <p:ph type="body" idx="4"/>
          </p:nvPr>
        </p:nvSpPr>
        <p:spPr>
          <a:xfrm>
            <a:off x="6172200" y="2505075"/>
            <a:ext cx="5183188" cy="368458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 name="Shape 42"/>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43" name="Shape 43"/>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 name="Shape 44"/>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5"/>
        <p:cNvGrpSpPr/>
        <p:nvPr/>
      </p:nvGrpSpPr>
      <p:grpSpPr>
        <a:xfrm>
          <a:off x="0" y="0"/>
          <a:ext cx="0" cy="0"/>
          <a:chOff x="0" y="0"/>
          <a:chExt cx="0" cy="0"/>
        </a:xfrm>
      </p:grpSpPr>
      <p:sp>
        <p:nvSpPr>
          <p:cNvPr id="46" name="Shape 46"/>
          <p:cNvSpPr txBox="1">
            <a:spLocks noGrp="1"/>
          </p:cNvSpPr>
          <p:nvPr>
            <p:ph type="title"/>
          </p:nvPr>
        </p:nvSpPr>
        <p:spPr>
          <a:xfrm>
            <a:off x="838200"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47" name="Shape 47"/>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Shape 48"/>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Shape 49"/>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0"/>
        <p:cNvGrpSpPr/>
        <p:nvPr/>
      </p:nvGrpSpPr>
      <p:grpSpPr>
        <a:xfrm>
          <a:off x="0" y="0"/>
          <a:ext cx="0" cy="0"/>
          <a:chOff x="0" y="0"/>
          <a:chExt cx="0" cy="0"/>
        </a:xfrm>
      </p:grpSpPr>
      <p:sp>
        <p:nvSpPr>
          <p:cNvPr id="51" name="Shape 51"/>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Shape 52"/>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Shape 53"/>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54"/>
        <p:cNvGrpSpPr/>
        <p:nvPr/>
      </p:nvGrpSpPr>
      <p:grpSpPr>
        <a:xfrm>
          <a:off x="0" y="0"/>
          <a:ext cx="0" cy="0"/>
          <a:chOff x="0" y="0"/>
          <a:chExt cx="0" cy="0"/>
        </a:xfrm>
      </p:grpSpPr>
      <p:sp>
        <p:nvSpPr>
          <p:cNvPr id="55" name="Shape 55"/>
          <p:cNvSpPr txBox="1">
            <a:spLocks noGrp="1"/>
          </p:cNvSpPr>
          <p:nvPr>
            <p:ph type="title"/>
          </p:nvPr>
        </p:nvSpPr>
        <p:spPr>
          <a:xfrm>
            <a:off x="839788" y="457200"/>
            <a:ext cx="3932237" cy="1600200"/>
          </a:xfrm>
          <a:prstGeom prst="rect">
            <a:avLst/>
          </a:prstGeom>
          <a:noFill/>
          <a:ln>
            <a:noFill/>
          </a:ln>
        </p:spPr>
        <p:txBody>
          <a:bodyPr wrap="square" lIns="91425" tIns="91425" rIns="91425" bIns="91425" anchor="b" anchorCtr="0"/>
          <a:lstStyle>
            <a:lvl1pPr marL="0" marR="0" lvl="0" indent="0" algn="l" rtl="0">
              <a:lnSpc>
                <a:spcPct val="90000"/>
              </a:lnSpc>
              <a:spcBef>
                <a:spcPts val="0"/>
              </a:spcBef>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56" name="Shape 56"/>
          <p:cNvSpPr txBox="1">
            <a:spLocks noGrp="1"/>
          </p:cNvSpPr>
          <p:nvPr>
            <p:ph type="body" idx="1"/>
          </p:nvPr>
        </p:nvSpPr>
        <p:spPr>
          <a:xfrm>
            <a:off x="5183188" y="987425"/>
            <a:ext cx="6172200" cy="4873625"/>
          </a:xfrm>
          <a:prstGeom prst="rect">
            <a:avLst/>
          </a:prstGeom>
          <a:noFill/>
          <a:ln>
            <a:noFill/>
          </a:ln>
        </p:spPr>
        <p:txBody>
          <a:bodyPr wrap="square" lIns="91425" tIns="91425" rIns="91425" bIns="91425" anchor="t" anchorCtr="0"/>
          <a:lstStyle>
            <a:lvl1pPr marL="228600" marR="0" lvl="0" indent="-25400" algn="l" rtl="0">
              <a:lnSpc>
                <a:spcPct val="90000"/>
              </a:lnSpc>
              <a:spcBef>
                <a:spcPts val="1000"/>
              </a:spcBef>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685800" marR="0" lvl="1" indent="-50800" algn="l" rtl="0">
              <a:lnSpc>
                <a:spcPct val="90000"/>
              </a:lnSpc>
              <a:spcBef>
                <a:spcPts val="5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143000" marR="0" lvl="2"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600200" marR="0" lvl="3"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057400" marR="0" lvl="4"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514600" marR="0" lvl="5"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Shape 57"/>
          <p:cNvSpPr txBox="1">
            <a:spLocks noGrp="1"/>
          </p:cNvSpPr>
          <p:nvPr>
            <p:ph type="body" idx="2"/>
          </p:nvPr>
        </p:nvSpPr>
        <p:spPr>
          <a:xfrm>
            <a:off x="839788" y="2057400"/>
            <a:ext cx="3932237" cy="3811588"/>
          </a:xfrm>
          <a:prstGeom prst="rect">
            <a:avLst/>
          </a:prstGeom>
          <a:noFill/>
          <a:ln>
            <a:noFill/>
          </a:ln>
        </p:spPr>
        <p:txBody>
          <a:bodyPr wrap="square" lIns="91425" tIns="91425" rIns="91425" bIns="91425" anchor="t" anchorCtr="0"/>
          <a:lstStyle>
            <a:lvl1pPr marL="0" marR="0" lvl="0" indent="0" algn="l" rtl="0">
              <a:lnSpc>
                <a:spcPct val="90000"/>
              </a:lnSpc>
              <a:spcBef>
                <a:spcPts val="1000"/>
              </a:spcBef>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58" name="Shape 58"/>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59" name="Shape 59"/>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60" name="Shape 60"/>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839788" y="457200"/>
            <a:ext cx="3932237" cy="1600200"/>
          </a:xfrm>
          <a:prstGeom prst="rect">
            <a:avLst/>
          </a:prstGeom>
          <a:noFill/>
          <a:ln>
            <a:noFill/>
          </a:ln>
        </p:spPr>
        <p:txBody>
          <a:bodyPr wrap="square" lIns="91425" tIns="91425" rIns="91425" bIns="91425" anchor="b" anchorCtr="0"/>
          <a:lstStyle>
            <a:lvl1pPr marL="0" marR="0" lvl="0" indent="0" algn="l" rtl="0">
              <a:lnSpc>
                <a:spcPct val="90000"/>
              </a:lnSpc>
              <a:spcBef>
                <a:spcPts val="0"/>
              </a:spcBef>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63" name="Shape 63"/>
          <p:cNvSpPr>
            <a:spLocks noGrp="1"/>
          </p:cNvSpPr>
          <p:nvPr>
            <p:ph type="pic" idx="2"/>
          </p:nvPr>
        </p:nvSpPr>
        <p:spPr>
          <a:xfrm>
            <a:off x="5183188" y="987425"/>
            <a:ext cx="6172200" cy="4873625"/>
          </a:xfrm>
          <a:prstGeom prst="rect">
            <a:avLst/>
          </a:prstGeom>
          <a:noFill/>
          <a:ln>
            <a:noFill/>
          </a:ln>
        </p:spPr>
        <p:txBody>
          <a:bodyPr wrap="square" lIns="91425" tIns="91425" rIns="91425" bIns="91425" anchor="t" anchorCtr="0"/>
          <a:lstStyle>
            <a:lvl1pPr marL="0" marR="0" lvl="0" indent="0" algn="l" rtl="0">
              <a:lnSpc>
                <a:spcPct val="90000"/>
              </a:lnSpc>
              <a:spcBef>
                <a:spcPts val="1000"/>
              </a:spcBef>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Shape 64"/>
          <p:cNvSpPr txBox="1">
            <a:spLocks noGrp="1"/>
          </p:cNvSpPr>
          <p:nvPr>
            <p:ph type="body" idx="1"/>
          </p:nvPr>
        </p:nvSpPr>
        <p:spPr>
          <a:xfrm>
            <a:off x="839788" y="2057400"/>
            <a:ext cx="3932237" cy="3811588"/>
          </a:xfrm>
          <a:prstGeom prst="rect">
            <a:avLst/>
          </a:prstGeom>
          <a:noFill/>
          <a:ln>
            <a:noFill/>
          </a:ln>
        </p:spPr>
        <p:txBody>
          <a:bodyPr wrap="square" lIns="91425" tIns="91425" rIns="91425" bIns="91425" anchor="t" anchorCtr="0"/>
          <a:lstStyle>
            <a:lvl1pPr marL="0" marR="0" lvl="0" indent="0" algn="l" rtl="0">
              <a:lnSpc>
                <a:spcPct val="90000"/>
              </a:lnSpc>
              <a:spcBef>
                <a:spcPts val="1000"/>
              </a:spcBef>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5" name="Shape 65"/>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Shape 66"/>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67" name="Shape 67"/>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838200"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70" name="Shape 70"/>
          <p:cNvSpPr txBox="1">
            <a:spLocks noGrp="1"/>
          </p:cNvSpPr>
          <p:nvPr>
            <p:ph type="body" idx="1"/>
          </p:nvPr>
        </p:nvSpPr>
        <p:spPr>
          <a:xfrm rot="5400000">
            <a:off x="3920331" y="-1256506"/>
            <a:ext cx="4351338" cy="10515600"/>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1" name="Shape 71"/>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 name="Shape 72"/>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73" name="Shape 73"/>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4"/>
        <p:cNvGrpSpPr/>
        <p:nvPr/>
      </p:nvGrpSpPr>
      <p:grpSpPr>
        <a:xfrm>
          <a:off x="0" y="0"/>
          <a:ext cx="0" cy="0"/>
          <a:chOff x="0" y="0"/>
          <a:chExt cx="0" cy="0"/>
        </a:xfrm>
      </p:grpSpPr>
      <p:sp>
        <p:nvSpPr>
          <p:cNvPr id="75" name="Shape 75"/>
          <p:cNvSpPr txBox="1">
            <a:spLocks noGrp="1"/>
          </p:cNvSpPr>
          <p:nvPr>
            <p:ph type="title"/>
          </p:nvPr>
        </p:nvSpPr>
        <p:spPr>
          <a:xfrm rot="5400000">
            <a:off x="7133431" y="1956594"/>
            <a:ext cx="5811838" cy="2628900"/>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76" name="Shape 76"/>
          <p:cNvSpPr txBox="1">
            <a:spLocks noGrp="1"/>
          </p:cNvSpPr>
          <p:nvPr>
            <p:ph type="body" idx="1"/>
          </p:nvPr>
        </p:nvSpPr>
        <p:spPr>
          <a:xfrm rot="5400000">
            <a:off x="1799431" y="-596106"/>
            <a:ext cx="5811838" cy="7734300"/>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7" name="Shape 77"/>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78" name="Shape 78"/>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79" name="Shape 79"/>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838200"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7" name="Shape 7"/>
          <p:cNvSpPr txBox="1">
            <a:spLocks noGrp="1"/>
          </p:cNvSpPr>
          <p:nvPr>
            <p:ph type="body" idx="1"/>
          </p:nvPr>
        </p:nvSpPr>
        <p:spPr>
          <a:xfrm>
            <a:off x="838200" y="1825625"/>
            <a:ext cx="10515600" cy="435133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Shape 9"/>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Shape 10"/>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tmp"/></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4.tmp"/></Relationships>
</file>

<file path=ppt/slides/_rels/slide20.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image" Target="../media/image25.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2" Type="http://schemas.openxmlformats.org/officeDocument/2006/relationships/image" Target="../media/image42.tmp"/><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ctrTitle"/>
          </p:nvPr>
        </p:nvSpPr>
        <p:spPr>
          <a:xfrm>
            <a:off x="1524000" y="1122363"/>
            <a:ext cx="9144000" cy="2387600"/>
          </a:xfrm>
          <a:prstGeom prst="rect">
            <a:avLst/>
          </a:prstGeom>
          <a:noFill/>
          <a:ln>
            <a:noFill/>
          </a:ln>
        </p:spPr>
        <p:txBody>
          <a:bodyPr wrap="square" lIns="91425" tIns="45700" rIns="91425" bIns="45700" anchor="b" anchorCtr="0">
            <a:noAutofit/>
          </a:bodyPr>
          <a:lstStyle/>
          <a:p>
            <a:pPr marL="0" marR="0" lvl="0" indent="-381000" algn="ctr" rtl="0">
              <a:lnSpc>
                <a:spcPct val="90000"/>
              </a:lnSpc>
              <a:spcBef>
                <a:spcPts val="0"/>
              </a:spcBef>
              <a:buClr>
                <a:schemeClr val="dk1"/>
              </a:buClr>
              <a:buSzPts val="6000"/>
              <a:buFont typeface="Calibri"/>
              <a:buNone/>
            </a:pPr>
            <a:r>
              <a:rPr lang="en-US"/>
              <a:t>Buffer Overflow Attack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Shape 89"/>
          <p:cNvSpPr txBox="1">
            <a:spLocks noGrp="1"/>
          </p:cNvSpPr>
          <p:nvPr>
            <p:ph type="ctrTitle"/>
          </p:nvPr>
        </p:nvSpPr>
        <p:spPr>
          <a:xfrm>
            <a:off x="477550" y="225397"/>
            <a:ext cx="9144000" cy="1655700"/>
          </a:xfrm>
          <a:prstGeom prst="rect">
            <a:avLst/>
          </a:prstGeom>
        </p:spPr>
        <p:txBody>
          <a:bodyPr wrap="square" lIns="91425" tIns="91425" rIns="91425" bIns="91425" anchor="b" anchorCtr="0">
            <a:noAutofit/>
          </a:bodyPr>
          <a:lstStyle/>
          <a:p>
            <a:pPr marL="0" lvl="0" indent="-279400" algn="l" rtl="0">
              <a:spcBef>
                <a:spcPts val="0"/>
              </a:spcBef>
              <a:buClr>
                <a:schemeClr val="dk1"/>
              </a:buClr>
              <a:buSzPts val="4400"/>
              <a:buFont typeface="Calibri"/>
              <a:buNone/>
            </a:pPr>
            <a:r>
              <a:rPr lang="en-US" sz="4400"/>
              <a:t>Outline</a:t>
            </a:r>
          </a:p>
        </p:txBody>
      </p:sp>
      <p:sp>
        <p:nvSpPr>
          <p:cNvPr id="90" name="Shape 90"/>
          <p:cNvSpPr txBox="1">
            <a:spLocks noGrp="1"/>
          </p:cNvSpPr>
          <p:nvPr>
            <p:ph type="subTitle" idx="1"/>
          </p:nvPr>
        </p:nvSpPr>
        <p:spPr>
          <a:xfrm>
            <a:off x="477550" y="1881125"/>
            <a:ext cx="10547700" cy="4459800"/>
          </a:xfrm>
          <a:prstGeom prst="rect">
            <a:avLst/>
          </a:prstGeom>
        </p:spPr>
        <p:txBody>
          <a:bodyPr wrap="square" lIns="91425" tIns="91425" rIns="91425" bIns="91425" anchor="t" anchorCtr="0">
            <a:noAutofit/>
          </a:bodyPr>
          <a:lstStyle/>
          <a:p>
            <a:pPr marL="457200" lvl="0" indent="-419100" algn="l" rtl="0">
              <a:spcBef>
                <a:spcPts val="0"/>
              </a:spcBef>
              <a:spcAft>
                <a:spcPts val="0"/>
              </a:spcAft>
              <a:buSzPts val="3000"/>
              <a:buChar char="●"/>
            </a:pPr>
            <a:r>
              <a:rPr lang="en-US" sz="3000" dirty="0"/>
              <a:t>Understanding of Stack Layout</a:t>
            </a:r>
          </a:p>
          <a:p>
            <a:pPr marL="457200" lvl="0" indent="-419100" algn="l" rtl="0">
              <a:spcBef>
                <a:spcPts val="0"/>
              </a:spcBef>
              <a:spcAft>
                <a:spcPts val="0"/>
              </a:spcAft>
              <a:buSzPts val="3000"/>
              <a:buChar char="●"/>
            </a:pPr>
            <a:r>
              <a:rPr lang="en-US" sz="3000" dirty="0"/>
              <a:t>Vulnerable code</a:t>
            </a:r>
          </a:p>
          <a:p>
            <a:pPr marL="457200" lvl="0" indent="-419100" algn="l" rtl="0">
              <a:spcBef>
                <a:spcPts val="0"/>
              </a:spcBef>
              <a:spcAft>
                <a:spcPts val="0"/>
              </a:spcAft>
              <a:buSzPts val="3000"/>
              <a:buChar char="●"/>
            </a:pPr>
            <a:r>
              <a:rPr lang="en-US" sz="3000" dirty="0"/>
              <a:t>Challenges in exploitation</a:t>
            </a:r>
          </a:p>
          <a:p>
            <a:pPr marL="457200" lvl="0" indent="-419100" algn="l" rtl="0">
              <a:spcBef>
                <a:spcPts val="0"/>
              </a:spcBef>
              <a:spcAft>
                <a:spcPts val="0"/>
              </a:spcAft>
              <a:buSzPts val="3000"/>
              <a:buChar char="●"/>
            </a:pPr>
            <a:r>
              <a:rPr lang="en-US" sz="3000" dirty="0" err="1"/>
              <a:t>Shellcode</a:t>
            </a:r>
            <a:endParaRPr lang="en-US" sz="3000" dirty="0"/>
          </a:p>
          <a:p>
            <a:pPr marL="457200" lvl="0" indent="-419100" algn="l">
              <a:spcBef>
                <a:spcPts val="0"/>
              </a:spcBef>
              <a:buSzPts val="3000"/>
              <a:buChar char="●"/>
            </a:pPr>
            <a:r>
              <a:rPr lang="en-US" sz="3000" dirty="0"/>
              <a:t>Countermeasures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8" name="Shape 98"/>
          <p:cNvPicPr preferRelativeResize="0"/>
          <p:nvPr/>
        </p:nvPicPr>
        <p:blipFill>
          <a:blip r:embed="rId3">
            <a:alphaModFix/>
          </a:blip>
          <a:stretch>
            <a:fillRect/>
          </a:stretch>
        </p:blipFill>
        <p:spPr>
          <a:xfrm>
            <a:off x="6533999" y="1234063"/>
            <a:ext cx="5247746" cy="4862512"/>
          </a:xfrm>
          <a:prstGeom prst="rect">
            <a:avLst/>
          </a:prstGeom>
          <a:noFill/>
          <a:ln>
            <a:noFill/>
          </a:ln>
        </p:spPr>
      </p:pic>
      <p:sp>
        <p:nvSpPr>
          <p:cNvPr id="95" name="Shape 95"/>
          <p:cNvSpPr txBox="1">
            <a:spLocks noGrp="1"/>
          </p:cNvSpPr>
          <p:nvPr>
            <p:ph type="title"/>
          </p:nvPr>
        </p:nvSpPr>
        <p:spPr>
          <a:xfrm>
            <a:off x="838200" y="365125"/>
            <a:ext cx="10515600" cy="1325563"/>
          </a:xfrm>
          <a:prstGeom prst="rect">
            <a:avLst/>
          </a:prstGeom>
          <a:noFill/>
          <a:ln>
            <a:noFill/>
          </a:ln>
        </p:spPr>
        <p:txBody>
          <a:bodyPr wrap="square" lIns="91425" tIns="45700" rIns="91425" bIns="45700" anchor="ctr" anchorCtr="0">
            <a:noAutofit/>
          </a:bodyPr>
          <a:lstStyle/>
          <a:p>
            <a:pPr marL="0" marR="0" lvl="0" indent="-279400" algn="l" rtl="0">
              <a:lnSpc>
                <a:spcPct val="90000"/>
              </a:lnSpc>
              <a:spcBef>
                <a:spcPts val="0"/>
              </a:spcBef>
              <a:buClr>
                <a:schemeClr val="dk1"/>
              </a:buClr>
              <a:buSzPts val="4400"/>
              <a:buFont typeface="Calibri"/>
              <a:buNone/>
            </a:pPr>
            <a:r>
              <a:rPr lang="en-US"/>
              <a:t>Program Memory Stack</a:t>
            </a:r>
          </a:p>
        </p:txBody>
      </p:sp>
      <p:pic>
        <p:nvPicPr>
          <p:cNvPr id="96" name="Shape 96"/>
          <p:cNvPicPr preferRelativeResize="0"/>
          <p:nvPr/>
        </p:nvPicPr>
        <p:blipFill>
          <a:blip r:embed="rId4">
            <a:alphaModFix/>
          </a:blip>
          <a:stretch>
            <a:fillRect/>
          </a:stretch>
        </p:blipFill>
        <p:spPr>
          <a:xfrm>
            <a:off x="763450" y="5503628"/>
            <a:ext cx="4770575" cy="655147"/>
          </a:xfrm>
          <a:prstGeom prst="rect">
            <a:avLst/>
          </a:prstGeom>
          <a:noFill/>
          <a:ln>
            <a:noFill/>
          </a:ln>
        </p:spPr>
      </p:pic>
      <p:sp>
        <p:nvSpPr>
          <p:cNvPr id="99" name="Shape 99"/>
          <p:cNvSpPr txBox="1"/>
          <p:nvPr/>
        </p:nvSpPr>
        <p:spPr>
          <a:xfrm>
            <a:off x="6228329" y="3331262"/>
            <a:ext cx="1791739" cy="1009875"/>
          </a:xfrm>
          <a:prstGeom prst="rect">
            <a:avLst/>
          </a:prstGeom>
          <a:noFill/>
          <a:ln>
            <a:noFill/>
          </a:ln>
        </p:spPr>
        <p:txBody>
          <a:bodyPr wrap="square" lIns="91425" tIns="91425" rIns="91425" bIns="91425" anchor="t" anchorCtr="0">
            <a:noAutofit/>
          </a:bodyPr>
          <a:lstStyle/>
          <a:p>
            <a:pPr marL="0" lvl="0" indent="0">
              <a:spcBef>
                <a:spcPts val="0"/>
              </a:spcBef>
              <a:buNone/>
            </a:pPr>
            <a:r>
              <a:rPr lang="en-US" sz="1800" dirty="0" err="1">
                <a:latin typeface="Courier New" panose="02070309020205020404" pitchFamily="49" charset="0"/>
                <a:cs typeface="Courier New" panose="02070309020205020404" pitchFamily="49" charset="0"/>
              </a:rPr>
              <a:t>ptr</a:t>
            </a:r>
            <a:r>
              <a:rPr lang="en-US" sz="1800" dirty="0"/>
              <a:t> points to the memory here</a:t>
            </a:r>
          </a:p>
        </p:txBody>
      </p:sp>
      <p:sp>
        <p:nvSpPr>
          <p:cNvPr id="100" name="Shape 100"/>
          <p:cNvSpPr txBox="1"/>
          <p:nvPr/>
        </p:nvSpPr>
        <p:spPr>
          <a:xfrm>
            <a:off x="6389914" y="2231375"/>
            <a:ext cx="1015711" cy="373800"/>
          </a:xfrm>
          <a:prstGeom prst="rect">
            <a:avLst/>
          </a:prstGeom>
          <a:noFill/>
          <a:ln>
            <a:noFill/>
          </a:ln>
        </p:spPr>
        <p:txBody>
          <a:bodyPr wrap="square" lIns="91425" tIns="91425" rIns="91425" bIns="91425" anchor="t" anchorCtr="0">
            <a:noAutofit/>
          </a:bodyPr>
          <a:lstStyle/>
          <a:p>
            <a:pPr marL="0" lvl="0" indent="0" rtl="0">
              <a:spcBef>
                <a:spcPts val="0"/>
              </a:spcBef>
              <a:buNone/>
            </a:pPr>
            <a:r>
              <a:rPr lang="en-US" sz="1800" dirty="0" err="1"/>
              <a:t>a,b</a:t>
            </a:r>
            <a:r>
              <a:rPr lang="en-US" sz="1800" dirty="0"/>
              <a:t>, </a:t>
            </a:r>
            <a:r>
              <a:rPr lang="en-US" sz="1800" dirty="0" err="1"/>
              <a:t>ptr</a:t>
            </a:r>
            <a:endParaRPr lang="en-US" sz="1800" dirty="0"/>
          </a:p>
        </p:txBody>
      </p:sp>
      <p:sp>
        <p:nvSpPr>
          <p:cNvPr id="101" name="Shape 101"/>
          <p:cNvSpPr txBox="1"/>
          <p:nvPr/>
        </p:nvSpPr>
        <p:spPr>
          <a:xfrm>
            <a:off x="6994625" y="4327988"/>
            <a:ext cx="411000" cy="373800"/>
          </a:xfrm>
          <a:prstGeom prst="rect">
            <a:avLst/>
          </a:prstGeom>
          <a:noFill/>
          <a:ln>
            <a:noFill/>
          </a:ln>
        </p:spPr>
        <p:txBody>
          <a:bodyPr wrap="square" lIns="91425" tIns="91425" rIns="91425" bIns="91425" anchor="t" anchorCtr="0">
            <a:noAutofit/>
          </a:bodyPr>
          <a:lstStyle/>
          <a:p>
            <a:pPr marL="0" lvl="0" indent="0" rtl="0">
              <a:spcBef>
                <a:spcPts val="0"/>
              </a:spcBef>
              <a:buNone/>
            </a:pPr>
            <a:r>
              <a:rPr lang="en-US" sz="1800" dirty="0"/>
              <a:t>y</a:t>
            </a:r>
          </a:p>
        </p:txBody>
      </p:sp>
      <p:cxnSp>
        <p:nvCxnSpPr>
          <p:cNvPr id="103" name="Shape 103"/>
          <p:cNvCxnSpPr>
            <a:stCxn id="100" idx="3"/>
          </p:cNvCxnSpPr>
          <p:nvPr/>
        </p:nvCxnSpPr>
        <p:spPr>
          <a:xfrm flipV="1">
            <a:off x="7405625" y="2416775"/>
            <a:ext cx="1003500" cy="1500"/>
          </a:xfrm>
          <a:prstGeom prst="straightConnector1">
            <a:avLst/>
          </a:prstGeom>
          <a:noFill/>
          <a:ln w="9525" cap="flat" cmpd="sng">
            <a:solidFill>
              <a:srgbClr val="FF0000"/>
            </a:solidFill>
            <a:prstDash val="solid"/>
            <a:round/>
            <a:headEnd type="none" w="lg" len="lg"/>
            <a:tailEnd type="triangle" w="lg" len="lg"/>
          </a:ln>
        </p:spPr>
      </p:cxnSp>
      <p:cxnSp>
        <p:nvCxnSpPr>
          <p:cNvPr id="104" name="Shape 104"/>
          <p:cNvCxnSpPr/>
          <p:nvPr/>
        </p:nvCxnSpPr>
        <p:spPr>
          <a:xfrm>
            <a:off x="8020068" y="3784301"/>
            <a:ext cx="426257" cy="1"/>
          </a:xfrm>
          <a:prstGeom prst="straightConnector1">
            <a:avLst/>
          </a:prstGeom>
          <a:noFill/>
          <a:ln w="9525" cap="flat" cmpd="sng">
            <a:solidFill>
              <a:srgbClr val="FF0000"/>
            </a:solidFill>
            <a:prstDash val="solid"/>
            <a:round/>
            <a:headEnd type="none" w="lg" len="lg"/>
            <a:tailEnd type="triangle" w="lg" len="lg"/>
          </a:ln>
        </p:spPr>
      </p:cxnSp>
      <p:cxnSp>
        <p:nvCxnSpPr>
          <p:cNvPr id="105" name="Shape 105"/>
          <p:cNvCxnSpPr>
            <a:stCxn id="101" idx="3"/>
          </p:cNvCxnSpPr>
          <p:nvPr/>
        </p:nvCxnSpPr>
        <p:spPr>
          <a:xfrm rot="10800000" flipH="1">
            <a:off x="7405625" y="4511888"/>
            <a:ext cx="1040700" cy="3000"/>
          </a:xfrm>
          <a:prstGeom prst="straightConnector1">
            <a:avLst/>
          </a:prstGeom>
          <a:noFill/>
          <a:ln w="9525" cap="flat" cmpd="sng">
            <a:solidFill>
              <a:srgbClr val="FF0000"/>
            </a:solidFill>
            <a:prstDash val="solid"/>
            <a:round/>
            <a:headEnd type="none" w="lg" len="lg"/>
            <a:tailEnd type="triangle" w="lg" len="lg"/>
          </a:ln>
        </p:spPr>
      </p:cxnSp>
      <p:cxnSp>
        <p:nvCxnSpPr>
          <p:cNvPr id="106" name="Shape 106"/>
          <p:cNvCxnSpPr/>
          <p:nvPr/>
        </p:nvCxnSpPr>
        <p:spPr>
          <a:xfrm>
            <a:off x="5239367" y="5174838"/>
            <a:ext cx="0" cy="0"/>
          </a:xfrm>
          <a:prstGeom prst="straightConnector1">
            <a:avLst/>
          </a:prstGeom>
          <a:noFill/>
          <a:ln w="9525" cap="flat" cmpd="sng">
            <a:solidFill>
              <a:srgbClr val="FF0000"/>
            </a:solidFill>
            <a:prstDash val="solid"/>
            <a:round/>
            <a:headEnd type="none" w="lg" len="lg"/>
            <a:tailEnd type="triangle" w="lg" len="lg"/>
          </a:ln>
        </p:spPr>
      </p:cxnSp>
      <p:cxnSp>
        <p:nvCxnSpPr>
          <p:cNvPr id="107" name="Shape 107"/>
          <p:cNvCxnSpPr/>
          <p:nvPr/>
        </p:nvCxnSpPr>
        <p:spPr>
          <a:xfrm rot="10800000" flipH="1">
            <a:off x="7405625" y="5037313"/>
            <a:ext cx="1040700" cy="3000"/>
          </a:xfrm>
          <a:prstGeom prst="straightConnector1">
            <a:avLst/>
          </a:prstGeom>
          <a:noFill/>
          <a:ln w="9525" cap="flat" cmpd="sng">
            <a:solidFill>
              <a:srgbClr val="FF0000"/>
            </a:solidFill>
            <a:prstDash val="solid"/>
            <a:round/>
            <a:headEnd type="none" w="lg" len="lg"/>
            <a:tailEnd type="triangle" w="lg" len="lg"/>
          </a:ln>
        </p:spPr>
      </p:cxnSp>
      <p:pic>
        <p:nvPicPr>
          <p:cNvPr id="97" name="Shape 97"/>
          <p:cNvPicPr preferRelativeResize="0"/>
          <p:nvPr/>
        </p:nvPicPr>
        <p:blipFill>
          <a:blip r:embed="rId5">
            <a:alphaModFix/>
          </a:blip>
          <a:stretch>
            <a:fillRect/>
          </a:stretch>
        </p:blipFill>
        <p:spPr>
          <a:xfrm>
            <a:off x="838200" y="1547925"/>
            <a:ext cx="4695825" cy="4092025"/>
          </a:xfrm>
          <a:prstGeom prst="rect">
            <a:avLst/>
          </a:prstGeom>
          <a:noFill/>
          <a:ln>
            <a:noFill/>
          </a:ln>
        </p:spPr>
      </p:pic>
      <p:sp>
        <p:nvSpPr>
          <p:cNvPr id="37" name="Shape 101"/>
          <p:cNvSpPr txBox="1"/>
          <p:nvPr/>
        </p:nvSpPr>
        <p:spPr>
          <a:xfrm>
            <a:off x="6994625" y="4776100"/>
            <a:ext cx="411000" cy="373800"/>
          </a:xfrm>
          <a:prstGeom prst="rect">
            <a:avLst/>
          </a:prstGeom>
          <a:noFill/>
          <a:ln>
            <a:noFill/>
          </a:ln>
        </p:spPr>
        <p:txBody>
          <a:bodyPr wrap="square" lIns="91425" tIns="91425" rIns="91425" bIns="91425" anchor="t" anchorCtr="0">
            <a:noAutofit/>
          </a:bodyPr>
          <a:lstStyle/>
          <a:p>
            <a:pPr marL="0" lvl="0" indent="0" rtl="0">
              <a:spcBef>
                <a:spcPts val="0"/>
              </a:spcBef>
              <a:buNone/>
            </a:pPr>
            <a:r>
              <a:rPr lang="en-US" sz="1800" dirty="0"/>
              <a:t>x</a:t>
            </a:r>
          </a:p>
        </p:txBody>
      </p:sp>
      <p:sp>
        <p:nvSpPr>
          <p:cNvPr id="2" name="TextBox 1">
            <a:extLst>
              <a:ext uri="{FF2B5EF4-FFF2-40B4-BE49-F238E27FC236}">
                <a16:creationId xmlns:a16="http://schemas.microsoft.com/office/drawing/2014/main" id="{20EC7DB7-EB4D-475F-8B39-1BA59ED7D5ED}"/>
              </a:ext>
            </a:extLst>
          </p:cNvPr>
          <p:cNvSpPr txBox="1"/>
          <p:nvPr/>
        </p:nvSpPr>
        <p:spPr>
          <a:xfrm>
            <a:off x="7568588" y="365125"/>
            <a:ext cx="4213157" cy="954107"/>
          </a:xfrm>
          <a:prstGeom prst="rect">
            <a:avLst/>
          </a:prstGeom>
          <a:noFill/>
        </p:spPr>
        <p:txBody>
          <a:bodyPr wrap="square" rtlCol="0">
            <a:spAutoFit/>
          </a:bodyPr>
          <a:lstStyle/>
          <a:p>
            <a:pPr lvl="0"/>
            <a:r>
              <a:rPr lang="en-US" dirty="0"/>
              <a:t>Global variables are stored in Data segment.</a:t>
            </a:r>
          </a:p>
          <a:p>
            <a:pPr lvl="0"/>
            <a:r>
              <a:rPr lang="en-US" dirty="0"/>
              <a:t>Uninitialized static variables are stored in BSS.</a:t>
            </a:r>
          </a:p>
          <a:p>
            <a:pPr lvl="0"/>
            <a:r>
              <a:rPr lang="en-US" dirty="0"/>
              <a:t>Dynamic memory is allocated in heap.</a:t>
            </a:r>
          </a:p>
          <a:p>
            <a:pPr lvl="0"/>
            <a:r>
              <a:rPr lang="en-US" dirty="0"/>
              <a:t>Local variables are stored in Stack.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Shape 112"/>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rtl="0">
              <a:spcBef>
                <a:spcPts val="0"/>
              </a:spcBef>
              <a:buNone/>
            </a:pPr>
            <a:r>
              <a:rPr lang="en-US"/>
              <a:t>Order of the function arguments in stack</a:t>
            </a:r>
          </a:p>
        </p:txBody>
      </p:sp>
      <p:sp>
        <p:nvSpPr>
          <p:cNvPr id="113" name="Shape 113"/>
          <p:cNvSpPr txBox="1">
            <a:spLocks noGrp="1"/>
          </p:cNvSpPr>
          <p:nvPr>
            <p:ph type="body" idx="1"/>
          </p:nvPr>
        </p:nvSpPr>
        <p:spPr>
          <a:xfrm>
            <a:off x="838200" y="1451900"/>
            <a:ext cx="10515600" cy="6271800"/>
          </a:xfrm>
          <a:prstGeom prst="rect">
            <a:avLst/>
          </a:prstGeom>
        </p:spPr>
        <p:txBody>
          <a:bodyPr wrap="square" lIns="91425" tIns="91425" rIns="91425" bIns="91425" anchor="t" anchorCtr="0">
            <a:noAutofit/>
          </a:bodyPr>
          <a:lstStyle/>
          <a:p>
            <a:pPr marL="177800" lvl="0" indent="-69850">
              <a:spcBef>
                <a:spcPts val="0"/>
              </a:spcBef>
              <a:buClr>
                <a:schemeClr val="dk1"/>
              </a:buClr>
              <a:buSzPts val="1100"/>
              <a:buFont typeface="Arial"/>
              <a:buNone/>
            </a:pPr>
            <a:endParaRPr sz="1800">
              <a:solidFill>
                <a:srgbClr val="0B5394"/>
              </a:solidFill>
            </a:endParaRPr>
          </a:p>
          <a:p>
            <a:pPr marL="228600" lvl="0" indent="-50800">
              <a:spcBef>
                <a:spcPts val="0"/>
              </a:spcBef>
              <a:buNone/>
            </a:pPr>
            <a:endParaRPr sz="1800"/>
          </a:p>
        </p:txBody>
      </p:sp>
      <p:pic>
        <p:nvPicPr>
          <p:cNvPr id="114" name="Shape 114"/>
          <p:cNvPicPr preferRelativeResize="0"/>
          <p:nvPr/>
        </p:nvPicPr>
        <p:blipFill>
          <a:blip r:embed="rId3">
            <a:alphaModFix/>
          </a:blip>
          <a:stretch>
            <a:fillRect/>
          </a:stretch>
        </p:blipFill>
        <p:spPr>
          <a:xfrm>
            <a:off x="915063" y="1690813"/>
            <a:ext cx="4905375" cy="2695575"/>
          </a:xfrm>
          <a:prstGeom prst="rect">
            <a:avLst/>
          </a:prstGeom>
          <a:noFill/>
          <a:ln>
            <a:noFill/>
          </a:ln>
        </p:spPr>
      </p:pic>
      <p:pic>
        <p:nvPicPr>
          <p:cNvPr id="115" name="Shape 115"/>
          <p:cNvPicPr preferRelativeResize="0"/>
          <p:nvPr/>
        </p:nvPicPr>
        <p:blipFill>
          <a:blip r:embed="rId4">
            <a:alphaModFix/>
          </a:blip>
          <a:stretch>
            <a:fillRect/>
          </a:stretch>
        </p:blipFill>
        <p:spPr>
          <a:xfrm>
            <a:off x="852488" y="4958800"/>
            <a:ext cx="10487025" cy="1600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Shape 120"/>
          <p:cNvSpPr/>
          <p:nvPr/>
        </p:nvSpPr>
        <p:spPr>
          <a:xfrm>
            <a:off x="896950" y="1930950"/>
            <a:ext cx="3924300" cy="2653500"/>
          </a:xfrm>
          <a:prstGeom prst="rect">
            <a:avLst/>
          </a:prstGeom>
          <a:solidFill>
            <a:schemeClr val="lt2"/>
          </a:solidFill>
          <a:ln w="9525" cap="flat" cmpd="sng">
            <a:solidFill>
              <a:srgbClr val="F3F3F3"/>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sp>
        <p:nvSpPr>
          <p:cNvPr id="121" name="Shape 121"/>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Function Call Stack</a:t>
            </a:r>
          </a:p>
        </p:txBody>
      </p:sp>
      <p:sp>
        <p:nvSpPr>
          <p:cNvPr id="122" name="Shape 122"/>
          <p:cNvSpPr txBox="1">
            <a:spLocks noGrp="1"/>
          </p:cNvSpPr>
          <p:nvPr>
            <p:ph type="body" idx="1"/>
          </p:nvPr>
        </p:nvSpPr>
        <p:spPr>
          <a:xfrm>
            <a:off x="896950" y="1930950"/>
            <a:ext cx="3924300" cy="2653500"/>
          </a:xfrm>
          <a:prstGeom prst="rect">
            <a:avLst/>
          </a:prstGeom>
        </p:spPr>
        <p:txBody>
          <a:bodyPr wrap="square" lIns="91425" tIns="91425" rIns="91425" bIns="91425" anchor="t" anchorCtr="0">
            <a:noAutofit/>
          </a:bodyPr>
          <a:lstStyle/>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void f(int a, int b)</a:t>
            </a:r>
          </a:p>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a:t>
            </a:r>
          </a:p>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  int x;</a:t>
            </a:r>
          </a:p>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a:t>
            </a:r>
          </a:p>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void main()</a:t>
            </a:r>
          </a:p>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a:t>
            </a:r>
          </a:p>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  f(1,2);</a:t>
            </a:r>
          </a:p>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  printf("hello world");</a:t>
            </a:r>
          </a:p>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a:t>
            </a:r>
          </a:p>
          <a:p>
            <a:pPr marL="228600" lvl="0" indent="-50800" rtl="0">
              <a:spcBef>
                <a:spcPts val="0"/>
              </a:spcBef>
              <a:buNone/>
            </a:pPr>
            <a:endParaRPr/>
          </a:p>
        </p:txBody>
      </p:sp>
      <p:pic>
        <p:nvPicPr>
          <p:cNvPr id="123" name="Shape 123"/>
          <p:cNvPicPr preferRelativeResize="0"/>
          <p:nvPr/>
        </p:nvPicPr>
        <p:blipFill>
          <a:blip r:embed="rId3">
            <a:alphaModFix/>
          </a:blip>
          <a:stretch>
            <a:fillRect/>
          </a:stretch>
        </p:blipFill>
        <p:spPr>
          <a:xfrm>
            <a:off x="5838825" y="1825629"/>
            <a:ext cx="5514975" cy="4351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Shape 128"/>
          <p:cNvSpPr txBox="1">
            <a:spLocks noGrp="1"/>
          </p:cNvSpPr>
          <p:nvPr>
            <p:ph type="title"/>
          </p:nvPr>
        </p:nvSpPr>
        <p:spPr>
          <a:xfrm>
            <a:off x="0" y="334075"/>
            <a:ext cx="11996700" cy="1372800"/>
          </a:xfrm>
          <a:prstGeom prst="rect">
            <a:avLst/>
          </a:prstGeom>
        </p:spPr>
        <p:txBody>
          <a:bodyPr wrap="square" lIns="91425" tIns="91425" rIns="91425" bIns="91425" anchor="ctr" anchorCtr="0">
            <a:noAutofit/>
          </a:bodyPr>
          <a:lstStyle/>
          <a:p>
            <a:pPr marL="0" lvl="0" indent="0">
              <a:spcBef>
                <a:spcPts val="0"/>
              </a:spcBef>
              <a:buNone/>
            </a:pPr>
            <a:r>
              <a:rPr lang="en-US" dirty="0"/>
              <a:t>Stack Layout for Function Call Chain</a:t>
            </a:r>
          </a:p>
        </p:txBody>
      </p:sp>
      <p:pic>
        <p:nvPicPr>
          <p:cNvPr id="129" name="Shape 129"/>
          <p:cNvPicPr preferRelativeResize="0"/>
          <p:nvPr/>
        </p:nvPicPr>
        <p:blipFill>
          <a:blip r:embed="rId3">
            <a:alphaModFix/>
          </a:blip>
          <a:stretch>
            <a:fillRect/>
          </a:stretch>
        </p:blipFill>
        <p:spPr>
          <a:xfrm>
            <a:off x="115025" y="1475825"/>
            <a:ext cx="6412961" cy="4893424"/>
          </a:xfrm>
          <a:prstGeom prst="rect">
            <a:avLst/>
          </a:prstGeom>
          <a:noFill/>
          <a:ln>
            <a:noFill/>
          </a:ln>
        </p:spPr>
      </p:pic>
      <p:sp>
        <p:nvSpPr>
          <p:cNvPr id="130" name="Shape 130"/>
          <p:cNvSpPr txBox="1"/>
          <p:nvPr/>
        </p:nvSpPr>
        <p:spPr>
          <a:xfrm>
            <a:off x="6839325" y="2183400"/>
            <a:ext cx="4559400" cy="4307100"/>
          </a:xfrm>
          <a:prstGeom prst="rect">
            <a:avLst/>
          </a:prstGeom>
          <a:noFill/>
          <a:ln>
            <a:noFill/>
          </a:ln>
        </p:spPr>
        <p:txBody>
          <a:bodyPr wrap="square" lIns="91425" tIns="91425" rIns="91425" bIns="91425" anchor="t" anchorCtr="0">
            <a:noAutofit/>
          </a:bodyPr>
          <a:lstStyle/>
          <a:p>
            <a:pPr marL="0" lvl="0" indent="0">
              <a:spcBef>
                <a:spcPts val="0"/>
              </a:spcBef>
              <a:buNone/>
            </a:pPr>
            <a:r>
              <a:rPr lang="en-US" dirty="0"/>
              <a:t>	</a:t>
            </a:r>
            <a:r>
              <a:rPr lang="en-US" sz="2400" dirty="0"/>
              <a:t>     main()</a:t>
            </a:r>
          </a:p>
          <a:p>
            <a:pPr marL="0" lvl="0" indent="0">
              <a:spcBef>
                <a:spcPts val="0"/>
              </a:spcBef>
              <a:buNone/>
            </a:pPr>
            <a:endParaRPr sz="2400" dirty="0"/>
          </a:p>
          <a:p>
            <a:pPr marL="0" lvl="0" indent="0">
              <a:spcBef>
                <a:spcPts val="0"/>
              </a:spcBef>
              <a:buNone/>
            </a:pPr>
            <a:r>
              <a:rPr lang="en-US" sz="2400" dirty="0"/>
              <a:t>		</a:t>
            </a:r>
          </a:p>
          <a:p>
            <a:pPr marL="0" lvl="0" indent="0">
              <a:spcBef>
                <a:spcPts val="0"/>
              </a:spcBef>
              <a:buNone/>
            </a:pPr>
            <a:r>
              <a:rPr lang="en-US" sz="2400" dirty="0"/>
              <a:t>			  </a:t>
            </a:r>
          </a:p>
          <a:p>
            <a:pPr marL="1371600" lvl="0" indent="0">
              <a:spcBef>
                <a:spcPts val="0"/>
              </a:spcBef>
              <a:buNone/>
            </a:pPr>
            <a:r>
              <a:rPr lang="en-US" sz="2400" dirty="0"/>
              <a:t>  foo()</a:t>
            </a:r>
          </a:p>
          <a:p>
            <a:pPr marL="0" lvl="0" indent="0">
              <a:spcBef>
                <a:spcPts val="0"/>
              </a:spcBef>
              <a:buNone/>
            </a:pPr>
            <a:endParaRPr sz="2400" dirty="0"/>
          </a:p>
          <a:p>
            <a:pPr marL="0" lvl="0" indent="0">
              <a:spcBef>
                <a:spcPts val="0"/>
              </a:spcBef>
              <a:buNone/>
            </a:pPr>
            <a:r>
              <a:rPr lang="en-US" sz="2400" dirty="0"/>
              <a:t>	</a:t>
            </a:r>
          </a:p>
          <a:p>
            <a:pPr marL="0" lvl="0" indent="0">
              <a:spcBef>
                <a:spcPts val="0"/>
              </a:spcBef>
              <a:buNone/>
            </a:pPr>
            <a:r>
              <a:rPr lang="en-US" sz="2400" dirty="0"/>
              <a:t>			  </a:t>
            </a:r>
          </a:p>
          <a:p>
            <a:pPr marL="1371600" lvl="0" indent="0" rtl="0">
              <a:spcBef>
                <a:spcPts val="0"/>
              </a:spcBef>
              <a:buNone/>
            </a:pPr>
            <a:r>
              <a:rPr lang="en-US" sz="2400" dirty="0"/>
              <a:t>  bar()</a:t>
            </a:r>
          </a:p>
          <a:p>
            <a:pPr marL="1371600" lvl="0" indent="0">
              <a:spcBef>
                <a:spcPts val="0"/>
              </a:spcBef>
              <a:buNone/>
            </a:pPr>
            <a:endParaRPr sz="2400" dirty="0"/>
          </a:p>
        </p:txBody>
      </p:sp>
      <p:cxnSp>
        <p:nvCxnSpPr>
          <p:cNvPr id="131" name="Shape 131"/>
          <p:cNvCxnSpPr/>
          <p:nvPr/>
        </p:nvCxnSpPr>
        <p:spPr>
          <a:xfrm>
            <a:off x="8745350" y="2790525"/>
            <a:ext cx="0" cy="784800"/>
          </a:xfrm>
          <a:prstGeom prst="straightConnector1">
            <a:avLst/>
          </a:prstGeom>
          <a:noFill/>
          <a:ln w="9525" cap="flat" cmpd="sng">
            <a:solidFill>
              <a:schemeClr val="dk2"/>
            </a:solidFill>
            <a:prstDash val="solid"/>
            <a:round/>
            <a:headEnd type="none" w="lg" len="lg"/>
            <a:tailEnd type="triangle" w="lg" len="lg"/>
          </a:ln>
        </p:spPr>
      </p:cxnSp>
      <p:cxnSp>
        <p:nvCxnSpPr>
          <p:cNvPr id="132" name="Shape 132"/>
          <p:cNvCxnSpPr/>
          <p:nvPr/>
        </p:nvCxnSpPr>
        <p:spPr>
          <a:xfrm>
            <a:off x="8745350" y="4210700"/>
            <a:ext cx="0" cy="822300"/>
          </a:xfrm>
          <a:prstGeom prst="straightConnector1">
            <a:avLst/>
          </a:prstGeom>
          <a:noFill/>
          <a:ln w="9525" cap="flat" cmpd="sng">
            <a:solidFill>
              <a:schemeClr val="dk2"/>
            </a:solidFill>
            <a:prstDash val="solid"/>
            <a:round/>
            <a:headEnd type="none" w="lg" len="lg"/>
            <a:tailEnd type="triangle" w="lg" len="lg"/>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Shape 137"/>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dirty="0"/>
              <a:t>Vulnerable Program</a:t>
            </a:r>
          </a:p>
        </p:txBody>
      </p:sp>
      <p:sp>
        <p:nvSpPr>
          <p:cNvPr id="138" name="Shape 138"/>
          <p:cNvSpPr txBox="1">
            <a:spLocks noGrp="1"/>
          </p:cNvSpPr>
          <p:nvPr>
            <p:ph type="body" idx="1"/>
          </p:nvPr>
        </p:nvSpPr>
        <p:spPr>
          <a:xfrm>
            <a:off x="838200" y="1825625"/>
            <a:ext cx="6685800" cy="4351200"/>
          </a:xfrm>
          <a:prstGeom prst="rect">
            <a:avLst/>
          </a:prstGeom>
        </p:spPr>
        <p:txBody>
          <a:bodyPr wrap="square" lIns="91425" tIns="91425" rIns="91425" bIns="91425" anchor="t" anchorCtr="0">
            <a:noAutofit/>
          </a:bodyPr>
          <a:lstStyle/>
          <a:p>
            <a:pPr marL="228600" lvl="0" indent="-50800">
              <a:spcBef>
                <a:spcPts val="0"/>
              </a:spcBef>
              <a:buNone/>
            </a:pPr>
            <a:endParaRPr/>
          </a:p>
        </p:txBody>
      </p:sp>
      <p:pic>
        <p:nvPicPr>
          <p:cNvPr id="139" name="Shape 139"/>
          <p:cNvPicPr preferRelativeResize="0"/>
          <p:nvPr/>
        </p:nvPicPr>
        <p:blipFill>
          <a:blip r:embed="rId3">
            <a:alphaModFix/>
          </a:blip>
          <a:stretch>
            <a:fillRect/>
          </a:stretch>
        </p:blipFill>
        <p:spPr>
          <a:xfrm>
            <a:off x="838225" y="1825625"/>
            <a:ext cx="6685754" cy="4351200"/>
          </a:xfrm>
          <a:prstGeom prst="rect">
            <a:avLst/>
          </a:prstGeom>
          <a:noFill/>
          <a:ln>
            <a:noFill/>
          </a:ln>
        </p:spPr>
      </p:pic>
      <p:sp>
        <p:nvSpPr>
          <p:cNvPr id="140" name="Shape 140"/>
          <p:cNvSpPr/>
          <p:nvPr/>
        </p:nvSpPr>
        <p:spPr>
          <a:xfrm>
            <a:off x="1428525" y="4463675"/>
            <a:ext cx="1343400" cy="406200"/>
          </a:xfrm>
          <a:prstGeom prst="rect">
            <a:avLst/>
          </a:prstGeom>
          <a:noFill/>
          <a:ln w="28575" cap="flat" cmpd="sng">
            <a:solidFill>
              <a:srgbClr val="FF0000"/>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cxnSp>
        <p:nvCxnSpPr>
          <p:cNvPr id="141" name="Shape 141"/>
          <p:cNvCxnSpPr/>
          <p:nvPr/>
        </p:nvCxnSpPr>
        <p:spPr>
          <a:xfrm rot="10800000">
            <a:off x="2877850" y="4629225"/>
            <a:ext cx="4489500" cy="21600"/>
          </a:xfrm>
          <a:prstGeom prst="straightConnector1">
            <a:avLst/>
          </a:prstGeom>
          <a:noFill/>
          <a:ln w="9525" cap="flat" cmpd="sng">
            <a:solidFill>
              <a:srgbClr val="FF0000"/>
            </a:solidFill>
            <a:prstDash val="solid"/>
            <a:round/>
            <a:headEnd type="none" w="lg" len="lg"/>
            <a:tailEnd type="triangle" w="lg" len="lg"/>
          </a:ln>
        </p:spPr>
      </p:cxnSp>
      <p:sp>
        <p:nvSpPr>
          <p:cNvPr id="142" name="Shape 142"/>
          <p:cNvSpPr txBox="1"/>
          <p:nvPr/>
        </p:nvSpPr>
        <p:spPr>
          <a:xfrm>
            <a:off x="7848400" y="1781450"/>
            <a:ext cx="3999000" cy="4896000"/>
          </a:xfrm>
          <a:prstGeom prst="rect">
            <a:avLst/>
          </a:prstGeom>
          <a:noFill/>
          <a:ln>
            <a:noFill/>
          </a:ln>
        </p:spPr>
        <p:txBody>
          <a:bodyPr wrap="square" lIns="91425" tIns="91425" rIns="91425" bIns="91425" anchor="t" anchorCtr="0">
            <a:noAutofit/>
          </a:bodyPr>
          <a:lstStyle/>
          <a:p>
            <a:pPr marL="457200" lvl="0" indent="-342900">
              <a:spcBef>
                <a:spcPts val="0"/>
              </a:spcBef>
              <a:buSzPts val="1800"/>
              <a:buChar char="●"/>
            </a:pPr>
            <a:r>
              <a:rPr lang="en-US" sz="1800" dirty="0"/>
              <a:t>Reading 300 bytes of data from </a:t>
            </a:r>
            <a:r>
              <a:rPr lang="en-US" sz="1800" dirty="0" err="1"/>
              <a:t>badfile</a:t>
            </a:r>
            <a:r>
              <a:rPr lang="en-US" sz="1800" dirty="0"/>
              <a:t>.</a:t>
            </a:r>
          </a:p>
          <a:p>
            <a:pPr marL="0" lvl="0" indent="0">
              <a:spcBef>
                <a:spcPts val="0"/>
              </a:spcBef>
              <a:buNone/>
            </a:pPr>
            <a:endParaRPr sz="1800" dirty="0"/>
          </a:p>
          <a:p>
            <a:pPr marL="457200" lvl="0" indent="-342900">
              <a:spcBef>
                <a:spcPts val="0"/>
              </a:spcBef>
              <a:buSzPts val="1800"/>
              <a:buChar char="●"/>
            </a:pPr>
            <a:r>
              <a:rPr lang="en-US" sz="1800" dirty="0"/>
              <a:t>Storing the file contents into a </a:t>
            </a:r>
            <a:r>
              <a:rPr lang="en-US" sz="1800" dirty="0" err="1"/>
              <a:t>str</a:t>
            </a:r>
            <a:r>
              <a:rPr lang="en-US" sz="1800" dirty="0"/>
              <a:t> variable of size 400 bytes.</a:t>
            </a:r>
          </a:p>
          <a:p>
            <a:pPr marL="0" lvl="0" indent="0">
              <a:spcBef>
                <a:spcPts val="0"/>
              </a:spcBef>
              <a:buNone/>
            </a:pPr>
            <a:endParaRPr sz="1800" dirty="0"/>
          </a:p>
          <a:p>
            <a:pPr marL="457200" lvl="0" indent="-342900">
              <a:spcBef>
                <a:spcPts val="0"/>
              </a:spcBef>
              <a:buSzPts val="1800"/>
              <a:buChar char="●"/>
            </a:pPr>
            <a:r>
              <a:rPr lang="en-US" sz="1800" dirty="0"/>
              <a:t>Calling foo function with </a:t>
            </a:r>
            <a:r>
              <a:rPr lang="en-US" sz="1800" dirty="0" err="1"/>
              <a:t>str</a:t>
            </a:r>
            <a:r>
              <a:rPr lang="en-US" sz="1800" dirty="0"/>
              <a:t> as an argument.</a:t>
            </a:r>
          </a:p>
          <a:p>
            <a:pPr marL="0" lvl="0" indent="0">
              <a:spcBef>
                <a:spcPts val="0"/>
              </a:spcBef>
              <a:buNone/>
            </a:pPr>
            <a:endParaRPr sz="1800" dirty="0"/>
          </a:p>
          <a:p>
            <a:pPr marL="0" lvl="0" indent="0">
              <a:spcBef>
                <a:spcPts val="0"/>
              </a:spcBef>
              <a:buNone/>
            </a:pPr>
            <a:r>
              <a:rPr lang="en-US" sz="1800" dirty="0"/>
              <a:t>Note : </a:t>
            </a:r>
            <a:r>
              <a:rPr lang="en-US" sz="1800" dirty="0" err="1"/>
              <a:t>Badfile</a:t>
            </a:r>
            <a:r>
              <a:rPr lang="en-US" sz="1800" dirty="0"/>
              <a:t> is created by the user and hence the contents are in control of the user.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Shape 147"/>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Vulnerable Program</a:t>
            </a:r>
          </a:p>
        </p:txBody>
      </p:sp>
      <p:sp>
        <p:nvSpPr>
          <p:cNvPr id="148" name="Shape 148"/>
          <p:cNvSpPr txBox="1">
            <a:spLocks noGrp="1"/>
          </p:cNvSpPr>
          <p:nvPr>
            <p:ph type="body" idx="1"/>
          </p:nvPr>
        </p:nvSpPr>
        <p:spPr>
          <a:xfrm>
            <a:off x="838200" y="1876425"/>
            <a:ext cx="6284100" cy="4300500"/>
          </a:xfrm>
          <a:prstGeom prst="rect">
            <a:avLst/>
          </a:prstGeom>
        </p:spPr>
        <p:txBody>
          <a:bodyPr wrap="square" lIns="91425" tIns="91425" rIns="91425" bIns="91425" anchor="t" anchorCtr="0">
            <a:noAutofit/>
          </a:bodyPr>
          <a:lstStyle/>
          <a:p>
            <a:pPr marL="228600" lvl="0" indent="-50800">
              <a:spcBef>
                <a:spcPts val="0"/>
              </a:spcBef>
              <a:buNone/>
            </a:pPr>
            <a:endParaRPr/>
          </a:p>
        </p:txBody>
      </p:sp>
      <p:pic>
        <p:nvPicPr>
          <p:cNvPr id="149" name="Shape 149"/>
          <p:cNvPicPr preferRelativeResize="0"/>
          <p:nvPr/>
        </p:nvPicPr>
        <p:blipFill>
          <a:blip r:embed="rId3">
            <a:alphaModFix/>
          </a:blip>
          <a:stretch>
            <a:fillRect/>
          </a:stretch>
        </p:blipFill>
        <p:spPr>
          <a:xfrm>
            <a:off x="298975" y="1682625"/>
            <a:ext cx="6823325" cy="4712925"/>
          </a:xfrm>
          <a:prstGeom prst="rect">
            <a:avLst/>
          </a:prstGeom>
          <a:noFill/>
          <a:ln>
            <a:noFill/>
          </a:ln>
        </p:spPr>
      </p:pic>
      <p:pic>
        <p:nvPicPr>
          <p:cNvPr id="150" name="Shape 150"/>
          <p:cNvPicPr preferRelativeResize="0"/>
          <p:nvPr/>
        </p:nvPicPr>
        <p:blipFill>
          <a:blip r:embed="rId4">
            <a:alphaModFix/>
          </a:blip>
          <a:stretch>
            <a:fillRect/>
          </a:stretch>
        </p:blipFill>
        <p:spPr>
          <a:xfrm>
            <a:off x="7122300" y="1670200"/>
            <a:ext cx="5069700" cy="4712925"/>
          </a:xfrm>
          <a:prstGeom prst="rect">
            <a:avLst/>
          </a:prstGeom>
          <a:noFill/>
          <a:ln>
            <a:noFill/>
          </a:ln>
        </p:spPr>
      </p:pic>
      <p:sp>
        <p:nvSpPr>
          <p:cNvPr id="151" name="Shape 151"/>
          <p:cNvSpPr/>
          <p:nvPr/>
        </p:nvSpPr>
        <p:spPr>
          <a:xfrm>
            <a:off x="3077200" y="5272400"/>
            <a:ext cx="895800" cy="123600"/>
          </a:xfrm>
          <a:prstGeom prst="leftArrow">
            <a:avLst>
              <a:gd name="adj1" fmla="val 50000"/>
              <a:gd name="adj2" fmla="val 50000"/>
            </a:avLst>
          </a:prstGeom>
          <a:solidFill>
            <a:srgbClr val="FF0000"/>
          </a:solidFill>
          <a:ln w="9525" cap="flat" cmpd="sng">
            <a:solidFill>
              <a:srgbClr val="FF0000"/>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Consequences of Buffer Overflow</a:t>
            </a:r>
          </a:p>
        </p:txBody>
      </p:sp>
      <p:sp>
        <p:nvSpPr>
          <p:cNvPr id="157" name="Shape 157"/>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228600" lvl="0" indent="-50800">
              <a:spcBef>
                <a:spcPts val="0"/>
              </a:spcBef>
              <a:buNone/>
            </a:pPr>
            <a:r>
              <a:rPr lang="en-US"/>
              <a:t>Overwriting return address with some random address can point to :</a:t>
            </a:r>
          </a:p>
          <a:p>
            <a:pPr marL="228600" lvl="0" indent="-50800">
              <a:spcBef>
                <a:spcPts val="0"/>
              </a:spcBef>
              <a:buNone/>
            </a:pPr>
            <a:endParaRPr/>
          </a:p>
          <a:p>
            <a:pPr marL="457200" lvl="0" indent="-406400">
              <a:spcBef>
                <a:spcPts val="0"/>
              </a:spcBef>
              <a:spcAft>
                <a:spcPts val="0"/>
              </a:spcAft>
              <a:buSzPts val="2800"/>
              <a:buChar char="•"/>
            </a:pPr>
            <a:r>
              <a:rPr lang="en-US"/>
              <a:t>Invalid instruction</a:t>
            </a:r>
          </a:p>
          <a:p>
            <a:pPr marL="457200" lvl="0" indent="-406400">
              <a:spcBef>
                <a:spcPts val="0"/>
              </a:spcBef>
              <a:spcAft>
                <a:spcPts val="0"/>
              </a:spcAft>
              <a:buSzPts val="2800"/>
              <a:buChar char="•"/>
            </a:pPr>
            <a:r>
              <a:rPr lang="en-US"/>
              <a:t>Non-existing address</a:t>
            </a:r>
          </a:p>
          <a:p>
            <a:pPr marL="457200" lvl="0" indent="-406400">
              <a:spcBef>
                <a:spcPts val="0"/>
              </a:spcBef>
              <a:spcAft>
                <a:spcPts val="0"/>
              </a:spcAft>
              <a:buSzPts val="2800"/>
              <a:buChar char="•"/>
            </a:pPr>
            <a:r>
              <a:rPr lang="en-US"/>
              <a:t>Access violation</a:t>
            </a:r>
          </a:p>
          <a:p>
            <a:pPr marL="457200" lvl="0" indent="-406400">
              <a:spcBef>
                <a:spcPts val="0"/>
              </a:spcBef>
              <a:buClr>
                <a:srgbClr val="FF0000"/>
              </a:buClr>
              <a:buSzPts val="2800"/>
              <a:buChar char="•"/>
            </a:pPr>
            <a:r>
              <a:rPr lang="en-US">
                <a:solidFill>
                  <a:srgbClr val="FF0000"/>
                </a:solidFill>
              </a:rPr>
              <a:t>Attacker’s code                   Malicious code to gain access</a:t>
            </a:r>
          </a:p>
          <a:p>
            <a:pPr marL="228600" lvl="0" indent="-50800">
              <a:spcBef>
                <a:spcPts val="0"/>
              </a:spcBef>
              <a:buNone/>
            </a:pPr>
            <a:endParaRPr/>
          </a:p>
          <a:p>
            <a:pPr marL="177800" lvl="0" indent="0" rtl="0">
              <a:spcBef>
                <a:spcPts val="0"/>
              </a:spcBef>
              <a:buNone/>
            </a:pPr>
            <a:endParaRPr/>
          </a:p>
        </p:txBody>
      </p:sp>
      <p:cxnSp>
        <p:nvCxnSpPr>
          <p:cNvPr id="158" name="Shape 158"/>
          <p:cNvCxnSpPr/>
          <p:nvPr/>
        </p:nvCxnSpPr>
        <p:spPr>
          <a:xfrm>
            <a:off x="3780267" y="4029854"/>
            <a:ext cx="1308000" cy="0"/>
          </a:xfrm>
          <a:prstGeom prst="straightConnector1">
            <a:avLst/>
          </a:prstGeom>
          <a:noFill/>
          <a:ln w="9525" cap="flat" cmpd="sng">
            <a:solidFill>
              <a:srgbClr val="FF0000"/>
            </a:solidFill>
            <a:prstDash val="solid"/>
            <a:round/>
            <a:headEnd type="none" w="lg" len="lg"/>
            <a:tailEnd type="triangle" w="lg" len="lg"/>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Shape 163"/>
          <p:cNvSpPr txBox="1">
            <a:spLocks noGrp="1"/>
          </p:cNvSpPr>
          <p:nvPr>
            <p:ph type="title"/>
          </p:nvPr>
        </p:nvSpPr>
        <p:spPr>
          <a:xfrm>
            <a:off x="838200" y="2156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dirty="0"/>
              <a:t>How to Run Malicious Code</a:t>
            </a:r>
          </a:p>
        </p:txBody>
      </p:sp>
      <p:sp>
        <p:nvSpPr>
          <p:cNvPr id="164" name="Shape 164"/>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0" lvl="0" indent="0" rtl="0">
              <a:spcBef>
                <a:spcPts val="0"/>
              </a:spcBef>
              <a:buNone/>
            </a:pPr>
            <a:endParaRPr/>
          </a:p>
        </p:txBody>
      </p:sp>
      <p:pic>
        <p:nvPicPr>
          <p:cNvPr id="165" name="Shape 165"/>
          <p:cNvPicPr preferRelativeResize="0"/>
          <p:nvPr/>
        </p:nvPicPr>
        <p:blipFill>
          <a:blip r:embed="rId3">
            <a:alphaModFix/>
          </a:blip>
          <a:stretch>
            <a:fillRect/>
          </a:stretch>
        </p:blipFill>
        <p:spPr>
          <a:xfrm>
            <a:off x="635350" y="1324100"/>
            <a:ext cx="10718450" cy="5354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Shape 170"/>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Environment Setup</a:t>
            </a:r>
          </a:p>
        </p:txBody>
      </p:sp>
      <p:pic>
        <p:nvPicPr>
          <p:cNvPr id="171" name="Shape 171"/>
          <p:cNvPicPr preferRelativeResize="0"/>
          <p:nvPr/>
        </p:nvPicPr>
        <p:blipFill>
          <a:blip r:embed="rId3">
            <a:alphaModFix/>
          </a:blip>
          <a:stretch>
            <a:fillRect/>
          </a:stretch>
        </p:blipFill>
        <p:spPr>
          <a:xfrm>
            <a:off x="586200" y="1619564"/>
            <a:ext cx="10515599" cy="4351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Shape 176"/>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69850">
              <a:spcBef>
                <a:spcPts val="0"/>
              </a:spcBef>
              <a:buClr>
                <a:schemeClr val="dk1"/>
              </a:buClr>
              <a:buSzPts val="1100"/>
              <a:buFont typeface="Arial"/>
              <a:buNone/>
            </a:pPr>
            <a:r>
              <a:rPr lang="en-US" dirty="0"/>
              <a:t>Creation of The Malicious Input (</a:t>
            </a:r>
            <a:r>
              <a:rPr lang="en-US" dirty="0" err="1"/>
              <a:t>badfile</a:t>
            </a:r>
            <a:r>
              <a:rPr lang="en-US" dirty="0"/>
              <a:t>)</a:t>
            </a:r>
          </a:p>
        </p:txBody>
      </p:sp>
      <p:sp>
        <p:nvSpPr>
          <p:cNvPr id="177" name="Shape 177"/>
          <p:cNvSpPr txBox="1">
            <a:spLocks noGrp="1"/>
          </p:cNvSpPr>
          <p:nvPr>
            <p:ph type="body" idx="1"/>
          </p:nvPr>
        </p:nvSpPr>
        <p:spPr>
          <a:xfrm>
            <a:off x="261625" y="1370350"/>
            <a:ext cx="11412300" cy="5226600"/>
          </a:xfrm>
          <a:prstGeom prst="rect">
            <a:avLst/>
          </a:prstGeom>
        </p:spPr>
        <p:txBody>
          <a:bodyPr wrap="square" lIns="91425" tIns="91425" rIns="91425" bIns="91425" anchor="t" anchorCtr="0">
            <a:noAutofit/>
          </a:bodyPr>
          <a:lstStyle/>
          <a:p>
            <a:pPr marL="228600" lvl="0" indent="-50800">
              <a:spcBef>
                <a:spcPts val="0"/>
              </a:spcBef>
              <a:buNone/>
            </a:pPr>
            <a:r>
              <a:rPr lang="en-US" sz="2400" b="1"/>
              <a:t>Task A :</a:t>
            </a:r>
            <a:r>
              <a:rPr lang="en-US" sz="2400"/>
              <a:t> Find the offset distance between the base of the buffer and return address.</a:t>
            </a:r>
          </a:p>
          <a:p>
            <a:pPr marL="228600" lvl="0" indent="-50800">
              <a:spcBef>
                <a:spcPts val="0"/>
              </a:spcBef>
              <a:buNone/>
            </a:pPr>
            <a:r>
              <a:rPr lang="en-US" sz="2400" b="1"/>
              <a:t>Task B : </a:t>
            </a:r>
            <a:r>
              <a:rPr lang="en-US" sz="2400"/>
              <a:t>Find the address to place the shellcode</a:t>
            </a:r>
          </a:p>
          <a:p>
            <a:pPr marL="228600" lvl="0" indent="-50800">
              <a:spcBef>
                <a:spcPts val="0"/>
              </a:spcBef>
              <a:buNone/>
            </a:pPr>
            <a:endParaRPr sz="2400"/>
          </a:p>
          <a:p>
            <a:pPr marL="0" lvl="0" indent="0" rtl="0">
              <a:spcBef>
                <a:spcPts val="0"/>
              </a:spcBef>
              <a:buNone/>
            </a:pPr>
            <a:endParaRPr sz="2400"/>
          </a:p>
          <a:p>
            <a:pPr marL="0" lvl="0" indent="0" rtl="0">
              <a:spcBef>
                <a:spcPts val="0"/>
              </a:spcBef>
              <a:buNone/>
            </a:pPr>
            <a:endParaRPr sz="2400"/>
          </a:p>
          <a:p>
            <a:pPr marL="0" lvl="0" indent="0">
              <a:spcBef>
                <a:spcPts val="0"/>
              </a:spcBef>
              <a:buNone/>
            </a:pPr>
            <a:endParaRPr sz="2400"/>
          </a:p>
          <a:p>
            <a:pPr marL="0" lvl="0" indent="0">
              <a:spcBef>
                <a:spcPts val="0"/>
              </a:spcBef>
              <a:buNone/>
            </a:pPr>
            <a:endParaRPr sz="2400"/>
          </a:p>
        </p:txBody>
      </p:sp>
      <p:pic>
        <p:nvPicPr>
          <p:cNvPr id="178" name="Shape 178"/>
          <p:cNvPicPr preferRelativeResize="0"/>
          <p:nvPr/>
        </p:nvPicPr>
        <p:blipFill>
          <a:blip r:embed="rId3">
            <a:alphaModFix/>
          </a:blip>
          <a:stretch>
            <a:fillRect/>
          </a:stretch>
        </p:blipFill>
        <p:spPr>
          <a:xfrm>
            <a:off x="529450" y="3350000"/>
            <a:ext cx="6092225" cy="1967275"/>
          </a:xfrm>
          <a:prstGeom prst="rect">
            <a:avLst/>
          </a:prstGeom>
          <a:noFill/>
          <a:ln>
            <a:noFill/>
          </a:ln>
        </p:spPr>
      </p:pic>
      <p:pic>
        <p:nvPicPr>
          <p:cNvPr id="179" name="Shape 179"/>
          <p:cNvPicPr preferRelativeResize="0"/>
          <p:nvPr/>
        </p:nvPicPr>
        <p:blipFill>
          <a:blip r:embed="rId4">
            <a:alphaModFix/>
          </a:blip>
          <a:stretch>
            <a:fillRect/>
          </a:stretch>
        </p:blipFill>
        <p:spPr>
          <a:xfrm>
            <a:off x="6845925" y="2070325"/>
            <a:ext cx="4420600" cy="4526625"/>
          </a:xfrm>
          <a:prstGeom prst="rect">
            <a:avLst/>
          </a:prstGeom>
          <a:noFill/>
          <a:ln>
            <a:noFill/>
          </a:ln>
        </p:spPr>
      </p:pic>
      <p:pic>
        <p:nvPicPr>
          <p:cNvPr id="180" name="Shape 180"/>
          <p:cNvPicPr preferRelativeResize="0"/>
          <p:nvPr/>
        </p:nvPicPr>
        <p:blipFill>
          <a:blip r:embed="rId5">
            <a:alphaModFix/>
          </a:blip>
          <a:stretch>
            <a:fillRect/>
          </a:stretch>
        </p:blipFill>
        <p:spPr>
          <a:xfrm>
            <a:off x="10584800" y="3452999"/>
            <a:ext cx="1548475" cy="1061325"/>
          </a:xfrm>
          <a:prstGeom prst="rect">
            <a:avLst/>
          </a:prstGeom>
          <a:noFill/>
          <a:ln>
            <a:noFill/>
          </a:ln>
        </p:spPr>
      </p:pic>
      <p:cxnSp>
        <p:nvCxnSpPr>
          <p:cNvPr id="181" name="Shape 181"/>
          <p:cNvCxnSpPr/>
          <p:nvPr/>
        </p:nvCxnSpPr>
        <p:spPr>
          <a:xfrm rot="10800000">
            <a:off x="10210400" y="3983663"/>
            <a:ext cx="374400" cy="0"/>
          </a:xfrm>
          <a:prstGeom prst="straightConnector1">
            <a:avLst/>
          </a:prstGeom>
          <a:noFill/>
          <a:ln w="19050" cap="flat" cmpd="sng">
            <a:solidFill>
              <a:schemeClr val="dk2"/>
            </a:solidFill>
            <a:prstDash val="solid"/>
            <a:round/>
            <a:headEnd type="none" w="lg" len="lg"/>
            <a:tailEnd type="triangle" w="lg" len="lg"/>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Shape 186"/>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228600" lvl="0" indent="-120650" rtl="0">
              <a:spcBef>
                <a:spcPts val="1000"/>
              </a:spcBef>
              <a:buClr>
                <a:schemeClr val="dk1"/>
              </a:buClr>
              <a:buSzPts val="1100"/>
              <a:buFont typeface="Arial"/>
              <a:buNone/>
            </a:pPr>
            <a:r>
              <a:rPr lang="en-US" dirty="0">
                <a:latin typeface="Arial"/>
                <a:ea typeface="Arial"/>
                <a:cs typeface="Arial"/>
                <a:sym typeface="Arial"/>
              </a:rPr>
              <a:t>Task A : Distance Between Buffer Base Address and Return Address</a:t>
            </a:r>
          </a:p>
        </p:txBody>
      </p:sp>
      <p:pic>
        <p:nvPicPr>
          <p:cNvPr id="3" name="Picture 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401" y="1842866"/>
            <a:ext cx="7914073" cy="2788769"/>
          </a:xfrm>
          <a:prstGeom prst="rect">
            <a:avLst/>
          </a:prstGeom>
        </p:spPr>
      </p:pic>
      <p:pic>
        <p:nvPicPr>
          <p:cNvPr id="4" name="Picture 3"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8401" y="4783675"/>
            <a:ext cx="4060556" cy="1722905"/>
          </a:xfrm>
          <a:prstGeom prst="rect">
            <a:avLst/>
          </a:prstGeom>
        </p:spPr>
      </p:pic>
      <p:sp>
        <p:nvSpPr>
          <p:cNvPr id="5" name="TextBox 4"/>
          <p:cNvSpPr txBox="1"/>
          <p:nvPr/>
        </p:nvSpPr>
        <p:spPr>
          <a:xfrm>
            <a:off x="5559287" y="5854148"/>
            <a:ext cx="4724370" cy="400110"/>
          </a:xfrm>
          <a:prstGeom prst="rect">
            <a:avLst/>
          </a:prstGeom>
          <a:noFill/>
        </p:spPr>
        <p:txBody>
          <a:bodyPr wrap="none" rtlCol="0">
            <a:spAutoFit/>
          </a:bodyPr>
          <a:lstStyle/>
          <a:p>
            <a:r>
              <a:rPr lang="en-US" sz="2000" dirty="0"/>
              <a:t>Therefore, the distance is 108 + 4 = </a:t>
            </a:r>
            <a:r>
              <a:rPr lang="en-US" sz="2000" b="1" dirty="0">
                <a:solidFill>
                  <a:srgbClr val="FF0000"/>
                </a:solidFill>
              </a:rPr>
              <a:t>112</a:t>
            </a:r>
          </a:p>
        </p:txBody>
      </p:sp>
      <p:cxnSp>
        <p:nvCxnSpPr>
          <p:cNvPr id="7" name="Straight Arrow Connector 6"/>
          <p:cNvCxnSpPr>
            <a:stCxn id="5" idx="1"/>
          </p:cNvCxnSpPr>
          <p:nvPr/>
        </p:nvCxnSpPr>
        <p:spPr>
          <a:xfrm flipH="1">
            <a:off x="2295939" y="6054203"/>
            <a:ext cx="3263348" cy="78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Shape 193"/>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dirty="0">
                <a:latin typeface="Arial"/>
                <a:ea typeface="Arial"/>
                <a:cs typeface="Arial"/>
                <a:sym typeface="Arial"/>
              </a:rPr>
              <a:t>Task B : Address of Malicious Code</a:t>
            </a:r>
          </a:p>
        </p:txBody>
      </p:sp>
      <p:sp>
        <p:nvSpPr>
          <p:cNvPr id="194" name="Shape 194"/>
          <p:cNvSpPr txBox="1">
            <a:spLocks noGrp="1"/>
          </p:cNvSpPr>
          <p:nvPr>
            <p:ph type="body" idx="1"/>
          </p:nvPr>
        </p:nvSpPr>
        <p:spPr>
          <a:xfrm>
            <a:off x="838200" y="1825625"/>
            <a:ext cx="4191900" cy="4669200"/>
          </a:xfrm>
          <a:prstGeom prst="rect">
            <a:avLst/>
          </a:prstGeom>
        </p:spPr>
        <p:txBody>
          <a:bodyPr wrap="square" lIns="91425" tIns="91425" rIns="91425" bIns="91425" anchor="t" anchorCtr="0">
            <a:noAutofit/>
          </a:bodyPr>
          <a:lstStyle/>
          <a:p>
            <a:pPr marL="457200" lvl="0" indent="-381000" rtl="0">
              <a:spcBef>
                <a:spcPts val="0"/>
              </a:spcBef>
              <a:buSzPts val="2400"/>
              <a:buChar char="•"/>
            </a:pPr>
            <a:r>
              <a:rPr lang="en-US" sz="2400">
                <a:latin typeface="Arial"/>
                <a:ea typeface="Arial"/>
                <a:cs typeface="Arial"/>
                <a:sym typeface="Arial"/>
              </a:rPr>
              <a:t>Investigation using gdb</a:t>
            </a:r>
          </a:p>
          <a:p>
            <a:pPr marL="0" lvl="0" indent="0" rtl="0">
              <a:spcBef>
                <a:spcPts val="0"/>
              </a:spcBef>
              <a:buNone/>
            </a:pPr>
            <a:endParaRPr sz="2400">
              <a:latin typeface="Arial"/>
              <a:ea typeface="Arial"/>
              <a:cs typeface="Arial"/>
              <a:sym typeface="Arial"/>
            </a:endParaRPr>
          </a:p>
          <a:p>
            <a:pPr marL="457200" lvl="0" indent="-381000" rtl="0">
              <a:spcBef>
                <a:spcPts val="0"/>
              </a:spcBef>
              <a:buSzPts val="2400"/>
              <a:buChar char="•"/>
            </a:pPr>
            <a:r>
              <a:rPr lang="en-US" sz="2400">
                <a:latin typeface="Arial"/>
                <a:ea typeface="Arial"/>
                <a:cs typeface="Arial"/>
                <a:sym typeface="Arial"/>
              </a:rPr>
              <a:t>Malicious code is written in the badfile which is passed as an argument to the vulnerable function.</a:t>
            </a:r>
          </a:p>
          <a:p>
            <a:pPr marL="0" lvl="0" indent="0" rtl="0">
              <a:spcBef>
                <a:spcPts val="0"/>
              </a:spcBef>
              <a:buNone/>
            </a:pPr>
            <a:endParaRPr sz="2400">
              <a:latin typeface="Arial"/>
              <a:ea typeface="Arial"/>
              <a:cs typeface="Arial"/>
              <a:sym typeface="Arial"/>
            </a:endParaRPr>
          </a:p>
          <a:p>
            <a:pPr marL="457200" lvl="0" indent="-381000" rtl="0">
              <a:spcBef>
                <a:spcPts val="0"/>
              </a:spcBef>
              <a:buSzPts val="2400"/>
              <a:buChar char="•"/>
            </a:pPr>
            <a:r>
              <a:rPr lang="en-US" sz="2400">
                <a:latin typeface="Arial"/>
                <a:ea typeface="Arial"/>
                <a:cs typeface="Arial"/>
                <a:sym typeface="Arial"/>
              </a:rPr>
              <a:t>Using gdb, we can find the address of the function argument.</a:t>
            </a:r>
          </a:p>
        </p:txBody>
      </p:sp>
      <p:pic>
        <p:nvPicPr>
          <p:cNvPr id="195" name="Shape 195"/>
          <p:cNvPicPr preferRelativeResize="0"/>
          <p:nvPr/>
        </p:nvPicPr>
        <p:blipFill>
          <a:blip r:embed="rId3">
            <a:alphaModFix/>
          </a:blip>
          <a:stretch>
            <a:fillRect/>
          </a:stretch>
        </p:blipFill>
        <p:spPr>
          <a:xfrm>
            <a:off x="5187400" y="1900788"/>
            <a:ext cx="6410325" cy="2533650"/>
          </a:xfrm>
          <a:prstGeom prst="rect">
            <a:avLst/>
          </a:prstGeom>
          <a:noFill/>
          <a:ln>
            <a:noFill/>
          </a:ln>
        </p:spPr>
      </p:pic>
      <p:pic>
        <p:nvPicPr>
          <p:cNvPr id="196" name="Shape 196"/>
          <p:cNvPicPr preferRelativeResize="0"/>
          <p:nvPr/>
        </p:nvPicPr>
        <p:blipFill>
          <a:blip r:embed="rId4">
            <a:alphaModFix/>
          </a:blip>
          <a:stretch>
            <a:fillRect/>
          </a:stretch>
        </p:blipFill>
        <p:spPr>
          <a:xfrm>
            <a:off x="5187400" y="4644425"/>
            <a:ext cx="6410326" cy="1850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Shape 201"/>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69850">
              <a:spcBef>
                <a:spcPts val="0"/>
              </a:spcBef>
              <a:buClr>
                <a:schemeClr val="dk1"/>
              </a:buClr>
              <a:buSzPts val="1100"/>
              <a:buFont typeface="Arial"/>
              <a:buNone/>
            </a:pPr>
            <a:r>
              <a:rPr lang="en-US" dirty="0">
                <a:latin typeface="+mj-lt"/>
              </a:rPr>
              <a:t>Task B : Address of Malicious Code</a:t>
            </a:r>
          </a:p>
        </p:txBody>
      </p:sp>
      <p:pic>
        <p:nvPicPr>
          <p:cNvPr id="202" name="Shape 202"/>
          <p:cNvPicPr preferRelativeResize="0"/>
          <p:nvPr/>
        </p:nvPicPr>
        <p:blipFill>
          <a:blip r:embed="rId3">
            <a:alphaModFix/>
          </a:blip>
          <a:stretch>
            <a:fillRect/>
          </a:stretch>
        </p:blipFill>
        <p:spPr>
          <a:xfrm>
            <a:off x="5862825" y="2786525"/>
            <a:ext cx="6329175" cy="3698275"/>
          </a:xfrm>
          <a:prstGeom prst="rect">
            <a:avLst/>
          </a:prstGeom>
          <a:noFill/>
          <a:ln>
            <a:noFill/>
          </a:ln>
        </p:spPr>
      </p:pic>
      <p:sp>
        <p:nvSpPr>
          <p:cNvPr id="203" name="Shape 203"/>
          <p:cNvSpPr txBox="1">
            <a:spLocks noGrp="1"/>
          </p:cNvSpPr>
          <p:nvPr>
            <p:ph type="body" idx="1"/>
          </p:nvPr>
        </p:nvSpPr>
        <p:spPr>
          <a:xfrm>
            <a:off x="838200" y="1864200"/>
            <a:ext cx="5441700" cy="4776600"/>
          </a:xfrm>
          <a:prstGeom prst="rect">
            <a:avLst/>
          </a:prstGeom>
        </p:spPr>
        <p:txBody>
          <a:bodyPr wrap="square" lIns="91425" tIns="91425" rIns="91425" bIns="91425" anchor="t" anchorCtr="0">
            <a:noAutofit/>
          </a:bodyPr>
          <a:lstStyle/>
          <a:p>
            <a:pPr marL="50800" lvl="0" indent="0" rtl="0">
              <a:spcBef>
                <a:spcPts val="0"/>
              </a:spcBef>
              <a:spcAft>
                <a:spcPts val="0"/>
              </a:spcAft>
              <a:buSzPts val="2800"/>
              <a:buNone/>
            </a:pPr>
            <a:endParaRPr lang="en-US" sz="2400" dirty="0">
              <a:latin typeface="Arial"/>
              <a:ea typeface="Arial"/>
              <a:cs typeface="Arial"/>
              <a:sym typeface="Arial"/>
            </a:endParaRPr>
          </a:p>
          <a:p>
            <a:pPr marL="457200" lvl="0" indent="-406400" rtl="0">
              <a:spcBef>
                <a:spcPts val="0"/>
              </a:spcBef>
              <a:buSzPts val="2800"/>
              <a:buChar char="•"/>
            </a:pPr>
            <a:r>
              <a:rPr lang="en-US" sz="2400" dirty="0">
                <a:latin typeface="Arial"/>
                <a:ea typeface="Arial"/>
                <a:cs typeface="Arial"/>
                <a:sym typeface="Arial"/>
              </a:rPr>
              <a:t>To increase the chances of jumping to the correct address, of the malicious code, we can fill the </a:t>
            </a:r>
            <a:r>
              <a:rPr lang="en-US" sz="2400" dirty="0" err="1">
                <a:latin typeface="Arial"/>
                <a:ea typeface="Arial"/>
                <a:cs typeface="Arial"/>
                <a:sym typeface="Arial"/>
              </a:rPr>
              <a:t>badfile</a:t>
            </a:r>
            <a:r>
              <a:rPr lang="en-US" sz="2400" dirty="0">
                <a:latin typeface="Arial"/>
                <a:ea typeface="Arial"/>
                <a:cs typeface="Arial"/>
                <a:sym typeface="Arial"/>
              </a:rPr>
              <a:t> with NOP instructions and place the malicious code at the end of the buffer. </a:t>
            </a:r>
          </a:p>
          <a:p>
            <a:pPr marL="0" lvl="0" indent="0" rtl="0">
              <a:spcBef>
                <a:spcPts val="0"/>
              </a:spcBef>
              <a:buNone/>
            </a:pPr>
            <a:endParaRPr lang="en-US" sz="2400" i="1" dirty="0">
              <a:latin typeface="Arial"/>
              <a:ea typeface="Arial"/>
              <a:cs typeface="Arial"/>
              <a:sym typeface="Arial"/>
            </a:endParaRPr>
          </a:p>
          <a:p>
            <a:pPr marL="0" lvl="0" indent="0" rtl="0">
              <a:spcBef>
                <a:spcPts val="0"/>
              </a:spcBef>
              <a:buNone/>
            </a:pPr>
            <a:r>
              <a:rPr lang="en-US" sz="2400" i="1" dirty="0">
                <a:latin typeface="Arial"/>
                <a:ea typeface="Arial"/>
                <a:cs typeface="Arial"/>
                <a:sym typeface="Arial"/>
              </a:rPr>
              <a:t>Note : NOP- Instruction that does nothing.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a:t>
            </a:r>
            <a:r>
              <a:rPr lang="en-US" dirty="0" err="1"/>
              <a:t>badfile</a:t>
            </a:r>
            <a:endParaRPr lang="en-US" dirty="0"/>
          </a:p>
        </p:txBody>
      </p:sp>
      <p:pic>
        <p:nvPicPr>
          <p:cNvPr id="6" name="Picture 5"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8130" y="1673914"/>
            <a:ext cx="8064399" cy="4736367"/>
          </a:xfrm>
          <a:prstGeom prst="rect">
            <a:avLst/>
          </a:prstGeom>
        </p:spPr>
      </p:pic>
    </p:spTree>
    <p:extLst>
      <p:ext uri="{BB962C8B-B14F-4D97-AF65-F5344CB8AC3E}">
        <p14:creationId xmlns:p14="http://schemas.microsoft.com/office/powerpoint/2010/main" val="3446267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5168" y="1843984"/>
            <a:ext cx="8773852" cy="4129433"/>
          </a:xfrm>
          <a:prstGeom prst="rect">
            <a:avLst/>
          </a:prstGeom>
        </p:spPr>
      </p:pic>
      <p:sp>
        <p:nvSpPr>
          <p:cNvPr id="208" name="Shape 208"/>
          <p:cNvSpPr txBox="1">
            <a:spLocks noGrp="1"/>
          </p:cNvSpPr>
          <p:nvPr>
            <p:ph type="title"/>
          </p:nvPr>
        </p:nvSpPr>
        <p:spPr>
          <a:xfrm>
            <a:off x="775700" y="11517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Badfile Construction</a:t>
            </a:r>
          </a:p>
        </p:txBody>
      </p:sp>
      <p:cxnSp>
        <p:nvCxnSpPr>
          <p:cNvPr id="210" name="Shape 210"/>
          <p:cNvCxnSpPr>
            <a:stCxn id="211" idx="2"/>
          </p:cNvCxnSpPr>
          <p:nvPr/>
        </p:nvCxnSpPr>
        <p:spPr>
          <a:xfrm>
            <a:off x="3369375" y="4326000"/>
            <a:ext cx="0" cy="0"/>
          </a:xfrm>
          <a:prstGeom prst="straightConnector1">
            <a:avLst/>
          </a:prstGeom>
          <a:noFill/>
          <a:ln w="9525" cap="flat" cmpd="sng">
            <a:solidFill>
              <a:schemeClr val="dk2"/>
            </a:solidFill>
            <a:prstDash val="solid"/>
            <a:round/>
            <a:headEnd type="none" w="lg" len="lg"/>
            <a:tailEnd type="none" w="lg" len="lg"/>
          </a:ln>
        </p:spPr>
      </p:cxnSp>
      <p:cxnSp>
        <p:nvCxnSpPr>
          <p:cNvPr id="212" name="Shape 212"/>
          <p:cNvCxnSpPr>
            <a:stCxn id="211" idx="2"/>
            <a:endCxn id="211" idx="2"/>
          </p:cNvCxnSpPr>
          <p:nvPr/>
        </p:nvCxnSpPr>
        <p:spPr>
          <a:xfrm>
            <a:off x="3369375" y="4326000"/>
            <a:ext cx="0" cy="0"/>
          </a:xfrm>
          <a:prstGeom prst="straightConnector1">
            <a:avLst/>
          </a:prstGeom>
          <a:noFill/>
          <a:ln w="9525" cap="flat" cmpd="sng">
            <a:solidFill>
              <a:schemeClr val="dk2"/>
            </a:solidFill>
            <a:prstDash val="solid"/>
            <a:round/>
            <a:headEnd type="none" w="lg" len="lg"/>
            <a:tailEnd type="none" w="lg" len="lg"/>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Shape 226"/>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New Address in Return Address</a:t>
            </a:r>
          </a:p>
        </p:txBody>
      </p:sp>
      <p:sp>
        <p:nvSpPr>
          <p:cNvPr id="227" name="Shape 227"/>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228600" lvl="0" indent="-50800">
              <a:spcBef>
                <a:spcPts val="0"/>
              </a:spcBef>
              <a:buNone/>
            </a:pPr>
            <a:r>
              <a:rPr lang="en-US" b="1" dirty="0">
                <a:latin typeface="Arial"/>
                <a:ea typeface="Arial"/>
                <a:cs typeface="Arial"/>
                <a:sym typeface="Arial"/>
              </a:rPr>
              <a:t>Considerations :</a:t>
            </a:r>
          </a:p>
          <a:p>
            <a:pPr marL="228600" lvl="0" indent="-50800">
              <a:spcBef>
                <a:spcPts val="0"/>
              </a:spcBef>
              <a:buNone/>
            </a:pPr>
            <a:endParaRPr lang="en-US" b="1" dirty="0">
              <a:latin typeface="Arial"/>
              <a:ea typeface="Arial"/>
              <a:cs typeface="Arial"/>
              <a:sym typeface="Arial"/>
            </a:endParaRPr>
          </a:p>
          <a:p>
            <a:pPr marL="177800" indent="0">
              <a:spcBef>
                <a:spcPts val="0"/>
              </a:spcBef>
              <a:buNone/>
            </a:pPr>
            <a:r>
              <a:rPr lang="en-US" dirty="0">
                <a:latin typeface="Arial"/>
                <a:ea typeface="Arial"/>
                <a:cs typeface="Arial"/>
                <a:sym typeface="Arial"/>
              </a:rPr>
              <a:t>The new address in the return address of function stack [</a:t>
            </a:r>
            <a:r>
              <a:rPr lang="en-US" dirty="0">
                <a:latin typeface="Courier New" panose="02070309020205020404" pitchFamily="49" charset="0"/>
                <a:ea typeface="Arial"/>
                <a:cs typeface="Courier New" panose="02070309020205020404" pitchFamily="49" charset="0"/>
                <a:sym typeface="Arial"/>
              </a:rPr>
              <a:t>0xbffff188 + </a:t>
            </a:r>
            <a:r>
              <a:rPr lang="en-US" dirty="0" err="1">
                <a:latin typeface="Courier New" panose="02070309020205020404" pitchFamily="49" charset="0"/>
                <a:ea typeface="Arial"/>
                <a:cs typeface="Courier New" panose="02070309020205020404" pitchFamily="49" charset="0"/>
                <a:sym typeface="Arial"/>
              </a:rPr>
              <a:t>nnn</a:t>
            </a:r>
            <a:r>
              <a:rPr lang="en-US" dirty="0">
                <a:latin typeface="Arial"/>
                <a:ea typeface="Arial"/>
                <a:cs typeface="Arial"/>
                <a:sym typeface="Arial"/>
              </a:rPr>
              <a:t>] should not contain zero in any of its byte, or the </a:t>
            </a:r>
            <a:r>
              <a:rPr lang="en-US" dirty="0" err="1">
                <a:latin typeface="Arial"/>
                <a:ea typeface="Arial"/>
                <a:cs typeface="Arial"/>
                <a:sym typeface="Arial"/>
              </a:rPr>
              <a:t>badfile</a:t>
            </a:r>
            <a:r>
              <a:rPr lang="en-US" dirty="0">
                <a:latin typeface="Arial"/>
                <a:ea typeface="Arial"/>
                <a:cs typeface="Arial"/>
                <a:sym typeface="Arial"/>
              </a:rPr>
              <a:t> will have a zero causing </a:t>
            </a:r>
            <a:r>
              <a:rPr lang="en-US" dirty="0" err="1">
                <a:latin typeface="Courier New" panose="02070309020205020404" pitchFamily="49" charset="0"/>
                <a:ea typeface="Arial"/>
                <a:cs typeface="Courier New" panose="02070309020205020404" pitchFamily="49" charset="0"/>
                <a:sym typeface="Arial"/>
              </a:rPr>
              <a:t>strcpy</a:t>
            </a:r>
            <a:r>
              <a:rPr lang="en-US" dirty="0">
                <a:latin typeface="Courier New" panose="02070309020205020404" pitchFamily="49" charset="0"/>
                <a:ea typeface="Arial"/>
                <a:cs typeface="Courier New" panose="02070309020205020404" pitchFamily="49" charset="0"/>
                <a:sym typeface="Arial"/>
              </a:rPr>
              <a:t>() </a:t>
            </a:r>
            <a:r>
              <a:rPr lang="en-US" dirty="0">
                <a:latin typeface="Arial"/>
                <a:ea typeface="Arial"/>
                <a:cs typeface="Arial"/>
                <a:sym typeface="Arial"/>
              </a:rPr>
              <a:t>to end copying.</a:t>
            </a:r>
          </a:p>
          <a:p>
            <a:pPr>
              <a:spcBef>
                <a:spcPts val="0"/>
              </a:spcBef>
            </a:pPr>
            <a:endParaRPr dirty="0">
              <a:latin typeface="Arial"/>
              <a:ea typeface="Arial"/>
              <a:cs typeface="Arial"/>
              <a:sym typeface="Arial"/>
            </a:endParaRPr>
          </a:p>
          <a:p>
            <a:pPr marL="177800" indent="0">
              <a:spcBef>
                <a:spcPts val="0"/>
              </a:spcBef>
              <a:buNone/>
            </a:pPr>
            <a:r>
              <a:rPr lang="en-US" i="1" dirty="0">
                <a:latin typeface="Arial"/>
                <a:ea typeface="Arial"/>
                <a:cs typeface="Arial"/>
                <a:sym typeface="Arial"/>
              </a:rPr>
              <a:t>e.g., </a:t>
            </a:r>
            <a:r>
              <a:rPr lang="en-US" i="1" dirty="0">
                <a:latin typeface="Courier New" panose="02070309020205020404" pitchFamily="49" charset="0"/>
                <a:ea typeface="Arial"/>
                <a:cs typeface="Courier New" panose="02070309020205020404" pitchFamily="49" charset="0"/>
                <a:sym typeface="Arial"/>
              </a:rPr>
              <a:t>0xbffff188 + 0x78 = 0xbffff200</a:t>
            </a:r>
            <a:r>
              <a:rPr lang="en-US" i="1" dirty="0">
                <a:latin typeface="Arial"/>
                <a:ea typeface="Arial"/>
                <a:cs typeface="Arial"/>
                <a:sym typeface="Arial"/>
              </a:rPr>
              <a:t>, </a:t>
            </a:r>
            <a:r>
              <a:rPr lang="en-US" dirty="0">
                <a:latin typeface="Arial"/>
                <a:ea typeface="Arial"/>
                <a:cs typeface="Arial"/>
                <a:sym typeface="Arial"/>
              </a:rPr>
              <a:t>the last byte contains zero leading to end copy.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Shape 232"/>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a:ea typeface="Arial"/>
                <a:cs typeface="Arial"/>
                <a:sym typeface="Arial"/>
              </a:rPr>
              <a:t>Execution Results</a:t>
            </a:r>
          </a:p>
        </p:txBody>
      </p:sp>
      <p:sp>
        <p:nvSpPr>
          <p:cNvPr id="233" name="Shape 233"/>
          <p:cNvSpPr txBox="1">
            <a:spLocks noGrp="1"/>
          </p:cNvSpPr>
          <p:nvPr>
            <p:ph type="body" idx="1"/>
          </p:nvPr>
        </p:nvSpPr>
        <p:spPr>
          <a:xfrm>
            <a:off x="353775" y="1825625"/>
            <a:ext cx="11437200" cy="4781400"/>
          </a:xfrm>
          <a:prstGeom prst="rect">
            <a:avLst/>
          </a:prstGeom>
        </p:spPr>
        <p:txBody>
          <a:bodyPr wrap="square" lIns="91425" tIns="91425" rIns="91425" bIns="91425" anchor="t" anchorCtr="0">
            <a:noAutofit/>
          </a:bodyPr>
          <a:lstStyle/>
          <a:p>
            <a:pPr marL="457200" lvl="0" indent="-406400" rtl="0">
              <a:spcBef>
                <a:spcPts val="0"/>
              </a:spcBef>
              <a:buSzPts val="2800"/>
              <a:buChar char="•"/>
            </a:pPr>
            <a:r>
              <a:rPr lang="en-US" dirty="0">
                <a:latin typeface="Arial"/>
                <a:ea typeface="Arial"/>
                <a:cs typeface="Arial"/>
                <a:sym typeface="Arial"/>
              </a:rPr>
              <a:t>Compiling the vulnerable code with all the countermeasures disabled. </a:t>
            </a:r>
          </a:p>
          <a:p>
            <a:pPr marL="0" lvl="0" indent="0" rtl="0">
              <a:spcBef>
                <a:spcPts val="0"/>
              </a:spcBef>
              <a:buNone/>
            </a:pPr>
            <a:endParaRPr dirty="0">
              <a:latin typeface="Arial"/>
              <a:ea typeface="Arial"/>
              <a:cs typeface="Arial"/>
              <a:sym typeface="Arial"/>
            </a:endParaRPr>
          </a:p>
          <a:p>
            <a:pPr marL="0" lvl="0" indent="0" rtl="0">
              <a:spcBef>
                <a:spcPts val="0"/>
              </a:spcBef>
              <a:buNone/>
            </a:pPr>
            <a:endParaRPr lang="en-US" dirty="0">
              <a:latin typeface="Arial"/>
              <a:ea typeface="Arial"/>
              <a:cs typeface="Arial"/>
              <a:sym typeface="Arial"/>
            </a:endParaRPr>
          </a:p>
          <a:p>
            <a:pPr marL="0" lvl="0" indent="0" rtl="0">
              <a:spcBef>
                <a:spcPts val="0"/>
              </a:spcBef>
              <a:buNone/>
            </a:pPr>
            <a:endParaRPr dirty="0">
              <a:latin typeface="Arial"/>
              <a:ea typeface="Arial"/>
              <a:cs typeface="Arial"/>
              <a:sym typeface="Arial"/>
            </a:endParaRPr>
          </a:p>
          <a:p>
            <a:pPr marL="457200" lvl="0" indent="-406400">
              <a:spcBef>
                <a:spcPts val="0"/>
              </a:spcBef>
              <a:buSzPts val="2800"/>
              <a:buFont typeface="Arial"/>
              <a:buChar char="•"/>
            </a:pPr>
            <a:endParaRPr lang="en-US" dirty="0">
              <a:latin typeface="Arial"/>
              <a:ea typeface="Arial"/>
              <a:cs typeface="Arial"/>
              <a:sym typeface="Arial"/>
            </a:endParaRPr>
          </a:p>
          <a:p>
            <a:pPr marL="457200" lvl="0" indent="-406400">
              <a:spcBef>
                <a:spcPts val="0"/>
              </a:spcBef>
              <a:buSzPts val="2800"/>
              <a:buFont typeface="Arial"/>
              <a:buChar char="•"/>
            </a:pPr>
            <a:r>
              <a:rPr lang="en-US" dirty="0">
                <a:latin typeface="Arial"/>
                <a:ea typeface="Arial"/>
                <a:cs typeface="Arial"/>
                <a:sym typeface="Arial"/>
              </a:rPr>
              <a:t>Executing the exploit code and stack code.</a:t>
            </a:r>
          </a:p>
          <a:p>
            <a:pPr marL="177800" lvl="0" indent="0">
              <a:spcBef>
                <a:spcPts val="0"/>
              </a:spcBef>
              <a:buNone/>
            </a:pPr>
            <a:endParaRPr dirty="0"/>
          </a:p>
        </p:txBody>
      </p:sp>
      <p:pic>
        <p:nvPicPr>
          <p:cNvPr id="235" name="Shape 235"/>
          <p:cNvPicPr preferRelativeResize="0"/>
          <p:nvPr/>
        </p:nvPicPr>
        <p:blipFill>
          <a:blip r:embed="rId3">
            <a:alphaModFix/>
          </a:blip>
          <a:stretch>
            <a:fillRect/>
          </a:stretch>
        </p:blipFill>
        <p:spPr>
          <a:xfrm>
            <a:off x="838200" y="2769542"/>
            <a:ext cx="10622850" cy="1014425"/>
          </a:xfrm>
          <a:prstGeom prst="rect">
            <a:avLst/>
          </a:prstGeom>
          <a:noFill/>
          <a:ln>
            <a:noFill/>
          </a:ln>
        </p:spPr>
      </p:pic>
      <p:pic>
        <p:nvPicPr>
          <p:cNvPr id="2" name="Picture 1"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7804" y="4829016"/>
            <a:ext cx="8365343" cy="162045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Note on Countermeasure</a:t>
            </a:r>
          </a:p>
        </p:txBody>
      </p:sp>
      <p:sp>
        <p:nvSpPr>
          <p:cNvPr id="3" name="Text Placeholder 2"/>
          <p:cNvSpPr>
            <a:spLocks noGrp="1"/>
          </p:cNvSpPr>
          <p:nvPr>
            <p:ph type="body" idx="1"/>
          </p:nvPr>
        </p:nvSpPr>
        <p:spPr/>
        <p:txBody>
          <a:bodyPr/>
          <a:lstStyle/>
          <a:p>
            <a:pPr marL="396875" indent="-219075"/>
            <a:r>
              <a:rPr lang="en-US" dirty="0"/>
              <a:t>On Ubuntu16.04, /bin/</a:t>
            </a:r>
            <a:r>
              <a:rPr lang="en-US" dirty="0" err="1"/>
              <a:t>sh</a:t>
            </a:r>
            <a:r>
              <a:rPr lang="en-US" dirty="0"/>
              <a:t> points to /bin/dash, which has a countermeasure</a:t>
            </a:r>
          </a:p>
          <a:p>
            <a:pPr lvl="1"/>
            <a:r>
              <a:rPr lang="en-US" dirty="0"/>
              <a:t> It drops privileges when being executed inside a </a:t>
            </a:r>
            <a:r>
              <a:rPr lang="en-US" dirty="0" err="1"/>
              <a:t>setuid</a:t>
            </a:r>
            <a:r>
              <a:rPr lang="en-US" dirty="0"/>
              <a:t> process</a:t>
            </a:r>
          </a:p>
          <a:p>
            <a:pPr marL="396875" indent="-219075"/>
            <a:r>
              <a:rPr lang="en-US" dirty="0"/>
              <a:t>Point /bin/</a:t>
            </a:r>
            <a:r>
              <a:rPr lang="en-US" dirty="0" err="1"/>
              <a:t>sh</a:t>
            </a:r>
            <a:r>
              <a:rPr lang="en-US" dirty="0"/>
              <a:t> to another shell (simplify the attack)</a:t>
            </a:r>
          </a:p>
          <a:p>
            <a:pPr marL="177800" indent="0">
              <a:buNone/>
            </a:pPr>
            <a:endParaRPr lang="en-US" dirty="0"/>
          </a:p>
          <a:p>
            <a:pPr marL="396875" indent="-219075"/>
            <a:r>
              <a:rPr lang="en-US" dirty="0"/>
              <a:t>Change the </a:t>
            </a:r>
            <a:r>
              <a:rPr lang="en-US" dirty="0" err="1"/>
              <a:t>shellcode</a:t>
            </a:r>
            <a:r>
              <a:rPr lang="en-US" dirty="0"/>
              <a:t> (defeat this countermeasure)</a:t>
            </a:r>
          </a:p>
          <a:p>
            <a:pPr marL="177800" indent="0">
              <a:buNone/>
            </a:pPr>
            <a:endParaRPr lang="en-US" dirty="0"/>
          </a:p>
          <a:p>
            <a:pPr marL="396875" indent="-219075"/>
            <a:r>
              <a:rPr lang="en-US" dirty="0"/>
              <a:t>Other methods to defeat the countermeasure will be discussed later</a:t>
            </a:r>
          </a:p>
        </p:txBody>
      </p:sp>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5403" y="3772661"/>
            <a:ext cx="5108594" cy="282503"/>
          </a:xfrm>
          <a:prstGeom prst="rect">
            <a:avLst/>
          </a:prstGeom>
        </p:spPr>
      </p:pic>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5403" y="4782641"/>
            <a:ext cx="5532398" cy="415524"/>
          </a:xfrm>
          <a:prstGeom prst="rect">
            <a:avLst/>
          </a:prstGeom>
        </p:spPr>
      </p:pic>
    </p:spTree>
    <p:extLst>
      <p:ext uri="{BB962C8B-B14F-4D97-AF65-F5344CB8AC3E}">
        <p14:creationId xmlns:p14="http://schemas.microsoft.com/office/powerpoint/2010/main" val="3488345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Shape 240"/>
          <p:cNvSpPr txBox="1">
            <a:spLocks noGrp="1"/>
          </p:cNvSpPr>
          <p:nvPr>
            <p:ph type="title"/>
          </p:nvPr>
        </p:nvSpPr>
        <p:spPr>
          <a:xfrm>
            <a:off x="838200" y="85550"/>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a:ea typeface="Arial"/>
                <a:cs typeface="Arial"/>
                <a:sym typeface="Arial"/>
              </a:rPr>
              <a:t>Shellcode</a:t>
            </a:r>
          </a:p>
        </p:txBody>
      </p:sp>
      <p:sp>
        <p:nvSpPr>
          <p:cNvPr id="241" name="Shape 241"/>
          <p:cNvSpPr txBox="1">
            <a:spLocks noGrp="1"/>
          </p:cNvSpPr>
          <p:nvPr>
            <p:ph type="body" idx="1"/>
          </p:nvPr>
        </p:nvSpPr>
        <p:spPr>
          <a:xfrm>
            <a:off x="582000" y="1289875"/>
            <a:ext cx="11232300" cy="5412900"/>
          </a:xfrm>
          <a:prstGeom prst="rect">
            <a:avLst/>
          </a:prstGeom>
        </p:spPr>
        <p:txBody>
          <a:bodyPr wrap="square" lIns="91425" tIns="91425" rIns="91425" bIns="91425" anchor="t" anchorCtr="0">
            <a:noAutofit/>
          </a:bodyPr>
          <a:lstStyle/>
          <a:p>
            <a:pPr marL="228600" lvl="0" indent="-50800">
              <a:spcBef>
                <a:spcPts val="0"/>
              </a:spcBef>
              <a:buNone/>
            </a:pPr>
            <a:r>
              <a:rPr lang="en-US" b="1" dirty="0">
                <a:latin typeface="Arial"/>
                <a:ea typeface="Arial"/>
                <a:cs typeface="Arial"/>
                <a:sym typeface="Arial"/>
              </a:rPr>
              <a:t>Aim of the malicious code : </a:t>
            </a:r>
            <a:r>
              <a:rPr lang="en-US" dirty="0">
                <a:latin typeface="Arial"/>
                <a:ea typeface="Arial"/>
                <a:cs typeface="Arial"/>
                <a:sym typeface="Arial"/>
              </a:rPr>
              <a:t>Allow to run more commands (</a:t>
            </a:r>
            <a:r>
              <a:rPr lang="en-US" dirty="0" err="1">
                <a:latin typeface="Arial"/>
                <a:ea typeface="Arial"/>
                <a:cs typeface="Arial"/>
                <a:sym typeface="Arial"/>
              </a:rPr>
              <a:t>i.e</a:t>
            </a:r>
            <a:r>
              <a:rPr lang="en-US" dirty="0">
                <a:latin typeface="Arial"/>
                <a:ea typeface="Arial"/>
                <a:cs typeface="Arial"/>
                <a:sym typeface="Arial"/>
              </a:rPr>
              <a:t>) to gain access of the system.</a:t>
            </a:r>
          </a:p>
          <a:p>
            <a:pPr marL="228600" lvl="0" indent="-50800">
              <a:spcBef>
                <a:spcPts val="0"/>
              </a:spcBef>
              <a:buNone/>
            </a:pPr>
            <a:endParaRPr lang="en-US" b="1" dirty="0">
              <a:latin typeface="Arial"/>
              <a:ea typeface="Arial"/>
              <a:cs typeface="Arial"/>
              <a:sym typeface="Arial"/>
            </a:endParaRPr>
          </a:p>
          <a:p>
            <a:pPr marL="228600" lvl="0" indent="-50800">
              <a:spcBef>
                <a:spcPts val="0"/>
              </a:spcBef>
              <a:buNone/>
            </a:pPr>
            <a:r>
              <a:rPr lang="en-US" b="1" dirty="0">
                <a:latin typeface="Arial"/>
                <a:ea typeface="Arial"/>
                <a:cs typeface="Arial"/>
                <a:sym typeface="Arial"/>
              </a:rPr>
              <a:t>Solution : </a:t>
            </a:r>
            <a:r>
              <a:rPr lang="en-US" dirty="0">
                <a:latin typeface="Arial"/>
                <a:ea typeface="Arial"/>
                <a:cs typeface="Arial"/>
                <a:sym typeface="Arial"/>
              </a:rPr>
              <a:t>Shell Program</a:t>
            </a:r>
          </a:p>
          <a:p>
            <a:pPr marL="228600" lvl="0" indent="-50800">
              <a:spcBef>
                <a:spcPts val="0"/>
              </a:spcBef>
              <a:buNone/>
            </a:pPr>
            <a:endParaRPr dirty="0">
              <a:latin typeface="Arial"/>
              <a:ea typeface="Arial"/>
              <a:cs typeface="Arial"/>
              <a:sym typeface="Arial"/>
            </a:endParaRPr>
          </a:p>
          <a:p>
            <a:pPr marL="228600" lvl="0" indent="-50800">
              <a:spcBef>
                <a:spcPts val="0"/>
              </a:spcBef>
              <a:buNone/>
            </a:pPr>
            <a:endParaRPr dirty="0">
              <a:latin typeface="Arial"/>
              <a:ea typeface="Arial"/>
              <a:cs typeface="Arial"/>
              <a:sym typeface="Arial"/>
            </a:endParaRPr>
          </a:p>
          <a:p>
            <a:pPr marL="228600" lvl="0" indent="-50800">
              <a:spcBef>
                <a:spcPts val="0"/>
              </a:spcBef>
              <a:buNone/>
            </a:pPr>
            <a:endParaRPr dirty="0">
              <a:latin typeface="Arial"/>
              <a:ea typeface="Arial"/>
              <a:cs typeface="Arial"/>
              <a:sym typeface="Arial"/>
            </a:endParaRPr>
          </a:p>
          <a:p>
            <a:pPr marL="228600" lvl="0" indent="-50800">
              <a:spcBef>
                <a:spcPts val="0"/>
              </a:spcBef>
              <a:buNone/>
            </a:pPr>
            <a:endParaRPr lang="en-US" dirty="0">
              <a:latin typeface="Arial"/>
              <a:ea typeface="Arial"/>
              <a:cs typeface="Arial"/>
              <a:sym typeface="Arial"/>
            </a:endParaRPr>
          </a:p>
          <a:p>
            <a:pPr marL="228600" lvl="0" indent="-50800">
              <a:spcBef>
                <a:spcPts val="0"/>
              </a:spcBef>
              <a:buNone/>
            </a:pPr>
            <a:endParaRPr lang="en-US" dirty="0">
              <a:latin typeface="Arial"/>
              <a:ea typeface="Arial"/>
              <a:cs typeface="Arial"/>
              <a:sym typeface="Arial"/>
            </a:endParaRPr>
          </a:p>
          <a:p>
            <a:pPr marL="228600" lvl="0" indent="-50800">
              <a:spcBef>
                <a:spcPts val="0"/>
              </a:spcBef>
              <a:buNone/>
            </a:pPr>
            <a:endParaRPr dirty="0">
              <a:latin typeface="Arial"/>
              <a:ea typeface="Arial"/>
              <a:cs typeface="Arial"/>
              <a:sym typeface="Arial"/>
            </a:endParaRPr>
          </a:p>
          <a:p>
            <a:pPr marL="228600" lvl="0" indent="-50800">
              <a:spcBef>
                <a:spcPts val="0"/>
              </a:spcBef>
              <a:buNone/>
            </a:pPr>
            <a:r>
              <a:rPr lang="en-US" b="1" dirty="0">
                <a:latin typeface="Arial"/>
                <a:ea typeface="Arial"/>
                <a:cs typeface="Arial"/>
                <a:sym typeface="Arial"/>
              </a:rPr>
              <a:t>Challenges :</a:t>
            </a:r>
          </a:p>
          <a:p>
            <a:pPr marL="914400" lvl="1" indent="-406400">
              <a:spcBef>
                <a:spcPts val="0"/>
              </a:spcBef>
              <a:buSzPts val="2800"/>
            </a:pPr>
            <a:r>
              <a:rPr lang="en-US" dirty="0">
                <a:latin typeface="Arial"/>
                <a:ea typeface="Arial"/>
                <a:cs typeface="Arial"/>
                <a:sym typeface="Arial"/>
              </a:rPr>
              <a:t>Loader Issue						</a:t>
            </a:r>
          </a:p>
          <a:p>
            <a:pPr marL="914400" lvl="1" indent="-406400">
              <a:spcBef>
                <a:spcPts val="0"/>
              </a:spcBef>
              <a:buSzPts val="2800"/>
            </a:pPr>
            <a:r>
              <a:rPr lang="en-US" dirty="0">
                <a:latin typeface="Arial"/>
                <a:ea typeface="Arial"/>
                <a:cs typeface="Arial"/>
                <a:sym typeface="Arial"/>
              </a:rPr>
              <a:t>Zeros in the code</a:t>
            </a:r>
          </a:p>
        </p:txBody>
      </p:sp>
      <p:pic>
        <p:nvPicPr>
          <p:cNvPr id="242" name="Shape 242"/>
          <p:cNvPicPr preferRelativeResize="0"/>
          <p:nvPr/>
        </p:nvPicPr>
        <p:blipFill>
          <a:blip r:embed="rId3">
            <a:alphaModFix/>
          </a:blip>
          <a:stretch>
            <a:fillRect/>
          </a:stretch>
        </p:blipFill>
        <p:spPr>
          <a:xfrm>
            <a:off x="838200" y="2949687"/>
            <a:ext cx="10643701" cy="22146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Shape 247"/>
          <p:cNvSpPr txBox="1">
            <a:spLocks noGrp="1"/>
          </p:cNvSpPr>
          <p:nvPr>
            <p:ph type="title"/>
          </p:nvPr>
        </p:nvSpPr>
        <p:spPr>
          <a:xfrm>
            <a:off x="838200" y="281250"/>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a:ea typeface="Arial"/>
                <a:cs typeface="Arial"/>
                <a:sym typeface="Arial"/>
              </a:rPr>
              <a:t>Shelllcode</a:t>
            </a:r>
          </a:p>
        </p:txBody>
      </p:sp>
      <p:sp>
        <p:nvSpPr>
          <p:cNvPr id="248" name="Shape 248"/>
          <p:cNvSpPr txBox="1">
            <a:spLocks noGrp="1"/>
          </p:cNvSpPr>
          <p:nvPr>
            <p:ph type="body" idx="1"/>
          </p:nvPr>
        </p:nvSpPr>
        <p:spPr>
          <a:xfrm>
            <a:off x="734025" y="1454100"/>
            <a:ext cx="10821600" cy="5201100"/>
          </a:xfrm>
          <a:prstGeom prst="rect">
            <a:avLst/>
          </a:prstGeom>
        </p:spPr>
        <p:txBody>
          <a:bodyPr wrap="square" lIns="91425" tIns="91425" rIns="91425" bIns="91425" anchor="t" anchorCtr="0">
            <a:noAutofit/>
          </a:bodyPr>
          <a:lstStyle/>
          <a:p>
            <a:pPr marL="457200" lvl="0" indent="-406400" rtl="0">
              <a:lnSpc>
                <a:spcPct val="100000"/>
              </a:lnSpc>
              <a:spcBef>
                <a:spcPts val="0"/>
              </a:spcBef>
              <a:spcAft>
                <a:spcPts val="0"/>
              </a:spcAft>
              <a:buSzPts val="2800"/>
              <a:buChar char="•"/>
            </a:pPr>
            <a:r>
              <a:rPr lang="en-US" dirty="0">
                <a:latin typeface="Arial"/>
                <a:ea typeface="Arial"/>
                <a:cs typeface="Arial"/>
                <a:sym typeface="Arial"/>
              </a:rPr>
              <a:t>Assembly code (machine instructions) for launching a shell. </a:t>
            </a:r>
          </a:p>
          <a:p>
            <a:pPr marL="457200" lvl="0" indent="-406400" rtl="0">
              <a:lnSpc>
                <a:spcPct val="100000"/>
              </a:lnSpc>
              <a:spcBef>
                <a:spcPts val="0"/>
              </a:spcBef>
              <a:spcAft>
                <a:spcPts val="0"/>
              </a:spcAft>
              <a:buSzPts val="2800"/>
              <a:buChar char="•"/>
            </a:pPr>
            <a:endParaRPr lang="en-US" dirty="0">
              <a:latin typeface="Arial"/>
              <a:ea typeface="Arial"/>
              <a:cs typeface="Arial"/>
              <a:sym typeface="Arial"/>
            </a:endParaRPr>
          </a:p>
          <a:p>
            <a:pPr marL="457200" lvl="0" indent="-406400">
              <a:spcBef>
                <a:spcPts val="0"/>
              </a:spcBef>
              <a:spcAft>
                <a:spcPts val="0"/>
              </a:spcAft>
              <a:buSzPts val="2800"/>
              <a:buChar char="•"/>
            </a:pPr>
            <a:r>
              <a:rPr lang="en-US" dirty="0">
                <a:latin typeface="Arial"/>
                <a:ea typeface="Arial"/>
                <a:cs typeface="Arial"/>
                <a:sym typeface="Arial"/>
              </a:rPr>
              <a:t>Goal: Use </a:t>
            </a:r>
            <a:r>
              <a:rPr lang="en-US" i="1" dirty="0" err="1">
                <a:latin typeface="Courier New" panose="02070309020205020404" pitchFamily="49" charset="0"/>
                <a:ea typeface="Arial"/>
                <a:cs typeface="Courier New" panose="02070309020205020404" pitchFamily="49" charset="0"/>
                <a:sym typeface="Arial"/>
              </a:rPr>
              <a:t>execve</a:t>
            </a:r>
            <a:r>
              <a:rPr lang="en-US" i="1" dirty="0">
                <a:latin typeface="Courier New" panose="02070309020205020404" pitchFamily="49" charset="0"/>
                <a:ea typeface="Arial"/>
                <a:cs typeface="Courier New" panose="02070309020205020404" pitchFamily="49" charset="0"/>
                <a:sym typeface="Arial"/>
              </a:rPr>
              <a:t>(“/bin/</a:t>
            </a:r>
            <a:r>
              <a:rPr lang="en-US" i="1" dirty="0" err="1">
                <a:latin typeface="Courier New" panose="02070309020205020404" pitchFamily="49" charset="0"/>
                <a:ea typeface="Arial"/>
                <a:cs typeface="Courier New" panose="02070309020205020404" pitchFamily="49" charset="0"/>
                <a:sym typeface="Arial"/>
              </a:rPr>
              <a:t>sh</a:t>
            </a:r>
            <a:r>
              <a:rPr lang="en-US" i="1" dirty="0">
                <a:latin typeface="Courier New" panose="02070309020205020404" pitchFamily="49" charset="0"/>
                <a:ea typeface="Arial"/>
                <a:cs typeface="Courier New" panose="02070309020205020404" pitchFamily="49" charset="0"/>
                <a:sym typeface="Arial"/>
              </a:rPr>
              <a:t>”, </a:t>
            </a:r>
            <a:r>
              <a:rPr lang="en-US" i="1" dirty="0" err="1">
                <a:latin typeface="Courier New" panose="02070309020205020404" pitchFamily="49" charset="0"/>
                <a:ea typeface="Arial"/>
                <a:cs typeface="Courier New" panose="02070309020205020404" pitchFamily="49" charset="0"/>
                <a:sym typeface="Arial"/>
              </a:rPr>
              <a:t>argv</a:t>
            </a:r>
            <a:r>
              <a:rPr lang="en-US" i="1" dirty="0">
                <a:latin typeface="Courier New" panose="02070309020205020404" pitchFamily="49" charset="0"/>
                <a:ea typeface="Arial"/>
                <a:cs typeface="Courier New" panose="02070309020205020404" pitchFamily="49" charset="0"/>
                <a:sym typeface="Arial"/>
              </a:rPr>
              <a:t>, 0) </a:t>
            </a:r>
            <a:r>
              <a:rPr lang="en-US" dirty="0">
                <a:latin typeface="Arial"/>
                <a:ea typeface="Arial"/>
                <a:cs typeface="Arial"/>
                <a:sym typeface="Arial"/>
              </a:rPr>
              <a:t>to run shell</a:t>
            </a:r>
          </a:p>
          <a:p>
            <a:pPr marL="457200" lvl="0" indent="-406400">
              <a:spcBef>
                <a:spcPts val="0"/>
              </a:spcBef>
              <a:spcAft>
                <a:spcPts val="0"/>
              </a:spcAft>
              <a:buSzPts val="2800"/>
              <a:buChar char="•"/>
            </a:pPr>
            <a:endParaRPr lang="en-US" dirty="0">
              <a:latin typeface="Arial"/>
              <a:ea typeface="Arial"/>
              <a:cs typeface="Arial"/>
              <a:sym typeface="Arial"/>
            </a:endParaRPr>
          </a:p>
          <a:p>
            <a:pPr marL="457200" lvl="0" indent="-406400" rtl="0">
              <a:spcBef>
                <a:spcPts val="0"/>
              </a:spcBef>
              <a:buSzPts val="2800"/>
              <a:buChar char="•"/>
            </a:pPr>
            <a:r>
              <a:rPr lang="en-US" dirty="0">
                <a:latin typeface="Arial"/>
                <a:ea typeface="Arial"/>
                <a:cs typeface="Arial"/>
                <a:sym typeface="Arial"/>
              </a:rPr>
              <a:t>Registers used:</a:t>
            </a:r>
          </a:p>
          <a:p>
            <a:pPr marL="0" lvl="0" indent="457200">
              <a:spcBef>
                <a:spcPts val="0"/>
              </a:spcBef>
              <a:buNone/>
            </a:pPr>
            <a:r>
              <a:rPr lang="en-US" dirty="0" err="1">
                <a:latin typeface="Arial"/>
                <a:ea typeface="Arial"/>
                <a:cs typeface="Arial"/>
                <a:sym typeface="Arial"/>
              </a:rPr>
              <a:t>eax</a:t>
            </a:r>
            <a:r>
              <a:rPr lang="en-US" dirty="0">
                <a:latin typeface="Arial"/>
                <a:ea typeface="Arial"/>
                <a:cs typeface="Arial"/>
                <a:sym typeface="Arial"/>
              </a:rPr>
              <a:t> = 0x0000000b (11) : Value of system call </a:t>
            </a:r>
            <a:r>
              <a:rPr lang="en-US" dirty="0" err="1">
                <a:latin typeface="Arial"/>
                <a:ea typeface="Arial"/>
                <a:cs typeface="Arial"/>
                <a:sym typeface="Arial"/>
              </a:rPr>
              <a:t>execve</a:t>
            </a:r>
            <a:r>
              <a:rPr lang="en-US" dirty="0">
                <a:latin typeface="Arial"/>
                <a:ea typeface="Arial"/>
                <a:cs typeface="Arial"/>
                <a:sym typeface="Arial"/>
              </a:rPr>
              <a:t>()</a:t>
            </a:r>
          </a:p>
          <a:p>
            <a:pPr marL="0" lvl="0" indent="457200">
              <a:spcBef>
                <a:spcPts val="0"/>
              </a:spcBef>
              <a:buNone/>
            </a:pPr>
            <a:r>
              <a:rPr lang="en-US" dirty="0" err="1">
                <a:latin typeface="Arial"/>
                <a:ea typeface="Arial"/>
                <a:cs typeface="Arial"/>
                <a:sym typeface="Arial"/>
              </a:rPr>
              <a:t>ebx</a:t>
            </a:r>
            <a:r>
              <a:rPr lang="en-US" dirty="0">
                <a:latin typeface="Arial"/>
                <a:ea typeface="Arial"/>
                <a:cs typeface="Arial"/>
                <a:sym typeface="Arial"/>
              </a:rPr>
              <a:t> = address to “/bin/</a:t>
            </a:r>
            <a:r>
              <a:rPr lang="en-US" dirty="0" err="1">
                <a:latin typeface="Arial"/>
                <a:ea typeface="Arial"/>
                <a:cs typeface="Arial"/>
                <a:sym typeface="Arial"/>
              </a:rPr>
              <a:t>sh</a:t>
            </a:r>
            <a:r>
              <a:rPr lang="en-US" dirty="0">
                <a:latin typeface="Arial"/>
                <a:ea typeface="Arial"/>
                <a:cs typeface="Arial"/>
                <a:sym typeface="Arial"/>
              </a:rPr>
              <a:t>”</a:t>
            </a:r>
          </a:p>
          <a:p>
            <a:pPr marL="457200" lvl="0" indent="0">
              <a:spcBef>
                <a:spcPts val="0"/>
              </a:spcBef>
              <a:buNone/>
            </a:pPr>
            <a:r>
              <a:rPr lang="en-US" dirty="0" err="1">
                <a:latin typeface="Arial"/>
                <a:ea typeface="Arial"/>
                <a:cs typeface="Arial"/>
                <a:sym typeface="Arial"/>
              </a:rPr>
              <a:t>ecx</a:t>
            </a:r>
            <a:r>
              <a:rPr lang="en-US" dirty="0">
                <a:latin typeface="Arial"/>
                <a:ea typeface="Arial"/>
                <a:cs typeface="Arial"/>
                <a:sym typeface="Arial"/>
              </a:rPr>
              <a:t> = address of the argument array. </a:t>
            </a:r>
          </a:p>
          <a:p>
            <a:pPr marL="1371600" lvl="1" indent="-457200">
              <a:spcBef>
                <a:spcPts val="0"/>
              </a:spcBef>
            </a:pPr>
            <a:r>
              <a:rPr lang="en-US" dirty="0" err="1">
                <a:latin typeface="Arial"/>
                <a:ea typeface="Arial"/>
                <a:cs typeface="Arial"/>
                <a:sym typeface="Arial"/>
              </a:rPr>
              <a:t>argv</a:t>
            </a:r>
            <a:r>
              <a:rPr lang="en-US" dirty="0">
                <a:latin typeface="Arial"/>
                <a:ea typeface="Arial"/>
                <a:cs typeface="Arial"/>
                <a:sym typeface="Arial"/>
              </a:rPr>
              <a:t>[0] = the address of “/bin/</a:t>
            </a:r>
            <a:r>
              <a:rPr lang="en-US" dirty="0" err="1">
                <a:latin typeface="Arial"/>
                <a:ea typeface="Arial"/>
                <a:cs typeface="Arial"/>
                <a:sym typeface="Arial"/>
              </a:rPr>
              <a:t>sh</a:t>
            </a:r>
            <a:r>
              <a:rPr lang="en-US" dirty="0">
                <a:latin typeface="Arial"/>
                <a:ea typeface="Arial"/>
                <a:cs typeface="Arial"/>
                <a:sym typeface="Arial"/>
              </a:rPr>
              <a:t>” </a:t>
            </a:r>
          </a:p>
          <a:p>
            <a:pPr marL="1371600" lvl="1" indent="-457200">
              <a:spcBef>
                <a:spcPts val="0"/>
              </a:spcBef>
            </a:pPr>
            <a:r>
              <a:rPr lang="en-US" dirty="0" err="1">
                <a:latin typeface="Arial"/>
                <a:ea typeface="Arial"/>
                <a:cs typeface="Arial"/>
                <a:sym typeface="Arial"/>
              </a:rPr>
              <a:t>argv</a:t>
            </a:r>
            <a:r>
              <a:rPr lang="en-US" dirty="0">
                <a:latin typeface="Arial"/>
                <a:ea typeface="Arial"/>
                <a:cs typeface="Arial"/>
                <a:sym typeface="Arial"/>
              </a:rPr>
              <a:t>[1] = 0 (i.e., no more arguments)</a:t>
            </a:r>
          </a:p>
          <a:p>
            <a:pPr marL="0" lvl="0" indent="457200">
              <a:spcBef>
                <a:spcPts val="0"/>
              </a:spcBef>
              <a:buNone/>
            </a:pPr>
            <a:r>
              <a:rPr lang="en-US" dirty="0" err="1">
                <a:latin typeface="Arial"/>
                <a:ea typeface="Arial"/>
                <a:cs typeface="Arial"/>
                <a:sym typeface="Arial"/>
              </a:rPr>
              <a:t>edx</a:t>
            </a:r>
            <a:r>
              <a:rPr lang="en-US" dirty="0">
                <a:latin typeface="Arial"/>
                <a:ea typeface="Arial"/>
                <a:cs typeface="Arial"/>
                <a:sym typeface="Arial"/>
              </a:rPr>
              <a:t> = zero (no environment variables are passed).</a:t>
            </a:r>
          </a:p>
          <a:p>
            <a:pPr marL="0" lvl="0" indent="457200">
              <a:spcBef>
                <a:spcPts val="0"/>
              </a:spcBef>
              <a:buNone/>
            </a:pPr>
            <a:r>
              <a:rPr lang="en-US" dirty="0" err="1">
                <a:latin typeface="Arial"/>
                <a:ea typeface="Arial"/>
                <a:cs typeface="Arial"/>
                <a:sym typeface="Arial"/>
              </a:rPr>
              <a:t>int</a:t>
            </a:r>
            <a:r>
              <a:rPr lang="en-US" dirty="0">
                <a:latin typeface="Arial"/>
                <a:ea typeface="Arial"/>
                <a:cs typeface="Arial"/>
                <a:sym typeface="Arial"/>
              </a:rPr>
              <a:t> 0x80:  invoke </a:t>
            </a:r>
            <a:r>
              <a:rPr lang="en-US" dirty="0" err="1">
                <a:latin typeface="Arial"/>
                <a:ea typeface="Arial"/>
                <a:cs typeface="Arial"/>
                <a:sym typeface="Arial"/>
              </a:rPr>
              <a:t>execve</a:t>
            </a:r>
            <a:r>
              <a:rPr lang="en-US" dirty="0">
                <a:latin typeface="Arial"/>
                <a:ea typeface="Arial"/>
                <a:cs typeface="Arial"/>
                <a:sym typeface="Arial"/>
              </a:rPr>
              <a:t>()</a:t>
            </a:r>
            <a:br>
              <a:rPr lang="en-US" dirty="0">
                <a:latin typeface="Arial"/>
                <a:ea typeface="Arial"/>
                <a:cs typeface="Arial"/>
                <a:sym typeface="Arial"/>
              </a:rPr>
            </a:br>
            <a:endParaRPr lang="en-US" dirty="0">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Shape 253"/>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Shellcode</a:t>
            </a:r>
          </a:p>
        </p:txBody>
      </p:sp>
      <p:pic>
        <p:nvPicPr>
          <p:cNvPr id="254" name="Shape 254"/>
          <p:cNvPicPr preferRelativeResize="0"/>
          <p:nvPr/>
        </p:nvPicPr>
        <p:blipFill>
          <a:blip r:embed="rId3">
            <a:alphaModFix/>
          </a:blip>
          <a:stretch>
            <a:fillRect/>
          </a:stretch>
        </p:blipFill>
        <p:spPr>
          <a:xfrm>
            <a:off x="838200" y="1767025"/>
            <a:ext cx="11255829" cy="4503146"/>
          </a:xfrm>
          <a:prstGeom prst="rect">
            <a:avLst/>
          </a:prstGeom>
          <a:noFill/>
          <a:ln>
            <a:noFill/>
          </a:ln>
        </p:spPr>
      </p:pic>
      <p:cxnSp>
        <p:nvCxnSpPr>
          <p:cNvPr id="255" name="Shape 255"/>
          <p:cNvCxnSpPr/>
          <p:nvPr/>
        </p:nvCxnSpPr>
        <p:spPr>
          <a:xfrm rot="10800000">
            <a:off x="8410125" y="2334925"/>
            <a:ext cx="335400" cy="0"/>
          </a:xfrm>
          <a:prstGeom prst="straightConnector1">
            <a:avLst/>
          </a:prstGeom>
          <a:noFill/>
          <a:ln w="28575" cap="flat" cmpd="sng">
            <a:solidFill>
              <a:srgbClr val="000000"/>
            </a:solidFill>
            <a:prstDash val="solid"/>
            <a:round/>
            <a:headEnd type="none" w="lg" len="lg"/>
            <a:tailEnd type="triangle" w="lg" len="lg"/>
          </a:ln>
        </p:spPr>
      </p:cxnSp>
      <p:sp>
        <p:nvSpPr>
          <p:cNvPr id="256" name="Shape 256"/>
          <p:cNvSpPr txBox="1"/>
          <p:nvPr/>
        </p:nvSpPr>
        <p:spPr>
          <a:xfrm>
            <a:off x="8745525" y="2062225"/>
            <a:ext cx="3062100" cy="545400"/>
          </a:xfrm>
          <a:prstGeom prst="rect">
            <a:avLst/>
          </a:prstGeom>
          <a:noFill/>
          <a:ln>
            <a:noFill/>
          </a:ln>
        </p:spPr>
        <p:txBody>
          <a:bodyPr wrap="square" lIns="91425" tIns="91425" rIns="91425" bIns="91425" anchor="t" anchorCtr="0">
            <a:noAutofit/>
          </a:bodyPr>
          <a:lstStyle/>
          <a:p>
            <a:pPr marL="0" lvl="0" indent="0">
              <a:spcBef>
                <a:spcPts val="0"/>
              </a:spcBef>
              <a:buNone/>
            </a:pPr>
            <a:r>
              <a:rPr lang="en-US" sz="1800" b="1"/>
              <a:t>%eax = 0 (avoid 0 in code)</a:t>
            </a:r>
          </a:p>
        </p:txBody>
      </p:sp>
      <p:sp>
        <p:nvSpPr>
          <p:cNvPr id="257" name="Shape 257"/>
          <p:cNvSpPr txBox="1"/>
          <p:nvPr/>
        </p:nvSpPr>
        <p:spPr>
          <a:xfrm>
            <a:off x="8745525" y="2424350"/>
            <a:ext cx="3062100" cy="545400"/>
          </a:xfrm>
          <a:prstGeom prst="rect">
            <a:avLst/>
          </a:prstGeom>
          <a:noFill/>
          <a:ln>
            <a:noFill/>
          </a:ln>
        </p:spPr>
        <p:txBody>
          <a:bodyPr wrap="square" lIns="91425" tIns="91425" rIns="91425" bIns="91425" anchor="t" anchorCtr="0">
            <a:noAutofit/>
          </a:bodyPr>
          <a:lstStyle/>
          <a:p>
            <a:pPr marL="0" lvl="0" indent="0" rtl="0">
              <a:spcBef>
                <a:spcPts val="0"/>
              </a:spcBef>
              <a:buNone/>
            </a:pPr>
            <a:r>
              <a:rPr lang="en-US" sz="1800" b="1" dirty="0"/>
              <a:t>set end of string “/bin/</a:t>
            </a:r>
            <a:r>
              <a:rPr lang="en-US" sz="1800" b="1" dirty="0" err="1"/>
              <a:t>sh</a:t>
            </a:r>
            <a:r>
              <a:rPr lang="en-US" sz="1800" b="1" dirty="0"/>
              <a:t>”</a:t>
            </a:r>
          </a:p>
        </p:txBody>
      </p:sp>
      <p:cxnSp>
        <p:nvCxnSpPr>
          <p:cNvPr id="258" name="Shape 258"/>
          <p:cNvCxnSpPr/>
          <p:nvPr/>
        </p:nvCxnSpPr>
        <p:spPr>
          <a:xfrm rot="10800000">
            <a:off x="8410125" y="2697050"/>
            <a:ext cx="335400" cy="0"/>
          </a:xfrm>
          <a:prstGeom prst="straightConnector1">
            <a:avLst/>
          </a:prstGeom>
          <a:noFill/>
          <a:ln w="28575" cap="flat" cmpd="sng">
            <a:solidFill>
              <a:srgbClr val="000000"/>
            </a:solidFill>
            <a:prstDash val="solid"/>
            <a:round/>
            <a:headEnd type="none" w="lg" len="lg"/>
            <a:tailEnd type="triangle" w="lg" len="lg"/>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Shape 263"/>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a:ea typeface="Arial"/>
                <a:cs typeface="Arial"/>
                <a:sym typeface="Arial"/>
              </a:rPr>
              <a:t>Shellcode</a:t>
            </a:r>
          </a:p>
        </p:txBody>
      </p:sp>
      <p:pic>
        <p:nvPicPr>
          <p:cNvPr id="264" name="Shape 264"/>
          <p:cNvPicPr preferRelativeResize="0"/>
          <p:nvPr/>
        </p:nvPicPr>
        <p:blipFill>
          <a:blip r:embed="rId3">
            <a:alphaModFix/>
          </a:blip>
          <a:stretch>
            <a:fillRect/>
          </a:stretch>
        </p:blipFill>
        <p:spPr>
          <a:xfrm>
            <a:off x="1524387" y="1452675"/>
            <a:ext cx="9143237" cy="5281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Shape 269"/>
          <p:cNvSpPr txBox="1">
            <a:spLocks noGrp="1"/>
          </p:cNvSpPr>
          <p:nvPr>
            <p:ph type="title"/>
          </p:nvPr>
        </p:nvSpPr>
        <p:spPr>
          <a:xfrm>
            <a:off x="838200" y="365125"/>
            <a:ext cx="10515600" cy="1052700"/>
          </a:xfrm>
          <a:prstGeom prst="rect">
            <a:avLst/>
          </a:prstGeom>
        </p:spPr>
        <p:txBody>
          <a:bodyPr wrap="square" lIns="91425" tIns="91425" rIns="91425" bIns="91425" anchor="ctr" anchorCtr="0">
            <a:noAutofit/>
          </a:bodyPr>
          <a:lstStyle/>
          <a:p>
            <a:pPr marL="0" lvl="0" indent="0">
              <a:spcBef>
                <a:spcPts val="0"/>
              </a:spcBef>
              <a:buNone/>
            </a:pPr>
            <a:r>
              <a:rPr lang="en-US">
                <a:latin typeface="Arial"/>
                <a:ea typeface="Arial"/>
                <a:cs typeface="Arial"/>
                <a:sym typeface="Arial"/>
              </a:rPr>
              <a:t>Countermeasures</a:t>
            </a:r>
          </a:p>
        </p:txBody>
      </p:sp>
      <p:sp>
        <p:nvSpPr>
          <p:cNvPr id="270" name="Shape 270"/>
          <p:cNvSpPr txBox="1">
            <a:spLocks noGrp="1"/>
          </p:cNvSpPr>
          <p:nvPr>
            <p:ph type="body" idx="1"/>
          </p:nvPr>
        </p:nvSpPr>
        <p:spPr>
          <a:xfrm>
            <a:off x="838200" y="1341507"/>
            <a:ext cx="10269450" cy="5045100"/>
          </a:xfrm>
          <a:prstGeom prst="rect">
            <a:avLst/>
          </a:prstGeom>
        </p:spPr>
        <p:txBody>
          <a:bodyPr wrap="square" lIns="91425" tIns="91425" rIns="91425" bIns="91425" anchor="t" anchorCtr="0">
            <a:noAutofit/>
          </a:bodyPr>
          <a:lstStyle/>
          <a:p>
            <a:pPr marL="0" lvl="0" indent="0" rtl="0">
              <a:lnSpc>
                <a:spcPct val="150000"/>
              </a:lnSpc>
              <a:spcBef>
                <a:spcPts val="0"/>
              </a:spcBef>
              <a:buNone/>
            </a:pPr>
            <a:r>
              <a:rPr lang="en-US" sz="2400" b="1" dirty="0">
                <a:latin typeface="Arial"/>
                <a:ea typeface="Arial"/>
                <a:cs typeface="Arial"/>
                <a:sym typeface="Arial"/>
              </a:rPr>
              <a:t>Developer approaches:</a:t>
            </a:r>
          </a:p>
          <a:p>
            <a:pPr marL="457200" lvl="0" indent="-381000" rtl="0">
              <a:lnSpc>
                <a:spcPct val="150000"/>
              </a:lnSpc>
              <a:spcBef>
                <a:spcPts val="0"/>
              </a:spcBef>
              <a:buSzPts val="2400"/>
              <a:buChar char="•"/>
            </a:pPr>
            <a:r>
              <a:rPr lang="en-US" sz="2400" dirty="0">
                <a:latin typeface="Arial"/>
                <a:ea typeface="Arial"/>
                <a:cs typeface="Arial"/>
                <a:sym typeface="Arial"/>
              </a:rPr>
              <a:t>Use of safer functions like </a:t>
            </a:r>
            <a:r>
              <a:rPr lang="en-US" sz="2400" dirty="0" err="1">
                <a:latin typeface="Arial"/>
                <a:ea typeface="Arial"/>
                <a:cs typeface="Arial"/>
                <a:sym typeface="Arial"/>
              </a:rPr>
              <a:t>strncpy</a:t>
            </a:r>
            <a:r>
              <a:rPr lang="en-US" sz="2400" dirty="0">
                <a:latin typeface="Arial"/>
                <a:ea typeface="Arial"/>
                <a:cs typeface="Arial"/>
                <a:sym typeface="Arial"/>
              </a:rPr>
              <a:t>(), </a:t>
            </a:r>
            <a:r>
              <a:rPr lang="en-US" sz="2400" dirty="0" err="1">
                <a:latin typeface="Arial"/>
                <a:ea typeface="Arial"/>
                <a:cs typeface="Arial"/>
                <a:sym typeface="Arial"/>
              </a:rPr>
              <a:t>strncat</a:t>
            </a:r>
            <a:r>
              <a:rPr lang="en-US" sz="2400" dirty="0">
                <a:latin typeface="Arial"/>
                <a:ea typeface="Arial"/>
                <a:cs typeface="Arial"/>
                <a:sym typeface="Arial"/>
              </a:rPr>
              <a:t>() etc, safer dynamic link libraries that check the length of the data before copying.</a:t>
            </a:r>
          </a:p>
          <a:p>
            <a:pPr marL="0" lvl="0" indent="0" rtl="0">
              <a:lnSpc>
                <a:spcPct val="150000"/>
              </a:lnSpc>
              <a:spcBef>
                <a:spcPts val="0"/>
              </a:spcBef>
              <a:buNone/>
            </a:pPr>
            <a:r>
              <a:rPr lang="en-US" sz="2400" b="1" dirty="0">
                <a:latin typeface="Arial"/>
                <a:ea typeface="Arial"/>
                <a:cs typeface="Arial"/>
                <a:sym typeface="Arial"/>
              </a:rPr>
              <a:t>OS approaches:</a:t>
            </a:r>
          </a:p>
          <a:p>
            <a:pPr marL="457200" lvl="0" indent="-381000" rtl="0">
              <a:lnSpc>
                <a:spcPct val="150000"/>
              </a:lnSpc>
              <a:spcBef>
                <a:spcPts val="0"/>
              </a:spcBef>
              <a:buSzPts val="2400"/>
              <a:buChar char="•"/>
            </a:pPr>
            <a:r>
              <a:rPr lang="en-US" sz="2400" dirty="0">
                <a:latin typeface="Arial"/>
                <a:ea typeface="Arial"/>
                <a:cs typeface="Arial"/>
                <a:sym typeface="Arial"/>
              </a:rPr>
              <a:t>ASLR (Address Space Layout Randomization)</a:t>
            </a:r>
          </a:p>
          <a:p>
            <a:pPr marL="0" lvl="0" indent="0" rtl="0">
              <a:lnSpc>
                <a:spcPct val="150000"/>
              </a:lnSpc>
              <a:spcBef>
                <a:spcPts val="0"/>
              </a:spcBef>
              <a:buNone/>
            </a:pPr>
            <a:r>
              <a:rPr lang="en-US" sz="2400" b="1" dirty="0">
                <a:latin typeface="Arial"/>
                <a:ea typeface="Arial"/>
                <a:cs typeface="Arial"/>
                <a:sym typeface="Arial"/>
              </a:rPr>
              <a:t>Compiler approaches:</a:t>
            </a:r>
          </a:p>
          <a:p>
            <a:pPr marL="457200" lvl="0" indent="-381000" rtl="0">
              <a:lnSpc>
                <a:spcPct val="150000"/>
              </a:lnSpc>
              <a:spcBef>
                <a:spcPts val="0"/>
              </a:spcBef>
              <a:buSzPts val="2400"/>
              <a:buChar char="•"/>
            </a:pPr>
            <a:r>
              <a:rPr lang="en-US" sz="2400" dirty="0">
                <a:latin typeface="Arial"/>
                <a:ea typeface="Arial"/>
                <a:cs typeface="Arial"/>
                <a:sym typeface="Arial"/>
              </a:rPr>
              <a:t>Stack-Guard</a:t>
            </a:r>
          </a:p>
          <a:p>
            <a:pPr marL="0" lvl="0" indent="0" rtl="0">
              <a:lnSpc>
                <a:spcPct val="150000"/>
              </a:lnSpc>
              <a:spcBef>
                <a:spcPts val="0"/>
              </a:spcBef>
              <a:buNone/>
            </a:pPr>
            <a:r>
              <a:rPr lang="en-US" sz="2400" b="1" dirty="0">
                <a:latin typeface="Arial"/>
                <a:ea typeface="Arial"/>
                <a:cs typeface="Arial"/>
                <a:sym typeface="Arial"/>
              </a:rPr>
              <a:t>Hardware approaches:</a:t>
            </a:r>
          </a:p>
          <a:p>
            <a:pPr marL="457200" lvl="0" indent="-381000" rtl="0">
              <a:lnSpc>
                <a:spcPct val="150000"/>
              </a:lnSpc>
              <a:spcBef>
                <a:spcPts val="0"/>
              </a:spcBef>
              <a:buSzPts val="2400"/>
              <a:buChar char="•"/>
            </a:pPr>
            <a:r>
              <a:rPr lang="en-US" sz="2400" dirty="0">
                <a:latin typeface="Arial"/>
                <a:ea typeface="Arial"/>
                <a:cs typeface="Arial"/>
                <a:sym typeface="Arial"/>
              </a:rPr>
              <a:t>Non-Executable Stack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Shape 275"/>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a:ea typeface="Arial"/>
                <a:cs typeface="Arial"/>
                <a:sym typeface="Arial"/>
              </a:rPr>
              <a:t>Principle of ASLR</a:t>
            </a:r>
          </a:p>
        </p:txBody>
      </p:sp>
      <p:sp>
        <p:nvSpPr>
          <p:cNvPr id="276" name="Shape 276"/>
          <p:cNvSpPr txBox="1"/>
          <p:nvPr/>
        </p:nvSpPr>
        <p:spPr>
          <a:xfrm>
            <a:off x="1090600" y="5103400"/>
            <a:ext cx="9731100" cy="755100"/>
          </a:xfrm>
          <a:prstGeom prst="rect">
            <a:avLst/>
          </a:prstGeom>
          <a:noFill/>
          <a:ln w="9525" cap="flat" cmpd="sng">
            <a:solidFill>
              <a:srgbClr val="000000"/>
            </a:solidFill>
            <a:prstDash val="solid"/>
            <a:round/>
            <a:headEnd type="none" w="med" len="med"/>
            <a:tailEnd type="none" w="med" len="med"/>
          </a:ln>
        </p:spPr>
        <p:txBody>
          <a:bodyPr wrap="square" lIns="91425" tIns="91425" rIns="91425" bIns="91425" anchor="t" anchorCtr="0">
            <a:noAutofit/>
          </a:bodyPr>
          <a:lstStyle/>
          <a:p>
            <a:pPr marL="0" lvl="0" indent="0" rtl="0">
              <a:spcBef>
                <a:spcPts val="0"/>
              </a:spcBef>
              <a:buNone/>
            </a:pPr>
            <a:r>
              <a:rPr lang="en-US" sz="2400">
                <a:solidFill>
                  <a:schemeClr val="dk1"/>
                </a:solidFill>
              </a:rPr>
              <a:t>Difficult to guess %ebp address and address of the malicious code </a:t>
            </a:r>
          </a:p>
        </p:txBody>
      </p:sp>
      <p:sp>
        <p:nvSpPr>
          <p:cNvPr id="277" name="Shape 277"/>
          <p:cNvSpPr txBox="1"/>
          <p:nvPr/>
        </p:nvSpPr>
        <p:spPr>
          <a:xfrm>
            <a:off x="1090600" y="3803000"/>
            <a:ext cx="9731100" cy="755100"/>
          </a:xfrm>
          <a:prstGeom prst="rect">
            <a:avLst/>
          </a:prstGeom>
          <a:noFill/>
          <a:ln w="9525" cap="flat" cmpd="sng">
            <a:solidFill>
              <a:srgbClr val="000000"/>
            </a:solidFill>
            <a:prstDash val="solid"/>
            <a:round/>
            <a:headEnd type="none" w="med" len="med"/>
            <a:tailEnd type="none" w="med" len="med"/>
          </a:ln>
        </p:spPr>
        <p:txBody>
          <a:bodyPr wrap="square" lIns="91425" tIns="91425" rIns="91425" bIns="91425" anchor="t" anchorCtr="0">
            <a:noAutofit/>
          </a:bodyPr>
          <a:lstStyle/>
          <a:p>
            <a:pPr marL="0" lvl="0" indent="0">
              <a:spcBef>
                <a:spcPts val="0"/>
              </a:spcBef>
              <a:buNone/>
            </a:pPr>
            <a:r>
              <a:rPr lang="en-US" sz="2400">
                <a:solidFill>
                  <a:schemeClr val="dk1"/>
                </a:solidFill>
              </a:rPr>
              <a:t>Difficult to guess the stack address in the memory.</a:t>
            </a:r>
          </a:p>
        </p:txBody>
      </p:sp>
      <p:sp>
        <p:nvSpPr>
          <p:cNvPr id="278" name="Shape 278"/>
          <p:cNvSpPr txBox="1"/>
          <p:nvPr/>
        </p:nvSpPr>
        <p:spPr>
          <a:xfrm>
            <a:off x="1069600" y="2125200"/>
            <a:ext cx="9773100" cy="1132500"/>
          </a:xfrm>
          <a:prstGeom prst="rect">
            <a:avLst/>
          </a:prstGeom>
          <a:noFill/>
          <a:ln w="9525" cap="flat" cmpd="sng">
            <a:solidFill>
              <a:srgbClr val="000000"/>
            </a:solidFill>
            <a:prstDash val="solid"/>
            <a:round/>
            <a:headEnd type="none" w="med" len="med"/>
            <a:tailEnd type="none" w="med" len="med"/>
          </a:ln>
        </p:spPr>
        <p:txBody>
          <a:bodyPr wrap="square" lIns="91425" tIns="91425" rIns="91425" bIns="91425" anchor="t" anchorCtr="0">
            <a:noAutofit/>
          </a:bodyPr>
          <a:lstStyle/>
          <a:p>
            <a:pPr marL="0" lvl="0" indent="-69850" rtl="0">
              <a:lnSpc>
                <a:spcPct val="90000"/>
              </a:lnSpc>
              <a:spcBef>
                <a:spcPts val="1000"/>
              </a:spcBef>
              <a:buClr>
                <a:schemeClr val="dk1"/>
              </a:buClr>
              <a:buSzPts val="1100"/>
              <a:buFont typeface="Arial"/>
              <a:buNone/>
            </a:pPr>
            <a:r>
              <a:rPr lang="en-US" sz="2400">
                <a:solidFill>
                  <a:schemeClr val="dk1"/>
                </a:solidFill>
              </a:rPr>
              <a:t>To randomize the start location of the stack that is every time the code is loaded in  the memory, the stack address changes.</a:t>
            </a:r>
          </a:p>
        </p:txBody>
      </p:sp>
      <p:sp>
        <p:nvSpPr>
          <p:cNvPr id="279" name="Shape 279"/>
          <p:cNvSpPr/>
          <p:nvPr/>
        </p:nvSpPr>
        <p:spPr>
          <a:xfrm>
            <a:off x="5557700" y="3257725"/>
            <a:ext cx="167700" cy="545400"/>
          </a:xfrm>
          <a:prstGeom prst="downArrow">
            <a:avLst>
              <a:gd name="adj1" fmla="val 50000"/>
              <a:gd name="adj2" fmla="val 50000"/>
            </a:avLst>
          </a:prstGeom>
          <a:solidFill>
            <a:srgbClr val="000000"/>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sp>
        <p:nvSpPr>
          <p:cNvPr id="280" name="Shape 280"/>
          <p:cNvSpPr/>
          <p:nvPr/>
        </p:nvSpPr>
        <p:spPr>
          <a:xfrm>
            <a:off x="5557700" y="4558100"/>
            <a:ext cx="167700" cy="545400"/>
          </a:xfrm>
          <a:prstGeom prst="downArrow">
            <a:avLst>
              <a:gd name="adj1" fmla="val 50000"/>
              <a:gd name="adj2" fmla="val 50000"/>
            </a:avLst>
          </a:prstGeom>
          <a:solidFill>
            <a:srgbClr val="000000"/>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Shape 285"/>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dirty="0">
                <a:latin typeface="Arial"/>
                <a:ea typeface="Arial"/>
                <a:cs typeface="Arial"/>
                <a:sym typeface="Arial"/>
              </a:rPr>
              <a:t>Address Space Layout Randomization</a:t>
            </a:r>
          </a:p>
        </p:txBody>
      </p:sp>
      <p:sp>
        <p:nvSpPr>
          <p:cNvPr id="286" name="Shape 286"/>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177800" lvl="0" indent="0">
              <a:spcBef>
                <a:spcPts val="0"/>
              </a:spcBef>
              <a:buNone/>
            </a:pPr>
            <a:endParaRPr/>
          </a:p>
        </p:txBody>
      </p:sp>
      <p:pic>
        <p:nvPicPr>
          <p:cNvPr id="287" name="Shape 287"/>
          <p:cNvPicPr preferRelativeResize="0"/>
          <p:nvPr/>
        </p:nvPicPr>
        <p:blipFill>
          <a:blip r:embed="rId3">
            <a:alphaModFix/>
          </a:blip>
          <a:stretch>
            <a:fillRect/>
          </a:stretch>
        </p:blipFill>
        <p:spPr>
          <a:xfrm>
            <a:off x="657500" y="1796175"/>
            <a:ext cx="11049000" cy="44100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Shape 292"/>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69850">
              <a:spcBef>
                <a:spcPts val="0"/>
              </a:spcBef>
              <a:buClr>
                <a:schemeClr val="dk1"/>
              </a:buClr>
              <a:buSzPts val="1100"/>
              <a:buFont typeface="Arial"/>
              <a:buNone/>
            </a:pPr>
            <a:r>
              <a:rPr lang="en-US">
                <a:latin typeface="Arial"/>
                <a:ea typeface="Arial"/>
                <a:cs typeface="Arial"/>
                <a:sym typeface="Arial"/>
              </a:rPr>
              <a:t>Address Space Layout Randomization : Working </a:t>
            </a:r>
          </a:p>
        </p:txBody>
      </p:sp>
      <p:sp>
        <p:nvSpPr>
          <p:cNvPr id="293" name="Shape 293"/>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228600" lvl="0" indent="-50800">
              <a:spcBef>
                <a:spcPts val="0"/>
              </a:spcBef>
              <a:buNone/>
            </a:pPr>
            <a:endParaRPr/>
          </a:p>
        </p:txBody>
      </p:sp>
      <p:pic>
        <p:nvPicPr>
          <p:cNvPr id="294" name="Shape 294"/>
          <p:cNvPicPr preferRelativeResize="0"/>
          <p:nvPr/>
        </p:nvPicPr>
        <p:blipFill>
          <a:blip r:embed="rId3">
            <a:alphaModFix/>
          </a:blip>
          <a:stretch>
            <a:fillRect/>
          </a:stretch>
        </p:blipFill>
        <p:spPr>
          <a:xfrm>
            <a:off x="838200" y="1825613"/>
            <a:ext cx="5181600" cy="1952625"/>
          </a:xfrm>
          <a:prstGeom prst="rect">
            <a:avLst/>
          </a:prstGeom>
          <a:noFill/>
          <a:ln>
            <a:noFill/>
          </a:ln>
        </p:spPr>
      </p:pic>
      <p:pic>
        <p:nvPicPr>
          <p:cNvPr id="295" name="Shape 295"/>
          <p:cNvPicPr preferRelativeResize="0"/>
          <p:nvPr/>
        </p:nvPicPr>
        <p:blipFill>
          <a:blip r:embed="rId4">
            <a:alphaModFix/>
          </a:blip>
          <a:stretch>
            <a:fillRect/>
          </a:stretch>
        </p:blipFill>
        <p:spPr>
          <a:xfrm>
            <a:off x="6172200" y="1825613"/>
            <a:ext cx="5181600" cy="1990725"/>
          </a:xfrm>
          <a:prstGeom prst="rect">
            <a:avLst/>
          </a:prstGeom>
          <a:noFill/>
          <a:ln>
            <a:noFill/>
          </a:ln>
        </p:spPr>
      </p:pic>
      <p:pic>
        <p:nvPicPr>
          <p:cNvPr id="296" name="Shape 296"/>
          <p:cNvPicPr preferRelativeResize="0"/>
          <p:nvPr/>
        </p:nvPicPr>
        <p:blipFill>
          <a:blip r:embed="rId5">
            <a:alphaModFix/>
          </a:blip>
          <a:stretch>
            <a:fillRect/>
          </a:stretch>
        </p:blipFill>
        <p:spPr>
          <a:xfrm>
            <a:off x="3818500" y="4509938"/>
            <a:ext cx="5162550" cy="1666875"/>
          </a:xfrm>
          <a:prstGeom prst="rect">
            <a:avLst/>
          </a:prstGeom>
          <a:noFill/>
          <a:ln>
            <a:noFill/>
          </a:ln>
        </p:spPr>
      </p:pic>
      <p:pic>
        <p:nvPicPr>
          <p:cNvPr id="297" name="Shape 297"/>
          <p:cNvPicPr preferRelativeResize="0"/>
          <p:nvPr/>
        </p:nvPicPr>
        <p:blipFill>
          <a:blip r:embed="rId6">
            <a:alphaModFix/>
          </a:blip>
          <a:stretch>
            <a:fillRect/>
          </a:stretch>
        </p:blipFill>
        <p:spPr>
          <a:xfrm>
            <a:off x="3818500" y="4195625"/>
            <a:ext cx="5162550" cy="314325"/>
          </a:xfrm>
          <a:prstGeom prst="rect">
            <a:avLst/>
          </a:prstGeom>
          <a:noFill/>
          <a:ln>
            <a:noFill/>
          </a:ln>
        </p:spPr>
      </p:pic>
      <p:sp>
        <p:nvSpPr>
          <p:cNvPr id="298" name="Shape 298"/>
          <p:cNvSpPr/>
          <p:nvPr/>
        </p:nvSpPr>
        <p:spPr>
          <a:xfrm>
            <a:off x="1014800" y="3844025"/>
            <a:ext cx="337500" cy="314400"/>
          </a:xfrm>
          <a:prstGeom prst="ellipse">
            <a:avLst/>
          </a:prstGeom>
          <a:solidFill>
            <a:srgbClr val="E06666"/>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r>
              <a:rPr lang="en-US"/>
              <a:t>1</a:t>
            </a:r>
          </a:p>
        </p:txBody>
      </p:sp>
      <p:sp>
        <p:nvSpPr>
          <p:cNvPr id="299" name="Shape 299"/>
          <p:cNvSpPr/>
          <p:nvPr/>
        </p:nvSpPr>
        <p:spPr>
          <a:xfrm>
            <a:off x="3343600" y="5082400"/>
            <a:ext cx="337500" cy="314400"/>
          </a:xfrm>
          <a:prstGeom prst="ellipse">
            <a:avLst/>
          </a:prstGeom>
          <a:solidFill>
            <a:srgbClr val="E06666"/>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rtl="0">
              <a:spcBef>
                <a:spcPts val="0"/>
              </a:spcBef>
              <a:buNone/>
            </a:pPr>
            <a:r>
              <a:rPr lang="en-US"/>
              <a:t>3</a:t>
            </a:r>
          </a:p>
        </p:txBody>
      </p:sp>
      <p:sp>
        <p:nvSpPr>
          <p:cNvPr id="300" name="Shape 300"/>
          <p:cNvSpPr/>
          <p:nvPr/>
        </p:nvSpPr>
        <p:spPr>
          <a:xfrm>
            <a:off x="9694275" y="4099475"/>
            <a:ext cx="337500" cy="314400"/>
          </a:xfrm>
          <a:prstGeom prst="ellipse">
            <a:avLst/>
          </a:prstGeom>
          <a:solidFill>
            <a:srgbClr val="E06666"/>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rtl="0">
              <a:spcBef>
                <a:spcPts val="0"/>
              </a:spcBef>
              <a:buNone/>
            </a:pPr>
            <a:r>
              <a:rPr lang="en-US"/>
              <a:t>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Shape 305"/>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a:ea typeface="Arial"/>
                <a:cs typeface="Arial"/>
                <a:sym typeface="Arial"/>
              </a:rPr>
              <a:t>ASLR : Defeat It</a:t>
            </a:r>
          </a:p>
        </p:txBody>
      </p:sp>
      <p:sp>
        <p:nvSpPr>
          <p:cNvPr id="306" name="Shape 306"/>
          <p:cNvSpPr txBox="1">
            <a:spLocks noGrp="1"/>
          </p:cNvSpPr>
          <p:nvPr>
            <p:ph type="body" idx="1"/>
          </p:nvPr>
        </p:nvSpPr>
        <p:spPr>
          <a:xfrm>
            <a:off x="448475" y="1825625"/>
            <a:ext cx="11398800" cy="4665000"/>
          </a:xfrm>
          <a:prstGeom prst="rect">
            <a:avLst/>
          </a:prstGeom>
        </p:spPr>
        <p:txBody>
          <a:bodyPr wrap="square" lIns="91425" tIns="91425" rIns="91425" bIns="91425" anchor="t" anchorCtr="0">
            <a:noAutofit/>
          </a:bodyPr>
          <a:lstStyle/>
          <a:p>
            <a:pPr marL="457200" lvl="0" indent="-381000" rtl="0">
              <a:lnSpc>
                <a:spcPct val="115000"/>
              </a:lnSpc>
              <a:spcBef>
                <a:spcPts val="0"/>
              </a:spcBef>
              <a:buSzPts val="2400"/>
              <a:buAutoNum type="arabicPeriod"/>
            </a:pPr>
            <a:r>
              <a:rPr lang="en-US" sz="2400">
                <a:latin typeface="Arial"/>
                <a:ea typeface="Arial"/>
                <a:cs typeface="Arial"/>
                <a:sym typeface="Arial"/>
              </a:rPr>
              <a:t>Turn on address randomization (countermeasure)</a:t>
            </a:r>
          </a:p>
          <a:p>
            <a:pPr marL="0" lvl="0" indent="0" rtl="0">
              <a:lnSpc>
                <a:spcPct val="115000"/>
              </a:lnSpc>
              <a:spcBef>
                <a:spcPts val="0"/>
              </a:spcBef>
              <a:buNone/>
            </a:pPr>
            <a:r>
              <a:rPr lang="en-US" sz="2400"/>
              <a:t>          </a:t>
            </a:r>
            <a:r>
              <a:rPr lang="en-US" sz="2400">
                <a:latin typeface="Courier New"/>
                <a:ea typeface="Courier New"/>
                <a:cs typeface="Courier New"/>
                <a:sym typeface="Courier New"/>
              </a:rPr>
              <a:t>% sudo sysctl -w kernel.randomize_va_space=2</a:t>
            </a:r>
          </a:p>
          <a:p>
            <a:pPr marL="0" lvl="0" indent="-69850" rtl="0">
              <a:lnSpc>
                <a:spcPct val="115000"/>
              </a:lnSpc>
              <a:spcBef>
                <a:spcPts val="0"/>
              </a:spcBef>
              <a:buClr>
                <a:schemeClr val="dk1"/>
              </a:buClr>
              <a:buSzPts val="1100"/>
              <a:buFont typeface="Arial"/>
              <a:buNone/>
            </a:pPr>
            <a:endParaRPr sz="2400">
              <a:latin typeface="Arial"/>
              <a:ea typeface="Arial"/>
              <a:cs typeface="Arial"/>
              <a:sym typeface="Arial"/>
            </a:endParaRPr>
          </a:p>
          <a:p>
            <a:pPr marL="0" lvl="0" indent="-69850" rtl="0">
              <a:lnSpc>
                <a:spcPct val="115000"/>
              </a:lnSpc>
              <a:spcBef>
                <a:spcPts val="0"/>
              </a:spcBef>
              <a:buClr>
                <a:schemeClr val="dk1"/>
              </a:buClr>
              <a:buSzPts val="1100"/>
              <a:buFont typeface="Arial"/>
              <a:buNone/>
            </a:pPr>
            <a:r>
              <a:rPr lang="en-US" sz="2400">
                <a:latin typeface="Arial"/>
                <a:ea typeface="Arial"/>
                <a:cs typeface="Arial"/>
                <a:sym typeface="Arial"/>
              </a:rPr>
              <a:t>2. Compile set-uid root version of stack.c</a:t>
            </a:r>
          </a:p>
          <a:p>
            <a:pPr marL="0" lvl="0" indent="-69850" rtl="0">
              <a:lnSpc>
                <a:spcPct val="115000"/>
              </a:lnSpc>
              <a:spcBef>
                <a:spcPts val="0"/>
              </a:spcBef>
              <a:buClr>
                <a:schemeClr val="dk1"/>
              </a:buClr>
              <a:buSzPts val="1100"/>
              <a:buFont typeface="Arial"/>
              <a:buNone/>
            </a:pPr>
            <a:r>
              <a:rPr lang="en-US" sz="2400">
                <a:latin typeface="Courier New"/>
                <a:ea typeface="Courier New"/>
                <a:cs typeface="Courier New"/>
                <a:sym typeface="Courier New"/>
              </a:rPr>
              <a:t>  % gcc -o stack -z execstack -fno-stack-protector stack.c</a:t>
            </a:r>
          </a:p>
          <a:p>
            <a:pPr marL="0" lvl="0" indent="-69850" rtl="0">
              <a:lnSpc>
                <a:spcPct val="115000"/>
              </a:lnSpc>
              <a:spcBef>
                <a:spcPts val="0"/>
              </a:spcBef>
              <a:buClr>
                <a:schemeClr val="dk1"/>
              </a:buClr>
              <a:buSzPts val="1100"/>
              <a:buFont typeface="Arial"/>
              <a:buNone/>
            </a:pPr>
            <a:r>
              <a:rPr lang="en-US" sz="2400">
                <a:latin typeface="Courier New"/>
                <a:ea typeface="Courier New"/>
                <a:cs typeface="Courier New"/>
                <a:sym typeface="Courier New"/>
              </a:rPr>
              <a:t>  % sudo chown root stack</a:t>
            </a:r>
          </a:p>
          <a:p>
            <a:pPr marL="0" lvl="0" indent="0" rtl="0">
              <a:lnSpc>
                <a:spcPct val="115000"/>
              </a:lnSpc>
              <a:spcBef>
                <a:spcPts val="0"/>
              </a:spcBef>
              <a:buNone/>
            </a:pPr>
            <a:r>
              <a:rPr lang="en-US" sz="2400">
                <a:latin typeface="Courier New"/>
                <a:ea typeface="Courier New"/>
                <a:cs typeface="Courier New"/>
                <a:sym typeface="Courier New"/>
              </a:rPr>
              <a:t>  % sudo chmod 4755 stack</a:t>
            </a:r>
          </a:p>
          <a:p>
            <a:pPr marL="0" lvl="0" indent="-69850" rtl="0">
              <a:lnSpc>
                <a:spcPct val="115000"/>
              </a:lnSpc>
              <a:spcBef>
                <a:spcPts val="0"/>
              </a:spcBef>
              <a:buClr>
                <a:schemeClr val="dk1"/>
              </a:buClr>
              <a:buSzPts val="1100"/>
              <a:buFont typeface="Arial"/>
              <a:buNone/>
            </a:pPr>
            <a:endParaRPr sz="2400">
              <a:latin typeface="Courier New"/>
              <a:ea typeface="Courier New"/>
              <a:cs typeface="Courier New"/>
              <a:sym typeface="Courier New"/>
            </a:endParaRPr>
          </a:p>
          <a:p>
            <a:pPr marL="0" lvl="0" indent="-69850" rtl="0">
              <a:lnSpc>
                <a:spcPct val="115000"/>
              </a:lnSpc>
              <a:spcBef>
                <a:spcPts val="0"/>
              </a:spcBef>
              <a:buClr>
                <a:schemeClr val="dk1"/>
              </a:buClr>
              <a:buSzPts val="1100"/>
              <a:buFont typeface="Arial"/>
              <a:buNone/>
            </a:pPr>
            <a:endParaRPr sz="2400"/>
          </a:p>
          <a:p>
            <a:pPr marL="0" lvl="0" indent="-69850" rtl="0">
              <a:lnSpc>
                <a:spcPct val="115000"/>
              </a:lnSpc>
              <a:spcBef>
                <a:spcPts val="0"/>
              </a:spcBef>
              <a:buClr>
                <a:schemeClr val="dk1"/>
              </a:buClr>
              <a:buSzPts val="1100"/>
              <a:buFont typeface="Arial"/>
              <a:buNone/>
            </a:pPr>
            <a:r>
              <a:rPr lang="en-US" sz="2400">
                <a:latin typeface="Courier New"/>
                <a:ea typeface="Courier New"/>
                <a:cs typeface="Courier New"/>
                <a:sym typeface="Courier New"/>
              </a:rPr>
              <a:t>	</a:t>
            </a:r>
          </a:p>
          <a:p>
            <a:pPr marL="228600" lvl="0" indent="-50800">
              <a:spcBef>
                <a:spcPts val="0"/>
              </a:spcBef>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Shape 311"/>
          <p:cNvSpPr txBox="1">
            <a:spLocks noGrp="1"/>
          </p:cNvSpPr>
          <p:nvPr>
            <p:ph type="title"/>
          </p:nvPr>
        </p:nvSpPr>
        <p:spPr>
          <a:xfrm>
            <a:off x="838200" y="215625"/>
            <a:ext cx="10515600" cy="1325700"/>
          </a:xfrm>
          <a:prstGeom prst="rect">
            <a:avLst/>
          </a:prstGeom>
        </p:spPr>
        <p:txBody>
          <a:bodyPr wrap="square" lIns="91425" tIns="91425" rIns="91425" bIns="91425" anchor="ctr" anchorCtr="0">
            <a:noAutofit/>
          </a:bodyPr>
          <a:lstStyle/>
          <a:p>
            <a:pPr marL="0" lvl="0" indent="-69850">
              <a:spcBef>
                <a:spcPts val="0"/>
              </a:spcBef>
              <a:buClr>
                <a:schemeClr val="dk1"/>
              </a:buClr>
              <a:buSzPts val="1100"/>
              <a:buFont typeface="Arial"/>
              <a:buNone/>
            </a:pPr>
            <a:r>
              <a:rPr lang="en-US"/>
              <a:t>ASLR : Defeat It</a:t>
            </a:r>
          </a:p>
        </p:txBody>
      </p:sp>
      <p:sp>
        <p:nvSpPr>
          <p:cNvPr id="312" name="Shape 312"/>
          <p:cNvSpPr txBox="1">
            <a:spLocks noGrp="1"/>
          </p:cNvSpPr>
          <p:nvPr>
            <p:ph type="body" idx="1"/>
          </p:nvPr>
        </p:nvSpPr>
        <p:spPr>
          <a:xfrm>
            <a:off x="373800" y="1541325"/>
            <a:ext cx="11361300" cy="4949100"/>
          </a:xfrm>
          <a:prstGeom prst="rect">
            <a:avLst/>
          </a:prstGeom>
        </p:spPr>
        <p:txBody>
          <a:bodyPr wrap="square" lIns="91425" tIns="91425" rIns="91425" bIns="91425" anchor="t" anchorCtr="0">
            <a:noAutofit/>
          </a:bodyPr>
          <a:lstStyle/>
          <a:p>
            <a:pPr marL="0" lvl="0" indent="0" rtl="0">
              <a:lnSpc>
                <a:spcPct val="115000"/>
              </a:lnSpc>
              <a:spcBef>
                <a:spcPts val="0"/>
              </a:spcBef>
              <a:buNone/>
            </a:pPr>
            <a:r>
              <a:rPr lang="en-US" sz="2400">
                <a:latin typeface="Arial"/>
                <a:ea typeface="Arial"/>
                <a:cs typeface="Arial"/>
                <a:sym typeface="Arial"/>
              </a:rPr>
              <a:t>3. Defeat it by running the vulnerable code in an infinite loop.</a:t>
            </a:r>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69850" rtl="0">
              <a:lnSpc>
                <a:spcPct val="115000"/>
              </a:lnSpc>
              <a:spcBef>
                <a:spcPts val="0"/>
              </a:spcBef>
              <a:buClr>
                <a:schemeClr val="dk1"/>
              </a:buClr>
              <a:buSzPts val="1100"/>
              <a:buFont typeface="Arial"/>
              <a:buNone/>
            </a:pPr>
            <a:endParaRPr sz="2400"/>
          </a:p>
          <a:p>
            <a:pPr marL="228600" lvl="0" indent="-50800">
              <a:spcBef>
                <a:spcPts val="0"/>
              </a:spcBef>
              <a:buNone/>
            </a:pPr>
            <a:endParaRPr/>
          </a:p>
        </p:txBody>
      </p:sp>
      <p:pic>
        <p:nvPicPr>
          <p:cNvPr id="313" name="Shape 313"/>
          <p:cNvPicPr preferRelativeResize="0"/>
          <p:nvPr/>
        </p:nvPicPr>
        <p:blipFill>
          <a:blip r:embed="rId3">
            <a:alphaModFix/>
          </a:blip>
          <a:stretch>
            <a:fillRect/>
          </a:stretch>
        </p:blipFill>
        <p:spPr>
          <a:xfrm>
            <a:off x="672775" y="2113875"/>
            <a:ext cx="9119025" cy="40123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Shape 318"/>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ASLR : Defeat it</a:t>
            </a:r>
          </a:p>
        </p:txBody>
      </p:sp>
      <p:sp>
        <p:nvSpPr>
          <p:cNvPr id="319" name="Shape 319"/>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177800" lvl="0" indent="0">
              <a:spcBef>
                <a:spcPts val="0"/>
              </a:spcBef>
              <a:buNone/>
            </a:pPr>
            <a:r>
              <a:rPr lang="en-US" dirty="0">
                <a:latin typeface="Arial"/>
                <a:ea typeface="Arial"/>
                <a:cs typeface="Arial"/>
                <a:sym typeface="Arial"/>
              </a:rPr>
              <a:t>On running the script for about 19 minutes on a 32-bit Linux machine, we got the access to the shell (malicious code got executed).</a:t>
            </a:r>
          </a:p>
        </p:txBody>
      </p:sp>
      <p:pic>
        <p:nvPicPr>
          <p:cNvPr id="320" name="Shape 320"/>
          <p:cNvPicPr preferRelativeResize="0"/>
          <p:nvPr/>
        </p:nvPicPr>
        <p:blipFill>
          <a:blip r:embed="rId3">
            <a:alphaModFix/>
          </a:blip>
          <a:stretch>
            <a:fillRect/>
          </a:stretch>
        </p:blipFill>
        <p:spPr>
          <a:xfrm>
            <a:off x="1426028" y="3367225"/>
            <a:ext cx="9008725" cy="26014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Shape 325"/>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a:ea typeface="Arial"/>
                <a:cs typeface="Arial"/>
                <a:sym typeface="Arial"/>
              </a:rPr>
              <a:t>Stack guard</a:t>
            </a:r>
          </a:p>
        </p:txBody>
      </p:sp>
      <p:pic>
        <p:nvPicPr>
          <p:cNvPr id="326" name="Shape 326"/>
          <p:cNvPicPr preferRelativeResize="0"/>
          <p:nvPr/>
        </p:nvPicPr>
        <p:blipFill>
          <a:blip r:embed="rId3">
            <a:alphaModFix/>
          </a:blip>
          <a:stretch>
            <a:fillRect/>
          </a:stretch>
        </p:blipFill>
        <p:spPr>
          <a:xfrm>
            <a:off x="7104900" y="1825625"/>
            <a:ext cx="5087100" cy="4351200"/>
          </a:xfrm>
          <a:prstGeom prst="rect">
            <a:avLst/>
          </a:prstGeom>
          <a:noFill/>
          <a:ln>
            <a:noFill/>
          </a:ln>
        </p:spPr>
      </p:pic>
      <p:pic>
        <p:nvPicPr>
          <p:cNvPr id="327" name="Shape 327"/>
          <p:cNvPicPr preferRelativeResize="0"/>
          <p:nvPr/>
        </p:nvPicPr>
        <p:blipFill>
          <a:blip r:embed="rId4">
            <a:alphaModFix/>
          </a:blip>
          <a:stretch>
            <a:fillRect/>
          </a:stretch>
        </p:blipFill>
        <p:spPr>
          <a:xfrm>
            <a:off x="1003951" y="1709525"/>
            <a:ext cx="4905974" cy="4583400"/>
          </a:xfrm>
          <a:prstGeom prst="rect">
            <a:avLst/>
          </a:prstGeom>
          <a:noFill/>
          <a:ln>
            <a:noFill/>
          </a:ln>
        </p:spPr>
      </p:pic>
      <p:sp>
        <p:nvSpPr>
          <p:cNvPr id="328" name="Shape 328"/>
          <p:cNvSpPr/>
          <p:nvPr/>
        </p:nvSpPr>
        <p:spPr>
          <a:xfrm>
            <a:off x="1450325" y="2803975"/>
            <a:ext cx="2776200" cy="455700"/>
          </a:xfrm>
          <a:prstGeom prst="rect">
            <a:avLst/>
          </a:prstGeom>
          <a:noFill/>
          <a:ln w="9525" cap="flat" cmpd="sng">
            <a:solidFill>
              <a:srgbClr val="FF0000"/>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Shape 333"/>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rtl="0">
              <a:spcBef>
                <a:spcPts val="0"/>
              </a:spcBef>
              <a:buNone/>
            </a:pPr>
            <a:r>
              <a:rPr lang="en-US">
                <a:latin typeface="Arial"/>
                <a:ea typeface="Arial"/>
                <a:cs typeface="Arial"/>
                <a:sym typeface="Arial"/>
              </a:rPr>
              <a:t>Execution with StackGuard</a:t>
            </a:r>
          </a:p>
        </p:txBody>
      </p:sp>
      <p:pic>
        <p:nvPicPr>
          <p:cNvPr id="334" name="Shape 334"/>
          <p:cNvPicPr preferRelativeResize="0"/>
          <p:nvPr/>
        </p:nvPicPr>
        <p:blipFill>
          <a:blip r:embed="rId3">
            <a:alphaModFix/>
          </a:blip>
          <a:stretch>
            <a:fillRect/>
          </a:stretch>
        </p:blipFill>
        <p:spPr>
          <a:xfrm>
            <a:off x="838200" y="1825629"/>
            <a:ext cx="7756504" cy="1853742"/>
          </a:xfrm>
          <a:prstGeom prst="rect">
            <a:avLst/>
          </a:prstGeom>
          <a:noFill/>
          <a:ln>
            <a:noFill/>
          </a:ln>
        </p:spPr>
      </p:pic>
      <p:pic>
        <p:nvPicPr>
          <p:cNvPr id="335" name="Shape 335"/>
          <p:cNvPicPr preferRelativeResize="0"/>
          <p:nvPr/>
        </p:nvPicPr>
        <p:blipFill>
          <a:blip r:embed="rId4">
            <a:alphaModFix/>
          </a:blip>
          <a:stretch>
            <a:fillRect/>
          </a:stretch>
        </p:blipFill>
        <p:spPr>
          <a:xfrm>
            <a:off x="8677600" y="176200"/>
            <a:ext cx="3390900" cy="6505575"/>
          </a:xfrm>
          <a:prstGeom prst="rect">
            <a:avLst/>
          </a:prstGeom>
          <a:noFill/>
          <a:ln>
            <a:noFill/>
          </a:ln>
        </p:spPr>
      </p:pic>
      <p:pic>
        <p:nvPicPr>
          <p:cNvPr id="336" name="Shape 336"/>
          <p:cNvPicPr preferRelativeResize="0"/>
          <p:nvPr/>
        </p:nvPicPr>
        <p:blipFill>
          <a:blip r:embed="rId5">
            <a:alphaModFix amt="26000"/>
          </a:blip>
          <a:stretch>
            <a:fillRect/>
          </a:stretch>
        </p:blipFill>
        <p:spPr>
          <a:xfrm>
            <a:off x="8771525" y="2832047"/>
            <a:ext cx="219075" cy="2541075"/>
          </a:xfrm>
          <a:prstGeom prst="rect">
            <a:avLst/>
          </a:prstGeom>
          <a:noFill/>
          <a:ln>
            <a:noFill/>
          </a:ln>
        </p:spPr>
      </p:pic>
      <p:cxnSp>
        <p:nvCxnSpPr>
          <p:cNvPr id="337" name="Shape 337"/>
          <p:cNvCxnSpPr/>
          <p:nvPr/>
        </p:nvCxnSpPr>
        <p:spPr>
          <a:xfrm rot="10800000" flipH="1">
            <a:off x="6257225" y="4088938"/>
            <a:ext cx="2514300" cy="27300"/>
          </a:xfrm>
          <a:prstGeom prst="straightConnector1">
            <a:avLst/>
          </a:prstGeom>
          <a:noFill/>
          <a:ln w="9525" cap="flat" cmpd="sng">
            <a:solidFill>
              <a:srgbClr val="FF0000"/>
            </a:solidFill>
            <a:prstDash val="solid"/>
            <a:round/>
            <a:headEnd type="none" w="lg" len="lg"/>
            <a:tailEnd type="triangle" w="lg" len="lg"/>
          </a:ln>
        </p:spPr>
      </p:cxnSp>
      <p:sp>
        <p:nvSpPr>
          <p:cNvPr id="338" name="Shape 338"/>
          <p:cNvSpPr txBox="1"/>
          <p:nvPr/>
        </p:nvSpPr>
        <p:spPr>
          <a:xfrm>
            <a:off x="1367525" y="3891850"/>
            <a:ext cx="4889700" cy="1118700"/>
          </a:xfrm>
          <a:prstGeom prst="rect">
            <a:avLst/>
          </a:prstGeom>
          <a:noFill/>
          <a:ln>
            <a:noFill/>
          </a:ln>
        </p:spPr>
        <p:txBody>
          <a:bodyPr wrap="square" lIns="91425" tIns="91425" rIns="91425" bIns="91425" anchor="t" anchorCtr="0">
            <a:noAutofit/>
          </a:bodyPr>
          <a:lstStyle/>
          <a:p>
            <a:pPr marL="0" lvl="0" indent="0">
              <a:spcBef>
                <a:spcPts val="0"/>
              </a:spcBef>
              <a:buNone/>
            </a:pPr>
            <a:r>
              <a:rPr lang="en-US" sz="2400"/>
              <a:t>Canary check done by compiler.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Defeating Countermeasures in bash &amp; dash</a:t>
            </a:r>
          </a:p>
        </p:txBody>
      </p:sp>
      <p:sp>
        <p:nvSpPr>
          <p:cNvPr id="3" name="Text Placeholder 2"/>
          <p:cNvSpPr>
            <a:spLocks noGrp="1"/>
          </p:cNvSpPr>
          <p:nvPr>
            <p:ph type="body" idx="1"/>
          </p:nvPr>
        </p:nvSpPr>
        <p:spPr>
          <a:xfrm>
            <a:off x="838200" y="1825625"/>
            <a:ext cx="10515600" cy="2318992"/>
          </a:xfrm>
        </p:spPr>
        <p:txBody>
          <a:bodyPr/>
          <a:lstStyle/>
          <a:p>
            <a:r>
              <a:rPr lang="en-US" dirty="0"/>
              <a:t> They turn the </a:t>
            </a:r>
            <a:r>
              <a:rPr lang="en-US" dirty="0" err="1"/>
              <a:t>setuid</a:t>
            </a:r>
            <a:r>
              <a:rPr lang="en-US" dirty="0"/>
              <a:t> process into a non-</a:t>
            </a:r>
            <a:r>
              <a:rPr lang="en-US" dirty="0" err="1"/>
              <a:t>setuid</a:t>
            </a:r>
            <a:r>
              <a:rPr lang="en-US" dirty="0"/>
              <a:t> process</a:t>
            </a:r>
          </a:p>
          <a:p>
            <a:pPr lvl="1"/>
            <a:r>
              <a:rPr lang="en-US" dirty="0"/>
              <a:t> They set the effective user ID to the real user ID, dropping the privilege</a:t>
            </a:r>
          </a:p>
          <a:p>
            <a:r>
              <a:rPr lang="en-US" dirty="0"/>
              <a:t>  Idea: before running them, we set the real user ID to 0</a:t>
            </a:r>
          </a:p>
          <a:p>
            <a:pPr lvl="1"/>
            <a:r>
              <a:rPr lang="en-US" dirty="0"/>
              <a:t> Invoke </a:t>
            </a:r>
            <a:r>
              <a:rPr lang="en-US" dirty="0" err="1"/>
              <a:t>setuid</a:t>
            </a:r>
            <a:r>
              <a:rPr lang="en-US" dirty="0"/>
              <a:t>(0)</a:t>
            </a:r>
          </a:p>
          <a:p>
            <a:pPr lvl="1"/>
            <a:r>
              <a:rPr lang="en-US" dirty="0"/>
              <a:t> We can do this at the beginning of the </a:t>
            </a:r>
            <a:r>
              <a:rPr lang="en-US" dirty="0" err="1"/>
              <a:t>shellcode</a:t>
            </a:r>
            <a:endParaRPr lang="en-US" dirty="0"/>
          </a:p>
        </p:txBody>
      </p:sp>
      <p:pic>
        <p:nvPicPr>
          <p:cNvPr id="5" name="Picture 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5566" y="4363278"/>
            <a:ext cx="9008511" cy="1451113"/>
          </a:xfrm>
          <a:prstGeom prst="rect">
            <a:avLst/>
          </a:prstGeom>
        </p:spPr>
      </p:pic>
    </p:spTree>
    <p:extLst>
      <p:ext uri="{BB962C8B-B14F-4D97-AF65-F5344CB8AC3E}">
        <p14:creationId xmlns:p14="http://schemas.microsoft.com/office/powerpoint/2010/main" val="24752219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Shape 343"/>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a:ea typeface="Arial"/>
                <a:cs typeface="Arial"/>
                <a:sym typeface="Arial"/>
              </a:rPr>
              <a:t>Non-executable stack</a:t>
            </a:r>
          </a:p>
        </p:txBody>
      </p:sp>
      <p:sp>
        <p:nvSpPr>
          <p:cNvPr id="344" name="Shape 344"/>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457200" lvl="0" indent="-406400">
              <a:spcBef>
                <a:spcPts val="0"/>
              </a:spcBef>
              <a:buSzPts val="2800"/>
              <a:buFont typeface="Arial"/>
              <a:buChar char="•"/>
            </a:pPr>
            <a:r>
              <a:rPr lang="en-US" dirty="0">
                <a:latin typeface="Arial"/>
                <a:ea typeface="Arial"/>
                <a:cs typeface="Arial"/>
                <a:sym typeface="Arial"/>
              </a:rPr>
              <a:t>NX bit, standing for No-</a:t>
            </a:r>
            <a:r>
              <a:rPr lang="en-US" dirty="0" err="1">
                <a:latin typeface="Arial"/>
                <a:ea typeface="Arial"/>
                <a:cs typeface="Arial"/>
                <a:sym typeface="Arial"/>
              </a:rPr>
              <a:t>eXecute</a:t>
            </a:r>
            <a:r>
              <a:rPr lang="en-US" dirty="0">
                <a:latin typeface="Arial"/>
                <a:ea typeface="Arial"/>
                <a:cs typeface="Arial"/>
                <a:sym typeface="Arial"/>
              </a:rPr>
              <a:t> feature in CPU separates code from data which marks certain areas of the memory as non-executable.</a:t>
            </a:r>
          </a:p>
          <a:p>
            <a:pPr marL="0" lvl="0" indent="0">
              <a:spcBef>
                <a:spcPts val="0"/>
              </a:spcBef>
              <a:buNone/>
            </a:pPr>
            <a:endParaRPr dirty="0">
              <a:latin typeface="Arial"/>
              <a:ea typeface="Arial"/>
              <a:cs typeface="Arial"/>
              <a:sym typeface="Arial"/>
            </a:endParaRPr>
          </a:p>
          <a:p>
            <a:pPr marL="457200" lvl="0" indent="-406400">
              <a:spcBef>
                <a:spcPts val="0"/>
              </a:spcBef>
              <a:buSzPts val="2800"/>
              <a:buFont typeface="Arial"/>
              <a:buChar char="•"/>
            </a:pPr>
            <a:r>
              <a:rPr lang="en-US" dirty="0">
                <a:latin typeface="Arial"/>
                <a:ea typeface="Arial"/>
                <a:cs typeface="Arial"/>
                <a:sym typeface="Arial"/>
              </a:rPr>
              <a:t>This countermeasure can be defeated using a different technique called </a:t>
            </a:r>
            <a:r>
              <a:rPr lang="en-US" b="1" dirty="0">
                <a:solidFill>
                  <a:srgbClr val="FF0000"/>
                </a:solidFill>
                <a:latin typeface="Arial"/>
                <a:ea typeface="Arial"/>
                <a:cs typeface="Arial"/>
                <a:sym typeface="Arial"/>
              </a:rPr>
              <a:t>Return-to-</a:t>
            </a:r>
            <a:r>
              <a:rPr lang="en-US" b="1" dirty="0" err="1">
                <a:solidFill>
                  <a:srgbClr val="FF0000"/>
                </a:solidFill>
                <a:latin typeface="Arial"/>
                <a:ea typeface="Arial"/>
                <a:cs typeface="Arial"/>
                <a:sym typeface="Arial"/>
              </a:rPr>
              <a:t>libc</a:t>
            </a:r>
            <a:r>
              <a:rPr lang="en-US" dirty="0">
                <a:latin typeface="Arial"/>
                <a:ea typeface="Arial"/>
                <a:cs typeface="Arial"/>
                <a:sym typeface="Arial"/>
              </a:rPr>
              <a:t> attack (there is a separate chapter on this attack)</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t>
            </a:r>
          </a:p>
        </p:txBody>
      </p:sp>
      <p:sp>
        <p:nvSpPr>
          <p:cNvPr id="3" name="Text Placeholder 2"/>
          <p:cNvSpPr>
            <a:spLocks noGrp="1"/>
          </p:cNvSpPr>
          <p:nvPr>
            <p:ph type="body" idx="1"/>
          </p:nvPr>
        </p:nvSpPr>
        <p:spPr/>
        <p:txBody>
          <a:bodyPr/>
          <a:lstStyle/>
          <a:p>
            <a:pPr marL="403225" indent="-225425"/>
            <a:r>
              <a:rPr lang="en-US" dirty="0"/>
              <a:t>Buffer overflow is a common security flaw</a:t>
            </a:r>
          </a:p>
          <a:p>
            <a:pPr marL="403225" indent="-225425"/>
            <a:r>
              <a:rPr lang="en-US" dirty="0"/>
              <a:t>We only focused on stack-based buffer overflow</a:t>
            </a:r>
          </a:p>
          <a:p>
            <a:pPr marL="860425" lvl="1" indent="-225425"/>
            <a:r>
              <a:rPr lang="en-US" dirty="0"/>
              <a:t>Heap-based buffer overflow can also lead to code injection </a:t>
            </a:r>
          </a:p>
          <a:p>
            <a:pPr marL="403225" indent="-225425"/>
            <a:r>
              <a:rPr lang="en-US" dirty="0"/>
              <a:t>Exploit buffer overflow to run injected code</a:t>
            </a:r>
          </a:p>
          <a:p>
            <a:pPr marL="403225" indent="-225425"/>
            <a:r>
              <a:rPr lang="en-US" dirty="0"/>
              <a:t>Defend against the attack</a:t>
            </a:r>
          </a:p>
        </p:txBody>
      </p:sp>
    </p:spTree>
    <p:extLst>
      <p:ext uri="{BB962C8B-B14F-4D97-AF65-F5344CB8AC3E}">
        <p14:creationId xmlns:p14="http://schemas.microsoft.com/office/powerpoint/2010/main" val="763732235"/>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TotalTime>
  <Words>2138</Words>
  <Application>Microsoft Office PowerPoint</Application>
  <PresentationFormat>Widescreen</PresentationFormat>
  <Paragraphs>224</Paragraphs>
  <Slides>36</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Courier New</vt:lpstr>
      <vt:lpstr>Office Theme</vt:lpstr>
      <vt:lpstr>Buffer Overflow Attack</vt:lpstr>
      <vt:lpstr>Outline</vt:lpstr>
      <vt:lpstr>Program Memory Stack</vt:lpstr>
      <vt:lpstr>Order of the function arguments in stack</vt:lpstr>
      <vt:lpstr>Function Call Stack</vt:lpstr>
      <vt:lpstr>Stack Layout for Function Call Chain</vt:lpstr>
      <vt:lpstr>Vulnerable Program</vt:lpstr>
      <vt:lpstr>Vulnerable Program</vt:lpstr>
      <vt:lpstr>Consequences of Buffer Overflow</vt:lpstr>
      <vt:lpstr>How to Run Malicious Code</vt:lpstr>
      <vt:lpstr>Environment Setup</vt:lpstr>
      <vt:lpstr>Creation of The Malicious Input (badfile)</vt:lpstr>
      <vt:lpstr>Task A : Distance Between Buffer Base Address and Return Address</vt:lpstr>
      <vt:lpstr>Task B : Address of Malicious Code</vt:lpstr>
      <vt:lpstr>Task B : Address of Malicious Code</vt:lpstr>
      <vt:lpstr>The Structure of badfile</vt:lpstr>
      <vt:lpstr>Badfile Construction</vt:lpstr>
      <vt:lpstr>New Address in Return Address</vt:lpstr>
      <vt:lpstr>Execution Results</vt:lpstr>
      <vt:lpstr>A Note on Countermeasure</vt:lpstr>
      <vt:lpstr>Shellcode</vt:lpstr>
      <vt:lpstr>Shelllcode</vt:lpstr>
      <vt:lpstr>Shellcode</vt:lpstr>
      <vt:lpstr>Shellcode</vt:lpstr>
      <vt:lpstr>Countermeasures</vt:lpstr>
      <vt:lpstr>Principle of ASLR</vt:lpstr>
      <vt:lpstr>Address Space Layout Randomization</vt:lpstr>
      <vt:lpstr>Address Space Layout Randomization : Working </vt:lpstr>
      <vt:lpstr>ASLR : Defeat It</vt:lpstr>
      <vt:lpstr>ASLR : Defeat It</vt:lpstr>
      <vt:lpstr>ASLR : Defeat it</vt:lpstr>
      <vt:lpstr>Stack guard</vt:lpstr>
      <vt:lpstr>Execution with StackGuard</vt:lpstr>
      <vt:lpstr>Defeating Countermeasures in bash &amp; dash</vt:lpstr>
      <vt:lpstr>Non-executable stack</vt:lpstr>
      <vt:lpstr>Summary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Buffer Overflow Attack</dc:title>
  <cp:lastModifiedBy>Faiyaz Sharif</cp:lastModifiedBy>
  <cp:revision>12</cp:revision>
  <dcterms:modified xsi:type="dcterms:W3CDTF">2025-07-13T11:23:02Z</dcterms:modified>
</cp:coreProperties>
</file>