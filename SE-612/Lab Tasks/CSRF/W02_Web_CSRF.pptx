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85"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84" r:id="rId24"/>
    <p:sldId id="275" r:id="rId25"/>
    <p:sldId id="276" r:id="rId26"/>
    <p:sldId id="277" r:id="rId27"/>
    <p:sldId id="278" r:id="rId28"/>
    <p:sldId id="279" r:id="rId29"/>
    <p:sldId id="283"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231" autoAdjust="0"/>
  </p:normalViewPr>
  <p:slideViewPr>
    <p:cSldViewPr snapToGrid="0">
      <p:cViewPr varScale="1">
        <p:scale>
          <a:sx n="67" d="100"/>
          <a:sy n="67" d="100"/>
        </p:scale>
        <p:origin x="12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3" name="Shape 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2" name="Shape 8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 name="Shape 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Shape 10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1" name="Shape 10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Shape 1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7" name="Shape 10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Shape 1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4" name="Shape 11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
        <p:cNvGrpSpPr/>
        <p:nvPr/>
      </p:nvGrpSpPr>
      <p:grpSpPr>
        <a:xfrm>
          <a:off x="0" y="0"/>
          <a:ext cx="0" cy="0"/>
          <a:chOff x="0" y="0"/>
          <a:chExt cx="0" cy="0"/>
        </a:xfrm>
      </p:grpSpPr>
      <p:sp>
        <p:nvSpPr>
          <p:cNvPr id="119" name="Shape 1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0" name="Shape 12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7"/>
        <p:cNvGrpSpPr/>
        <p:nvPr/>
      </p:nvGrpSpPr>
      <p:grpSpPr>
        <a:xfrm>
          <a:off x="0" y="0"/>
          <a:ext cx="0" cy="0"/>
          <a:chOff x="0" y="0"/>
          <a:chExt cx="0" cy="0"/>
        </a:xfrm>
      </p:grpSpPr>
      <p:sp>
        <p:nvSpPr>
          <p:cNvPr id="128" name="Shape 1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9" name="Shape 12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Shape 1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8" name="Shape 13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Shape 14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4" name="Shape 14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Shape 1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2" name="Shape 1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0" name="Shape 16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4"/>
        <p:cNvGrpSpPr/>
        <p:nvPr/>
      </p:nvGrpSpPr>
      <p:grpSpPr>
        <a:xfrm>
          <a:off x="0" y="0"/>
          <a:ext cx="0" cy="0"/>
          <a:chOff x="0" y="0"/>
          <a:chExt cx="0" cy="0"/>
        </a:xfrm>
      </p:grpSpPr>
      <p:sp>
        <p:nvSpPr>
          <p:cNvPr id="165" name="Shape 16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6" name="Shape 16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4" name="Shape 17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8"/>
        <p:cNvGrpSpPr/>
        <p:nvPr/>
      </p:nvGrpSpPr>
      <p:grpSpPr>
        <a:xfrm>
          <a:off x="0" y="0"/>
          <a:ext cx="0" cy="0"/>
          <a:chOff x="0" y="0"/>
          <a:chExt cx="0" cy="0"/>
        </a:xfrm>
      </p:grpSpPr>
      <p:sp>
        <p:nvSpPr>
          <p:cNvPr id="179" name="Shape 1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0" name="Shape 1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6"/>
        <p:cNvGrpSpPr/>
        <p:nvPr/>
      </p:nvGrpSpPr>
      <p:grpSpPr>
        <a:xfrm>
          <a:off x="0" y="0"/>
          <a:ext cx="0" cy="0"/>
          <a:chOff x="0" y="0"/>
          <a:chExt cx="0" cy="0"/>
        </a:xfrm>
      </p:grpSpPr>
      <p:sp>
        <p:nvSpPr>
          <p:cNvPr id="187" name="Shape 1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8" name="Shape 18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2"/>
        <p:cNvGrpSpPr/>
        <p:nvPr/>
      </p:nvGrpSpPr>
      <p:grpSpPr>
        <a:xfrm>
          <a:off x="0" y="0"/>
          <a:ext cx="0" cy="0"/>
          <a:chOff x="0" y="0"/>
          <a:chExt cx="0" cy="0"/>
        </a:xfrm>
      </p:grpSpPr>
      <p:sp>
        <p:nvSpPr>
          <p:cNvPr id="193" name="Shape 1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4" name="Shape 19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Shape 1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0" name="Shape 20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6" name="Shape 2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2"/>
        <p:cNvGrpSpPr/>
        <p:nvPr/>
      </p:nvGrpSpPr>
      <p:grpSpPr>
        <a:xfrm>
          <a:off x="0" y="0"/>
          <a:ext cx="0" cy="0"/>
          <a:chOff x="0" y="0"/>
          <a:chExt cx="0" cy="0"/>
        </a:xfrm>
      </p:grpSpPr>
      <p:sp>
        <p:nvSpPr>
          <p:cNvPr id="213" name="Shape 2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4" name="Shape 21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DB9FE1E-33B0-4576-B83C-AF06E2893BA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DB9FE1E-33B0-4576-B83C-AF06E2893BA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DB9FE1E-33B0-4576-B83C-AF06E2893BA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2DB9FE1E-33B0-4576-B83C-AF06E2893BA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DB9FE1E-33B0-4576-B83C-AF06E2893BA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2DB9FE1E-33B0-4576-B83C-AF06E2893BA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B9FE1E-33B0-4576-B83C-AF06E2893BA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spcBef>
                <a:spcPts val="0"/>
              </a:spcBef>
              <a:buNone/>
            </a:pPr>
            <a:fld id="{00000000-1234-1234-1234-123412341234}"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DB9FE1E-33B0-4576-B83C-AF06E2893BA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DB9FE1E-33B0-4576-B83C-AF06E2893BA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DB9FE1E-33B0-4576-B83C-AF06E2893BA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DB9FE1E-33B0-4576-B83C-AF06E2893BA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18" name="Shape 18"/>
          <p:cNvSpPr txBox="1">
            <a:spLocks noGrp="1"/>
          </p:cNvSpPr>
          <p:nvPr>
            <p:ph type="body" idx="1"/>
          </p:nvPr>
        </p:nvSpPr>
        <p:spPr>
          <a:xfrm>
            <a:off x="311700" y="1152475"/>
            <a:ext cx="8520600" cy="34164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p:txBody>
      </p:sp>
      <p:sp>
        <p:nvSpPr>
          <p:cNvPr id="19" name="Shape 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DB9FE1E-33B0-4576-B83C-AF06E2893BAE}" type="datetimeFigureOut">
              <a:rPr lang="en-US" smtClean="0"/>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a:spcBef>
                <a:spcPts val="0"/>
              </a:spcBef>
              <a:buNone/>
            </a:pPr>
            <a:fld id="{00000000-1234-1234-1234-123412341234}" type="slidenum">
              <a:rPr lang="en-GB" sz="1000" smtClean="0">
                <a:solidFill>
                  <a:schemeClr val="dk2"/>
                </a:solidFill>
              </a:rPr>
            </a:fld>
            <a:endParaRPr lang="en-GB" sz="1000">
              <a:solidFill>
                <a:schemeClr val="dk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hyperlink" Target="http://www.csrflabattacker.com" TargetMode="External"/><Relationship Id="rId1" Type="http://schemas.openxmlformats.org/officeDocument/2006/relationships/hyperlink" Target="http://www.csrflabelgg.com" TargetMode="Externa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hyperlink" Target="http://www.bank32.com/transfer.php?to=3220&amp;amount=500" TargetMode="External"/><Relationship Id="rId1" Type="http://schemas.openxmlformats.org/officeDocument/2006/relationships/hyperlink" Target="http://www.bank32.com"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hyperlink" Target="http://www.csrflabattacker.com" TargetMode="Externa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14.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hyperlink" Target="http://www.csrflabelgg.com/action/profile/edit" TargetMode="Externa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p:spPr>
        <p:txBody>
          <a:bodyPr wrap="square" lIns="91425" tIns="91425" rIns="91425" bIns="91425" anchor="b" anchorCtr="0">
            <a:noAutofit/>
          </a:bodyPr>
          <a:lstStyle/>
          <a:p>
            <a:pPr marL="0" lvl="0" indent="0">
              <a:spcBef>
                <a:spcPts val="0"/>
              </a:spcBef>
              <a:buNone/>
            </a:pPr>
            <a:r>
              <a:rPr lang="en-GB" dirty="0"/>
              <a:t>Cross Site Request Forgery</a:t>
            </a:r>
            <a:br>
              <a:rPr lang="en-GB" dirty="0"/>
            </a:br>
            <a:r>
              <a:rPr lang="en-GB" dirty="0"/>
              <a:t>(CSRF)</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Outline</a:t>
            </a:r>
            <a:endParaRPr lang="en-GB"/>
          </a:p>
        </p:txBody>
      </p:sp>
      <p:sp>
        <p:nvSpPr>
          <p:cNvPr id="60" name="Shape 60"/>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en-GB">
                <a:solidFill>
                  <a:srgbClr val="000000"/>
                </a:solidFill>
              </a:rPr>
              <a:t>Cross-Site Requests and Its Problems</a:t>
            </a:r>
            <a:endParaRPr lang="en-GB">
              <a:solidFill>
                <a:srgbClr val="000000"/>
              </a:solidFill>
            </a:endParaRPr>
          </a:p>
          <a:p>
            <a:pPr marL="457200" lvl="0" indent="-342900">
              <a:spcBef>
                <a:spcPts val="0"/>
              </a:spcBef>
              <a:spcAft>
                <a:spcPts val="0"/>
              </a:spcAft>
              <a:buClr>
                <a:srgbClr val="000000"/>
              </a:buClr>
              <a:buSzPts val="1800"/>
              <a:buChar char="●"/>
            </a:pPr>
            <a:r>
              <a:rPr lang="en-GB">
                <a:solidFill>
                  <a:srgbClr val="000000"/>
                </a:solidFill>
              </a:rPr>
              <a:t>Cross-Site Request Forgery Attack</a:t>
            </a:r>
            <a:endParaRPr lang="en-GB">
              <a:solidFill>
                <a:srgbClr val="000000"/>
              </a:solidFill>
            </a:endParaRPr>
          </a:p>
          <a:p>
            <a:pPr marL="457200" lvl="0" indent="-342900">
              <a:spcBef>
                <a:spcPts val="0"/>
              </a:spcBef>
              <a:spcAft>
                <a:spcPts val="0"/>
              </a:spcAft>
              <a:buClr>
                <a:srgbClr val="000000"/>
              </a:buClr>
              <a:buSzPts val="1800"/>
              <a:buChar char="●"/>
            </a:pPr>
            <a:r>
              <a:rPr lang="en-GB">
                <a:solidFill>
                  <a:srgbClr val="000000"/>
                </a:solidFill>
              </a:rPr>
              <a:t>CSRF Attacks on HTTP GET</a:t>
            </a:r>
            <a:endParaRPr lang="en-GB">
              <a:solidFill>
                <a:srgbClr val="000000"/>
              </a:solidFill>
            </a:endParaRPr>
          </a:p>
          <a:p>
            <a:pPr marL="457200" lvl="0" indent="-342900">
              <a:spcBef>
                <a:spcPts val="0"/>
              </a:spcBef>
              <a:spcAft>
                <a:spcPts val="0"/>
              </a:spcAft>
              <a:buClr>
                <a:srgbClr val="000000"/>
              </a:buClr>
              <a:buSzPts val="1800"/>
              <a:buChar char="●"/>
            </a:pPr>
            <a:r>
              <a:rPr lang="en-GB">
                <a:solidFill>
                  <a:srgbClr val="000000"/>
                </a:solidFill>
              </a:rPr>
              <a:t>CSRF Attacks on HTTP POST</a:t>
            </a:r>
            <a:endParaRPr lang="en-GB">
              <a:solidFill>
                <a:srgbClr val="000000"/>
              </a:solidFill>
            </a:endParaRPr>
          </a:p>
          <a:p>
            <a:pPr marL="457200" lvl="0" indent="-342900">
              <a:spcBef>
                <a:spcPts val="0"/>
              </a:spcBef>
              <a:buClr>
                <a:srgbClr val="000000"/>
              </a:buClr>
              <a:buSzPts val="1800"/>
              <a:buChar char="●"/>
            </a:pPr>
            <a:r>
              <a:rPr lang="en-GB">
                <a:solidFill>
                  <a:srgbClr val="000000"/>
                </a:solidFill>
              </a:rPr>
              <a:t>Countermeasures</a:t>
            </a:r>
            <a:endParaRPr lang="en-GB">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311700" y="417525"/>
            <a:ext cx="8520600" cy="572700"/>
          </a:xfrm>
          <a:prstGeom prst="rect">
            <a:avLst/>
          </a:prstGeom>
        </p:spPr>
        <p:txBody>
          <a:bodyPr wrap="square" lIns="91425" tIns="91425" rIns="91425" bIns="91425" anchor="t" anchorCtr="0">
            <a:noAutofit/>
          </a:bodyPr>
          <a:lstStyle/>
          <a:p>
            <a:pPr marL="0" lvl="0" indent="0">
              <a:spcBef>
                <a:spcPts val="0"/>
              </a:spcBef>
              <a:buNone/>
            </a:pPr>
            <a:r>
              <a:rPr lang="en-GB"/>
              <a:t>Cross-Site Requests and Its Problems</a:t>
            </a:r>
            <a:endParaRPr lang="en-GB"/>
          </a:p>
        </p:txBody>
      </p:sp>
      <p:pic>
        <p:nvPicPr>
          <p:cNvPr id="66" name="Shape 66"/>
          <p:cNvPicPr preferRelativeResize="0"/>
          <p:nvPr/>
        </p:nvPicPr>
        <p:blipFill>
          <a:blip r:embed="rId1"/>
          <a:stretch>
            <a:fillRect/>
          </a:stretch>
        </p:blipFill>
        <p:spPr>
          <a:xfrm>
            <a:off x="152400" y="1170125"/>
            <a:ext cx="4514125" cy="3028551"/>
          </a:xfrm>
          <a:prstGeom prst="rect">
            <a:avLst/>
          </a:prstGeom>
          <a:noFill/>
          <a:ln>
            <a:noFill/>
          </a:ln>
        </p:spPr>
      </p:pic>
      <p:sp>
        <p:nvSpPr>
          <p:cNvPr id="67" name="Shape 67"/>
          <p:cNvSpPr txBox="1"/>
          <p:nvPr/>
        </p:nvSpPr>
        <p:spPr>
          <a:xfrm>
            <a:off x="4742400" y="990225"/>
            <a:ext cx="4089900" cy="3954300"/>
          </a:xfrm>
          <a:prstGeom prst="rect">
            <a:avLst/>
          </a:prstGeom>
          <a:noFill/>
          <a:ln>
            <a:noFill/>
          </a:ln>
        </p:spPr>
        <p:txBody>
          <a:bodyPr wrap="square" lIns="91425" tIns="91425" rIns="91425" bIns="91425" anchor="t" anchorCtr="0">
            <a:noAutofit/>
          </a:bodyPr>
          <a:lstStyle/>
          <a:p>
            <a:pPr marL="457200" lvl="0" indent="-342900">
              <a:spcBef>
                <a:spcPts val="0"/>
              </a:spcBef>
              <a:spcAft>
                <a:spcPts val="0"/>
              </a:spcAft>
              <a:buSzPts val="1800"/>
              <a:buChar char="●"/>
            </a:pPr>
            <a:r>
              <a:rPr lang="en-GB" sz="1800" dirty="0"/>
              <a:t>When a page from a website sends an HTTP request back to the website, it is called same-site request.</a:t>
            </a:r>
            <a:endParaRPr lang="en-GB" sz="1800" dirty="0"/>
          </a:p>
          <a:p>
            <a:pPr marL="457200" lvl="0" indent="-342900" rtl="0">
              <a:spcBef>
                <a:spcPts val="0"/>
              </a:spcBef>
              <a:buSzPts val="1800"/>
              <a:buChar char="●"/>
            </a:pPr>
            <a:r>
              <a:rPr lang="en-GB" sz="1800" dirty="0"/>
              <a:t>If a request is sent to a different website, it is called cross-site request because the where the page comes from and where the request goes are different.</a:t>
            </a:r>
            <a:endParaRPr lang="en-GB" sz="1800" dirty="0"/>
          </a:p>
          <a:p>
            <a:pPr marL="0" lvl="0" indent="0" rtl="0">
              <a:spcBef>
                <a:spcPts val="0"/>
              </a:spcBef>
              <a:buNone/>
            </a:pPr>
            <a:endParaRPr sz="1800" dirty="0"/>
          </a:p>
          <a:p>
            <a:pPr marL="0" lvl="0" indent="0">
              <a:spcBef>
                <a:spcPts val="0"/>
              </a:spcBef>
              <a:buNone/>
            </a:pPr>
            <a:r>
              <a:rPr lang="en-GB" sz="1800" dirty="0" err="1"/>
              <a:t>Eg</a:t>
            </a:r>
            <a:r>
              <a:rPr lang="en-GB" sz="1800" dirty="0"/>
              <a:t> : A webpage (not Facebook) can include a Facebook link, so when users click on the link, HTTP request is sent to Facebook.</a:t>
            </a:r>
            <a:endParaRPr lang="en-GB" sz="1800" dirty="0"/>
          </a:p>
          <a:p>
            <a:pPr marL="0" lvl="0" indent="0">
              <a:spcBef>
                <a:spcPts val="0"/>
              </a:spcBef>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Cross-Site Requests and Its Problems</a:t>
            </a:r>
            <a:endParaRPr lang="en-GB" dirty="0"/>
          </a:p>
          <a:p>
            <a:pPr marL="0" lvl="0" indent="0">
              <a:spcBef>
                <a:spcPts val="0"/>
              </a:spcBef>
              <a:buNone/>
            </a:pPr>
            <a:endParaRPr dirty="0"/>
          </a:p>
        </p:txBody>
      </p:sp>
      <p:sp>
        <p:nvSpPr>
          <p:cNvPr id="73" name="Shape 73"/>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When a request is sent to example.com from a page coming from example.com, the browser attaches all the cookies belonging to example.com.</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Now, when a request is sent to example.com from another site (different from example.com), the browser will attach the cookies too.</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Because of above behaviour of the browsers, the server cannot distinguish between the same-site and cross-site requests</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It is possible for third-party websites to forge requests that are exactly the same as the same-site requests.</a:t>
            </a:r>
            <a:endParaRPr lang="en-GB" dirty="0">
              <a:solidFill>
                <a:srgbClr val="000000"/>
              </a:solidFill>
            </a:endParaRPr>
          </a:p>
          <a:p>
            <a:pPr marL="457200" lvl="0" indent="-342900">
              <a:spcBef>
                <a:spcPts val="0"/>
              </a:spcBef>
              <a:buClr>
                <a:srgbClr val="000000"/>
              </a:buClr>
              <a:buSzPts val="1800"/>
              <a:buChar char="●"/>
            </a:pPr>
            <a:r>
              <a:rPr lang="en-GB" dirty="0">
                <a:solidFill>
                  <a:srgbClr val="000000"/>
                </a:solidFill>
              </a:rPr>
              <a:t>This is called </a:t>
            </a:r>
            <a:r>
              <a:rPr lang="en-GB" b="1" dirty="0">
                <a:solidFill>
                  <a:srgbClr val="000000"/>
                </a:solidFill>
              </a:rPr>
              <a:t>Cross-Site Request Forgery (CSRF).</a:t>
            </a:r>
            <a:endParaRPr lang="en-GB" b="1"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How a CSRF attack works</a:t>
            </a:r>
            <a:endParaRPr lang="en-GB" dirty="0"/>
          </a:p>
          <a:p>
            <a:pPr marL="0" lvl="0" indent="0">
              <a:spcBef>
                <a:spcPts val="0"/>
              </a:spcBef>
              <a:buNone/>
            </a:pPr>
            <a:endParaRPr dirty="0"/>
          </a:p>
        </p:txBody>
      </p:sp>
      <p:pic>
        <p:nvPicPr>
          <p:cNvPr id="4" name="Picture 3"/>
          <p:cNvPicPr>
            <a:picLocks noChangeAspect="1"/>
          </p:cNvPicPr>
          <p:nvPr/>
        </p:nvPicPr>
        <p:blipFill>
          <a:blip r:embed="rId1"/>
          <a:stretch>
            <a:fillRect/>
          </a:stretch>
        </p:blipFill>
        <p:spPr>
          <a:xfrm>
            <a:off x="1371600" y="1295555"/>
            <a:ext cx="4905375" cy="3671732"/>
          </a:xfrm>
          <a:prstGeom prst="rect">
            <a:avLst/>
          </a:prstGeom>
        </p:spPr>
      </p:pic>
      <p:sp>
        <p:nvSpPr>
          <p:cNvPr id="3" name="Text Placeholder 2"/>
          <p:cNvSpPr>
            <a:spLocks noGrp="1"/>
          </p:cNvSpPr>
          <p:nvPr>
            <p:ph type="body" idx="1"/>
          </p:nvPr>
        </p:nvSpPr>
        <p:spPr/>
        <p:txBody>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Cross-Site Request Forgery Attack</a:t>
            </a:r>
            <a:endParaRPr lang="en-GB"/>
          </a:p>
        </p:txBody>
      </p:sp>
      <p:sp>
        <p:nvSpPr>
          <p:cNvPr id="79" name="Shape 79"/>
          <p:cNvSpPr txBox="1">
            <a:spLocks noGrp="1"/>
          </p:cNvSpPr>
          <p:nvPr>
            <p:ph type="body" idx="1"/>
          </p:nvPr>
        </p:nvSpPr>
        <p:spPr>
          <a:xfrm>
            <a:off x="311700" y="1152475"/>
            <a:ext cx="8520600" cy="3821400"/>
          </a:xfrm>
          <a:prstGeom prst="rect">
            <a:avLst/>
          </a:prstGeom>
        </p:spPr>
        <p:txBody>
          <a:bodyPr wrap="square" lIns="91425" tIns="91425" rIns="91425" bIns="91425" anchor="t" anchorCtr="0">
            <a:noAutofit/>
          </a:bodyPr>
          <a:lstStyle/>
          <a:p>
            <a:pPr marL="0" lvl="0" indent="0" rtl="0">
              <a:spcBef>
                <a:spcPts val="0"/>
              </a:spcBef>
              <a:buNone/>
            </a:pPr>
            <a:r>
              <a:rPr lang="en-GB" u="sng" dirty="0">
                <a:solidFill>
                  <a:srgbClr val="000000"/>
                </a:solidFill>
              </a:rPr>
              <a:t>Environment Setup:</a:t>
            </a:r>
            <a:endParaRPr lang="en-GB" u="sng"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Target website</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Victim user who has an active session on the target website</a:t>
            </a:r>
            <a:endParaRPr lang="en-GB" dirty="0">
              <a:solidFill>
                <a:srgbClr val="000000"/>
              </a:solidFill>
            </a:endParaRPr>
          </a:p>
          <a:p>
            <a:pPr marL="457200" lvl="0" indent="-342900" rtl="0">
              <a:spcBef>
                <a:spcPts val="0"/>
              </a:spcBef>
              <a:buClr>
                <a:srgbClr val="000000"/>
              </a:buClr>
              <a:buSzPts val="1800"/>
              <a:buChar char="●"/>
            </a:pPr>
            <a:r>
              <a:rPr lang="en-GB" dirty="0">
                <a:solidFill>
                  <a:srgbClr val="000000"/>
                </a:solidFill>
              </a:rPr>
              <a:t>Malicious website controlled </a:t>
            </a:r>
            <a:endParaRPr lang="en-GB" dirty="0">
              <a:solidFill>
                <a:srgbClr val="000000"/>
              </a:solidFill>
            </a:endParaRPr>
          </a:p>
          <a:p>
            <a:pPr marL="0" lvl="0" indent="0" rtl="0">
              <a:spcBef>
                <a:spcPts val="0"/>
              </a:spcBef>
              <a:buNone/>
            </a:pPr>
            <a:endParaRPr lang="en-GB" u="sng" dirty="0">
              <a:solidFill>
                <a:srgbClr val="000000"/>
              </a:solidFill>
            </a:endParaRPr>
          </a:p>
          <a:p>
            <a:pPr marL="0" lvl="0" indent="0" rtl="0">
              <a:spcBef>
                <a:spcPts val="0"/>
              </a:spcBef>
              <a:buNone/>
            </a:pPr>
            <a:r>
              <a:rPr lang="en-GB" u="sng" dirty="0">
                <a:solidFill>
                  <a:srgbClr val="000000"/>
                </a:solidFill>
              </a:rPr>
              <a:t>Steps:</a:t>
            </a:r>
            <a:endParaRPr lang="en-GB" u="sng" dirty="0">
              <a:solidFill>
                <a:srgbClr val="000000"/>
              </a:solidFill>
            </a:endParaRPr>
          </a:p>
          <a:p>
            <a:pPr marL="457200" lvl="0" indent="-342900" rtl="0">
              <a:spcBef>
                <a:spcPts val="0"/>
              </a:spcBef>
              <a:spcAft>
                <a:spcPts val="0"/>
              </a:spcAft>
              <a:buClr>
                <a:srgbClr val="000000"/>
              </a:buClr>
              <a:buSzPts val="1800"/>
              <a:buChar char="●"/>
            </a:pPr>
            <a:r>
              <a:rPr lang="en-GB" dirty="0">
                <a:solidFill>
                  <a:srgbClr val="000000"/>
                </a:solidFill>
              </a:rPr>
              <a:t>The attacker crafts a webpage that can forge a cross-site request to be sent to the targeted website.</a:t>
            </a:r>
            <a:endParaRPr lang="en-GB" dirty="0">
              <a:solidFill>
                <a:srgbClr val="000000"/>
              </a:solidFill>
            </a:endParaRPr>
          </a:p>
          <a:p>
            <a:pPr marL="457200" lvl="0" indent="-342900" rtl="0">
              <a:spcBef>
                <a:spcPts val="0"/>
              </a:spcBef>
              <a:buClr>
                <a:srgbClr val="000000"/>
              </a:buClr>
              <a:buSzPts val="1800"/>
              <a:buChar char="●"/>
            </a:pPr>
            <a:r>
              <a:rPr lang="en-GB" dirty="0">
                <a:solidFill>
                  <a:srgbClr val="000000"/>
                </a:solidFill>
              </a:rPr>
              <a:t>The attacker needs to attract the victim user to visit the malicious website.</a:t>
            </a:r>
            <a:endParaRPr lang="en-GB" dirty="0">
              <a:solidFill>
                <a:srgbClr val="000000"/>
              </a:solidFill>
            </a:endParaRPr>
          </a:p>
          <a:p>
            <a:pPr marL="457200" indent="-342900">
              <a:buClr>
                <a:srgbClr val="000000"/>
              </a:buClr>
            </a:pPr>
            <a:r>
              <a:rPr lang="en-GB" dirty="0">
                <a:solidFill>
                  <a:srgbClr val="000000"/>
                </a:solidFill>
              </a:rPr>
              <a:t>The victim is logged into the targeted website.</a:t>
            </a:r>
            <a:endParaRPr lang="en-GB" dirty="0">
              <a:solidFill>
                <a:srgbClr val="000000"/>
              </a:solidFill>
            </a:endParaRPr>
          </a:p>
          <a:p>
            <a:pPr marL="0" lvl="0" indent="0" rtl="0">
              <a:spcBef>
                <a:spcPts val="0"/>
              </a:spcBef>
              <a:buNone/>
            </a:pPr>
            <a:endParaRPr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Environment Setup</a:t>
            </a:r>
            <a:endParaRPr lang="en-GB"/>
          </a:p>
        </p:txBody>
      </p:sp>
      <p:sp>
        <p:nvSpPr>
          <p:cNvPr id="85" name="Shape 85"/>
          <p:cNvSpPr txBox="1">
            <a:spLocks noGrp="1"/>
          </p:cNvSpPr>
          <p:nvPr>
            <p:ph type="body" idx="1"/>
          </p:nvPr>
        </p:nvSpPr>
        <p:spPr>
          <a:xfrm>
            <a:off x="311700" y="1152475"/>
            <a:ext cx="8520600" cy="17388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err="1">
                <a:solidFill>
                  <a:srgbClr val="000000"/>
                </a:solidFill>
              </a:rPr>
              <a:t>Elgg</a:t>
            </a:r>
            <a:r>
              <a:rPr lang="en-GB" dirty="0">
                <a:solidFill>
                  <a:srgbClr val="000000"/>
                </a:solidFill>
              </a:rPr>
              <a:t>: open-source web application for social networking</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Countermeasures for CSRF is disabled by us in the VM</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Target website: </a:t>
            </a:r>
            <a:r>
              <a:rPr lang="en-GB" u="sng" dirty="0">
                <a:solidFill>
                  <a:srgbClr val="000000"/>
                </a:solidFill>
                <a:hlinkClick r:id="rId1"/>
              </a:rPr>
              <a:t>http://www.csrflabelgg.com</a:t>
            </a:r>
            <a:endParaRPr lang="en-GB" u="sng"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Attacker’s website: </a:t>
            </a:r>
            <a:r>
              <a:rPr lang="en-GB" u="sng" dirty="0">
                <a:solidFill>
                  <a:srgbClr val="000000"/>
                </a:solidFill>
                <a:hlinkClick r:id="rId2"/>
              </a:rPr>
              <a:t>http://www.csrflabattacker.com</a:t>
            </a:r>
            <a:endParaRPr lang="en-GB" u="sng" dirty="0">
              <a:solidFill>
                <a:srgbClr val="000000"/>
              </a:solidFill>
            </a:endParaRPr>
          </a:p>
          <a:p>
            <a:pPr marL="457200" lvl="0" indent="-342900">
              <a:spcBef>
                <a:spcPts val="0"/>
              </a:spcBef>
              <a:buClr>
                <a:srgbClr val="000000"/>
              </a:buClr>
              <a:buSzPts val="1800"/>
              <a:buChar char="●"/>
            </a:pPr>
            <a:r>
              <a:rPr lang="en-GB" dirty="0">
                <a:solidFill>
                  <a:srgbClr val="000000"/>
                </a:solidFill>
              </a:rPr>
              <a:t>These websites are hosted on </a:t>
            </a:r>
            <a:r>
              <a:rPr lang="en-GB" dirty="0" err="1">
                <a:solidFill>
                  <a:srgbClr val="000000"/>
                </a:solidFill>
              </a:rPr>
              <a:t>localhost</a:t>
            </a:r>
            <a:r>
              <a:rPr lang="en-GB" dirty="0">
                <a:solidFill>
                  <a:srgbClr val="000000"/>
                </a:solidFill>
              </a:rPr>
              <a:t> via Apache’s Virtual Hosting</a:t>
            </a:r>
            <a:endParaRPr lang="en-GB" dirty="0">
              <a:solidFill>
                <a:srgbClr val="000000"/>
              </a:solidFill>
            </a:endParaRPr>
          </a:p>
        </p:txBody>
      </p:sp>
      <p:pic>
        <p:nvPicPr>
          <p:cNvPr id="86" name="Shape 86"/>
          <p:cNvPicPr preferRelativeResize="0"/>
          <p:nvPr/>
        </p:nvPicPr>
        <p:blipFill>
          <a:blip r:embed="rId3"/>
          <a:stretch>
            <a:fillRect/>
          </a:stretch>
        </p:blipFill>
        <p:spPr>
          <a:xfrm>
            <a:off x="1111250" y="3026410"/>
            <a:ext cx="7087235" cy="17551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CSRF Attacks on HTTP Get Services</a:t>
            </a:r>
            <a:endParaRPr lang="en-GB"/>
          </a:p>
        </p:txBody>
      </p:sp>
      <p:sp>
        <p:nvSpPr>
          <p:cNvPr id="94" name="Shape 94"/>
          <p:cNvSpPr txBox="1"/>
          <p:nvPr/>
        </p:nvSpPr>
        <p:spPr>
          <a:xfrm>
            <a:off x="452421" y="1286862"/>
            <a:ext cx="8520600" cy="386100"/>
          </a:xfrm>
          <a:prstGeom prst="rect">
            <a:avLst/>
          </a:prstGeom>
          <a:noFill/>
          <a:ln>
            <a:noFill/>
          </a:ln>
        </p:spPr>
        <p:txBody>
          <a:bodyPr wrap="square" lIns="91425" tIns="91425" rIns="91425" bIns="91425" anchor="t" anchorCtr="0">
            <a:noAutofit/>
          </a:bodyPr>
          <a:lstStyle/>
          <a:p>
            <a:pPr marL="457200" lvl="0" indent="-317500">
              <a:spcBef>
                <a:spcPts val="0"/>
              </a:spcBef>
              <a:buSzPts val="1400"/>
              <a:buFont typeface="Wingdings" panose="05000000000000000000" pitchFamily="2" charset="2"/>
              <a:buChar char="q"/>
            </a:pPr>
            <a:r>
              <a:rPr lang="en-GB" sz="1800" dirty="0"/>
              <a:t>HTTP GET requests: data (foo and bar) are attached in the URL.</a:t>
            </a:r>
            <a:endParaRPr lang="en-GB" sz="1800" dirty="0"/>
          </a:p>
        </p:txBody>
      </p:sp>
      <p:grpSp>
        <p:nvGrpSpPr>
          <p:cNvPr id="3" name="Group 2"/>
          <p:cNvGrpSpPr/>
          <p:nvPr/>
        </p:nvGrpSpPr>
        <p:grpSpPr>
          <a:xfrm>
            <a:off x="635431" y="1805647"/>
            <a:ext cx="7873138" cy="686707"/>
            <a:chOff x="525138" y="2128575"/>
            <a:chExt cx="7873138" cy="686707"/>
          </a:xfrm>
        </p:grpSpPr>
        <p:pic>
          <p:nvPicPr>
            <p:cNvPr id="95" name="Shape 95"/>
            <p:cNvPicPr preferRelativeResize="0"/>
            <p:nvPr/>
          </p:nvPicPr>
          <p:blipFill>
            <a:blip r:embed="rId1"/>
            <a:stretch>
              <a:fillRect/>
            </a:stretch>
          </p:blipFill>
          <p:spPr>
            <a:xfrm>
              <a:off x="525138" y="2128575"/>
              <a:ext cx="7873126" cy="199625"/>
            </a:xfrm>
            <a:prstGeom prst="rect">
              <a:avLst/>
            </a:prstGeom>
            <a:noFill/>
            <a:ln>
              <a:noFill/>
            </a:ln>
          </p:spPr>
        </p:pic>
        <p:pic>
          <p:nvPicPr>
            <p:cNvPr id="96" name="Shape 96"/>
            <p:cNvPicPr preferRelativeResize="0"/>
            <p:nvPr/>
          </p:nvPicPr>
          <p:blipFill>
            <a:blip r:embed="rId2"/>
            <a:stretch>
              <a:fillRect/>
            </a:stretch>
          </p:blipFill>
          <p:spPr>
            <a:xfrm>
              <a:off x="525150" y="2328200"/>
              <a:ext cx="7873126" cy="487082"/>
            </a:xfrm>
            <a:prstGeom prst="rect">
              <a:avLst/>
            </a:prstGeom>
            <a:noFill/>
            <a:ln>
              <a:noFill/>
            </a:ln>
          </p:spPr>
        </p:pic>
      </p:grpSp>
      <p:sp>
        <p:nvSpPr>
          <p:cNvPr id="97" name="Shape 97"/>
          <p:cNvSpPr txBox="1"/>
          <p:nvPr/>
        </p:nvSpPr>
        <p:spPr>
          <a:xfrm>
            <a:off x="452421" y="2625039"/>
            <a:ext cx="8520600" cy="665728"/>
          </a:xfrm>
          <a:prstGeom prst="rect">
            <a:avLst/>
          </a:prstGeom>
          <a:noFill/>
          <a:ln>
            <a:noFill/>
          </a:ln>
        </p:spPr>
        <p:txBody>
          <a:bodyPr wrap="square" lIns="91425" tIns="91425" rIns="91425" bIns="91425" anchor="t" anchorCtr="0">
            <a:noAutofit/>
          </a:bodyPr>
          <a:lstStyle/>
          <a:p>
            <a:pPr marL="457200" lvl="0" indent="-317500" rtl="0">
              <a:spcBef>
                <a:spcPts val="0"/>
              </a:spcBef>
              <a:buSzPts val="1400"/>
              <a:buFont typeface="Wingdings" panose="05000000000000000000" pitchFamily="2" charset="2"/>
              <a:buChar char="q"/>
            </a:pPr>
            <a:r>
              <a:rPr lang="en-GB" sz="1800" dirty="0"/>
              <a:t>HTTP POST requests: data (foo and bar) are placed inside the data field of the HTTP request.</a:t>
            </a:r>
            <a:endParaRPr lang="en-GB" sz="1800" dirty="0"/>
          </a:p>
        </p:txBody>
      </p:sp>
      <p:pic>
        <p:nvPicPr>
          <p:cNvPr id="98" name="Shape 98"/>
          <p:cNvPicPr preferRelativeResize="0"/>
          <p:nvPr/>
        </p:nvPicPr>
        <p:blipFill>
          <a:blip r:embed="rId3"/>
          <a:stretch>
            <a:fillRect/>
          </a:stretch>
        </p:blipFill>
        <p:spPr>
          <a:xfrm>
            <a:off x="635432" y="3444431"/>
            <a:ext cx="7873125" cy="1108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Shape 103"/>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CSRF Attack on GET Requests - Basic Idea</a:t>
            </a:r>
            <a:endParaRPr lang="en-GB" dirty="0"/>
          </a:p>
        </p:txBody>
      </p:sp>
      <p:sp>
        <p:nvSpPr>
          <p:cNvPr id="104" name="Shape 104"/>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Consider an online banking web application </a:t>
            </a:r>
            <a:r>
              <a:rPr lang="en-GB" u="sng" dirty="0">
                <a:solidFill>
                  <a:srgbClr val="000000"/>
                </a:solidFill>
                <a:hlinkClick r:id="rId1"/>
              </a:rPr>
              <a:t>www.bank32.com</a:t>
            </a:r>
            <a:r>
              <a:rPr lang="en-GB" dirty="0">
                <a:solidFill>
                  <a:srgbClr val="000000"/>
                </a:solidFill>
              </a:rPr>
              <a:t> which allows users to transfer money from their accounts to other people’s accounts.</a:t>
            </a:r>
            <a:endParaRPr lang="en-GB" dirty="0">
              <a:solidFill>
                <a:srgbClr val="000000"/>
              </a:solidFill>
            </a:endParaRPr>
          </a:p>
          <a:p>
            <a:pPr marL="457200" lvl="0" indent="-342900">
              <a:spcBef>
                <a:spcPts val="0"/>
              </a:spcBef>
              <a:spcAft>
                <a:spcPts val="0"/>
              </a:spcAft>
              <a:buClr>
                <a:srgbClr val="000000"/>
              </a:buClr>
              <a:buSzPts val="1800"/>
              <a:buChar char="●"/>
            </a:pPr>
            <a:r>
              <a:rPr lang="en-GB" dirty="0">
                <a:solidFill>
                  <a:srgbClr val="000000"/>
                </a:solidFill>
              </a:rPr>
              <a:t>An user is logged in into the web application and has a session cookie which uniquely identifies the authenticated user.</a:t>
            </a:r>
            <a:endParaRPr lang="en-GB" dirty="0">
              <a:solidFill>
                <a:srgbClr val="000000"/>
              </a:solidFill>
            </a:endParaRPr>
          </a:p>
          <a:p>
            <a:pPr marL="457200" lvl="0" indent="-342900">
              <a:spcBef>
                <a:spcPts val="0"/>
              </a:spcBef>
              <a:buClr>
                <a:srgbClr val="000000"/>
              </a:buClr>
              <a:buSzPts val="1800"/>
              <a:buChar char="●"/>
            </a:pPr>
            <a:r>
              <a:rPr lang="en-GB" dirty="0">
                <a:solidFill>
                  <a:srgbClr val="000000"/>
                </a:solidFill>
              </a:rPr>
              <a:t>HTTP request to transfer $500 from his/her account to account 3220:</a:t>
            </a:r>
            <a:endParaRPr lang="en-GB" dirty="0">
              <a:solidFill>
                <a:srgbClr val="000000"/>
              </a:solidFill>
            </a:endParaRPr>
          </a:p>
          <a:p>
            <a:pPr marL="0" lvl="0" indent="457200" rtl="0">
              <a:spcBef>
                <a:spcPts val="0"/>
              </a:spcBef>
              <a:buNone/>
            </a:pPr>
            <a:r>
              <a:rPr lang="en-GB" u="sng" dirty="0">
                <a:solidFill>
                  <a:srgbClr val="000000"/>
                </a:solidFill>
                <a:hlinkClick r:id="rId2"/>
              </a:rPr>
              <a:t>http://www.bank32.com/transfer.php?to=3220&amp;amount=500</a:t>
            </a:r>
            <a:endParaRPr lang="en-GB" u="sng" dirty="0">
              <a:solidFill>
                <a:srgbClr val="000000"/>
              </a:solidFill>
            </a:endParaRPr>
          </a:p>
          <a:p>
            <a:pPr marL="457200" lvl="0" indent="-342900" rtl="0">
              <a:spcBef>
                <a:spcPts val="0"/>
              </a:spcBef>
              <a:buClr>
                <a:srgbClr val="000000"/>
              </a:buClr>
              <a:buSzPts val="1800"/>
              <a:buChar char="●"/>
            </a:pPr>
            <a:r>
              <a:rPr lang="en-GB" dirty="0">
                <a:solidFill>
                  <a:srgbClr val="000000"/>
                </a:solidFill>
              </a:rPr>
              <a:t>In order to perform the attack, the attacker needs to send out the forged request from the victim’s machine so that the browsers will attach the victim’s session cookies with the requests.</a:t>
            </a:r>
            <a:endParaRPr lang="en-GB"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Shape 109"/>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CSRF Attack on GET Requests - Basic Idea</a:t>
            </a:r>
            <a:endParaRPr lang="en-GB" dirty="0"/>
          </a:p>
        </p:txBody>
      </p:sp>
      <p:sp>
        <p:nvSpPr>
          <p:cNvPr id="110" name="Shape 110"/>
          <p:cNvSpPr txBox="1">
            <a:spLocks noGrp="1"/>
          </p:cNvSpPr>
          <p:nvPr>
            <p:ph type="body" idx="1"/>
          </p:nvPr>
        </p:nvSpPr>
        <p:spPr>
          <a:xfrm>
            <a:off x="311700" y="1152475"/>
            <a:ext cx="8520600" cy="1879800"/>
          </a:xfrm>
          <a:prstGeom prst="rect">
            <a:avLst/>
          </a:prstGeom>
        </p:spPr>
        <p:txBody>
          <a:bodyPr wrap="square" lIns="91425" tIns="91425" rIns="91425" bIns="91425" anchor="t" anchorCtr="0">
            <a:noAutofit/>
          </a:bodyPr>
          <a:lstStyle/>
          <a:p>
            <a:pPr>
              <a:spcAft>
                <a:spcPts val="600"/>
              </a:spcAft>
            </a:pPr>
            <a:r>
              <a:rPr lang="en-GB" dirty="0">
                <a:solidFill>
                  <a:srgbClr val="000000"/>
                </a:solidFill>
              </a:rPr>
              <a:t>The attacker can place the piece of code (to trigger request) in the form of </a:t>
            </a:r>
            <a:r>
              <a:rPr lang="en-GB" dirty="0" err="1">
                <a:solidFill>
                  <a:srgbClr val="000000"/>
                </a:solidFill>
              </a:rPr>
              <a:t>Javascript</a:t>
            </a:r>
            <a:r>
              <a:rPr lang="en-GB" dirty="0">
                <a:solidFill>
                  <a:srgbClr val="000000"/>
                </a:solidFill>
              </a:rPr>
              <a:t> code in the attacker’s web page.</a:t>
            </a:r>
            <a:endParaRPr lang="en-GB" dirty="0">
              <a:solidFill>
                <a:srgbClr val="000000"/>
              </a:solidFill>
            </a:endParaRPr>
          </a:p>
          <a:p>
            <a:pPr>
              <a:spcAft>
                <a:spcPts val="600"/>
              </a:spcAft>
            </a:pPr>
            <a:r>
              <a:rPr lang="en-GB" dirty="0">
                <a:solidFill>
                  <a:srgbClr val="000000"/>
                </a:solidFill>
              </a:rPr>
              <a:t>HTML tags like </a:t>
            </a:r>
            <a:r>
              <a:rPr lang="en-GB" dirty="0" err="1">
                <a:solidFill>
                  <a:srgbClr val="000000"/>
                </a:solidFill>
              </a:rPr>
              <a:t>img</a:t>
            </a:r>
            <a:r>
              <a:rPr lang="en-GB" dirty="0">
                <a:solidFill>
                  <a:srgbClr val="000000"/>
                </a:solidFill>
              </a:rPr>
              <a:t> and </a:t>
            </a:r>
            <a:r>
              <a:rPr lang="en-GB" dirty="0" err="1">
                <a:solidFill>
                  <a:srgbClr val="000000"/>
                </a:solidFill>
              </a:rPr>
              <a:t>iframe</a:t>
            </a:r>
            <a:r>
              <a:rPr lang="en-GB" dirty="0">
                <a:solidFill>
                  <a:srgbClr val="000000"/>
                </a:solidFill>
              </a:rPr>
              <a:t> can trigger GET requests to the URL specified in </a:t>
            </a:r>
            <a:r>
              <a:rPr lang="en-GB" dirty="0" err="1">
                <a:solidFill>
                  <a:srgbClr val="000000"/>
                </a:solidFill>
              </a:rPr>
              <a:t>src</a:t>
            </a:r>
            <a:r>
              <a:rPr lang="en-GB" dirty="0">
                <a:solidFill>
                  <a:srgbClr val="000000"/>
                </a:solidFill>
              </a:rPr>
              <a:t> attribute. Response for this request will be an image/webpage. </a:t>
            </a:r>
            <a:endParaRPr lang="en-GB" dirty="0">
              <a:solidFill>
                <a:srgbClr val="000000"/>
              </a:solidFill>
            </a:endParaRPr>
          </a:p>
        </p:txBody>
      </p:sp>
      <p:pic>
        <p:nvPicPr>
          <p:cNvPr id="111" name="Shape 111"/>
          <p:cNvPicPr preferRelativeResize="0"/>
          <p:nvPr/>
        </p:nvPicPr>
        <p:blipFill>
          <a:blip r:embed="rId1"/>
          <a:stretch>
            <a:fillRect/>
          </a:stretch>
        </p:blipFill>
        <p:spPr>
          <a:xfrm>
            <a:off x="406388" y="3236767"/>
            <a:ext cx="8425912" cy="12964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Attack on Elgg’s Add-Friend Service</a:t>
            </a:r>
            <a:endParaRPr lang="en-GB"/>
          </a:p>
        </p:txBody>
      </p:sp>
      <p:sp>
        <p:nvSpPr>
          <p:cNvPr id="117" name="Shape 117"/>
          <p:cNvSpPr txBox="1">
            <a:spLocks noGrp="1"/>
          </p:cNvSpPr>
          <p:nvPr>
            <p:ph type="body" idx="1"/>
          </p:nvPr>
        </p:nvSpPr>
        <p:spPr>
          <a:xfrm>
            <a:off x="311700" y="1152474"/>
            <a:ext cx="8520600" cy="2853837"/>
          </a:xfrm>
          <a:prstGeom prst="rect">
            <a:avLst/>
          </a:prstGeom>
        </p:spPr>
        <p:txBody>
          <a:bodyPr wrap="square" lIns="91425" tIns="91425" rIns="91425" bIns="91425" anchor="t" anchorCtr="0">
            <a:noAutofit/>
          </a:bodyPr>
          <a:lstStyle/>
          <a:p>
            <a:pPr marL="0" lvl="0" indent="0">
              <a:spcBef>
                <a:spcPts val="0"/>
              </a:spcBef>
              <a:buNone/>
            </a:pPr>
            <a:r>
              <a:rPr lang="en-GB" u="sng" dirty="0">
                <a:solidFill>
                  <a:srgbClr val="000000"/>
                </a:solidFill>
              </a:rPr>
              <a:t>Goal :</a:t>
            </a:r>
            <a:r>
              <a:rPr lang="en-GB" dirty="0">
                <a:solidFill>
                  <a:srgbClr val="000000"/>
                </a:solidFill>
              </a:rPr>
              <a:t> Add yourself to the victim’s friend list without his/her consent.</a:t>
            </a:r>
            <a:endParaRPr lang="en-GB" dirty="0">
              <a:solidFill>
                <a:srgbClr val="000000"/>
              </a:solidFill>
            </a:endParaRPr>
          </a:p>
          <a:p>
            <a:pPr marL="0" lvl="0" indent="0">
              <a:spcBef>
                <a:spcPts val="0"/>
              </a:spcBef>
              <a:buNone/>
            </a:pPr>
            <a:endParaRPr lang="en-GB" u="sng" dirty="0">
              <a:solidFill>
                <a:srgbClr val="000000"/>
              </a:solidFill>
            </a:endParaRPr>
          </a:p>
          <a:p>
            <a:pPr marL="0" lvl="0" indent="0">
              <a:spcBef>
                <a:spcPts val="0"/>
              </a:spcBef>
              <a:buNone/>
            </a:pPr>
            <a:r>
              <a:rPr lang="en-GB" u="sng" dirty="0">
                <a:solidFill>
                  <a:srgbClr val="000000"/>
                </a:solidFill>
              </a:rPr>
              <a:t>Investigation taken by the attacker Samy:</a:t>
            </a:r>
            <a:endParaRPr lang="en-GB" u="sng" dirty="0">
              <a:solidFill>
                <a:srgbClr val="000000"/>
              </a:solidFill>
            </a:endParaRPr>
          </a:p>
          <a:p>
            <a:pPr marL="0" lvl="0" indent="0">
              <a:spcBef>
                <a:spcPts val="0"/>
              </a:spcBef>
              <a:buNone/>
            </a:pPr>
            <a:endParaRPr lang="en-GB" sz="1000" u="sng" dirty="0">
              <a:solidFill>
                <a:srgbClr val="000000"/>
              </a:solidFill>
            </a:endParaRPr>
          </a:p>
          <a:p>
            <a:pPr marL="457200" lvl="0" indent="-342900">
              <a:spcBef>
                <a:spcPts val="0"/>
              </a:spcBef>
              <a:spcAft>
                <a:spcPts val="1200"/>
              </a:spcAft>
              <a:buClr>
                <a:srgbClr val="000000"/>
              </a:buClr>
              <a:buSzPts val="1800"/>
              <a:buChar char="●"/>
            </a:pPr>
            <a:r>
              <a:rPr lang="en-GB" dirty="0">
                <a:solidFill>
                  <a:srgbClr val="000000"/>
                </a:solidFill>
              </a:rPr>
              <a:t>Creates an </a:t>
            </a:r>
            <a:r>
              <a:rPr lang="en-GB" dirty="0" err="1">
                <a:solidFill>
                  <a:srgbClr val="000000"/>
                </a:solidFill>
              </a:rPr>
              <a:t>Elgg</a:t>
            </a:r>
            <a:r>
              <a:rPr lang="en-GB" dirty="0">
                <a:solidFill>
                  <a:srgbClr val="000000"/>
                </a:solidFill>
              </a:rPr>
              <a:t> account using Charlie as the name.</a:t>
            </a:r>
            <a:endParaRPr lang="en-GB" dirty="0">
              <a:solidFill>
                <a:srgbClr val="000000"/>
              </a:solidFill>
            </a:endParaRPr>
          </a:p>
          <a:p>
            <a:pPr marL="457200" lvl="0" indent="-342900">
              <a:spcBef>
                <a:spcPts val="0"/>
              </a:spcBef>
              <a:spcAft>
                <a:spcPts val="1200"/>
              </a:spcAft>
              <a:buClr>
                <a:srgbClr val="000000"/>
              </a:buClr>
              <a:buSzPts val="1800"/>
              <a:buChar char="●"/>
            </a:pPr>
            <a:r>
              <a:rPr lang="en-GB" dirty="0">
                <a:solidFill>
                  <a:srgbClr val="000000"/>
                </a:solidFill>
              </a:rPr>
              <a:t>In Charlie’s account, he clicks add-friend button to add himself to Charlie’s friend list. Using </a:t>
            </a:r>
            <a:r>
              <a:rPr lang="en-GB" dirty="0" err="1">
                <a:solidFill>
                  <a:srgbClr val="000000"/>
                </a:solidFill>
              </a:rPr>
              <a:t>FireFox</a:t>
            </a:r>
            <a:r>
              <a:rPr lang="en-GB" dirty="0">
                <a:solidFill>
                  <a:srgbClr val="000000"/>
                </a:solidFill>
              </a:rPr>
              <a:t> LiveHTTPHeaders extension to capture the add-friend HTTP request. </a:t>
            </a:r>
            <a:endParaRPr lang="en-GB" dirty="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Captured HTTP Header</a:t>
            </a:r>
            <a:endParaRPr lang="en-GB" dirty="0"/>
          </a:p>
        </p:txBody>
      </p:sp>
      <p:pic>
        <p:nvPicPr>
          <p:cNvPr id="123" name="Shape 123"/>
          <p:cNvPicPr preferRelativeResize="0"/>
          <p:nvPr/>
        </p:nvPicPr>
        <p:blipFill>
          <a:blip r:embed="rId1"/>
          <a:stretch>
            <a:fillRect/>
          </a:stretch>
        </p:blipFill>
        <p:spPr>
          <a:xfrm>
            <a:off x="152400" y="1170125"/>
            <a:ext cx="6280374" cy="1649725"/>
          </a:xfrm>
          <a:prstGeom prst="rect">
            <a:avLst/>
          </a:prstGeom>
          <a:noFill/>
          <a:ln>
            <a:noFill/>
          </a:ln>
        </p:spPr>
      </p:pic>
      <p:pic>
        <p:nvPicPr>
          <p:cNvPr id="124" name="Shape 124"/>
          <p:cNvPicPr preferRelativeResize="0"/>
          <p:nvPr/>
        </p:nvPicPr>
        <p:blipFill>
          <a:blip r:embed="rId2"/>
          <a:stretch>
            <a:fillRect/>
          </a:stretch>
        </p:blipFill>
        <p:spPr>
          <a:xfrm>
            <a:off x="152400" y="2819850"/>
            <a:ext cx="6280365" cy="736625"/>
          </a:xfrm>
          <a:prstGeom prst="rect">
            <a:avLst/>
          </a:prstGeom>
          <a:noFill/>
          <a:ln>
            <a:noFill/>
          </a:ln>
        </p:spPr>
      </p:pic>
      <p:sp>
        <p:nvSpPr>
          <p:cNvPr id="125" name="Shape 125"/>
          <p:cNvSpPr txBox="1"/>
          <p:nvPr/>
        </p:nvSpPr>
        <p:spPr>
          <a:xfrm>
            <a:off x="6541325" y="1017725"/>
            <a:ext cx="2415600" cy="3637830"/>
          </a:xfrm>
          <a:prstGeom prst="rect">
            <a:avLst/>
          </a:prstGeom>
          <a:noFill/>
          <a:ln>
            <a:noFill/>
          </a:ln>
        </p:spPr>
        <p:txBody>
          <a:bodyPr wrap="square" lIns="91425" tIns="91425" rIns="91425" bIns="91425" anchor="t" anchorCtr="0">
            <a:noAutofit/>
          </a:bodyPr>
          <a:lstStyle/>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t> :</a:t>
            </a:r>
            <a:r>
              <a:rPr lang="en-GB" sz="1800" dirty="0"/>
              <a:t> URL of </a:t>
            </a:r>
            <a:r>
              <a:rPr lang="en-GB" sz="1800" dirty="0" err="1"/>
              <a:t>Elgg’s</a:t>
            </a:r>
            <a:r>
              <a:rPr lang="en-GB" sz="1800" dirty="0"/>
              <a:t> add-friend request. </a:t>
            </a:r>
            <a:r>
              <a:rPr lang="en-GB" sz="1800" dirty="0" err="1"/>
              <a:t>UserID</a:t>
            </a:r>
            <a:r>
              <a:rPr lang="en-GB" sz="1800" dirty="0"/>
              <a:t> of the user to be added to the friend list is used. Here, </a:t>
            </a:r>
            <a:r>
              <a:rPr lang="en-GB" sz="1800" dirty="0" err="1"/>
              <a:t>Samy’s</a:t>
            </a:r>
            <a:r>
              <a:rPr lang="en-GB" sz="1800" dirty="0"/>
              <a:t> </a:t>
            </a:r>
            <a:r>
              <a:rPr lang="en-GB" sz="1800" dirty="0" err="1"/>
              <a:t>UserID</a:t>
            </a:r>
            <a:r>
              <a:rPr lang="en-GB" sz="1800" dirty="0"/>
              <a:t> (GUID) is 42.</a:t>
            </a:r>
            <a:endParaRPr lang="en-GB" sz="1800" dirty="0"/>
          </a:p>
          <a:p>
            <a:pPr marL="0" lvl="0" indent="0">
              <a:spcBef>
                <a:spcPts val="0"/>
              </a:spcBef>
              <a:buNone/>
            </a:pPr>
            <a:endParaRPr sz="1800" dirty="0"/>
          </a:p>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t> :</a:t>
            </a:r>
            <a:r>
              <a:rPr lang="en-GB" sz="1800" dirty="0"/>
              <a:t> </a:t>
            </a:r>
            <a:r>
              <a:rPr lang="en-GB" sz="1800" dirty="0" err="1"/>
              <a:t>Elgg’s</a:t>
            </a:r>
            <a:r>
              <a:rPr lang="en-GB" sz="1800" dirty="0"/>
              <a:t> countermeasure against CSRF attacks which are disabled.</a:t>
            </a:r>
            <a:endParaRPr lang="en-GB" sz="1800" dirty="0"/>
          </a:p>
        </p:txBody>
      </p:sp>
      <p:sp>
        <p:nvSpPr>
          <p:cNvPr id="126" name="Shape 126"/>
          <p:cNvSpPr txBox="1"/>
          <p:nvPr/>
        </p:nvSpPr>
        <p:spPr>
          <a:xfrm>
            <a:off x="152332" y="3845505"/>
            <a:ext cx="6280500" cy="810050"/>
          </a:xfrm>
          <a:prstGeom prst="rect">
            <a:avLst/>
          </a:prstGeom>
          <a:noFill/>
          <a:ln>
            <a:noFill/>
          </a:ln>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800" u="sng" dirty="0">
                <a:solidFill>
                  <a:schemeClr val="dk1"/>
                </a:solidFill>
              </a:rPr>
              <a:t> :</a:t>
            </a:r>
            <a:r>
              <a:rPr lang="en-GB" sz="1800" dirty="0">
                <a:solidFill>
                  <a:schemeClr val="dk1"/>
                </a:solidFill>
              </a:rPr>
              <a:t> Session cookie which is unique for each user. It is automatically sent by browsers.</a:t>
            </a:r>
            <a:endParaRPr lang="en-GB" sz="18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Shape 131"/>
          <p:cNvSpPr txBox="1">
            <a:spLocks noGrp="1"/>
          </p:cNvSpPr>
          <p:nvPr>
            <p:ph type="title"/>
          </p:nvPr>
        </p:nvSpPr>
        <p:spPr>
          <a:prstGeom prst="rect">
            <a:avLst/>
          </a:prstGeom>
        </p:spPr>
        <p:txBody>
          <a:bodyPr wrap="square" lIns="91425" tIns="91425" rIns="91425" bIns="91425" anchor="t" anchorCtr="0">
            <a:noAutofit/>
          </a:bodyPr>
          <a:lstStyle/>
          <a:p>
            <a:pPr lvl="0" indent="-69850">
              <a:buClr>
                <a:schemeClr val="dk1"/>
              </a:buClr>
              <a:buSzPts val="1100"/>
            </a:pPr>
            <a:r>
              <a:rPr lang="en-GB" dirty="0">
                <a:solidFill>
                  <a:srgbClr val="000000"/>
                </a:solidFill>
              </a:rPr>
              <a:t>Create the malicious web page</a:t>
            </a:r>
            <a:endParaRPr lang="en-GB" dirty="0"/>
          </a:p>
        </p:txBody>
      </p:sp>
      <p:pic>
        <p:nvPicPr>
          <p:cNvPr id="133" name="Shape 133"/>
          <p:cNvPicPr preferRelativeResize="0"/>
          <p:nvPr/>
        </p:nvPicPr>
        <p:blipFill>
          <a:blip r:embed="rId1"/>
          <a:stretch>
            <a:fillRect/>
          </a:stretch>
        </p:blipFill>
        <p:spPr>
          <a:xfrm>
            <a:off x="311699" y="1297019"/>
            <a:ext cx="6205337" cy="1508174"/>
          </a:xfrm>
          <a:prstGeom prst="rect">
            <a:avLst/>
          </a:prstGeom>
          <a:noFill/>
          <a:ln>
            <a:noFill/>
          </a:ln>
        </p:spPr>
      </p:pic>
      <p:sp>
        <p:nvSpPr>
          <p:cNvPr id="134" name="Shape 134"/>
          <p:cNvSpPr txBox="1"/>
          <p:nvPr/>
        </p:nvSpPr>
        <p:spPr>
          <a:xfrm>
            <a:off x="311699" y="2920919"/>
            <a:ext cx="5927700" cy="2088894"/>
          </a:xfrm>
          <a:prstGeom prst="rect">
            <a:avLst/>
          </a:prstGeom>
          <a:noFill/>
          <a:ln>
            <a:noFill/>
          </a:ln>
        </p:spPr>
        <p:txBody>
          <a:bodyPr wrap="square" lIns="91425" tIns="91425" rIns="91425" bIns="91425" anchor="t" anchorCtr="0">
            <a:noAutofit/>
          </a:bodyPr>
          <a:lstStyle/>
          <a:p>
            <a:pPr marL="342900" lvl="0" indent="-342900">
              <a:spcBef>
                <a:spcPts val="0"/>
              </a:spcBef>
              <a:buAutoNum type="arabicPeriod" startAt="2"/>
            </a:pPr>
            <a:r>
              <a:rPr lang="en-GB" sz="1800" dirty="0"/>
              <a:t>The attacker use add-friend URL along with friend    parameter. The size of the image is very small so that the victim is not suspicious.</a:t>
            </a:r>
            <a:endParaRPr lang="en-GB" sz="1800" dirty="0"/>
          </a:p>
          <a:p>
            <a:pPr lvl="0">
              <a:spcBef>
                <a:spcPts val="0"/>
              </a:spcBef>
            </a:pPr>
            <a:endParaRPr lang="en-GB" sz="1800" dirty="0"/>
          </a:p>
          <a:p>
            <a:pPr marL="0" lvl="0" indent="0">
              <a:spcBef>
                <a:spcPts val="0"/>
              </a:spcBef>
              <a:buNone/>
            </a:pPr>
            <a:r>
              <a:rPr lang="en-GB" sz="1800" dirty="0"/>
              <a:t>3.  The crafted web page is placed in the malicious website </a:t>
            </a:r>
            <a:r>
              <a:rPr lang="en-GB" sz="1800" u="sng" dirty="0">
                <a:solidFill>
                  <a:schemeClr val="hlink"/>
                </a:solidFill>
                <a:hlinkClick r:id="rId2"/>
              </a:rPr>
              <a:t>www.csrflabattacker.com</a:t>
            </a:r>
            <a:r>
              <a:rPr lang="en-GB" sz="1800" dirty="0"/>
              <a:t> (inside the </a:t>
            </a:r>
            <a:r>
              <a:rPr lang="en-GB" sz="1800" dirty="0">
                <a:latin typeface="Courier New" panose="02070409020205090404" pitchFamily="49" charset="0"/>
                <a:cs typeface="Courier New" panose="02070409020205090404" pitchFamily="49" charset="0"/>
              </a:rPr>
              <a:t>/</a:t>
            </a:r>
            <a:r>
              <a:rPr lang="en-GB" sz="1800" dirty="0" err="1">
                <a:latin typeface="Courier New" panose="02070409020205090404" pitchFamily="49" charset="0"/>
                <a:cs typeface="Courier New" panose="02070409020205090404" pitchFamily="49" charset="0"/>
              </a:rPr>
              <a:t>var</a:t>
            </a:r>
            <a:r>
              <a:rPr lang="en-GB" sz="1800" dirty="0">
                <a:latin typeface="Courier New" panose="02070409020205090404" pitchFamily="49" charset="0"/>
                <a:cs typeface="Courier New" panose="02070409020205090404" pitchFamily="49" charset="0"/>
              </a:rPr>
              <a:t>/www/CSRF/Attacker </a:t>
            </a:r>
            <a:r>
              <a:rPr lang="en-GB" sz="1800" dirty="0"/>
              <a:t>folder).</a:t>
            </a:r>
            <a:endParaRPr lang="en-GB" sz="1800" dirty="0"/>
          </a:p>
        </p:txBody>
      </p:sp>
      <p:sp>
        <p:nvSpPr>
          <p:cNvPr id="135" name="Shape 135"/>
          <p:cNvSpPr txBox="1"/>
          <p:nvPr/>
        </p:nvSpPr>
        <p:spPr>
          <a:xfrm>
            <a:off x="6436328" y="1181293"/>
            <a:ext cx="2491800" cy="3247800"/>
          </a:xfrm>
          <a:prstGeom prst="rect">
            <a:avLst/>
          </a:prstGeom>
          <a:noFill/>
          <a:ln>
            <a:noFill/>
          </a:ln>
        </p:spPr>
        <p:txBody>
          <a:bodyPr wrap="square" lIns="91425" tIns="91425" rIns="91425" bIns="91425" anchor="t" anchorCtr="0">
            <a:noAutofit/>
          </a:bodyPr>
          <a:lstStyle/>
          <a:p>
            <a:pPr marL="457200" lvl="0" indent="-342900">
              <a:spcBef>
                <a:spcPts val="0"/>
              </a:spcBef>
              <a:buClr>
                <a:schemeClr val="dk1"/>
              </a:buClr>
              <a:buSzPts val="1800"/>
              <a:buAutoNum type="arabicPeriod"/>
            </a:pPr>
            <a:r>
              <a:rPr lang="en-GB" sz="1800" dirty="0">
                <a:solidFill>
                  <a:schemeClr val="dk1"/>
                </a:solidFill>
              </a:rPr>
              <a:t>The </a:t>
            </a:r>
            <a:r>
              <a:rPr lang="en-GB" sz="1800" dirty="0" err="1">
                <a:solidFill>
                  <a:schemeClr val="dk1"/>
                </a:solidFill>
              </a:rPr>
              <a:t>img</a:t>
            </a:r>
            <a:r>
              <a:rPr lang="en-GB" sz="1800" dirty="0">
                <a:solidFill>
                  <a:schemeClr val="dk1"/>
                </a:solidFill>
              </a:rPr>
              <a:t> tag will trigger an HTTP GET request. When browsers render a web page and sees an </a:t>
            </a:r>
            <a:r>
              <a:rPr lang="en-GB" sz="1800" dirty="0" err="1">
                <a:solidFill>
                  <a:schemeClr val="dk1"/>
                </a:solidFill>
              </a:rPr>
              <a:t>img</a:t>
            </a:r>
            <a:r>
              <a:rPr lang="en-GB" sz="1800" dirty="0">
                <a:solidFill>
                  <a:schemeClr val="dk1"/>
                </a:solidFill>
              </a:rPr>
              <a:t> tag, it sends an HTTP GET request to the URL specified in the </a:t>
            </a:r>
            <a:r>
              <a:rPr lang="en-GB" sz="1800" dirty="0" err="1">
                <a:solidFill>
                  <a:schemeClr val="dk1"/>
                </a:solidFill>
              </a:rPr>
              <a:t>src</a:t>
            </a:r>
            <a:r>
              <a:rPr lang="en-GB" sz="1800" dirty="0">
                <a:solidFill>
                  <a:schemeClr val="dk1"/>
                </a:solidFill>
              </a:rPr>
              <a:t> attribute.</a:t>
            </a:r>
            <a:endParaRPr lang="en-GB" sz="1800"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Shape 140"/>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Attract Victim to Visit Your Malicious Page</a:t>
            </a:r>
            <a:endParaRPr lang="en-GB" dirty="0"/>
          </a:p>
        </p:txBody>
      </p:sp>
      <p:sp>
        <p:nvSpPr>
          <p:cNvPr id="141" name="Shape 141"/>
          <p:cNvSpPr txBox="1">
            <a:spLocks noGrp="1"/>
          </p:cNvSpPr>
          <p:nvPr>
            <p:ph type="body" idx="1"/>
          </p:nvPr>
        </p:nvSpPr>
        <p:spPr>
          <a:prstGeom prst="rect">
            <a:avLst/>
          </a:prstGeom>
        </p:spPr>
        <p:txBody>
          <a:bodyPr wrap="square" lIns="91425" tIns="91425" rIns="91425" bIns="91425" anchor="t" anchorCtr="0">
            <a:noAutofit/>
          </a:bodyPr>
          <a:lstStyle/>
          <a:p>
            <a:pPr marL="287655" indent="-287655">
              <a:spcAft>
                <a:spcPts val="1200"/>
              </a:spcAft>
            </a:pPr>
            <a:r>
              <a:rPr lang="en-GB" dirty="0">
                <a:solidFill>
                  <a:srgbClr val="000000"/>
                </a:solidFill>
              </a:rPr>
              <a:t>Samy can send a private message to Alice with the link to the malicious web page.</a:t>
            </a:r>
            <a:endParaRPr lang="en-GB" dirty="0">
              <a:solidFill>
                <a:srgbClr val="000000"/>
              </a:solidFill>
            </a:endParaRPr>
          </a:p>
          <a:p>
            <a:pPr marL="287655" indent="-287655">
              <a:spcAft>
                <a:spcPts val="1200"/>
              </a:spcAft>
            </a:pPr>
            <a:r>
              <a:rPr lang="en-GB" dirty="0">
                <a:solidFill>
                  <a:srgbClr val="000000"/>
                </a:solidFill>
              </a:rPr>
              <a:t>If Alice clicks the link, </a:t>
            </a:r>
            <a:r>
              <a:rPr lang="en-GB" dirty="0" err="1">
                <a:solidFill>
                  <a:srgbClr val="000000"/>
                </a:solidFill>
              </a:rPr>
              <a:t>Samy’s</a:t>
            </a:r>
            <a:r>
              <a:rPr lang="en-GB" dirty="0">
                <a:solidFill>
                  <a:srgbClr val="000000"/>
                </a:solidFill>
              </a:rPr>
              <a:t> malicious web page will be loaded into Alice’s browser and a forged add-friend request will be sent to the </a:t>
            </a:r>
            <a:r>
              <a:rPr lang="en-GB" dirty="0" err="1">
                <a:solidFill>
                  <a:srgbClr val="000000"/>
                </a:solidFill>
              </a:rPr>
              <a:t>Elgg</a:t>
            </a:r>
            <a:r>
              <a:rPr lang="en-GB" dirty="0">
                <a:solidFill>
                  <a:srgbClr val="000000"/>
                </a:solidFill>
              </a:rPr>
              <a:t> server.</a:t>
            </a:r>
            <a:endParaRPr lang="en-GB" dirty="0">
              <a:solidFill>
                <a:srgbClr val="000000"/>
              </a:solidFill>
            </a:endParaRPr>
          </a:p>
          <a:p>
            <a:pPr marL="287655" indent="-287655">
              <a:spcAft>
                <a:spcPts val="1200"/>
              </a:spcAft>
            </a:pPr>
            <a:r>
              <a:rPr lang="en-GB" dirty="0">
                <a:solidFill>
                  <a:srgbClr val="000000"/>
                </a:solidFill>
              </a:rPr>
              <a:t>On success, Samy will be added to Alice’s friend list.</a:t>
            </a:r>
            <a:endParaRPr lang="en-GB" dirty="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Shape 146"/>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CSRF Attacks on HTTP POST Services</a:t>
            </a:r>
            <a:endParaRPr lang="en-GB"/>
          </a:p>
        </p:txBody>
      </p:sp>
      <p:sp>
        <p:nvSpPr>
          <p:cNvPr id="147" name="Shape 147"/>
          <p:cNvSpPr txBox="1">
            <a:spLocks noGrp="1"/>
          </p:cNvSpPr>
          <p:nvPr>
            <p:ph type="body" idx="1"/>
          </p:nvPr>
        </p:nvSpPr>
        <p:spPr>
          <a:xfrm>
            <a:off x="311700" y="1152475"/>
            <a:ext cx="8520600" cy="509100"/>
          </a:xfrm>
          <a:prstGeom prst="rect">
            <a:avLst/>
          </a:prstGeom>
        </p:spPr>
        <p:txBody>
          <a:bodyPr wrap="square" lIns="91425" tIns="91425" rIns="91425" bIns="91425" anchor="t" anchorCtr="0">
            <a:noAutofit/>
          </a:bodyPr>
          <a:lstStyle/>
          <a:p>
            <a:pPr marL="0" lvl="0" indent="0">
              <a:spcBef>
                <a:spcPts val="0"/>
              </a:spcBef>
              <a:buNone/>
            </a:pPr>
            <a:r>
              <a:rPr lang="en-GB" b="1">
                <a:solidFill>
                  <a:srgbClr val="000000"/>
                </a:solidFill>
              </a:rPr>
              <a:t>Constructing a POST Request Using JavaScript</a:t>
            </a:r>
            <a:endParaRPr lang="en-GB" b="1">
              <a:solidFill>
                <a:srgbClr val="000000"/>
              </a:solidFill>
            </a:endParaRPr>
          </a:p>
        </p:txBody>
      </p:sp>
      <p:pic>
        <p:nvPicPr>
          <p:cNvPr id="148" name="Shape 148"/>
          <p:cNvPicPr preferRelativeResize="0"/>
          <p:nvPr/>
        </p:nvPicPr>
        <p:blipFill>
          <a:blip r:embed="rId1"/>
          <a:stretch>
            <a:fillRect/>
          </a:stretch>
        </p:blipFill>
        <p:spPr>
          <a:xfrm>
            <a:off x="416825" y="1796325"/>
            <a:ext cx="8005800" cy="1144850"/>
          </a:xfrm>
          <a:prstGeom prst="rect">
            <a:avLst/>
          </a:prstGeom>
          <a:noFill/>
          <a:ln>
            <a:noFill/>
          </a:ln>
        </p:spPr>
      </p:pic>
      <p:sp>
        <p:nvSpPr>
          <p:cNvPr id="149" name="Shape 149"/>
          <p:cNvSpPr txBox="1"/>
          <p:nvPr/>
        </p:nvSpPr>
        <p:spPr>
          <a:xfrm>
            <a:off x="383450" y="3063175"/>
            <a:ext cx="8118600" cy="2009700"/>
          </a:xfrm>
          <a:prstGeom prst="rect">
            <a:avLst/>
          </a:prstGeom>
          <a:noFill/>
          <a:ln>
            <a:noFill/>
          </a:ln>
        </p:spPr>
        <p:txBody>
          <a:bodyPr wrap="square" lIns="91425" tIns="91425" rIns="91425" bIns="91425" anchor="t" anchorCtr="0">
            <a:noAutofit/>
          </a:bodyPr>
          <a:lstStyle/>
          <a:p>
            <a:pPr marL="457200" lvl="0" indent="-342900">
              <a:spcBef>
                <a:spcPts val="0"/>
              </a:spcBef>
              <a:spcAft>
                <a:spcPts val="0"/>
              </a:spcAft>
              <a:buSzPts val="1800"/>
              <a:buChar char="●"/>
            </a:pPr>
            <a:r>
              <a:rPr lang="en-GB" sz="1800" dirty="0"/>
              <a:t>POST requests can be generated using HTML forms. The above form has two text fields and a </a:t>
            </a:r>
            <a:r>
              <a:rPr lang="en-GB" sz="1800" dirty="0">
                <a:latin typeface="Courier New" panose="02070409020205090404" pitchFamily="49" charset="0"/>
                <a:cs typeface="Courier New" panose="02070409020205090404" pitchFamily="49" charset="0"/>
              </a:rPr>
              <a:t>Submit</a:t>
            </a:r>
            <a:r>
              <a:rPr lang="en-GB" sz="1800" dirty="0"/>
              <a:t> button.</a:t>
            </a:r>
            <a:endParaRPr lang="en-GB" sz="1800" dirty="0"/>
          </a:p>
          <a:p>
            <a:pPr marL="457200" lvl="0" indent="-342900">
              <a:buSzPts val="1800"/>
              <a:buChar char="●"/>
            </a:pPr>
            <a:r>
              <a:rPr lang="en-GB" sz="1800" dirty="0"/>
              <a:t>When the user clicks on the </a:t>
            </a:r>
            <a:r>
              <a:rPr lang="en-GB" sz="1800" dirty="0">
                <a:latin typeface="Courier New" panose="02070409020205090404" pitchFamily="49" charset="0"/>
                <a:cs typeface="Courier New" panose="02070409020205090404" pitchFamily="49" charset="0"/>
              </a:rPr>
              <a:t>Submit</a:t>
            </a:r>
            <a:r>
              <a:rPr lang="en-GB" sz="1800" dirty="0">
                <a:latin typeface="Arial" panose="020B0604020202090204" pitchFamily="34" charset="0"/>
                <a:cs typeface="Arial" panose="020B0604020202090204" pitchFamily="34" charset="0"/>
              </a:rPr>
              <a:t> </a:t>
            </a:r>
            <a:r>
              <a:rPr lang="en-GB" sz="1800" dirty="0"/>
              <a:t>button, POST request will be sent out to the URL specified in the action field with </a:t>
            </a:r>
            <a:r>
              <a:rPr lang="en-GB" sz="1800" i="1" dirty="0">
                <a:latin typeface="Courier New" panose="02070409020205090404" pitchFamily="49" charset="0"/>
                <a:cs typeface="Courier New" panose="02070409020205090404" pitchFamily="49" charset="0"/>
              </a:rPr>
              <a:t>to</a:t>
            </a:r>
            <a:r>
              <a:rPr lang="en-GB" sz="1800" dirty="0">
                <a:latin typeface="Arial" panose="020B0604020202090204" pitchFamily="34" charset="0"/>
                <a:cs typeface="Arial" panose="020B0604020202090204" pitchFamily="34" charset="0"/>
              </a:rPr>
              <a:t> </a:t>
            </a:r>
            <a:r>
              <a:rPr lang="en-GB" sz="1800" dirty="0"/>
              <a:t>and </a:t>
            </a:r>
            <a:r>
              <a:rPr lang="en-GB" sz="1800" i="1" dirty="0">
                <a:latin typeface="Courier New" panose="02070409020205090404" pitchFamily="49" charset="0"/>
                <a:cs typeface="Courier New" panose="02070409020205090404" pitchFamily="49" charset="0"/>
              </a:rPr>
              <a:t>amount</a:t>
            </a:r>
            <a:r>
              <a:rPr lang="en-GB" sz="1800" dirty="0"/>
              <a:t> fields included in the body.</a:t>
            </a:r>
            <a:endParaRPr lang="en-GB" sz="1800" dirty="0"/>
          </a:p>
          <a:p>
            <a:pPr marL="457200" lvl="0" indent="-342900">
              <a:spcBef>
                <a:spcPts val="0"/>
              </a:spcBef>
              <a:buSzPts val="1800"/>
              <a:buChar char="●"/>
            </a:pPr>
            <a:r>
              <a:rPr lang="en-GB" sz="1800" dirty="0"/>
              <a:t>Attacker’s job is to click on the button without the help from the user.</a:t>
            </a:r>
            <a:endParaRPr lang="en-GB"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Shape 154"/>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CSRF Attacks on HTTP POST Services</a:t>
            </a:r>
            <a:endParaRPr lang="en-GB" dirty="0"/>
          </a:p>
        </p:txBody>
      </p:sp>
      <p:pic>
        <p:nvPicPr>
          <p:cNvPr id="155" name="Shape 155"/>
          <p:cNvPicPr preferRelativeResize="0"/>
          <p:nvPr/>
        </p:nvPicPr>
        <p:blipFill>
          <a:blip r:embed="rId1"/>
          <a:stretch>
            <a:fillRect/>
          </a:stretch>
        </p:blipFill>
        <p:spPr>
          <a:xfrm>
            <a:off x="311700" y="1126925"/>
            <a:ext cx="5583075" cy="2927425"/>
          </a:xfrm>
          <a:prstGeom prst="rect">
            <a:avLst/>
          </a:prstGeom>
          <a:noFill/>
          <a:ln>
            <a:noFill/>
          </a:ln>
        </p:spPr>
      </p:pic>
      <p:sp>
        <p:nvSpPr>
          <p:cNvPr id="156" name="Shape 156"/>
          <p:cNvSpPr txBox="1"/>
          <p:nvPr/>
        </p:nvSpPr>
        <p:spPr>
          <a:xfrm>
            <a:off x="6085224" y="1032672"/>
            <a:ext cx="2920500" cy="3920100"/>
          </a:xfrm>
          <a:prstGeom prst="rect">
            <a:avLst/>
          </a:prstGeom>
          <a:noFill/>
          <a:ln>
            <a:noFill/>
          </a:ln>
        </p:spPr>
        <p:txBody>
          <a:bodyPr wrap="square" lIns="91425" tIns="91425" rIns="91425" bIns="91425" anchor="t" anchorCtr="0">
            <a:noAutofit/>
          </a:bodyPr>
          <a:lstStyle/>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t>: </a:t>
            </a:r>
            <a:r>
              <a:rPr lang="en-GB" sz="1800" dirty="0"/>
              <a:t>Creates a form dynamically; request type is set to “POST”</a:t>
            </a:r>
            <a:endParaRPr lang="en-GB" sz="1800" dirty="0"/>
          </a:p>
          <a:p>
            <a:pPr marL="0" lvl="0" indent="0">
              <a:spcBef>
                <a:spcPts val="0"/>
              </a:spcBef>
              <a:buNone/>
            </a:pPr>
            <a:endParaRPr sz="1800" dirty="0"/>
          </a:p>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t>:</a:t>
            </a:r>
            <a:r>
              <a:rPr lang="en-GB" sz="1800" dirty="0"/>
              <a:t> The fields in the form are “hidden”. Hence, after the form is constructed, it is added to the current web page.</a:t>
            </a:r>
            <a:endParaRPr lang="en-GB" sz="1800" dirty="0"/>
          </a:p>
          <a:p>
            <a:pPr marL="0" lvl="0" indent="0">
              <a:spcBef>
                <a:spcPts val="0"/>
              </a:spcBef>
              <a:buNone/>
            </a:pPr>
            <a:endParaRPr sz="1800" dirty="0"/>
          </a:p>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800" u="sng" dirty="0">
                <a:solidFill>
                  <a:schemeClr val="dk1"/>
                </a:solidFill>
              </a:rPr>
              <a:t>:</a:t>
            </a:r>
            <a:r>
              <a:rPr lang="en-GB" sz="1800" dirty="0">
                <a:solidFill>
                  <a:schemeClr val="dk1"/>
                </a:solidFill>
              </a:rPr>
              <a:t> Submits the form automatically.</a:t>
            </a:r>
            <a:endParaRPr lang="en-GB" sz="1800" dirty="0">
              <a:solidFill>
                <a:schemeClr val="dk1"/>
              </a:solidFill>
            </a:endParaRPr>
          </a:p>
          <a:p>
            <a:pPr marL="0" lvl="0" indent="0">
              <a:spcBef>
                <a:spcPts val="0"/>
              </a:spcBef>
              <a:buNone/>
            </a:pPr>
            <a:endParaRPr sz="1800" dirty="0"/>
          </a:p>
          <a:p>
            <a:pPr marL="0" lvl="0" indent="0">
              <a:spcBef>
                <a:spcPts val="0"/>
              </a:spcBef>
              <a:buNone/>
            </a:pPr>
            <a:endParaRPr sz="1800" dirty="0"/>
          </a:p>
        </p:txBody>
      </p:sp>
      <p:sp>
        <p:nvSpPr>
          <p:cNvPr id="157" name="Shape 157"/>
          <p:cNvSpPr txBox="1"/>
          <p:nvPr/>
        </p:nvSpPr>
        <p:spPr>
          <a:xfrm>
            <a:off x="315725" y="4178825"/>
            <a:ext cx="5583000" cy="762900"/>
          </a:xfrm>
          <a:prstGeom prst="rect">
            <a:avLst/>
          </a:prstGeom>
          <a:noFill/>
          <a:ln>
            <a:noFill/>
          </a:ln>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④</a:t>
            </a:r>
            <a:r>
              <a:rPr lang="en-GB" sz="1800" u="sng" dirty="0">
                <a:solidFill>
                  <a:schemeClr val="dk1"/>
                </a:solidFill>
              </a:rPr>
              <a:t>: </a:t>
            </a:r>
            <a:r>
              <a:rPr lang="en-GB" sz="1800" dirty="0">
                <a:solidFill>
                  <a:schemeClr val="dk1"/>
                </a:solidFill>
              </a:rPr>
              <a:t>The JavaScript function “</a:t>
            </a:r>
            <a:r>
              <a:rPr lang="en-GB" sz="1800" dirty="0" err="1">
                <a:solidFill>
                  <a:schemeClr val="dk1"/>
                </a:solidFill>
              </a:rPr>
              <a:t>forge_post</a:t>
            </a:r>
            <a:r>
              <a:rPr lang="en-GB" sz="1800" dirty="0">
                <a:solidFill>
                  <a:schemeClr val="dk1"/>
                </a:solidFill>
              </a:rPr>
              <a:t>()” will be invoked automatically once the page is loaded.</a:t>
            </a:r>
            <a:endParaRPr lang="en-GB" sz="1800"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Shape 162"/>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Attack on Elgg’s Edit-Profile Service</a:t>
            </a:r>
            <a:endParaRPr lang="en-GB"/>
          </a:p>
        </p:txBody>
      </p:sp>
      <p:sp>
        <p:nvSpPr>
          <p:cNvPr id="163" name="Shape 163"/>
          <p:cNvSpPr txBox="1">
            <a:spLocks noGrp="1"/>
          </p:cNvSpPr>
          <p:nvPr>
            <p:ph type="body" idx="1"/>
          </p:nvPr>
        </p:nvSpPr>
        <p:spPr>
          <a:prstGeom prst="rect">
            <a:avLst/>
          </a:prstGeom>
        </p:spPr>
        <p:txBody>
          <a:bodyPr wrap="square" lIns="91425" tIns="91425" rIns="91425" bIns="91425" anchor="t" anchorCtr="0">
            <a:noAutofit/>
          </a:bodyPr>
          <a:lstStyle/>
          <a:p>
            <a:pPr marL="0" lvl="0" indent="0">
              <a:spcBef>
                <a:spcPts val="0"/>
              </a:spcBef>
              <a:buNone/>
            </a:pPr>
            <a:r>
              <a:rPr lang="en-GB" u="sng" dirty="0">
                <a:solidFill>
                  <a:srgbClr val="000000"/>
                </a:solidFill>
              </a:rPr>
              <a:t>Goal :  </a:t>
            </a:r>
            <a:r>
              <a:rPr lang="en-GB" dirty="0">
                <a:solidFill>
                  <a:srgbClr val="000000"/>
                </a:solidFill>
              </a:rPr>
              <a:t> Putting a statement “SAMY is MY HERO” in the victim’s profile without the consent from the victim.</a:t>
            </a:r>
            <a:endParaRPr lang="en-GB" dirty="0">
              <a:solidFill>
                <a:srgbClr val="000000"/>
              </a:solidFill>
            </a:endParaRPr>
          </a:p>
          <a:p>
            <a:pPr marL="0" lvl="0" indent="0">
              <a:spcBef>
                <a:spcPts val="0"/>
              </a:spcBef>
              <a:buNone/>
            </a:pPr>
            <a:endParaRPr lang="en-GB" u="sng" dirty="0">
              <a:solidFill>
                <a:srgbClr val="000000"/>
              </a:solidFill>
            </a:endParaRPr>
          </a:p>
          <a:p>
            <a:pPr marL="0" lvl="0" indent="0">
              <a:spcBef>
                <a:spcPts val="0"/>
              </a:spcBef>
              <a:buNone/>
            </a:pPr>
            <a:r>
              <a:rPr lang="en-GB" u="sng" dirty="0">
                <a:solidFill>
                  <a:srgbClr val="000000"/>
                </a:solidFill>
              </a:rPr>
              <a:t>Investigation by the attacker Samy</a:t>
            </a:r>
            <a:endParaRPr lang="en-GB" u="sng" dirty="0">
              <a:solidFill>
                <a:srgbClr val="000000"/>
              </a:solidFill>
            </a:endParaRPr>
          </a:p>
          <a:p>
            <a:pPr marL="0" lvl="0" indent="0">
              <a:spcBef>
                <a:spcPts val="0"/>
              </a:spcBef>
              <a:buNone/>
            </a:pPr>
            <a:endParaRPr lang="en-GB" u="sng" dirty="0">
              <a:solidFill>
                <a:srgbClr val="000000"/>
              </a:solidFill>
            </a:endParaRPr>
          </a:p>
          <a:p>
            <a:pPr marL="457200" lvl="0" indent="-342900" rtl="0">
              <a:spcBef>
                <a:spcPts val="0"/>
              </a:spcBef>
              <a:buClr>
                <a:srgbClr val="000000"/>
              </a:buClr>
              <a:buSzPts val="1800"/>
              <a:buChar char="●"/>
            </a:pPr>
            <a:r>
              <a:rPr lang="en-GB" dirty="0">
                <a:solidFill>
                  <a:srgbClr val="000000"/>
                </a:solidFill>
              </a:rPr>
              <a:t>Samy captured an edit-profile request using LiveHTTPHeader extension.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Shape 168"/>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Attack on Elgg’s Edit-Profile Service</a:t>
            </a:r>
            <a:endParaRPr lang="en-GB"/>
          </a:p>
        </p:txBody>
      </p:sp>
      <p:pic>
        <p:nvPicPr>
          <p:cNvPr id="169" name="Shape 169"/>
          <p:cNvPicPr preferRelativeResize="0"/>
          <p:nvPr/>
        </p:nvPicPr>
        <p:blipFill>
          <a:blip r:embed="rId1"/>
          <a:stretch>
            <a:fillRect/>
          </a:stretch>
        </p:blipFill>
        <p:spPr>
          <a:xfrm>
            <a:off x="152400" y="1170125"/>
            <a:ext cx="6471601" cy="2074050"/>
          </a:xfrm>
          <a:prstGeom prst="rect">
            <a:avLst/>
          </a:prstGeom>
          <a:noFill/>
          <a:ln>
            <a:noFill/>
          </a:ln>
        </p:spPr>
      </p:pic>
      <p:sp>
        <p:nvSpPr>
          <p:cNvPr id="170" name="Shape 170"/>
          <p:cNvSpPr txBox="1"/>
          <p:nvPr/>
        </p:nvSpPr>
        <p:spPr>
          <a:xfrm>
            <a:off x="6777175" y="1093375"/>
            <a:ext cx="2271900" cy="3982200"/>
          </a:xfrm>
          <a:prstGeom prst="rect">
            <a:avLst/>
          </a:prstGeom>
          <a:noFill/>
          <a:ln>
            <a:noFill/>
          </a:ln>
        </p:spPr>
        <p:txBody>
          <a:bodyPr wrap="square" lIns="91425" tIns="91425" rIns="91425" bIns="91425" anchor="t" anchorCtr="0">
            <a:noAutofit/>
          </a:bodyPr>
          <a:lstStyle/>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t> :</a:t>
            </a:r>
            <a:r>
              <a:rPr lang="en-GB" sz="1800" dirty="0"/>
              <a:t> URL of the edit-profile service.</a:t>
            </a:r>
            <a:endParaRPr lang="en-GB" sz="1800" dirty="0"/>
          </a:p>
          <a:p>
            <a:pPr marL="0" lvl="0" indent="0">
              <a:spcBef>
                <a:spcPts val="0"/>
              </a:spcBef>
              <a:buNone/>
            </a:pPr>
            <a:endParaRPr sz="1800" dirty="0"/>
          </a:p>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t>: </a:t>
            </a:r>
            <a:r>
              <a:rPr lang="en-GB" sz="1800" dirty="0">
                <a:solidFill>
                  <a:schemeClr val="dk1"/>
                </a:solidFill>
              </a:rPr>
              <a:t>Session cookie (unique for each user). It is automatically set by browsers.</a:t>
            </a:r>
            <a:endParaRPr lang="en-GB" sz="1800" dirty="0">
              <a:solidFill>
                <a:schemeClr val="dk1"/>
              </a:solidFill>
            </a:endParaRPr>
          </a:p>
          <a:p>
            <a:pPr marL="0" lvl="0" indent="0">
              <a:spcBef>
                <a:spcPts val="0"/>
              </a:spcBef>
              <a:buNone/>
            </a:pPr>
            <a:endParaRPr sz="1800" dirty="0"/>
          </a:p>
          <a:p>
            <a:pPr marL="0" lvl="0" indent="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800" u="sng" dirty="0"/>
              <a:t>:</a:t>
            </a:r>
            <a:r>
              <a:rPr lang="en-GB" sz="1800" dirty="0"/>
              <a:t> CSRF countermeasures, which are disabled   </a:t>
            </a:r>
            <a:endParaRPr lang="en-GB" sz="1800" dirty="0"/>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12" y="3244175"/>
            <a:ext cx="6435865" cy="149451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Attack on Elgg’s Edit-Profile Service</a:t>
            </a:r>
            <a:endParaRPr lang="en-GB"/>
          </a:p>
        </p:txBody>
      </p:sp>
      <p:sp>
        <p:nvSpPr>
          <p:cNvPr id="177" name="Shape 177"/>
          <p:cNvSpPr txBox="1">
            <a:spLocks noGrp="1"/>
          </p:cNvSpPr>
          <p:nvPr>
            <p:ph type="body" idx="1"/>
          </p:nvPr>
        </p:nvSpPr>
        <p:spPr>
          <a:xfrm>
            <a:off x="311700" y="2813465"/>
            <a:ext cx="8520600" cy="2076250"/>
          </a:xfrm>
          <a:prstGeom prst="rect">
            <a:avLst/>
          </a:prstGeom>
        </p:spPr>
        <p:txBody>
          <a:bodyPr wrap="square" lIns="91425" tIns="91425" rIns="91425" bIns="91425" anchor="t" anchorCtr="0">
            <a:noAutofit/>
          </a:bodyPr>
          <a:lstStyle/>
          <a:p>
            <a:pPr marL="0" lvl="0" indent="0">
              <a:spcBef>
                <a:spcPts val="0"/>
              </a:spcBef>
              <a:spcAft>
                <a:spcPts val="600"/>
              </a:spcAft>
              <a:buNone/>
            </a:pPr>
            <a:r>
              <a:rPr lang="en-GB" u="sng" dirty="0">
                <a:solidFill>
                  <a:srgbClr val="000000"/>
                </a:solidFill>
              </a:rPr>
              <a:t>Line </a:t>
            </a:r>
            <a:r>
              <a:rPr lang="en-GB" u="sng" dirty="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④</a:t>
            </a:r>
            <a:r>
              <a:rPr lang="en-GB" u="sng" dirty="0">
                <a:solidFill>
                  <a:srgbClr val="000000"/>
                </a:solidFill>
              </a:rPr>
              <a:t>:</a:t>
            </a:r>
            <a:r>
              <a:rPr lang="en-GB" dirty="0">
                <a:solidFill>
                  <a:srgbClr val="000000"/>
                </a:solidFill>
              </a:rPr>
              <a:t> Description field with text “SAMY is MY HERO”</a:t>
            </a:r>
            <a:endParaRPr lang="en-GB" dirty="0">
              <a:solidFill>
                <a:srgbClr val="000000"/>
              </a:solidFill>
            </a:endParaRPr>
          </a:p>
          <a:p>
            <a:pPr marL="0" lvl="0" indent="0">
              <a:spcBef>
                <a:spcPts val="0"/>
              </a:spcBef>
              <a:spcAft>
                <a:spcPts val="600"/>
              </a:spcAft>
              <a:buNone/>
            </a:pPr>
            <a:r>
              <a:rPr lang="en-GB" u="sng" dirty="0">
                <a:solidFill>
                  <a:srgbClr val="000000"/>
                </a:solidFill>
              </a:rPr>
              <a:t>Line </a:t>
            </a:r>
            <a:r>
              <a:rPr lang="en-GB" u="sng" dirty="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⑤</a:t>
            </a:r>
            <a:r>
              <a:rPr lang="en-GB" u="sng" dirty="0">
                <a:solidFill>
                  <a:srgbClr val="000000"/>
                </a:solidFill>
              </a:rPr>
              <a:t>:</a:t>
            </a:r>
            <a:r>
              <a:rPr lang="en-GB" dirty="0">
                <a:solidFill>
                  <a:srgbClr val="000000"/>
                </a:solidFill>
              </a:rPr>
              <a:t> Access level of each field : 2 means viewable by everyone</a:t>
            </a:r>
            <a:endParaRPr lang="en-GB" dirty="0">
              <a:solidFill>
                <a:srgbClr val="000000"/>
              </a:solidFill>
            </a:endParaRPr>
          </a:p>
          <a:p>
            <a:pPr marL="0" lvl="0" indent="0">
              <a:spcBef>
                <a:spcPts val="0"/>
              </a:spcBef>
              <a:spcAft>
                <a:spcPts val="600"/>
              </a:spcAft>
              <a:buNone/>
            </a:pPr>
            <a:r>
              <a:rPr lang="en-GB" u="sng" dirty="0">
                <a:solidFill>
                  <a:srgbClr val="000000"/>
                </a:solidFill>
              </a:rPr>
              <a:t>Line </a:t>
            </a:r>
            <a:r>
              <a:rPr lang="en-GB" u="sng" dirty="0">
                <a:solidFill>
                  <a:srgbClr val="000000"/>
                </a:solidFill>
                <a:latin typeface="Arial Unicode MS" panose="020B0604020202020204" pitchFamily="34" charset="-128"/>
                <a:ea typeface="Arial Unicode MS" panose="020B0604020202020204" pitchFamily="34" charset="-128"/>
                <a:cs typeface="Arial Unicode MS" panose="020B0604020202020204" pitchFamily="34" charset="-128"/>
              </a:rPr>
              <a:t>⑥</a:t>
            </a:r>
            <a:r>
              <a:rPr lang="en-GB" u="sng" dirty="0">
                <a:solidFill>
                  <a:srgbClr val="000000"/>
                </a:solidFill>
              </a:rPr>
              <a:t>: </a:t>
            </a:r>
            <a:r>
              <a:rPr lang="en-GB" dirty="0">
                <a:solidFill>
                  <a:srgbClr val="000000"/>
                </a:solidFill>
              </a:rPr>
              <a:t>User Id (GUID) of the victim. This can be obtained by visiting victim’s profile page source, looking for the following:</a:t>
            </a:r>
            <a:endParaRPr lang="en-GB" dirty="0">
              <a:solidFill>
                <a:srgbClr val="000000"/>
              </a:solidFill>
            </a:endParaRPr>
          </a:p>
          <a:p>
            <a:pPr marL="0" lvl="0" indent="0">
              <a:spcBef>
                <a:spcPts val="0"/>
              </a:spcBef>
              <a:spcAft>
                <a:spcPts val="600"/>
              </a:spcAft>
              <a:buNone/>
            </a:pPr>
            <a:r>
              <a:rPr lang="en-GB" sz="2000" dirty="0">
                <a:solidFill>
                  <a:srgbClr val="000000"/>
                </a:solidFill>
              </a:rPr>
              <a:t>      </a:t>
            </a:r>
            <a:r>
              <a:rPr lang="en-GB" sz="2000" dirty="0" err="1">
                <a:solidFill>
                  <a:srgbClr val="000000"/>
                </a:solidFill>
                <a:latin typeface="Courier New" panose="02070409020205090404" pitchFamily="49" charset="0"/>
                <a:cs typeface="Courier New" panose="02070409020205090404" pitchFamily="49" charset="0"/>
              </a:rPr>
              <a:t>Elgg.page_owner</a:t>
            </a:r>
            <a:r>
              <a:rPr lang="en-GB" sz="2000" dirty="0">
                <a:solidFill>
                  <a:srgbClr val="000000"/>
                </a:solidFill>
                <a:latin typeface="Courier New" panose="02070409020205090404" pitchFamily="49" charset="0"/>
                <a:cs typeface="Courier New" panose="02070409020205090404" pitchFamily="49" charset="0"/>
              </a:rPr>
              <a:t>={“guid”:39,”type”:”user”,...}</a:t>
            </a:r>
            <a:endParaRPr lang="en-GB" sz="2000" dirty="0">
              <a:solidFill>
                <a:srgbClr val="000000"/>
              </a:solidFill>
              <a:latin typeface="Courier New" panose="02070409020205090404" pitchFamily="49" charset="0"/>
              <a:cs typeface="Courier New" panose="02070409020205090404" pitchFamily="49" charset="0"/>
            </a:endParaRPr>
          </a:p>
        </p:txBody>
      </p:sp>
      <p:pic>
        <p:nvPicPr>
          <p:cNvPr id="5" name="Picture 4"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1700" y="1168338"/>
            <a:ext cx="6435865" cy="14945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prstGeom prst="rect">
            <a:avLst/>
          </a:prstGeom>
        </p:spPr>
        <p:txBody>
          <a:bodyPr wrap="square" lIns="91425" tIns="91425" rIns="91425" bIns="91425" anchor="t" anchorCtr="0">
            <a:noAutofit/>
          </a:bodyPr>
          <a:lstStyle/>
          <a:p>
            <a:pPr marL="114300" lvl="0">
              <a:buClr>
                <a:srgbClr val="000000"/>
              </a:buClr>
              <a:buSzPts val="1800"/>
            </a:pPr>
            <a:r>
              <a:rPr lang="en-GB" dirty="0">
                <a:solidFill>
                  <a:srgbClr val="000000"/>
                </a:solidFill>
              </a:rPr>
              <a:t>Craft the Malicious Web Page</a:t>
            </a:r>
            <a:endParaRPr lang="en-GB" dirty="0">
              <a:solidFill>
                <a:srgbClr val="000000"/>
              </a:solidFill>
            </a:endParaRPr>
          </a:p>
        </p:txBody>
      </p:sp>
      <p:pic>
        <p:nvPicPr>
          <p:cNvPr id="184" name="Shape 184"/>
          <p:cNvPicPr preferRelativeResize="0"/>
          <p:nvPr/>
        </p:nvPicPr>
        <p:blipFill>
          <a:blip r:embed="rId1"/>
          <a:stretch>
            <a:fillRect/>
          </a:stretch>
        </p:blipFill>
        <p:spPr>
          <a:xfrm>
            <a:off x="381959" y="1131205"/>
            <a:ext cx="4628961" cy="3655447"/>
          </a:xfrm>
          <a:prstGeom prst="rect">
            <a:avLst/>
          </a:prstGeom>
          <a:noFill/>
          <a:ln>
            <a:noFill/>
          </a:ln>
        </p:spPr>
      </p:pic>
      <p:sp>
        <p:nvSpPr>
          <p:cNvPr id="185" name="Shape 185"/>
          <p:cNvSpPr txBox="1"/>
          <p:nvPr/>
        </p:nvSpPr>
        <p:spPr>
          <a:xfrm>
            <a:off x="4926900" y="1131205"/>
            <a:ext cx="3905400" cy="38799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GB" sz="1800" dirty="0"/>
              <a:t>The JavaScript function creates a hidden form with the description entry as our text.</a:t>
            </a:r>
            <a:endParaRPr lang="en-GB" sz="1800" dirty="0"/>
          </a:p>
          <a:p>
            <a:pPr marL="0" lvl="0" indent="0">
              <a:spcBef>
                <a:spcPts val="0"/>
              </a:spcBef>
              <a:buNone/>
            </a:pPr>
            <a:endParaRPr sz="1800" dirty="0"/>
          </a:p>
          <a:p>
            <a:pPr marL="457200" lvl="0" indent="-342900">
              <a:spcBef>
                <a:spcPts val="0"/>
              </a:spcBef>
              <a:buSzPts val="1800"/>
              <a:buChar char="●"/>
            </a:pPr>
            <a:r>
              <a:rPr lang="en-GB" sz="1800" dirty="0"/>
              <a:t>When the victim visits this page, the form will be automatically submitted (POST request) from the victim’s browser to the edit-profile service at “</a:t>
            </a:r>
            <a:r>
              <a:rPr lang="en-GB" sz="1800" u="sng" dirty="0">
                <a:solidFill>
                  <a:schemeClr val="hlink"/>
                </a:solidFill>
                <a:hlinkClick r:id="rId2"/>
              </a:rPr>
              <a:t>http://www.csrflabelgg.com/action/profile/edit</a:t>
            </a:r>
            <a:r>
              <a:rPr lang="en-GB" sz="1800" dirty="0"/>
              <a:t>” causing the message to be added to the victim’s profile.</a:t>
            </a:r>
            <a:endParaRPr lang="en-GB"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Fundamental Causes of CSRF</a:t>
            </a:r>
            <a:endParaRPr lang="en-US" dirty="0"/>
          </a:p>
        </p:txBody>
      </p:sp>
      <p:sp>
        <p:nvSpPr>
          <p:cNvPr id="3" name="Text Placeholder 2"/>
          <p:cNvSpPr>
            <a:spLocks noGrp="1"/>
          </p:cNvSpPr>
          <p:nvPr>
            <p:ph type="body" idx="1"/>
          </p:nvPr>
        </p:nvSpPr>
        <p:spPr/>
        <p:txBody>
          <a:bodyPr/>
          <a:lstStyle/>
          <a:p>
            <a:pPr marL="231775" indent="-231775"/>
            <a:r>
              <a:rPr lang="en-US" dirty="0"/>
              <a:t>The server cannot distinguish whether a request is cross-site or same-site</a:t>
            </a:r>
            <a:endParaRPr lang="en-US" dirty="0"/>
          </a:p>
          <a:p>
            <a:pPr marL="574675" lvl="1" indent="-231775"/>
            <a:r>
              <a:rPr lang="en-US" dirty="0"/>
              <a:t>Same-site request: coming from the server’s own page. </a:t>
            </a:r>
            <a:r>
              <a:rPr lang="en-US" dirty="0">
                <a:solidFill>
                  <a:srgbClr val="00B050"/>
                </a:solidFill>
              </a:rPr>
              <a:t>Trusted</a:t>
            </a:r>
            <a:r>
              <a:rPr lang="en-US" dirty="0"/>
              <a:t>.</a:t>
            </a:r>
            <a:endParaRPr lang="en-US" dirty="0"/>
          </a:p>
          <a:p>
            <a:pPr marL="574675" lvl="1" indent="-231775"/>
            <a:r>
              <a:rPr lang="en-US" dirty="0"/>
              <a:t>Cross-site request: coming from other site’s pages. </a:t>
            </a:r>
            <a:r>
              <a:rPr lang="en-US" dirty="0">
                <a:solidFill>
                  <a:srgbClr val="C00000"/>
                </a:solidFill>
              </a:rPr>
              <a:t>Not Trusted</a:t>
            </a:r>
            <a:r>
              <a:rPr lang="en-US" dirty="0"/>
              <a:t>.</a:t>
            </a:r>
            <a:endParaRPr lang="en-US" dirty="0"/>
          </a:p>
          <a:p>
            <a:pPr marL="574675" lvl="1" indent="-231775"/>
            <a:r>
              <a:rPr lang="en-US" dirty="0"/>
              <a:t>We cannot treat these two types of requests the same.</a:t>
            </a:r>
            <a:endParaRPr lang="en-US" dirty="0"/>
          </a:p>
          <a:p>
            <a:pPr marL="231775" indent="-231775"/>
            <a:r>
              <a:rPr lang="en-US" dirty="0"/>
              <a:t>Does the browser know the difference?</a:t>
            </a:r>
            <a:endParaRPr lang="en-US" dirty="0"/>
          </a:p>
          <a:p>
            <a:pPr marL="574675" lvl="1" indent="-231775"/>
            <a:r>
              <a:rPr lang="en-US" dirty="0"/>
              <a:t>Of course. The browser knows from which page a request is generated.</a:t>
            </a:r>
            <a:endParaRPr lang="en-US" dirty="0"/>
          </a:p>
          <a:p>
            <a:pPr marL="574675" lvl="1" indent="-231775"/>
            <a:r>
              <a:rPr lang="en-US" dirty="0"/>
              <a:t>Can browser help?</a:t>
            </a:r>
            <a:endParaRPr lang="en-US" dirty="0"/>
          </a:p>
          <a:p>
            <a:pPr marL="231775" indent="-231775"/>
            <a:r>
              <a:rPr lang="en-US" dirty="0">
                <a:highlight>
                  <a:srgbClr val="FFFF00"/>
                </a:highlight>
              </a:rPr>
              <a:t>How to help server?</a:t>
            </a:r>
            <a:endParaRPr lang="en-US" dirty="0">
              <a:highlight>
                <a:srgbClr val="FFFF00"/>
              </a:highlight>
            </a:endParaRPr>
          </a:p>
          <a:p>
            <a:pPr marL="574675" lvl="1" indent="-231775"/>
            <a:r>
              <a:rPr lang="en-US" dirty="0" err="1">
                <a:highlight>
                  <a:srgbClr val="FFFF00"/>
                </a:highlight>
              </a:rPr>
              <a:t>Referer</a:t>
            </a:r>
            <a:r>
              <a:rPr lang="en-US" dirty="0">
                <a:highlight>
                  <a:srgbClr val="FFFF00"/>
                </a:highlight>
              </a:rPr>
              <a:t> header  (browser’s help)</a:t>
            </a:r>
            <a:endParaRPr lang="en-US" dirty="0">
              <a:highlight>
                <a:srgbClr val="FFFF00"/>
              </a:highlight>
            </a:endParaRPr>
          </a:p>
          <a:p>
            <a:pPr marL="574675" lvl="1" indent="-231775"/>
            <a:r>
              <a:rPr lang="en-US" dirty="0">
                <a:highlight>
                  <a:srgbClr val="FFFF00"/>
                </a:highlight>
              </a:rPr>
              <a:t>Same-site cookie (browser’s help)</a:t>
            </a:r>
            <a:endParaRPr lang="en-US" dirty="0">
              <a:highlight>
                <a:srgbClr val="FFFF00"/>
              </a:highlight>
            </a:endParaRPr>
          </a:p>
          <a:p>
            <a:pPr marL="574675" lvl="1" indent="-231775"/>
            <a:r>
              <a:rPr lang="en-US" dirty="0">
                <a:highlight>
                  <a:srgbClr val="FFFF00"/>
                </a:highlight>
              </a:rPr>
              <a:t>Secret token (the server helps itself to defend against CSRF)</a:t>
            </a:r>
            <a:endParaRPr lang="en-US" dirty="0">
              <a:highlight>
                <a:srgbClr val="FFFF00"/>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Countermeasures: </a:t>
            </a:r>
            <a:r>
              <a:rPr lang="en-GB" dirty="0" err="1"/>
              <a:t>Referer</a:t>
            </a:r>
            <a:r>
              <a:rPr lang="en-GB" dirty="0"/>
              <a:t> Header</a:t>
            </a:r>
            <a:endParaRPr lang="en-GB" dirty="0"/>
          </a:p>
        </p:txBody>
      </p:sp>
      <p:sp>
        <p:nvSpPr>
          <p:cNvPr id="191" name="Shape 191"/>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a:solidFill>
                  <a:srgbClr val="000000"/>
                </a:solidFill>
              </a:rPr>
              <a:t>HTTP header field identifying the address of the web page from where the request is generated.</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A server can check whether the request is originated from its own pages or not.</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This field reveals part of browsing history causing privacy concern and hence, this field is mostly removed from the header.</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The server cannot use this unreliable source.</a:t>
            </a:r>
            <a:endParaRPr lang="en-GB" dirty="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Shape 196"/>
          <p:cNvSpPr txBox="1">
            <a:spLocks noGrp="1"/>
          </p:cNvSpPr>
          <p:nvPr>
            <p:ph type="title"/>
          </p:nvPr>
        </p:nvSpPr>
        <p:spPr>
          <a:prstGeom prst="rect">
            <a:avLst/>
          </a:prstGeom>
        </p:spPr>
        <p:txBody>
          <a:bodyPr wrap="square" lIns="91425" tIns="91425" rIns="91425" bIns="91425" anchor="t" anchorCtr="0">
            <a:noAutofit/>
          </a:bodyPr>
          <a:lstStyle/>
          <a:p>
            <a:pPr lvl="0" indent="-69850">
              <a:buClr>
                <a:schemeClr val="dk1"/>
              </a:buClr>
              <a:buSzPts val="1100"/>
            </a:pPr>
            <a:r>
              <a:rPr lang="en-GB" dirty="0"/>
              <a:t>Countermeasures: Same-Site Cookies</a:t>
            </a:r>
            <a:endParaRPr lang="en-GB" dirty="0"/>
          </a:p>
        </p:txBody>
      </p:sp>
      <p:sp>
        <p:nvSpPr>
          <p:cNvPr id="197" name="Shape 197"/>
          <p:cNvSpPr txBox="1">
            <a:spLocks noGrp="1"/>
          </p:cNvSpPr>
          <p:nvPr>
            <p:ph type="body" idx="1"/>
          </p:nvPr>
        </p:nvSpPr>
        <p:spPr>
          <a:xfrm>
            <a:off x="311700" y="1152475"/>
            <a:ext cx="8520600" cy="3897300"/>
          </a:xfrm>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a:solidFill>
                  <a:srgbClr val="000000"/>
                </a:solidFill>
              </a:rPr>
              <a:t>A special type of cookie in browsers like Chrome and Opera, which provide a </a:t>
            </a:r>
            <a:r>
              <a:rPr lang="en-GB" dirty="0">
                <a:solidFill>
                  <a:srgbClr val="000000"/>
                </a:solidFill>
                <a:highlight>
                  <a:srgbClr val="FFFF00"/>
                </a:highlight>
              </a:rPr>
              <a:t>special attribute to cookies called </a:t>
            </a:r>
            <a:r>
              <a:rPr lang="en-GB" dirty="0" err="1">
                <a:solidFill>
                  <a:srgbClr val="000000"/>
                </a:solidFill>
                <a:highlight>
                  <a:srgbClr val="FFFF00"/>
                </a:highlight>
                <a:latin typeface="Courier New" panose="02070409020205090404" pitchFamily="49" charset="0"/>
                <a:cs typeface="Courier New" panose="02070409020205090404" pitchFamily="49" charset="0"/>
              </a:rPr>
              <a:t>SameSite</a:t>
            </a:r>
            <a:r>
              <a:rPr lang="en-GB" i="1" dirty="0">
                <a:solidFill>
                  <a:srgbClr val="000000"/>
                </a:solidFill>
                <a:highlight>
                  <a:srgbClr val="FFFF00"/>
                </a:highlight>
              </a:rPr>
              <a:t>.</a:t>
            </a:r>
            <a:endParaRPr lang="en-GB" i="1"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This attribute is set by the servers and it tells the browsers whether a cookie should be attached to a cross-site request or not.</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Cookies with this attribute are always sent along with same-site requests, but whether they are sent along with cross-site depends on the value of this attribute.</a:t>
            </a:r>
            <a:endParaRPr lang="en-GB" dirty="0">
              <a:solidFill>
                <a:srgbClr val="000000"/>
              </a:solidFill>
            </a:endParaRPr>
          </a:p>
          <a:p>
            <a:pPr marL="457200" lvl="0" indent="-342900" rtl="0">
              <a:lnSpc>
                <a:spcPct val="100000"/>
              </a:lnSpc>
              <a:spcBef>
                <a:spcPts val="0"/>
              </a:spcBef>
              <a:spcAft>
                <a:spcPts val="600"/>
              </a:spcAft>
              <a:buClr>
                <a:srgbClr val="000000"/>
              </a:buClr>
              <a:buSzPts val="1800"/>
              <a:buChar char="●"/>
            </a:pPr>
            <a:r>
              <a:rPr lang="en-GB" dirty="0">
                <a:solidFill>
                  <a:srgbClr val="000000"/>
                </a:solidFill>
              </a:rPr>
              <a:t>Values</a:t>
            </a:r>
            <a:endParaRPr lang="en-GB" dirty="0">
              <a:solidFill>
                <a:srgbClr val="000000"/>
              </a:solidFill>
            </a:endParaRPr>
          </a:p>
          <a:p>
            <a:pPr marL="800100" lvl="1" indent="-342900">
              <a:lnSpc>
                <a:spcPct val="100000"/>
              </a:lnSpc>
              <a:spcAft>
                <a:spcPts val="600"/>
              </a:spcAft>
              <a:buClr>
                <a:srgbClr val="000000"/>
              </a:buClr>
              <a:buSzPts val="1800"/>
              <a:buChar char="●"/>
            </a:pPr>
            <a:r>
              <a:rPr lang="en-GB" dirty="0">
                <a:solidFill>
                  <a:srgbClr val="000000"/>
                </a:solidFill>
              </a:rPr>
              <a:t>Strict (Not sent along with cross-site requests)</a:t>
            </a:r>
            <a:endParaRPr lang="en-GB" dirty="0">
              <a:solidFill>
                <a:srgbClr val="000000"/>
              </a:solidFill>
            </a:endParaRPr>
          </a:p>
          <a:p>
            <a:pPr marL="800100" lvl="1" indent="-342900">
              <a:lnSpc>
                <a:spcPct val="100000"/>
              </a:lnSpc>
              <a:spcAft>
                <a:spcPts val="600"/>
              </a:spcAft>
              <a:buClr>
                <a:srgbClr val="000000"/>
              </a:buClr>
              <a:buSzPts val="1800"/>
              <a:buChar char="●"/>
            </a:pPr>
            <a:r>
              <a:rPr lang="en-GB" dirty="0">
                <a:solidFill>
                  <a:srgbClr val="000000"/>
                </a:solidFill>
              </a:rPr>
              <a:t>Lax (Sent with cross-site requests) </a:t>
            </a:r>
            <a:endParaRPr lang="en-GB" dirty="0">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Shape 20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Countermeasures: Secret Token</a:t>
            </a:r>
            <a:endParaRPr lang="en-GB" dirty="0"/>
          </a:p>
          <a:p>
            <a:pPr marL="0" lvl="0" indent="0">
              <a:spcBef>
                <a:spcPts val="0"/>
              </a:spcBef>
              <a:buNone/>
            </a:pPr>
            <a:endParaRPr dirty="0"/>
          </a:p>
        </p:txBody>
      </p:sp>
      <p:sp>
        <p:nvSpPr>
          <p:cNvPr id="203" name="Shape 203"/>
          <p:cNvSpPr txBox="1">
            <a:spLocks noGrp="1"/>
          </p:cNvSpPr>
          <p:nvPr>
            <p:ph type="body" idx="1"/>
          </p:nvPr>
        </p:nvSpPr>
        <p:spPr>
          <a:xfrm>
            <a:off x="311700" y="1152475"/>
            <a:ext cx="8520600" cy="3897300"/>
          </a:xfrm>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a:solidFill>
                  <a:srgbClr val="000000"/>
                </a:solidFill>
              </a:rPr>
              <a:t>The server embeds a random secret value inside each web page. </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When a request is initiated from this page, the secret value is included with the request. </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The server checks this value to see whether a request is cross-site or not.</a:t>
            </a:r>
            <a:endParaRPr lang="en-GB" dirty="0">
              <a:solidFill>
                <a:srgbClr val="000000"/>
              </a:solidFill>
            </a:endParaRPr>
          </a:p>
          <a:p>
            <a:pPr marL="457200" lvl="0" indent="-342900">
              <a:spcAft>
                <a:spcPts val="600"/>
              </a:spcAft>
              <a:buClr>
                <a:srgbClr val="000000"/>
              </a:buClr>
            </a:pPr>
            <a:r>
              <a:rPr lang="en-GB" dirty="0">
                <a:solidFill>
                  <a:srgbClr val="000000"/>
                </a:solidFill>
              </a:rPr>
              <a:t>Pages from a different origin will not be able to access the secret value. This is guaranteed by browsers (the same origin policy)</a:t>
            </a:r>
            <a:endParaRPr lang="en-GB" dirty="0">
              <a:solidFill>
                <a:srgbClr val="000000"/>
              </a:solidFill>
            </a:endParaRPr>
          </a:p>
          <a:p>
            <a:pPr marL="457200" lvl="0" indent="-342900">
              <a:spcAft>
                <a:spcPts val="600"/>
              </a:spcAft>
              <a:buClr>
                <a:srgbClr val="000000"/>
              </a:buClr>
            </a:pPr>
            <a:r>
              <a:rPr lang="en-GB" dirty="0">
                <a:solidFill>
                  <a:srgbClr val="000000"/>
                </a:solidFill>
              </a:rPr>
              <a:t>The secret is randomly generated and is different for different users. So, there is no way for attackers to guess or find out this secret.</a:t>
            </a:r>
            <a:endParaRPr lang="en-GB" dirty="0">
              <a:solidFill>
                <a:srgbClr val="000000"/>
              </a:solidFill>
            </a:endParaRPr>
          </a:p>
          <a:p>
            <a:pPr marL="457200" lvl="0" indent="-342900">
              <a:spcBef>
                <a:spcPts val="0"/>
              </a:spcBef>
              <a:spcAft>
                <a:spcPts val="600"/>
              </a:spcAft>
              <a:buClr>
                <a:srgbClr val="000000"/>
              </a:buClr>
              <a:buSzPts val="1800"/>
              <a:buChar char="●"/>
            </a:pPr>
            <a:endParaRPr lang="en-GB" dirty="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Shape 208"/>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Elgg’s Countermeasure</a:t>
            </a:r>
            <a:endParaRPr lang="en-GB"/>
          </a:p>
        </p:txBody>
      </p:sp>
      <p:sp>
        <p:nvSpPr>
          <p:cNvPr id="209" name="Shape 209"/>
          <p:cNvSpPr txBox="1">
            <a:spLocks noGrp="1"/>
          </p:cNvSpPr>
          <p:nvPr>
            <p:ph type="body" idx="1"/>
          </p:nvPr>
        </p:nvSpPr>
        <p:spPr>
          <a:xfrm>
            <a:off x="311700" y="1152475"/>
            <a:ext cx="8520600" cy="1242600"/>
          </a:xfrm>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en-GB" dirty="0">
                <a:solidFill>
                  <a:srgbClr val="000000"/>
                </a:solidFill>
              </a:rPr>
              <a:t>Uses secret-token approach : _</a:t>
            </a:r>
            <a:r>
              <a:rPr lang="en-GB" dirty="0" err="1">
                <a:solidFill>
                  <a:srgbClr val="000000"/>
                </a:solidFill>
              </a:rPr>
              <a:t>elgg_tc</a:t>
            </a:r>
            <a:r>
              <a:rPr lang="en-GB" dirty="0">
                <a:solidFill>
                  <a:srgbClr val="000000"/>
                </a:solidFill>
              </a:rPr>
              <a:t> and _</a:t>
            </a:r>
            <a:r>
              <a:rPr lang="en-GB" dirty="0" err="1">
                <a:solidFill>
                  <a:srgbClr val="000000"/>
                </a:solidFill>
              </a:rPr>
              <a:t>elgg_token</a:t>
            </a:r>
            <a:r>
              <a:rPr lang="en-GB" dirty="0">
                <a:solidFill>
                  <a:srgbClr val="000000"/>
                </a:solidFill>
              </a:rPr>
              <a:t>.</a:t>
            </a:r>
            <a:endParaRPr lang="en-GB" dirty="0">
              <a:solidFill>
                <a:srgbClr val="000000"/>
              </a:solidFill>
            </a:endParaRPr>
          </a:p>
          <a:p>
            <a:pPr marL="457200" lvl="0" indent="-342900">
              <a:spcBef>
                <a:spcPts val="0"/>
              </a:spcBef>
              <a:buClr>
                <a:srgbClr val="000000"/>
              </a:buClr>
              <a:buSzPts val="1800"/>
              <a:buChar char="●"/>
            </a:pPr>
            <a:r>
              <a:rPr lang="en-GB" dirty="0">
                <a:solidFill>
                  <a:srgbClr val="000000"/>
                </a:solidFill>
              </a:rPr>
              <a:t>The values are stored inside two JavaScript variables and also in all the forms where user action is required.</a:t>
            </a:r>
            <a:endParaRPr lang="en-GB" dirty="0">
              <a:solidFill>
                <a:srgbClr val="000000"/>
              </a:solidFill>
            </a:endParaRPr>
          </a:p>
          <a:p>
            <a:pPr marL="0" lvl="0" indent="0">
              <a:spcBef>
                <a:spcPts val="0"/>
              </a:spcBef>
              <a:buNone/>
            </a:pPr>
            <a:endParaRPr dirty="0"/>
          </a:p>
        </p:txBody>
      </p:sp>
      <p:pic>
        <p:nvPicPr>
          <p:cNvPr id="210" name="Shape 210"/>
          <p:cNvPicPr preferRelativeResize="0"/>
          <p:nvPr/>
        </p:nvPicPr>
        <p:blipFill>
          <a:blip r:embed="rId1"/>
          <a:stretch>
            <a:fillRect/>
          </a:stretch>
        </p:blipFill>
        <p:spPr>
          <a:xfrm>
            <a:off x="439325" y="2338800"/>
            <a:ext cx="7537551" cy="465900"/>
          </a:xfrm>
          <a:prstGeom prst="rect">
            <a:avLst/>
          </a:prstGeom>
          <a:noFill/>
          <a:ln>
            <a:noFill/>
          </a:ln>
        </p:spPr>
      </p:pic>
      <p:sp>
        <p:nvSpPr>
          <p:cNvPr id="211" name="Shape 211"/>
          <p:cNvSpPr txBox="1"/>
          <p:nvPr/>
        </p:nvSpPr>
        <p:spPr>
          <a:xfrm>
            <a:off x="370125" y="3135450"/>
            <a:ext cx="8520600" cy="1552787"/>
          </a:xfrm>
          <a:prstGeom prst="rect">
            <a:avLst/>
          </a:prstGeom>
          <a:noFill/>
          <a:ln>
            <a:noFill/>
          </a:ln>
        </p:spPr>
        <p:txBody>
          <a:bodyPr wrap="square" lIns="91425" tIns="91425" rIns="91425" bIns="91425" anchor="t" anchorCtr="0">
            <a:noAutofit/>
          </a:bodyPr>
          <a:lstStyle/>
          <a:p>
            <a:pPr marL="457200" lvl="0" indent="-342900" rtl="0">
              <a:spcBef>
                <a:spcPts val="0"/>
              </a:spcBef>
              <a:spcAft>
                <a:spcPts val="0"/>
              </a:spcAft>
              <a:buSzPts val="1800"/>
              <a:buChar char="●"/>
            </a:pPr>
            <a:r>
              <a:rPr lang="en-GB" sz="1800" dirty="0"/>
              <a:t>The two hidden parameters are added to the form so that when the form is submitted via an HTTP request, these two values are included in the request.</a:t>
            </a:r>
            <a:endParaRPr lang="en-GB" sz="1800" dirty="0"/>
          </a:p>
          <a:p>
            <a:pPr marL="457200" lvl="0" indent="-342900">
              <a:buSzPts val="1800"/>
              <a:buChar char="●"/>
            </a:pPr>
            <a:r>
              <a:rPr lang="en-GB" sz="1800" dirty="0"/>
              <a:t>These two hidden values are generated by the server and added as a hidden field in each page.</a:t>
            </a:r>
            <a:endParaRPr lang="en-GB" sz="1800" dirty="0"/>
          </a:p>
          <a:p>
            <a:pPr marL="0" lvl="0" indent="0">
              <a:spcBef>
                <a:spcPts val="0"/>
              </a:spcBef>
              <a:buNone/>
            </a:pP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Shape 216"/>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Elgg’s Countermeasure</a:t>
            </a:r>
            <a:endParaRPr lang="en-GB"/>
          </a:p>
        </p:txBody>
      </p:sp>
      <p:pic>
        <p:nvPicPr>
          <p:cNvPr id="219" name="Shape 219"/>
          <p:cNvPicPr preferRelativeResize="0"/>
          <p:nvPr/>
        </p:nvPicPr>
        <p:blipFill>
          <a:blip r:embed="rId1"/>
          <a:stretch>
            <a:fillRect/>
          </a:stretch>
        </p:blipFill>
        <p:spPr>
          <a:xfrm>
            <a:off x="421175" y="1846800"/>
            <a:ext cx="4018000" cy="572700"/>
          </a:xfrm>
          <a:prstGeom prst="rect">
            <a:avLst/>
          </a:prstGeom>
          <a:noFill/>
          <a:ln>
            <a:noFill/>
          </a:ln>
        </p:spPr>
      </p:pic>
      <p:sp>
        <p:nvSpPr>
          <p:cNvPr id="220" name="Shape 220"/>
          <p:cNvSpPr txBox="1"/>
          <p:nvPr/>
        </p:nvSpPr>
        <p:spPr>
          <a:xfrm>
            <a:off x="6364270" y="1634639"/>
            <a:ext cx="2310300" cy="868200"/>
          </a:xfrm>
          <a:prstGeom prst="rect">
            <a:avLst/>
          </a:prstGeom>
          <a:noFill/>
          <a:ln>
            <a:noFill/>
          </a:ln>
        </p:spPr>
        <p:txBody>
          <a:bodyPr wrap="square" lIns="91425" tIns="91425" rIns="91425" bIns="91425" anchor="t" anchorCtr="0">
            <a:noAutofit/>
          </a:bodyPr>
          <a:lstStyle/>
          <a:p>
            <a:pPr marL="0" lvl="0" indent="0" rtl="0">
              <a:spcBef>
                <a:spcPts val="0"/>
              </a:spcBef>
              <a:buNone/>
            </a:pPr>
            <a:r>
              <a:rPr lang="en-GB" sz="1800" i="1" dirty="0"/>
              <a:t>JavaScript variables to access using JavaScript code.</a:t>
            </a:r>
            <a:endParaRPr lang="en-GB" sz="1800" i="1" dirty="0"/>
          </a:p>
        </p:txBody>
      </p:sp>
      <p:sp>
        <p:nvSpPr>
          <p:cNvPr id="221" name="Shape 221"/>
          <p:cNvSpPr txBox="1"/>
          <p:nvPr/>
        </p:nvSpPr>
        <p:spPr>
          <a:xfrm>
            <a:off x="421175" y="2854635"/>
            <a:ext cx="8520600" cy="1557000"/>
          </a:xfrm>
          <a:prstGeom prst="rect">
            <a:avLst/>
          </a:prstGeom>
          <a:noFill/>
          <a:ln>
            <a:noFill/>
          </a:ln>
        </p:spPr>
        <p:txBody>
          <a:bodyPr wrap="square" lIns="91425" tIns="91425" rIns="91425" bIns="91425" anchor="t" anchorCtr="0">
            <a:noAutofit/>
          </a:bodyPr>
          <a:lstStyle/>
          <a:p>
            <a:pPr marL="0" lvl="0" indent="0">
              <a:spcBef>
                <a:spcPts val="0"/>
              </a:spcBef>
              <a:buNone/>
            </a:pPr>
            <a:r>
              <a:rPr lang="en-GB" sz="1800" dirty="0" err="1"/>
              <a:t>Elgg’s</a:t>
            </a:r>
            <a:r>
              <a:rPr lang="en-GB" sz="1800" dirty="0"/>
              <a:t> security token is a MD5 digest of four pieces of information : </a:t>
            </a:r>
            <a:endParaRPr lang="en-GB" sz="1800" dirty="0"/>
          </a:p>
          <a:p>
            <a:pPr marL="457200" lvl="0" indent="-342900">
              <a:spcBef>
                <a:spcPts val="0"/>
              </a:spcBef>
              <a:spcAft>
                <a:spcPts val="0"/>
              </a:spcAft>
              <a:buSzPts val="1800"/>
              <a:buChar char="●"/>
            </a:pPr>
            <a:r>
              <a:rPr lang="en-GB" sz="1800" dirty="0"/>
              <a:t>Site secret value</a:t>
            </a:r>
            <a:endParaRPr lang="en-GB" sz="1800" dirty="0"/>
          </a:p>
          <a:p>
            <a:pPr marL="457200" lvl="0" indent="-342900">
              <a:spcBef>
                <a:spcPts val="0"/>
              </a:spcBef>
              <a:spcAft>
                <a:spcPts val="0"/>
              </a:spcAft>
              <a:buSzPts val="1800"/>
              <a:buChar char="●"/>
            </a:pPr>
            <a:r>
              <a:rPr lang="en-GB" sz="1800" dirty="0"/>
              <a:t>Timestamp</a:t>
            </a:r>
            <a:endParaRPr lang="en-GB" sz="1800" dirty="0"/>
          </a:p>
          <a:p>
            <a:pPr marL="457200" lvl="0" indent="-342900">
              <a:spcBef>
                <a:spcPts val="0"/>
              </a:spcBef>
              <a:spcAft>
                <a:spcPts val="0"/>
              </a:spcAft>
              <a:buSzPts val="1800"/>
              <a:buChar char="●"/>
            </a:pPr>
            <a:r>
              <a:rPr lang="en-GB" sz="1800" dirty="0"/>
              <a:t>User session ID </a:t>
            </a:r>
            <a:endParaRPr lang="en-GB" sz="1800" dirty="0"/>
          </a:p>
          <a:p>
            <a:pPr marL="457200" lvl="0" indent="-342900">
              <a:spcBef>
                <a:spcPts val="0"/>
              </a:spcBef>
              <a:buSzPts val="1800"/>
              <a:buChar char="●"/>
            </a:pPr>
            <a:r>
              <a:rPr lang="en-GB" sz="1800" dirty="0"/>
              <a:t>Randomly generated session string</a:t>
            </a:r>
            <a:endParaRPr lang="en-GB" sz="1800" dirty="0"/>
          </a:p>
        </p:txBody>
      </p:sp>
      <p:cxnSp>
        <p:nvCxnSpPr>
          <p:cNvPr id="222" name="Shape 222"/>
          <p:cNvCxnSpPr/>
          <p:nvPr/>
        </p:nvCxnSpPr>
        <p:spPr>
          <a:xfrm rot="10800000" flipH="1">
            <a:off x="4321330" y="2068740"/>
            <a:ext cx="1837200" cy="1200"/>
          </a:xfrm>
          <a:prstGeom prst="straightConnector1">
            <a:avLst/>
          </a:prstGeom>
          <a:noFill/>
          <a:ln w="9525" cap="flat" cmpd="sng">
            <a:solidFill>
              <a:schemeClr val="dk2"/>
            </a:solidFill>
            <a:prstDash val="solid"/>
            <a:round/>
            <a:headEnd type="none" w="lg" len="lg"/>
            <a:tailEnd type="triangle" w="lg" len="lg"/>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Summary</a:t>
            </a:r>
            <a:endParaRPr lang="en-US" dirty="0"/>
          </a:p>
        </p:txBody>
      </p:sp>
      <p:sp>
        <p:nvSpPr>
          <p:cNvPr id="3" name="Text Placeholder 2"/>
          <p:cNvSpPr>
            <a:spLocks noGrp="1"/>
          </p:cNvSpPr>
          <p:nvPr>
            <p:ph type="body" idx="1"/>
          </p:nvPr>
        </p:nvSpPr>
        <p:spPr/>
        <p:txBody>
          <a:bodyPr/>
          <a:lstStyle/>
          <a:p>
            <a:pPr marL="231775" indent="-231775">
              <a:spcAft>
                <a:spcPts val="1200"/>
              </a:spcAft>
            </a:pPr>
            <a:r>
              <a:rPr lang="en-US" dirty="0"/>
              <a:t>Cross-site requests </a:t>
            </a:r>
            <a:r>
              <a:rPr lang="en-US" dirty="0" err="1"/>
              <a:t>v.s</a:t>
            </a:r>
            <a:r>
              <a:rPr lang="en-US" dirty="0"/>
              <a:t>. same-site requests. </a:t>
            </a:r>
            <a:endParaRPr lang="en-US" dirty="0"/>
          </a:p>
          <a:p>
            <a:pPr marL="231775" indent="-231775">
              <a:spcAft>
                <a:spcPts val="1200"/>
              </a:spcAft>
            </a:pPr>
            <a:r>
              <a:rPr lang="en-US" dirty="0"/>
              <a:t>Why cross-site requests should be treated differently.</a:t>
            </a:r>
            <a:endParaRPr lang="en-US" dirty="0"/>
          </a:p>
          <a:p>
            <a:pPr marL="231775" indent="-231775">
              <a:spcAft>
                <a:spcPts val="1200"/>
              </a:spcAft>
            </a:pPr>
            <a:r>
              <a:rPr lang="en-US" dirty="0"/>
              <a:t>How to conduct CSRF attack</a:t>
            </a:r>
            <a:endParaRPr lang="en-US" dirty="0"/>
          </a:p>
          <a:p>
            <a:pPr marL="231775" indent="-231775">
              <a:spcAft>
                <a:spcPts val="1200"/>
              </a:spcAft>
            </a:pPr>
            <a:r>
              <a:rPr lang="en-US" dirty="0"/>
              <a:t>The fundamental cause of the CSRF vulnerability</a:t>
            </a:r>
            <a:endParaRPr lang="en-US" dirty="0"/>
          </a:p>
          <a:p>
            <a:pPr marL="231775" indent="-231775">
              <a:spcAft>
                <a:spcPts val="1200"/>
              </a:spcAft>
            </a:pPr>
            <a:r>
              <a:rPr lang="en-US" dirty="0"/>
              <a:t>How to defend against CSRF attack</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9216</Words>
  <Application>WPS Presentation</Application>
  <PresentationFormat>On-screen Show (16:9)</PresentationFormat>
  <Paragraphs>218</Paragraphs>
  <Slides>27</Slides>
  <Notes>25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27</vt:i4>
      </vt:variant>
    </vt:vector>
  </HeadingPairs>
  <TitlesOfParts>
    <vt:vector size="41" baseType="lpstr">
      <vt:lpstr>Arial</vt:lpstr>
      <vt:lpstr>SimSun</vt:lpstr>
      <vt:lpstr>Wingdings</vt:lpstr>
      <vt:lpstr>Arial</vt:lpstr>
      <vt:lpstr>Calibri Light</vt:lpstr>
      <vt:lpstr>Helvetica Neue</vt:lpstr>
      <vt:lpstr>Microsoft YaHei</vt:lpstr>
      <vt:lpstr>汉仪旗黑</vt:lpstr>
      <vt:lpstr>Arial Unicode MS</vt:lpstr>
      <vt:lpstr>Calibri</vt:lpstr>
      <vt:lpstr>Arial Unicode MS</vt:lpstr>
      <vt:lpstr>Courier New</vt:lpstr>
      <vt:lpstr>汉仪书宋二KW</vt:lpstr>
      <vt:lpstr>Office Theme</vt:lpstr>
      <vt:lpstr>Cross Site Request Forgery (CSRF)</vt:lpstr>
      <vt:lpstr>Outline</vt:lpstr>
      <vt:lpstr>Cross-Site Requests and Its Problems</vt:lpstr>
      <vt:lpstr>Cross-Site Requests and Its Problems</vt:lpstr>
      <vt:lpstr>How a CSRF attack works</vt:lpstr>
      <vt:lpstr>Cross-Site Request Forgery Attack</vt:lpstr>
      <vt:lpstr>Environment Setup</vt:lpstr>
      <vt:lpstr>CSRF Attacks on HTTP Get Services</vt:lpstr>
      <vt:lpstr>CSRF Attack on GET Requests - Basic Idea</vt:lpstr>
      <vt:lpstr>CSRF Attack on GET Requests - Basic Idea</vt:lpstr>
      <vt:lpstr>Attack on Elgg’s Add-Friend Service</vt:lpstr>
      <vt:lpstr>Captured HTTP Header</vt:lpstr>
      <vt:lpstr>Create the malicious web page</vt:lpstr>
      <vt:lpstr>Attract Victim to Visit Your Malicious Page</vt:lpstr>
      <vt:lpstr>CSRF Attacks on HTTP POST Services</vt:lpstr>
      <vt:lpstr>CSRF Attacks on HTTP POST Services</vt:lpstr>
      <vt:lpstr>Attack on Elgg’s Edit-Profile Service</vt:lpstr>
      <vt:lpstr>Attack on Elgg’s Edit-Profile Service</vt:lpstr>
      <vt:lpstr>Attack on Elgg’s Edit-Profile Service</vt:lpstr>
      <vt:lpstr>Craft the Malicious Web Page</vt:lpstr>
      <vt:lpstr>Fundamental Causes of CSRF</vt:lpstr>
      <vt:lpstr>Countermeasures: Referer Header</vt:lpstr>
      <vt:lpstr>Countermeasures: Same-Site Cookies</vt:lpstr>
      <vt:lpstr>Countermeasures: Secret Token</vt:lpstr>
      <vt:lpstr>Elgg’s Countermeasure</vt:lpstr>
      <vt:lpstr>Elgg’s Countermeasure</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 Site Request Forgery</dc:title>
  <dc:creator/>
  <cp:lastModifiedBy>Rakibul</cp:lastModifiedBy>
  <cp:revision>14</cp:revision>
  <dcterms:created xsi:type="dcterms:W3CDTF">2025-05-16T08:42:28Z</dcterms:created>
  <dcterms:modified xsi:type="dcterms:W3CDTF">2025-05-16T08:42:28Z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AE5672F667CD803774FA2668ACC4C9C5_42</vt:lpwstr>
  </property>
  <property fmtid="{D5CDD505-2E9C-101B-9397-08002B2CF9AE}" pid="3" name="KSOProductBuildVer">
    <vt:lpwstr>1033-6.11.0.8608</vt:lpwstr>
  </property>
</Properties>
</file>